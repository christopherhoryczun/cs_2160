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51"/>
  </p:notesMasterIdLst>
  <p:sldIdLst>
    <p:sldId id="256" r:id="rId5"/>
    <p:sldId id="257" r:id="rId6"/>
    <p:sldId id="340" r:id="rId7"/>
    <p:sldId id="341" r:id="rId8"/>
    <p:sldId id="342" r:id="rId9"/>
    <p:sldId id="343" r:id="rId10"/>
    <p:sldId id="812" r:id="rId11"/>
    <p:sldId id="802" r:id="rId12"/>
    <p:sldId id="804" r:id="rId13"/>
    <p:sldId id="813" r:id="rId14"/>
    <p:sldId id="808" r:id="rId15"/>
    <p:sldId id="339" r:id="rId16"/>
    <p:sldId id="814" r:id="rId17"/>
    <p:sldId id="781" r:id="rId18"/>
    <p:sldId id="815" r:id="rId19"/>
    <p:sldId id="816" r:id="rId20"/>
    <p:sldId id="785" r:id="rId21"/>
    <p:sldId id="818" r:id="rId22"/>
    <p:sldId id="787" r:id="rId23"/>
    <p:sldId id="819" r:id="rId24"/>
    <p:sldId id="817" r:id="rId25"/>
    <p:sldId id="791" r:id="rId26"/>
    <p:sldId id="811" r:id="rId27"/>
    <p:sldId id="788" r:id="rId28"/>
    <p:sldId id="796" r:id="rId29"/>
    <p:sldId id="792" r:id="rId30"/>
    <p:sldId id="793" r:id="rId31"/>
    <p:sldId id="794" r:id="rId32"/>
    <p:sldId id="795" r:id="rId33"/>
    <p:sldId id="797" r:id="rId34"/>
    <p:sldId id="798" r:id="rId35"/>
    <p:sldId id="810" r:id="rId36"/>
    <p:sldId id="820" r:id="rId37"/>
    <p:sldId id="674" r:id="rId38"/>
    <p:sldId id="821" r:id="rId39"/>
    <p:sldId id="822" r:id="rId40"/>
    <p:sldId id="823" r:id="rId41"/>
    <p:sldId id="824" r:id="rId42"/>
    <p:sldId id="825" r:id="rId43"/>
    <p:sldId id="826" r:id="rId44"/>
    <p:sldId id="827" r:id="rId45"/>
    <p:sldId id="828" r:id="rId46"/>
    <p:sldId id="799" r:id="rId47"/>
    <p:sldId id="800" r:id="rId48"/>
    <p:sldId id="764" r:id="rId49"/>
    <p:sldId id="270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amble" id="{5D51E0E6-D01F-4CFB-BBAD-22C3F26EC290}">
          <p14:sldIdLst>
            <p14:sldId id="256"/>
            <p14:sldId id="257"/>
            <p14:sldId id="340"/>
            <p14:sldId id="341"/>
            <p14:sldId id="342"/>
            <p14:sldId id="343"/>
            <p14:sldId id="812"/>
            <p14:sldId id="802"/>
            <p14:sldId id="804"/>
            <p14:sldId id="813"/>
            <p14:sldId id="808"/>
          </p14:sldIdLst>
        </p14:section>
        <p14:section name="Chapter 1: Course Details" id="{B585BEF1-F5C3-463F-A08B-37B3711E5537}">
          <p14:sldIdLst>
            <p14:sldId id="339"/>
            <p14:sldId id="814"/>
            <p14:sldId id="781"/>
            <p14:sldId id="815"/>
            <p14:sldId id="816"/>
            <p14:sldId id="785"/>
            <p14:sldId id="818"/>
            <p14:sldId id="787"/>
            <p14:sldId id="819"/>
            <p14:sldId id="817"/>
            <p14:sldId id="791"/>
            <p14:sldId id="811"/>
            <p14:sldId id="788"/>
            <p14:sldId id="796"/>
            <p14:sldId id="792"/>
            <p14:sldId id="793"/>
            <p14:sldId id="794"/>
            <p14:sldId id="795"/>
            <p14:sldId id="797"/>
            <p14:sldId id="798"/>
            <p14:sldId id="810"/>
            <p14:sldId id="820"/>
            <p14:sldId id="674"/>
            <p14:sldId id="821"/>
            <p14:sldId id="822"/>
            <p14:sldId id="823"/>
            <p14:sldId id="824"/>
            <p14:sldId id="825"/>
            <p14:sldId id="826"/>
            <p14:sldId id="827"/>
            <p14:sldId id="828"/>
            <p14:sldId id="799"/>
            <p14:sldId id="800"/>
            <p14:sldId id="764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40" dt="2026-08-26T22:41:51.991"/>
    <p1510:client id="{0E6BF1C1-F181-FBC5-9BCE-6FC95A2287F5}" v="18" dt="2026-08-24T22:44:31.010"/>
    <p1510:client id="{5990CC2A-113B-8EFB-291B-F8BF18EEAA66}" v="43" dt="2026-08-25T22:24:04.368"/>
    <p1510:client id="{870F18D4-66E8-F5A1-ECC6-BD55BC9F11ED}" v="150" dt="2026-08-25T22:38:39.535"/>
    <p1510:client id="{9DD466BB-3139-54FD-5BE7-90F8B6A8C4BD}" v="6" dt="2026-08-26T21:22:16.641"/>
    <p1510:client id="{DA377B55-43E1-A927-F250-0BEB5EC63AFE}" v="644" dt="2026-08-26T22:25:38.5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6E351-5889-4606-851F-9CE323549110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9A697-E2F0-4093-9634-3E22EDA0B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1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Draw figures on the whiteboard to explain why shift 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367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93EA4-B107-22B3-A9E8-2BE97FFC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8BDA1-51A2-92E1-7D3D-F5179B1E3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0A3FF-EDD0-4DED-028D-EA01950F1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Draw figures on the whiteboard to explain why shift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F3354-C6F4-43D3-5F61-64719D9E1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6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E4C74-B7C2-3765-5B3D-F7A073037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3B720-2FD6-6F84-E8E9-C9BB82B65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375485-F5F5-B01C-DBFF-F23A59A48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A982E-88B9-CBC6-A05B-A370D1EAF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64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31C06-BABC-6A4E-307A-FFB1ADE1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07432D-17DD-D55D-985D-6769B4ACD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50BAD-6204-B037-1688-3E37652C0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62DFF-39FA-F449-29D4-CBF224C17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21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put some of these instructions into context with a contrived example. Here’s a function that takes three 32-bit integer arguments, x y and z. It then calculates several arithmetic expressions, eventually returning (</a:t>
            </a:r>
            <a:r>
              <a:rPr lang="en-US" err="1"/>
              <a:t>x+y+z</a:t>
            </a:r>
            <a:r>
              <a:rPr lang="en-US"/>
              <a:t>) + (x + y*48). Here is one way to generate assembly for this function. We can see several interesting instructions. Let’s break it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22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61A23-572F-059B-E6AE-A49111B9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5C62A-27B0-7994-E6E2-ED0F3706F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582A2-C69A-0F68-CD4C-7DBE48477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put some of these instructions into context with a contrived example. Here’s a function that takes three 32-bit integer arguments, x y and z. It then calculates several arithmetic expressions, eventually returning (</a:t>
            </a:r>
            <a:r>
              <a:rPr lang="en-US" err="1"/>
              <a:t>x+y+z</a:t>
            </a:r>
            <a:r>
              <a:rPr lang="en-US"/>
              <a:t>) + (x + y*48). Here is one way to generate assembly for this function. We can see several interesting instructions. Let’s break it down.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D44C3-AD8B-E280-FAA8-D1B0F3B12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44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49218-C4D9-DA87-1459-D47537D90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5897C-8A30-7D3B-C700-025764996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196F8-FCE4-8873-8E48-EB3D5C817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put some of these instructions into context with a contrived example. Here’s a function that takes three 32-bit integer arguments, x y and z. It then calculates several arithmetic expressions, eventually returning (</a:t>
            </a:r>
            <a:r>
              <a:rPr lang="en-US" err="1"/>
              <a:t>x+y+z</a:t>
            </a:r>
            <a:r>
              <a:rPr lang="en-US"/>
              <a:t>) + (x + y*48). Here is one way to generate assembly for this function. We can see several interesting instructions. Let’s break it down.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D1E31-DF3C-CB69-BCFD-02D20498A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07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CAB4C-5459-95E6-8D2D-82372E684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BBF66-AFF5-F191-F729-25895225B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833AE-9501-EA52-9DB4-DF62BD517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put some of these instructions into context with a contrived example. Here’s a function that takes three 32-bit integer arguments, x y and z. It then calculates several arithmetic expressions, eventually returning (</a:t>
            </a:r>
            <a:r>
              <a:rPr lang="en-US" err="1"/>
              <a:t>x+y+z</a:t>
            </a:r>
            <a:r>
              <a:rPr lang="en-US"/>
              <a:t>) + (x + y*48). Here is one way to generate assembly for this function. We can see several interesting instructions. Let’s break it down.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8F192-24FD-3EF9-D056-7A38AD0F1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45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43157-CE92-6CDA-8509-7DCB2542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AA46B-ABA4-AB85-163D-4A496F669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E4776-042E-B449-47D5-1F9FDCF2F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put some of these instructions into context with a contrived example. Here’s a function that takes three 32-bit integer arguments, x y and z. It then calculates several arithmetic expressions, eventually returning (</a:t>
            </a:r>
            <a:r>
              <a:rPr lang="en-US" err="1"/>
              <a:t>x+y+z</a:t>
            </a:r>
            <a:r>
              <a:rPr lang="en-US"/>
              <a:t>) + (x + y*48). Here is one way to generate assembly for this function. We can see several interesting instructions. Let’s break it down.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BD58E-38B7-BA51-972C-1DBB62A04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49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07EF4-B940-0045-65D4-CB626504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B67B6-7B72-8EC1-E63E-ED227534B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1AEE1-CE5A-62BF-4BE6-E6C3738D0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put some of these instructions into context with a contrived example. Here’s a function that takes three 32-bit integer arguments, x y and z. It then calculates several arithmetic expressions, eventually returning (</a:t>
            </a:r>
            <a:r>
              <a:rPr lang="en-US" err="1"/>
              <a:t>x+y+z</a:t>
            </a:r>
            <a:r>
              <a:rPr lang="en-US"/>
              <a:t>) + (x + y*48). Here is one way to generate assembly for this function. We can see several interesting instructions. Let’s break it down.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0C64B-04DA-E13C-A413-A12FC5110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AD518-4C92-0ECB-AC8F-79291AC6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F656D-6B33-8BF8-701A-B96E209B8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5F304-045D-B350-3AB1-B20363EFC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put some of these instructions into context with a contrived example. Here’s a function that takes three 32-bit integer arguments, x y and z. It then calculates several arithmetic expressions, eventually returning (</a:t>
            </a:r>
            <a:r>
              <a:rPr lang="en-US" err="1"/>
              <a:t>x+y+z</a:t>
            </a:r>
            <a:r>
              <a:rPr lang="en-US"/>
              <a:t>) + (x + y*48). Here is one way to generate assembly for this function. We can see several interesting instructions. Let’s break it down.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18BDB-96FA-FD5A-7E2C-6282262EE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09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E4EA8-4636-A577-E019-14A918919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45E76-2840-7826-3DEE-E9F88439D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DCDF1-73D6-7F9F-112F-4C6DAD562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put some of these instructions into context with a contrived example. Here’s a function that takes three 32-bit integer arguments, x y and z. It then calculates several arithmetic expressions, eventually returning (</a:t>
            </a:r>
            <a:r>
              <a:rPr lang="en-US" err="1"/>
              <a:t>x+y+z</a:t>
            </a:r>
            <a:r>
              <a:rPr lang="en-US"/>
              <a:t>) + (x + y*48). Here is one way to generate assembly for this function. We can see several interesting instructions. Let’s break it down.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27413-589B-4017-B993-C95D781D2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29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BAE6A-D988-F758-8B77-00D574B20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322CF-F1C8-D580-9644-5A63888AC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51209-A02B-7A38-A4D9-F39551FC2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put some of these instructions into context with a contrived example. Here’s a function that takes three 32-bit integer arguments, x y and z. It then calculates several arithmetic expressions, eventually returning (</a:t>
            </a:r>
            <a:r>
              <a:rPr lang="en-US" err="1"/>
              <a:t>x+y+z</a:t>
            </a:r>
            <a:r>
              <a:rPr lang="en-US"/>
              <a:t>) + (x + y*48). Here is one way to generate assembly for this function. We can see several interesting instructions. Let’s break it down.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A07D7-BF5E-41CB-CDC8-6D5DB83F9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97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25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6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8813A-9329-426C-8047-01C1395FFE36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98ED8-9146-4BE6-B540-8347B7D3438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3B9B1-624C-4443-9E49-4AE5E8C13226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804C-B05D-4C85-95DC-ACD6E58FC5CF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878C0-F05B-4E10-BEA1-D8C122382F74}" type="datetime1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8022-ABBB-4C19-AC05-69F05BDFBB5D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303E2-840D-4389-90AF-4B66070F5592}" type="datetime1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37C5A-9E50-49CC-95CE-AA003F394609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9019-D333-4149-8780-C872D9CA9A8F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8753-E8D8-4E4B-8EC0-E06A258A09C0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AC97C-B3CE-4D72-BCA1-C99A1B0D10C7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838" y="1447800"/>
            <a:ext cx="4788622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cs typeface="Arial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206" y="2209801"/>
            <a:ext cx="4788624" cy="42704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>
                <a:latin typeface="+mn-lt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5029" y="1447800"/>
            <a:ext cx="4826607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cs typeface="Arial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5400" y="2206574"/>
            <a:ext cx="4820229" cy="42704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3223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203200" y="1371600"/>
            <a:ext cx="4638421" cy="5029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953000" y="1371600"/>
            <a:ext cx="4648200" cy="5029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599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E7E88-3F9E-4598-A06E-B6F43CDC37BA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thakur@ucc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94"/>
            <a:ext cx="12197675" cy="34314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CS 2160</a:t>
            </a:r>
            <a:br>
              <a:rPr lang="en-US" sz="3600" b="1">
                <a:ea typeface="+mj-lt"/>
                <a:cs typeface="+mj-lt"/>
              </a:rPr>
            </a:br>
            <a:r>
              <a:rPr lang="en-US" sz="3600"/>
              <a:t>Introduction to Assembly Programming and</a:t>
            </a:r>
            <a:br>
              <a:rPr lang="en-US" sz="3600"/>
            </a:br>
            <a:r>
              <a:rPr lang="en-US" sz="3600"/>
              <a:t>Computer Organization</a:t>
            </a:r>
            <a:br>
              <a:rPr lang="en-US" sz="3600"/>
            </a:br>
            <a:br>
              <a:rPr lang="en-US" sz="3600">
                <a:ea typeface="+mj-lt"/>
                <a:cs typeface="+mj-lt"/>
              </a:rPr>
            </a:br>
            <a:r>
              <a:rPr lang="en-US" sz="3200" b="1">
                <a:ea typeface="+mj-lt"/>
                <a:cs typeface="+mj-lt"/>
              </a:rPr>
              <a:t>Lecture 01</a:t>
            </a:r>
            <a:r>
              <a:rPr lang="en-US" sz="3200">
                <a:ea typeface="+mj-lt"/>
                <a:cs typeface="+mj-lt"/>
              </a:rPr>
              <a:t>: Arithmetic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40" y="3424813"/>
            <a:ext cx="12175382" cy="29816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Aptos"/>
                <a:ea typeface="Calibri"/>
                <a:cs typeface="Calibri"/>
              </a:rPr>
              <a:t>Fall 2026</a:t>
            </a:r>
            <a:endParaRPr lang="en-US">
              <a:latin typeface="Aptos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Instructor</a:t>
            </a:r>
            <a:r>
              <a:rPr lang="en-US">
                <a:latin typeface="Calibri"/>
                <a:ea typeface="Calibri"/>
                <a:cs typeface="Calibri"/>
              </a:rPr>
              <a:t>: Himon Thakur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TA: </a:t>
            </a:r>
            <a:r>
              <a:rPr lang="en-US">
                <a:latin typeface="Calibri"/>
                <a:ea typeface="Calibri"/>
                <a:cs typeface="Calibri"/>
              </a:rPr>
              <a:t>Hassan Shakil</a:t>
            </a: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/>
              <a:t>University of Colorado </a:t>
            </a:r>
            <a:r>
              <a:rPr lang="en-US" err="1"/>
              <a:t>Colorado</a:t>
            </a:r>
            <a:r>
              <a:rPr lang="en-US"/>
              <a:t> Springs (UCCS)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3017D99-3D2A-E0CE-054E-E32FE8E968E6}"/>
              </a:ext>
            </a:extLst>
          </p:cNvPr>
          <p:cNvSpPr txBox="1"/>
          <p:nvPr/>
        </p:nvSpPr>
        <p:spPr>
          <a:xfrm>
            <a:off x="20320" y="6407876"/>
            <a:ext cx="12181838" cy="43858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Himon Thakur</a:t>
            </a:r>
            <a:r>
              <a:rPr lang="en-US" sz="1200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 (</a:t>
            </a:r>
            <a:r>
              <a:rPr lang="en-US" sz="1200">
                <a:solidFill>
                  <a:srgbClr val="767676"/>
                </a:solidFill>
                <a:latin typeface="Aptos Display"/>
                <a:ea typeface="Calibri"/>
                <a:cs typeface="Calibri"/>
                <a:hlinkClick r:id="rId2"/>
              </a:rPr>
              <a:t>hthakur@uccs.edu</a:t>
            </a:r>
            <a:r>
              <a:rPr lang="en-US" sz="1200" i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); </a:t>
            </a:r>
            <a:r>
              <a:rPr lang="en-US" sz="1200" b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CC BY-NC-SA 4.0;</a:t>
            </a:r>
            <a:endParaRPr lang="en-US" sz="1200">
              <a:solidFill>
                <a:srgbClr val="000000"/>
              </a:solidFill>
              <a:latin typeface="Aptos Display"/>
              <a:ea typeface="Calibri"/>
              <a:cs typeface="Calibri"/>
            </a:endParaRPr>
          </a:p>
          <a:p>
            <a:pPr algn="ctr"/>
            <a:r>
              <a:rPr lang="en-US" sz="1050" i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Special Thanks to Dr. Keith Paarpong and Dr. Xi Tan.</a:t>
            </a:r>
            <a:endParaRPr lang="en-US" sz="1050">
              <a:latin typeface="Aptos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786A-DB79-C2E9-C26B-F79D3B66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Today’s Agenda.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D16EA-AC3F-5FE5-C0A6-85FAB868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2DD545-B3A4-BBE9-77EB-C7F4C36452AF}"/>
              </a:ext>
            </a:extLst>
          </p:cNvPr>
          <p:cNvSpPr txBox="1"/>
          <p:nvPr/>
        </p:nvSpPr>
        <p:spPr>
          <a:xfrm>
            <a:off x="846030" y="1294312"/>
            <a:ext cx="10504655" cy="5062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20000"/>
              </a:spcBef>
            </a:pPr>
            <a:r>
              <a:rPr lang="en-US" sz="2800">
                <a:latin typeface="Aptos"/>
                <a:ea typeface="Calibri"/>
                <a:cs typeface="Calibri"/>
              </a:rPr>
              <a:t>- Understand RISC-V basic assembly </a:t>
            </a:r>
            <a:r>
              <a:rPr lang="en-US" sz="2800" b="1" i="1">
                <a:latin typeface="Aptos"/>
                <a:ea typeface="Calibri"/>
                <a:cs typeface="Calibri"/>
              </a:rPr>
              <a:t>arithmetic</a:t>
            </a:r>
            <a:r>
              <a:rPr lang="en-US" sz="2800">
                <a:latin typeface="Aptos"/>
                <a:ea typeface="Calibri"/>
                <a:cs typeface="Calibri"/>
              </a:rPr>
              <a:t> operations</a:t>
            </a:r>
            <a:endParaRPr lang="en-US" sz="2800"/>
          </a:p>
          <a:p>
            <a:pPr marL="0" lvl="1">
              <a:spcBef>
                <a:spcPct val="20000"/>
              </a:spcBef>
            </a:pPr>
            <a:endParaRPr lang="en-US" sz="2800" b="1">
              <a:solidFill>
                <a:srgbClr val="262626"/>
              </a:solidFill>
              <a:latin typeface="Aptos"/>
              <a:cs typeface="Times New Roman"/>
            </a:endParaRPr>
          </a:p>
          <a:p>
            <a:pPr lvl="1" indent="-457200">
              <a:spcBef>
                <a:spcPct val="20000"/>
              </a:spcBef>
              <a:buFont typeface="Calibri"/>
              <a:buChar char="-"/>
            </a:pPr>
            <a:r>
              <a:rPr lang="en-US" sz="2800" b="1">
                <a:solidFill>
                  <a:srgbClr val="262626"/>
                </a:solidFill>
                <a:latin typeface="Aptos"/>
                <a:cs typeface="Times New Roman"/>
              </a:rPr>
              <a:t>RV32I</a:t>
            </a:r>
            <a:r>
              <a:rPr lang="en-US" sz="2800">
                <a:solidFill>
                  <a:srgbClr val="262626"/>
                </a:solidFill>
                <a:latin typeface="Aptos"/>
                <a:cs typeface="Times New Roman"/>
              </a:rPr>
              <a:t>: </a:t>
            </a:r>
            <a:r>
              <a:rPr lang="en-US" sz="2800">
                <a:solidFill>
                  <a:srgbClr val="262626"/>
                </a:solidFill>
                <a:latin typeface="Aptos"/>
                <a:ea typeface="Calibri"/>
                <a:cs typeface="Calibri"/>
              </a:rPr>
              <a:t>Base Integer Instruction Set, 32-bit</a:t>
            </a:r>
            <a:endParaRPr lang="en-US" sz="2800"/>
          </a:p>
          <a:p>
            <a:pPr marL="742950" indent="-285750">
              <a:spcBef>
                <a:spcPct val="20000"/>
              </a:spcBef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How is a </a:t>
            </a:r>
            <a:r>
              <a:rPr lang="en-US" sz="2800" i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program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 made?</a:t>
            </a:r>
          </a:p>
          <a:p>
            <a:pPr marL="742950" indent="-285750">
              <a:spcBef>
                <a:spcPct val="20000"/>
              </a:spcBef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From source to </a:t>
            </a:r>
            <a:r>
              <a:rPr lang="en-US" sz="2800" i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executable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, </a:t>
            </a:r>
            <a:r>
              <a:rPr lang="en-US" sz="2800" i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loading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 to the computer.</a:t>
            </a:r>
          </a:p>
          <a:p>
            <a:pPr marL="742950" indent="-285750">
              <a:spcBef>
                <a:spcPct val="20000"/>
              </a:spcBef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What is a </a:t>
            </a:r>
            <a:r>
              <a:rPr lang="en-US" sz="2800" i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processor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?</a:t>
            </a:r>
          </a:p>
          <a:p>
            <a:pPr marL="742950" indent="-285750">
              <a:spcBef>
                <a:spcPct val="20000"/>
              </a:spcBef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PC, registers, memory (data, instruction)</a:t>
            </a:r>
          </a:p>
          <a:p>
            <a:pPr marL="285750" lvl="1" indent="-285750">
              <a:spcBef>
                <a:spcPct val="20000"/>
              </a:spcBef>
              <a:buFont typeface="Calibri"/>
              <a:buChar char="-"/>
            </a:pPr>
            <a:endParaRPr lang="en-US" sz="2800">
              <a:solidFill>
                <a:srgbClr val="262626"/>
              </a:solidFill>
              <a:latin typeface="Aptos"/>
              <a:ea typeface="Calibri"/>
              <a:cs typeface="Calibri"/>
            </a:endParaRPr>
          </a:p>
          <a:p>
            <a:pPr marL="285750" lvl="1" indent="-285750">
              <a:spcBef>
                <a:spcPct val="20000"/>
              </a:spcBef>
              <a:buFont typeface="Calibri"/>
              <a:buChar char="-"/>
            </a:pPr>
            <a:endParaRPr lang="en-US" sz="2800"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09613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AECE6-A0BA-5019-BCAA-23EBB2EF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5E53-7B03-B75E-7FB7-7B5FE6137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solidFill>
                  <a:srgbClr val="000000"/>
                </a:solidFill>
                <a:ea typeface="+mj-lt"/>
                <a:cs typeface="+mj-lt"/>
              </a:rPr>
              <a:t>What is RISC-V.</a:t>
            </a:r>
            <a:endParaRPr lang="en-US" sz="4500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51DFD-0A86-CE28-6E81-B39394891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9582C6-431F-7690-2552-90E3A4B81D74}"/>
              </a:ext>
            </a:extLst>
          </p:cNvPr>
          <p:cNvSpPr txBox="1"/>
          <p:nvPr/>
        </p:nvSpPr>
        <p:spPr>
          <a:xfrm>
            <a:off x="836385" y="1303383"/>
            <a:ext cx="1051487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2800" b="1">
                <a:latin typeface="Aptos"/>
                <a:ea typeface="Calibri"/>
                <a:cs typeface="Calibri"/>
              </a:rPr>
              <a:t>CISC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: complex instruction set computing architecture</a:t>
            </a:r>
          </a:p>
          <a:p>
            <a:pPr marL="742950" lvl="1" indent="-285750">
              <a:spcBef>
                <a:spcPct val="20000"/>
              </a:spcBef>
              <a:buFont typeface="Courier New"/>
              <a:buChar char="o"/>
            </a:pP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For example, x86.</a:t>
            </a:r>
            <a:endParaRPr lang="en-US" sz="2800">
              <a:latin typeface="Aptos"/>
            </a:endParaRPr>
          </a:p>
          <a:p>
            <a:pPr marL="742950" lvl="1" indent="-285750">
              <a:spcBef>
                <a:spcPct val="20000"/>
              </a:spcBef>
              <a:buFont typeface="Courier New"/>
              <a:buChar char="o"/>
            </a:pPr>
            <a:endParaRPr lang="en-US" sz="28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RISC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: reduced instruction set computing architecture</a:t>
            </a:r>
          </a:p>
          <a:p>
            <a:pPr marL="742950" lvl="1" indent="-285750">
              <a:spcBef>
                <a:spcPct val="20000"/>
              </a:spcBef>
              <a:buFont typeface="Courier New"/>
              <a:buChar char="o"/>
            </a:pPr>
            <a:r>
              <a:rPr lang="en-US" sz="28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e.g.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, </a:t>
            </a:r>
            <a:r>
              <a:rPr lang="en-US" sz="28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ARM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 (smartphones), </a:t>
            </a:r>
            <a:r>
              <a:rPr lang="en-US" sz="28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MIPS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 (routers), </a:t>
            </a:r>
            <a:r>
              <a:rPr lang="en-US" sz="28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RISC-V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 (edge computing and AI, embedded systems)</a:t>
            </a:r>
            <a:endParaRPr lang="en-US" sz="2800">
              <a:latin typeface="Aptos"/>
              <a:ea typeface="Calibri"/>
              <a:cs typeface="Calibri"/>
            </a:endParaRPr>
          </a:p>
          <a:p>
            <a:pPr marL="742950" lvl="1" indent="-285750">
              <a:spcBef>
                <a:spcPct val="20000"/>
              </a:spcBef>
              <a:buFont typeface="Courier New"/>
              <a:buChar char="o"/>
            </a:pPr>
            <a:r>
              <a:rPr lang="en-US" sz="2800" b="1">
                <a:latin typeface="Aptos"/>
                <a:ea typeface="Calibri"/>
                <a:cs typeface="Calibri"/>
              </a:rPr>
              <a:t>RISC-V</a:t>
            </a:r>
            <a:r>
              <a:rPr lang="en-US" sz="2800">
                <a:latin typeface="Aptos"/>
                <a:ea typeface="Calibri"/>
                <a:cs typeface="Calibri"/>
              </a:rPr>
              <a:t>: fifth generation of RISC architecture developed at UC Berkeley.</a:t>
            </a:r>
          </a:p>
        </p:txBody>
      </p:sp>
    </p:spTree>
    <p:extLst>
      <p:ext uri="{BB962C8B-B14F-4D97-AF65-F5344CB8AC3E}">
        <p14:creationId xmlns:p14="http://schemas.microsoft.com/office/powerpoint/2010/main" val="23220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FD8D7-7575-6927-37AD-163162778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5753-BFF0-B2CB-1863-22A752E98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RISC-V is a family of Instruction Sets .</a:t>
            </a:r>
            <a:endParaRPr lang="en-US" b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2977A-4886-52DC-A1F1-6DC7EEE47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2019BF-1DE7-1DCA-66F6-E2A0A583D42F}"/>
              </a:ext>
            </a:extLst>
          </p:cNvPr>
          <p:cNvSpPr txBox="1"/>
          <p:nvPr/>
        </p:nvSpPr>
        <p:spPr>
          <a:xfrm>
            <a:off x="836385" y="1303383"/>
            <a:ext cx="10514874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Instruction set</a:t>
            </a:r>
            <a:r>
              <a:rPr lang="en-US" sz="2800"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The vocabulary of commands, understood by a given architecture.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800"/>
          </a:p>
          <a:p>
            <a:r>
              <a:rPr lang="en-US" sz="2800">
                <a:ea typeface="+mn-lt"/>
                <a:cs typeface="+mn-lt"/>
              </a:rPr>
              <a:t>Instructions tell the processor what to do </a:t>
            </a:r>
          </a:p>
          <a:p>
            <a:pPr lvl="1"/>
            <a:r>
              <a:rPr lang="en-US" sz="2800">
                <a:ea typeface="+mn-lt"/>
                <a:cs typeface="+mn-lt"/>
              </a:rPr>
              <a:t>1 operation </a:t>
            </a:r>
          </a:p>
          <a:p>
            <a:pPr lvl="1"/>
            <a:r>
              <a:rPr lang="en-US" sz="2800">
                <a:ea typeface="+mn-lt"/>
                <a:cs typeface="+mn-lt"/>
              </a:rPr>
              <a:t>0+ operands </a:t>
            </a:r>
          </a:p>
        </p:txBody>
      </p:sp>
    </p:spTree>
    <p:extLst>
      <p:ext uri="{BB962C8B-B14F-4D97-AF65-F5344CB8AC3E}">
        <p14:creationId xmlns:p14="http://schemas.microsoft.com/office/powerpoint/2010/main" val="357009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78AC1-E439-17EE-BFBE-C2C54348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16DDF-C6EF-DA78-245F-638F6DDF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RISC-V is a family of Instruction Sets. </a:t>
            </a:r>
            <a:endParaRPr lang="en-US" b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B85E7-2187-1027-9D39-65101B2F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198400-CBA8-5CA1-F3C2-1F0886CCE17B}"/>
              </a:ext>
            </a:extLst>
          </p:cNvPr>
          <p:cNvSpPr txBox="1"/>
          <p:nvPr/>
        </p:nvSpPr>
        <p:spPr>
          <a:xfrm>
            <a:off x="836385" y="1303383"/>
            <a:ext cx="10514874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Many instruction sets with variants exist</a:t>
            </a:r>
          </a:p>
          <a:p>
            <a:pPr lvl="1"/>
            <a:r>
              <a:rPr lang="en-US" sz="2800" b="1">
                <a:ea typeface="+mn-lt"/>
                <a:cs typeface="+mn-lt"/>
              </a:rPr>
              <a:t>e.g.</a:t>
            </a:r>
            <a:r>
              <a:rPr lang="en-US" sz="2800">
                <a:ea typeface="+mn-lt"/>
                <a:cs typeface="+mn-lt"/>
              </a:rPr>
              <a:t>, RV32I, RV64I, RV128I</a:t>
            </a:r>
            <a:endParaRPr lang="en-US" sz="2800"/>
          </a:p>
          <a:p>
            <a:pPr>
              <a:buFont typeface="Arial"/>
              <a:buChar char="•"/>
            </a:pPr>
            <a:endParaRPr lang="en-US" sz="2800"/>
          </a:p>
          <a:p>
            <a:r>
              <a:rPr lang="en-US" sz="2800">
                <a:ea typeface="+mn-lt"/>
                <a:cs typeface="+mn-lt"/>
              </a:rPr>
              <a:t>We will focus on the </a:t>
            </a:r>
            <a:r>
              <a:rPr lang="en-US" sz="2800" b="1">
                <a:ea typeface="+mn-lt"/>
                <a:cs typeface="+mn-lt"/>
              </a:rPr>
              <a:t>RV32I </a:t>
            </a:r>
            <a:r>
              <a:rPr lang="en-US" sz="2800">
                <a:ea typeface="+mn-lt"/>
                <a:cs typeface="+mn-lt"/>
              </a:rPr>
              <a:t>instruction set: </a:t>
            </a:r>
            <a:endParaRPr lang="en-US" sz="2800"/>
          </a:p>
          <a:p>
            <a:pPr>
              <a:buFont typeface="Arial"/>
            </a:pPr>
            <a:endParaRPr lang="en-US" sz="2800">
              <a:ea typeface="+mn-lt"/>
              <a:cs typeface="+mn-lt"/>
            </a:endParaRPr>
          </a:p>
          <a:p>
            <a:pPr lvl="1"/>
            <a:r>
              <a:rPr lang="en-US" sz="2800" b="1">
                <a:ea typeface="+mn-lt"/>
                <a:cs typeface="+mn-lt"/>
              </a:rPr>
              <a:t>RV</a:t>
            </a:r>
            <a:r>
              <a:rPr lang="en-US" sz="2800">
                <a:ea typeface="+mn-lt"/>
                <a:cs typeface="+mn-lt"/>
              </a:rPr>
              <a:t>: RISC-V </a:t>
            </a:r>
            <a:endParaRPr lang="en-US" sz="2800"/>
          </a:p>
          <a:p>
            <a:pPr lvl="1">
              <a:buFont typeface="Courier New"/>
              <a:buChar char="o"/>
            </a:pPr>
            <a:endParaRPr lang="en-US" sz="2800"/>
          </a:p>
          <a:p>
            <a:pPr lvl="1"/>
            <a:r>
              <a:rPr lang="en-US" sz="2800" b="1">
                <a:ea typeface="+mn-lt"/>
                <a:cs typeface="+mn-lt"/>
              </a:rPr>
              <a:t>32</a:t>
            </a:r>
            <a:r>
              <a:rPr lang="en-US" sz="2800">
                <a:ea typeface="+mn-lt"/>
                <a:cs typeface="+mn-lt"/>
              </a:rPr>
              <a:t>: 32-bit registers </a:t>
            </a:r>
            <a:endParaRPr lang="en-US" sz="2800"/>
          </a:p>
          <a:p>
            <a:pPr lvl="1">
              <a:buFont typeface="Courier New"/>
              <a:buChar char="o"/>
            </a:pPr>
            <a:endParaRPr lang="en-US" sz="2800"/>
          </a:p>
          <a:p>
            <a:pPr lvl="1"/>
            <a:r>
              <a:rPr lang="en-US" sz="2800" b="1">
                <a:ea typeface="+mn-lt"/>
                <a:cs typeface="+mn-lt"/>
              </a:rPr>
              <a:t>I</a:t>
            </a:r>
            <a:r>
              <a:rPr lang="en-US" sz="2800">
                <a:ea typeface="+mn-lt"/>
                <a:cs typeface="+mn-lt"/>
              </a:rPr>
              <a:t>: Integer operations 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371685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FD9EE-C3DA-42F1-7480-9CCFC863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C191-0CDD-66D3-A587-CD19663A7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Registers.</a:t>
            </a:r>
            <a:endParaRPr lang="en-US" b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21CBD-8709-D674-8552-57450B6BF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4C3A26-E808-B881-2F19-25D207B52E2B}"/>
              </a:ext>
            </a:extLst>
          </p:cNvPr>
          <p:cNvSpPr txBox="1"/>
          <p:nvPr/>
        </p:nvSpPr>
        <p:spPr>
          <a:xfrm>
            <a:off x="836385" y="1293738"/>
            <a:ext cx="10514874" cy="50665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800" b="1">
                <a:ea typeface="+mn-lt"/>
                <a:cs typeface="+mn-lt"/>
              </a:rPr>
              <a:t>General-purpose registers</a:t>
            </a:r>
            <a:r>
              <a:rPr lang="en-US" sz="2800">
                <a:ea typeface="+mn-lt"/>
                <a:cs typeface="+mn-lt"/>
              </a:rPr>
              <a:t> are </a:t>
            </a:r>
            <a:r>
              <a:rPr lang="en-US" sz="2800" b="1" u="sng">
                <a:ea typeface="+mn-lt"/>
                <a:cs typeface="+mn-lt"/>
              </a:rPr>
              <a:t>storage</a:t>
            </a:r>
            <a:r>
              <a:rPr lang="en-US" sz="2800">
                <a:ea typeface="+mn-lt"/>
                <a:cs typeface="+mn-lt"/>
              </a:rPr>
              <a:t> in the processor </a:t>
            </a:r>
          </a:p>
          <a:p>
            <a:pPr marL="914400" lvl="1" indent="-457200">
              <a:buFont typeface="Calibri"/>
              <a:buChar char="-"/>
            </a:pPr>
            <a:r>
              <a:rPr lang="en-US" sz="2800">
                <a:ea typeface="+mn-lt"/>
                <a:cs typeface="+mn-lt"/>
              </a:rPr>
              <a:t>Typically numbered starting from 0 </a:t>
            </a:r>
          </a:p>
          <a:p>
            <a:pPr>
              <a:buFont typeface="Arial"/>
              <a:buChar char="•"/>
            </a:pPr>
            <a:endParaRPr lang="en-US" sz="2800"/>
          </a:p>
          <a:p>
            <a:pPr marL="914400" lvl="1" indent="-457200">
              <a:buFont typeface="Calibri"/>
              <a:buChar char="-"/>
            </a:pPr>
            <a:r>
              <a:rPr lang="en-US" sz="2800">
                <a:ea typeface="+mn-lt"/>
                <a:cs typeface="+mn-lt"/>
              </a:rPr>
              <a:t>Assembly prepends register number with a symbol (</a:t>
            </a:r>
            <a:r>
              <a:rPr lang="en-US" sz="2800" b="1">
                <a:ea typeface="+mn-lt"/>
                <a:cs typeface="+mn-lt"/>
              </a:rPr>
              <a:t>x#</a:t>
            </a:r>
            <a:r>
              <a:rPr lang="en-US" sz="2800">
                <a:ea typeface="+mn-lt"/>
                <a:cs typeface="+mn-lt"/>
              </a:rPr>
              <a:t> in RISC-V, </a:t>
            </a:r>
            <a:r>
              <a:rPr lang="en-US" sz="2800" b="1">
                <a:ea typeface="+mn-lt"/>
                <a:cs typeface="+mn-lt"/>
              </a:rPr>
              <a:t>$#</a:t>
            </a:r>
            <a:r>
              <a:rPr lang="en-US" sz="2800">
                <a:ea typeface="+mn-lt"/>
                <a:cs typeface="+mn-lt"/>
              </a:rPr>
              <a:t> in </a:t>
            </a:r>
            <a:r>
              <a:rPr lang="en-US" sz="2800" b="1">
                <a:ea typeface="+mn-lt"/>
                <a:cs typeface="+mn-lt"/>
              </a:rPr>
              <a:t>MIPS</a:t>
            </a:r>
            <a:r>
              <a:rPr lang="en-US" sz="2800">
                <a:ea typeface="+mn-lt"/>
                <a:cs typeface="+mn-lt"/>
              </a:rPr>
              <a:t>, </a:t>
            </a:r>
            <a:r>
              <a:rPr lang="en-US" sz="2800" b="1">
                <a:ea typeface="+mn-lt"/>
                <a:cs typeface="+mn-lt"/>
              </a:rPr>
              <a:t>r#</a:t>
            </a:r>
            <a:r>
              <a:rPr lang="en-US" sz="2800">
                <a:ea typeface="+mn-lt"/>
                <a:cs typeface="+mn-lt"/>
              </a:rPr>
              <a:t> in </a:t>
            </a:r>
            <a:r>
              <a:rPr lang="en-US" sz="2800" b="1">
                <a:ea typeface="+mn-lt"/>
                <a:cs typeface="+mn-lt"/>
              </a:rPr>
              <a:t>x86_64</a:t>
            </a:r>
            <a:r>
              <a:rPr lang="en-US" sz="2800">
                <a:ea typeface="+mn-lt"/>
                <a:cs typeface="+mn-lt"/>
              </a:rPr>
              <a:t>). For example, , x0, x1, x2...</a:t>
            </a:r>
          </a:p>
          <a:p>
            <a:pPr marL="914400" lvl="1" indent="-457200">
              <a:buFont typeface="Calibri"/>
              <a:buChar char="-"/>
            </a:pPr>
            <a:r>
              <a:rPr lang="en-US" sz="2800">
                <a:ea typeface="+mn-lt"/>
                <a:cs typeface="+mn-lt"/>
              </a:rPr>
              <a:t>Registers usually have </a:t>
            </a:r>
            <a:r>
              <a:rPr lang="en-US" sz="2800" i="1">
                <a:ea typeface="+mn-lt"/>
                <a:cs typeface="+mn-lt"/>
              </a:rPr>
              <a:t>mnemonic</a:t>
            </a:r>
            <a:r>
              <a:rPr lang="en-US" sz="2800">
                <a:ea typeface="+mn-lt"/>
                <a:cs typeface="+mn-lt"/>
              </a:rPr>
              <a:t> names (pc for “program counter”, </a:t>
            </a:r>
            <a:r>
              <a:rPr lang="en-US" sz="2800" err="1">
                <a:ea typeface="+mn-lt"/>
                <a:cs typeface="+mn-lt"/>
              </a:rPr>
              <a:t>sp</a:t>
            </a:r>
            <a:r>
              <a:rPr lang="en-US" sz="2800">
                <a:ea typeface="+mn-lt"/>
                <a:cs typeface="+mn-lt"/>
              </a:rPr>
              <a:t> for “stack pointer”)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2A0292-D61C-1F1B-1E70-F1EF0C5CCB2B}"/>
              </a:ext>
            </a:extLst>
          </p:cNvPr>
          <p:cNvGrpSpPr/>
          <p:nvPr/>
        </p:nvGrpSpPr>
        <p:grpSpPr>
          <a:xfrm>
            <a:off x="8763000" y="4572000"/>
            <a:ext cx="3200400" cy="2209800"/>
            <a:chOff x="8763000" y="4572000"/>
            <a:chExt cx="3200400" cy="2209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02595A-237B-4298-6252-3439778BF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4572000"/>
              <a:ext cx="3200400" cy="2209800"/>
            </a:xfrm>
            <a:prstGeom prst="rect">
              <a:avLst/>
            </a:prstGeom>
            <a:solidFill>
              <a:srgbClr val="EFBFB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0487" tIns="44450" rIns="90487" bIns="4445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2400">
                  <a:latin typeface="Calibri" pitchFamily="34" charset="0"/>
                </a:rPr>
                <a:t>Processor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C21A110-E0A7-7CA4-A9A9-C1C526570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1035" y="4648200"/>
              <a:ext cx="533400" cy="45720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2400">
                  <a:latin typeface="Calibri" pitchFamily="34" charset="0"/>
                </a:rPr>
                <a:t>PC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1F01D02-1CC0-7EFD-5074-0969C4324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5257800"/>
              <a:ext cx="1676400" cy="76200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400">
                  <a:latin typeface="Calibri" pitchFamily="34" charset="0"/>
                </a:rPr>
                <a:t>Registers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06B3FA4-1BAA-1B25-2FF7-AE51D75215B3}"/>
              </a:ext>
            </a:extLst>
          </p:cNvPr>
          <p:cNvGrpSpPr/>
          <p:nvPr/>
        </p:nvGrpSpPr>
        <p:grpSpPr>
          <a:xfrm>
            <a:off x="8763000" y="4572000"/>
            <a:ext cx="3200400" cy="2209800"/>
            <a:chOff x="8763000" y="4572000"/>
            <a:chExt cx="3200400" cy="2209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BCB806-2063-BBFF-72C3-A2804691A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0" y="4572000"/>
              <a:ext cx="3200400" cy="2209800"/>
            </a:xfrm>
            <a:prstGeom prst="rect">
              <a:avLst/>
            </a:prstGeom>
            <a:solidFill>
              <a:srgbClr val="EFBFB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0487" tIns="44450" rIns="90487" bIns="4445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2400">
                  <a:latin typeface="Calibri" pitchFamily="34" charset="0"/>
                </a:rPr>
                <a:t>Processor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A2ECE19-A068-29E5-1E9F-A64940D78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1035" y="4648200"/>
              <a:ext cx="533400" cy="45720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2400">
                  <a:latin typeface="Calibri" pitchFamily="34" charset="0"/>
                </a:rPr>
                <a:t>PC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DD5FFB-4630-D3A0-7CE0-3943E4B2E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5257800"/>
              <a:ext cx="1676400" cy="76200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400">
                  <a:latin typeface="Calibri" pitchFamily="34" charset="0"/>
                </a:rPr>
                <a:t>Registers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7277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831A4-8D7F-246A-29EC-E37F7BBDB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5A33-8005-15A1-69E3-B387301DB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b="1"/>
              <a:t>A few RISC-V Integer Registers by mnemonic.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FE0D0-A283-4442-9B6B-CC4416722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1F2E1F11-41BA-6BFD-CC04-5BBE8E3CE2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0247721"/>
              </p:ext>
            </p:extLst>
          </p:nvPr>
        </p:nvGraphicFramePr>
        <p:xfrm>
          <a:off x="2366162" y="1454772"/>
          <a:ext cx="8305801" cy="16778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1068949"/>
                    </a:ext>
                  </a:extLst>
                </a:gridCol>
                <a:gridCol w="6172201">
                  <a:extLst>
                    <a:ext uri="{9D8B030D-6E8A-4147-A177-3AD203B41FA5}">
                      <a16:colId xmlns:a16="http://schemas.microsoft.com/office/drawing/2014/main" val="2416821355"/>
                    </a:ext>
                  </a:extLst>
                </a:gridCol>
              </a:tblGrid>
              <a:tr h="419463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Mnemonic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392817"/>
                  </a:ext>
                </a:extLst>
              </a:tr>
              <a:tr h="419463">
                <a:tc>
                  <a:txBody>
                    <a:bodyPr/>
                    <a:lstStyle/>
                    <a:p>
                      <a:r>
                        <a:rPr lang="en-US" sz="200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always zero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36693"/>
                  </a:ext>
                </a:extLst>
              </a:tr>
              <a:tr h="419463">
                <a:tc>
                  <a:txBody>
                    <a:bodyPr/>
                    <a:lstStyle/>
                    <a:p>
                      <a:r>
                        <a:rPr lang="en-US" sz="2000"/>
                        <a:t>t0-t6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temporary registers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163448"/>
                  </a:ext>
                </a:extLst>
              </a:tr>
              <a:tr h="419463">
                <a:tc>
                  <a:txBody>
                    <a:bodyPr/>
                    <a:lstStyle/>
                    <a:p>
                      <a:r>
                        <a:rPr lang="en-US" sz="2000"/>
                        <a:t>a0-a7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function arguments (a0, a1 also used for return value)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481224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0AB8EDA2-0C56-B607-6F4C-2E329AF844C8}"/>
              </a:ext>
            </a:extLst>
          </p:cNvPr>
          <p:cNvSpPr/>
          <p:nvPr/>
        </p:nvSpPr>
        <p:spPr>
          <a:xfrm>
            <a:off x="2368477" y="3728720"/>
            <a:ext cx="8305802" cy="1219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There are </a:t>
            </a:r>
            <a:r>
              <a:rPr lang="en-US" sz="3200" b="1">
                <a:solidFill>
                  <a:schemeClr val="tx1"/>
                </a:solidFill>
              </a:rPr>
              <a:t>32 </a:t>
            </a:r>
            <a:r>
              <a:rPr lang="en-US" sz="3200">
                <a:solidFill>
                  <a:schemeClr val="tx1"/>
                </a:solidFill>
              </a:rPr>
              <a:t>general-purpose registers in </a:t>
            </a:r>
            <a:r>
              <a:rPr lang="en-US" sz="3200" b="1">
                <a:solidFill>
                  <a:schemeClr val="tx1"/>
                </a:solidFill>
              </a:rPr>
              <a:t>RISC-V</a:t>
            </a:r>
            <a:r>
              <a:rPr lang="en-US" sz="320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5948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12D0C-7422-46F1-5BDD-167BB6FF8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82236-F0DA-A4BA-E4E9-3912E53D9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Arithmetic/Logic instructions manipulate register data</a:t>
            </a:r>
          </a:p>
          <a:p>
            <a:endParaRPr lang="en-US"/>
          </a:p>
          <a:p>
            <a:r>
              <a:rPr lang="en-US"/>
              <a:t>Load/store instructions move data in/out of registers</a:t>
            </a:r>
          </a:p>
          <a:p>
            <a:endParaRPr lang="en-US"/>
          </a:p>
          <a:p>
            <a:r>
              <a:rPr lang="en-US"/>
              <a:t>Conditional instructions check values in registers</a:t>
            </a:r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1FCC-1C96-5FA8-A4EE-817DAC56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Instructions.</a:t>
            </a:r>
          </a:p>
        </p:txBody>
      </p:sp>
    </p:spTree>
    <p:extLst>
      <p:ext uri="{BB962C8B-B14F-4D97-AF65-F5344CB8AC3E}">
        <p14:creationId xmlns:p14="http://schemas.microsoft.com/office/powerpoint/2010/main" val="115027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577846-5A7F-4C4E-A87C-E70B65C4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E6C1A3-ADF1-FE2D-F549-718AB87C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Instructions.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291DB4-A7D7-962B-3B18-A6A69135B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94" y="1453589"/>
            <a:ext cx="10606268" cy="526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11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CE2B3C-FDA2-ABDF-164D-9C7D0F870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328B09-CE87-8895-2E4E-867DC3266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Instructions.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E481D4-DACE-48C0-D3B2-F249FA57B7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" b="91843"/>
          <a:stretch>
            <a:fillRect/>
          </a:stretch>
        </p:blipFill>
        <p:spPr>
          <a:xfrm>
            <a:off x="838614" y="1492940"/>
            <a:ext cx="10974037" cy="4483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602067-EBCD-E7B9-D72C-B67540D137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0685" y="1942271"/>
            <a:ext cx="1100137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20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4377D4-BCC8-6E6E-FB6A-D3320374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6627D1-FB43-0B1F-8318-F2E2D6F3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Instructions.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A19265-7C28-0C6F-3B69-57A0540CCF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1849"/>
          <a:stretch/>
        </p:blipFill>
        <p:spPr>
          <a:xfrm>
            <a:off x="840979" y="1608146"/>
            <a:ext cx="10972800" cy="447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FE0334-2D0B-ADFC-CE35-B71B1AFE3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95" y="2061532"/>
            <a:ext cx="10972800" cy="294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46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0AF72-EB60-71E1-F6CD-DCF966CE6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4169ACAD-3241-D303-8398-59D8EF7FB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D2F8FEBC-4AF0-868F-5C9B-7D044C5DA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D82C24-B2CB-CF3E-495E-8A96FA4ED0D8}"/>
              </a:ext>
            </a:extLst>
          </p:cNvPr>
          <p:cNvSpPr txBox="1">
            <a:spLocks/>
          </p:cNvSpPr>
          <p:nvPr/>
        </p:nvSpPr>
        <p:spPr>
          <a:xfrm>
            <a:off x="6417732" y="957715"/>
            <a:ext cx="5130798" cy="27504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6000" b="1" kern="1200">
                <a:latin typeface="+mj-lt"/>
                <a:ea typeface="+mj-ea"/>
                <a:cs typeface="+mj-cs"/>
              </a:rPr>
              <a:t>Chapter </a:t>
            </a:r>
            <a:r>
              <a:rPr lang="en-US" sz="6000" b="1"/>
              <a:t>01</a:t>
            </a:r>
            <a:r>
              <a:rPr lang="en-US" sz="6000" b="1" kern="1200">
                <a:latin typeface="+mj-lt"/>
                <a:ea typeface="+mj-ea"/>
                <a:cs typeface="+mj-cs"/>
              </a:rPr>
              <a:t>:</a:t>
            </a:r>
            <a:br>
              <a:rPr lang="en-US" sz="5400" b="1" kern="1200"/>
            </a:br>
            <a:r>
              <a:rPr lang="en-US" sz="5400"/>
              <a:t>Course Overview</a:t>
            </a:r>
            <a:endParaRPr lang="en-US" sz="5400" kern="1200">
              <a:latin typeface="+mj-lt"/>
              <a:ea typeface="+mj-ea"/>
              <a:cs typeface="+mj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F3B77EE-3F56-07AC-89F5-2518AA60D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891A9-4CFC-93FB-02AB-D1B3BA6E6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722" y="6356350"/>
            <a:ext cx="9178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330EA680-D336-4FF7-8B7A-9848BB0A1C3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C11EA9-136D-4A55-1B2A-7546165B5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29206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285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AEEE3-813E-1E48-9A61-C22E06A0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FEF784-86B0-387F-6D37-ECE279E7A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C: High-Level Language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90115E-5FEA-8940-E064-0E8A32E474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a 	=	b	+	c;</a:t>
            </a:r>
            <a:endParaRPr lang="en-US"/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B670D8-1794-4029-28C2-C1EAD1DD1D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8464" y="1447800"/>
            <a:ext cx="5331845" cy="658368"/>
          </a:xfrm>
        </p:spPr>
        <p:txBody>
          <a:bodyPr/>
          <a:lstStyle/>
          <a:p>
            <a:r>
              <a:rPr lang="en-US"/>
              <a:t>Assembly: Low-level Language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2F19D5-EDD0-264E-DC6A-0D613B28BCF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add 	a, b, c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D001B8-AFD3-FF02-B83E-F8652DDA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Let’s do some simple math!</a:t>
            </a:r>
          </a:p>
        </p:txBody>
      </p:sp>
    </p:spTree>
    <p:extLst>
      <p:ext uri="{BB962C8B-B14F-4D97-AF65-F5344CB8AC3E}">
        <p14:creationId xmlns:p14="http://schemas.microsoft.com/office/powerpoint/2010/main" val="380880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6F4B1CA7-E3C7-D5F5-0C7A-434EC0AAFDFA}"/>
              </a:ext>
            </a:extLst>
          </p:cNvPr>
          <p:cNvSpPr/>
          <p:nvPr/>
        </p:nvSpPr>
        <p:spPr>
          <a:xfrm>
            <a:off x="6400800" y="4356238"/>
            <a:ext cx="1447800" cy="1295400"/>
          </a:xfrm>
          <a:prstGeom prst="wedgeRoundRectCallout">
            <a:avLst>
              <a:gd name="adj1" fmla="val -34989"/>
              <a:gd name="adj2" fmla="val -176040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4B84948C-3AA1-93AA-2B99-74569A7707B0}"/>
              </a:ext>
            </a:extLst>
          </p:cNvPr>
          <p:cNvSpPr/>
          <p:nvPr/>
        </p:nvSpPr>
        <p:spPr>
          <a:xfrm>
            <a:off x="6400800" y="4356238"/>
            <a:ext cx="1447800" cy="1295400"/>
          </a:xfrm>
          <a:prstGeom prst="wedgeRoundRectCallout">
            <a:avLst>
              <a:gd name="adj1" fmla="val -16477"/>
              <a:gd name="adj2" fmla="val -177257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Input operands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E7A00-1C1E-F7C2-DF65-6251CF75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C: High-Level Language </a:t>
            </a:r>
            <a:endParaRPr lang="en-US" b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1CC62A-84F2-05DA-154F-6312ECE48B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a 	=	b	+	c;</a:t>
            </a:r>
            <a:endParaRPr lang="en-US"/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904837-3335-E02E-0E84-85BC9D402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8464" y="1447800"/>
            <a:ext cx="5762542" cy="658368"/>
          </a:xfrm>
        </p:spPr>
        <p:txBody>
          <a:bodyPr/>
          <a:lstStyle/>
          <a:p>
            <a:r>
              <a:rPr lang="en-US"/>
              <a:t>Assembly: Low-level Language</a:t>
            </a:r>
            <a:endParaRPr lang="en-US" b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F914CE-4E82-D440-47C4-04BC1C318E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add 	a, b, c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68DC6E-CF6A-2D2C-8BEA-1BCB127A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Let’s do some simple math!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B7930DBD-861F-6B88-A309-06502DC9EF4A}"/>
              </a:ext>
            </a:extLst>
          </p:cNvPr>
          <p:cNvSpPr/>
          <p:nvPr/>
        </p:nvSpPr>
        <p:spPr>
          <a:xfrm>
            <a:off x="2835502" y="4354125"/>
            <a:ext cx="1489213" cy="1295400"/>
          </a:xfrm>
          <a:prstGeom prst="wedgeRoundRectCallout">
            <a:avLst>
              <a:gd name="adj1" fmla="val 117461"/>
              <a:gd name="adj2" fmla="val -180908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Operation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6E332CF2-5D78-5F80-53C5-637F7F6E1FC3}"/>
              </a:ext>
            </a:extLst>
          </p:cNvPr>
          <p:cNvSpPr/>
          <p:nvPr/>
        </p:nvSpPr>
        <p:spPr>
          <a:xfrm>
            <a:off x="4700460" y="4396966"/>
            <a:ext cx="1447800" cy="1295400"/>
          </a:xfrm>
          <a:prstGeom prst="wedgeRoundRectCallout">
            <a:avLst>
              <a:gd name="adj1" fmla="val 52125"/>
              <a:gd name="adj2" fmla="val -174823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Output operand</a:t>
            </a:r>
          </a:p>
        </p:txBody>
      </p:sp>
    </p:spTree>
    <p:extLst>
      <p:ext uri="{BB962C8B-B14F-4D97-AF65-F5344CB8AC3E}">
        <p14:creationId xmlns:p14="http://schemas.microsoft.com/office/powerpoint/2010/main" val="103610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9" grpId="0" build="p"/>
      <p:bldP spid="10" grpId="0" build="p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42987-C044-B997-DE32-5083A7905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2F5E94-FADA-3F1B-21B2-7D2076355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C: High-Level Language </a:t>
            </a:r>
            <a:endParaRPr lang="en-US" b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81B032-187B-ECA8-12F9-D3DED5EA1E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a 	=	b	+	c;</a:t>
            </a:r>
            <a:endParaRPr lang="en-US"/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F423F6-6D5B-269E-E27D-419DBC3A8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8464" y="1447800"/>
            <a:ext cx="5762542" cy="658368"/>
          </a:xfrm>
        </p:spPr>
        <p:txBody>
          <a:bodyPr/>
          <a:lstStyle/>
          <a:p>
            <a:r>
              <a:rPr lang="en-US"/>
              <a:t>Assembly: Low-level Language</a:t>
            </a:r>
            <a:endParaRPr lang="en-US" b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D1CBDE4-5AE7-FB46-3225-82C60936D8B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add 	a, b, c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D019C9-4CE3-9D41-A004-B72FE663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Let’s do some simple math!</a:t>
            </a: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56C664E1-1CDF-4C00-8454-7FAEA5F8E41B}"/>
              </a:ext>
            </a:extLst>
          </p:cNvPr>
          <p:cNvSpPr/>
          <p:nvPr/>
        </p:nvSpPr>
        <p:spPr>
          <a:xfrm>
            <a:off x="8356405" y="351182"/>
            <a:ext cx="2917135" cy="1265583"/>
          </a:xfrm>
          <a:prstGeom prst="cloudCallout">
            <a:avLst>
              <a:gd name="adj1" fmla="val -76605"/>
              <a:gd name="adj2" fmla="val 521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rgbClr val="000000"/>
                </a:solidFill>
              </a:rPr>
              <a:t>Where are a, b, c?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5C617-E962-1E3B-23F6-AC9121A275F1}"/>
              </a:ext>
            </a:extLst>
          </p:cNvPr>
          <p:cNvSpPr/>
          <p:nvPr/>
        </p:nvSpPr>
        <p:spPr>
          <a:xfrm>
            <a:off x="1939217" y="4346713"/>
            <a:ext cx="8305802" cy="1219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We need to know more </a:t>
            </a:r>
            <a:r>
              <a:rPr lang="en-US" sz="3200" b="1">
                <a:solidFill>
                  <a:srgbClr val="000000"/>
                </a:solidFill>
              </a:rPr>
              <a:t>context</a:t>
            </a:r>
            <a:r>
              <a:rPr lang="en-US" sz="320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093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E6A7B-08A0-82B1-41B2-93A17BCC8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035CA19-105F-DDFA-754C-531010F1E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C: High-Level Language </a:t>
            </a:r>
            <a:endParaRPr lang="en-US" b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C1250D-A920-8461-2D98-9F3A0868B0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a 	=	b	+	c;</a:t>
            </a:r>
            <a:endParaRPr lang="en-US"/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63B67A-8924-C48C-8779-3F8B59BD2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8464" y="1447800"/>
            <a:ext cx="5762542" cy="658368"/>
          </a:xfrm>
        </p:spPr>
        <p:txBody>
          <a:bodyPr/>
          <a:lstStyle/>
          <a:p>
            <a:r>
              <a:rPr lang="en-US"/>
              <a:t>Assembly – RISC-V</a:t>
            </a:r>
            <a:endParaRPr lang="en-US" b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A254C1C-F92C-D667-A37C-1AA2B04A8B7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trike="sngStrike"/>
              <a:t>add a, b, c</a:t>
            </a:r>
          </a:p>
          <a:p>
            <a:pPr marL="0" indent="0">
              <a:buNone/>
            </a:pPr>
            <a:r>
              <a:rPr lang="en-US"/>
              <a:t>add t1, a0, a1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154910-560E-688B-60FF-61534BFC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Let’s do some simple math!</a:t>
            </a: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FFBC9B21-79E6-2929-966D-E13C875F2E0F}"/>
              </a:ext>
            </a:extLst>
          </p:cNvPr>
          <p:cNvSpPr/>
          <p:nvPr/>
        </p:nvSpPr>
        <p:spPr>
          <a:xfrm>
            <a:off x="8356405" y="351182"/>
            <a:ext cx="2917135" cy="1265583"/>
          </a:xfrm>
          <a:prstGeom prst="cloudCallout">
            <a:avLst>
              <a:gd name="adj1" fmla="val -76605"/>
              <a:gd name="adj2" fmla="val 521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/>
              <a:t>Where are a, b, c?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5FC89B-1F6A-B3ED-90D2-F7836E2431EE}"/>
              </a:ext>
            </a:extLst>
          </p:cNvPr>
          <p:cNvSpPr/>
          <p:nvPr/>
        </p:nvSpPr>
        <p:spPr>
          <a:xfrm>
            <a:off x="1948288" y="3897086"/>
            <a:ext cx="8305802" cy="1981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800">
                <a:solidFill>
                  <a:schemeClr val="tx1"/>
                </a:solidFill>
              </a:rPr>
              <a:t>For now, we’ll just make assumptions: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 sz="2800" b="1">
                <a:solidFill>
                  <a:schemeClr val="tx1"/>
                </a:solidFill>
              </a:rPr>
              <a:t>b</a:t>
            </a:r>
            <a:r>
              <a:rPr lang="en-US" sz="2800">
                <a:solidFill>
                  <a:schemeClr val="tx1"/>
                </a:solidFill>
              </a:rPr>
              <a:t> is in register </a:t>
            </a:r>
            <a:r>
              <a:rPr lang="en-US" sz="2800" b="1">
                <a:solidFill>
                  <a:schemeClr val="tx1"/>
                </a:solidFill>
              </a:rPr>
              <a:t>a0</a:t>
            </a:r>
            <a:br>
              <a:rPr lang="en-US" sz="2800">
                <a:solidFill>
                  <a:schemeClr val="tx1"/>
                </a:solidFill>
              </a:rPr>
            </a:br>
            <a:r>
              <a:rPr lang="en-US" sz="2800" b="1">
                <a:solidFill>
                  <a:schemeClr val="tx1"/>
                </a:solidFill>
              </a:rPr>
              <a:t>c</a:t>
            </a:r>
            <a:r>
              <a:rPr lang="en-US" sz="2800">
                <a:solidFill>
                  <a:schemeClr val="tx1"/>
                </a:solidFill>
              </a:rPr>
              <a:t> is in register </a:t>
            </a:r>
            <a:r>
              <a:rPr lang="en-US" sz="2800" b="1">
                <a:solidFill>
                  <a:schemeClr val="tx1"/>
                </a:solidFill>
              </a:rPr>
              <a:t>a1</a:t>
            </a:r>
            <a:br>
              <a:rPr lang="en-US" sz="2800">
                <a:solidFill>
                  <a:schemeClr val="tx1"/>
                </a:solidFill>
              </a:rPr>
            </a:br>
            <a:r>
              <a:rPr lang="en-US" sz="2800" b="1">
                <a:solidFill>
                  <a:schemeClr val="tx1"/>
                </a:solidFill>
              </a:rPr>
              <a:t>a</a:t>
            </a:r>
            <a:r>
              <a:rPr lang="en-US" sz="2800">
                <a:solidFill>
                  <a:schemeClr val="tx1"/>
                </a:solidFill>
              </a:rPr>
              <a:t> goes in register </a:t>
            </a:r>
            <a:r>
              <a:rPr lang="en-US" sz="2800" b="1">
                <a:solidFill>
                  <a:schemeClr val="tx1"/>
                </a:solidFill>
              </a:rPr>
              <a:t>t1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80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E7A00-1C1E-F7C2-DF65-6251CF75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C: High-Level Language </a:t>
            </a:r>
            <a:endParaRPr lang="en-US" b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1CC62A-84F2-05DA-154F-6312ECE48B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d	=	e	-	f;</a:t>
            </a:r>
            <a:endParaRPr lang="en-US"/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904837-3335-E02E-0E84-85BC9D402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F914CE-4E82-D440-47C4-04BC1C318E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sub 	d, e, f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68DC6E-CF6A-2D2C-8BEA-1BCB127A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do subtraction!</a:t>
            </a:r>
          </a:p>
        </p:txBody>
      </p:sp>
    </p:spTree>
    <p:extLst>
      <p:ext uri="{BB962C8B-B14F-4D97-AF65-F5344CB8AC3E}">
        <p14:creationId xmlns:p14="http://schemas.microsoft.com/office/powerpoint/2010/main" val="4227754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D0DEA-35A5-B7D6-5BC1-3623518C1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44576E-479E-DEB1-8D52-6C8E53753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C: High-Level Language </a:t>
            </a:r>
            <a:endParaRPr lang="en-US" b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6684E7-7D75-F2AF-8BDB-7F7CD4CC2F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d	=	e	-	f;</a:t>
            </a:r>
            <a:endParaRPr lang="en-US"/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4C419E-0F18-0995-F9F5-F069ECA6B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 – RISC V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6B1A73-BF91-5443-2AFC-21D4EB2A59C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sub a1, t0, t5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C46CA8-1C6A-96AA-E7B7-54BC9920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do subtraction!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A7B23-BE24-8286-500D-045C003F10E2}"/>
              </a:ext>
            </a:extLst>
          </p:cNvPr>
          <p:cNvSpPr/>
          <p:nvPr/>
        </p:nvSpPr>
        <p:spPr>
          <a:xfrm>
            <a:off x="1948288" y="3352800"/>
            <a:ext cx="8305802" cy="1981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800">
                <a:solidFill>
                  <a:schemeClr val="tx1"/>
                </a:solidFill>
              </a:rPr>
              <a:t>Assume: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 sz="2800" b="1">
                <a:solidFill>
                  <a:schemeClr val="tx1"/>
                </a:solidFill>
              </a:rPr>
              <a:t>e</a:t>
            </a:r>
            <a:r>
              <a:rPr lang="en-US" sz="2800">
                <a:solidFill>
                  <a:schemeClr val="tx1"/>
                </a:solidFill>
              </a:rPr>
              <a:t> is in register </a:t>
            </a:r>
            <a:r>
              <a:rPr lang="en-US" sz="2800" b="1">
                <a:solidFill>
                  <a:schemeClr val="tx1"/>
                </a:solidFill>
              </a:rPr>
              <a:t>t0</a:t>
            </a:r>
            <a:br>
              <a:rPr lang="en-US" sz="2800"/>
            </a:br>
            <a:r>
              <a:rPr lang="en-US" sz="2800" b="1">
                <a:solidFill>
                  <a:schemeClr val="tx1"/>
                </a:solidFill>
              </a:rPr>
              <a:t>f</a:t>
            </a:r>
            <a:r>
              <a:rPr lang="en-US" sz="2800">
                <a:solidFill>
                  <a:schemeClr val="tx1"/>
                </a:solidFill>
              </a:rPr>
              <a:t> is in register </a:t>
            </a:r>
            <a:r>
              <a:rPr lang="en-US" sz="2800" b="1">
                <a:solidFill>
                  <a:schemeClr val="tx1"/>
                </a:solidFill>
              </a:rPr>
              <a:t>t5</a:t>
            </a:r>
            <a:br>
              <a:rPr lang="en-US" sz="2800"/>
            </a:br>
            <a:r>
              <a:rPr lang="en-US" sz="2800" b="1">
                <a:solidFill>
                  <a:schemeClr val="tx1"/>
                </a:solidFill>
              </a:rPr>
              <a:t>d</a:t>
            </a:r>
            <a:r>
              <a:rPr lang="en-US" sz="2800">
                <a:solidFill>
                  <a:schemeClr val="tx1"/>
                </a:solidFill>
              </a:rPr>
              <a:t> goes in register </a:t>
            </a:r>
            <a:r>
              <a:rPr lang="en-US" sz="2800" b="1">
                <a:solidFill>
                  <a:schemeClr val="tx1"/>
                </a:solidFill>
              </a:rPr>
              <a:t>a1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675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E7A00-1C1E-F7C2-DF65-6251CF75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C: High-Level Language </a:t>
            </a:r>
            <a:endParaRPr lang="en-US" b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1CC62A-84F2-05DA-154F-6312ECE48B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/>
              <a:t>g	=	h	*	256;</a:t>
            </a:r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904837-3335-E02E-0E84-85BC9D402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F914CE-4E82-D440-47C4-04BC1C318E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/>
              <a:t>mul</a:t>
            </a:r>
            <a:r>
              <a:rPr lang="en-US"/>
              <a:t> 	g, h, 256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68DC6E-CF6A-2D2C-8BEA-1BCB127A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multiply by a power of 2!</a:t>
            </a:r>
          </a:p>
        </p:txBody>
      </p:sp>
    </p:spTree>
    <p:extLst>
      <p:ext uri="{BB962C8B-B14F-4D97-AF65-F5344CB8AC3E}">
        <p14:creationId xmlns:p14="http://schemas.microsoft.com/office/powerpoint/2010/main" val="3605027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89031-FF74-89BA-DE3C-A226FE16A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312884-AE57-4394-7D7C-872DAA646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C: High-Level Language </a:t>
            </a:r>
            <a:endParaRPr lang="en-US" b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909405-09F4-D938-D575-4DA5BAC6D6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/>
              <a:t>g	=	h	*	256;</a:t>
            </a:r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0C47ED-9B36-1759-BC6B-B54EDD8B1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40B133-C71C-DF64-2D48-848960B4A90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/>
              <a:t>mul</a:t>
            </a:r>
            <a:r>
              <a:rPr lang="en-US"/>
              <a:t> 	g, h, 256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61127C-B316-317B-CAF7-9290FE46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multiply by a power of 2!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9CDF3E-2198-ACC1-CD3E-FEDA65804001}"/>
              </a:ext>
            </a:extLst>
          </p:cNvPr>
          <p:cNvSpPr/>
          <p:nvPr/>
        </p:nvSpPr>
        <p:spPr>
          <a:xfrm>
            <a:off x="1939217" y="3932583"/>
            <a:ext cx="8305802" cy="1981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RISC-V base integer instruction set (</a:t>
            </a:r>
            <a:r>
              <a:rPr lang="en-US" sz="3200" b="1">
                <a:solidFill>
                  <a:schemeClr val="tx1"/>
                </a:solidFill>
              </a:rPr>
              <a:t>RV32I</a:t>
            </a:r>
            <a:r>
              <a:rPr lang="en-US" sz="3200">
                <a:solidFill>
                  <a:schemeClr val="tx1"/>
                </a:solidFill>
              </a:rPr>
              <a:t>) does not have a multiply instruction!</a:t>
            </a:r>
          </a:p>
        </p:txBody>
      </p:sp>
    </p:spTree>
    <p:extLst>
      <p:ext uri="{BB962C8B-B14F-4D97-AF65-F5344CB8AC3E}">
        <p14:creationId xmlns:p14="http://schemas.microsoft.com/office/powerpoint/2010/main" val="176903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5CD03-18D3-0D55-89A5-3999EAF7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01BA1C-F1ED-55B9-04B6-E8D7425FC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C: High-Level Language </a:t>
            </a:r>
            <a:endParaRPr lang="en-US" b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40363-FBF2-396C-123E-F8E596045F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/>
              <a:t>g	=	h	*	256;</a:t>
            </a:r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6755FB-43E6-A353-F4FC-52E89171E8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38526C-E1F1-8DBA-FC9C-EA5B386B09C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/>
              <a:t>mul</a:t>
            </a:r>
            <a:r>
              <a:rPr lang="en-US"/>
              <a:t> 	g, h, 256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4A2AEE-BE22-54A3-4BD2-1480AF95F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multiply by a power of 2!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642660-791B-4E74-339E-ADC10CBF93A5}"/>
              </a:ext>
            </a:extLst>
          </p:cNvPr>
          <p:cNvSpPr/>
          <p:nvPr/>
        </p:nvSpPr>
        <p:spPr>
          <a:xfrm>
            <a:off x="950430" y="4142014"/>
            <a:ext cx="10290883" cy="1219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Multiplication by </a:t>
            </a:r>
            <a:r>
              <a:rPr lang="en-US" sz="3200" b="1">
                <a:solidFill>
                  <a:schemeClr val="tx1"/>
                </a:solidFill>
              </a:rPr>
              <a:t>2</a:t>
            </a:r>
            <a:r>
              <a:rPr lang="en-US" sz="3200" b="1" baseline="30000">
                <a:solidFill>
                  <a:schemeClr val="tx1"/>
                </a:solidFill>
              </a:rPr>
              <a:t>x</a:t>
            </a:r>
            <a:r>
              <a:rPr lang="en-US" sz="3200">
                <a:solidFill>
                  <a:schemeClr val="tx1"/>
                </a:solidFill>
              </a:rPr>
              <a:t> is equivalent to </a:t>
            </a:r>
            <a:r>
              <a:rPr lang="en-US" sz="3200" i="1">
                <a:solidFill>
                  <a:schemeClr val="tx1"/>
                </a:solidFill>
              </a:rPr>
              <a:t>shifting left</a:t>
            </a:r>
            <a:r>
              <a:rPr lang="en-US" sz="3200">
                <a:solidFill>
                  <a:schemeClr val="tx1"/>
                </a:solidFill>
              </a:rPr>
              <a:t> by </a:t>
            </a:r>
            <a:r>
              <a:rPr lang="en-US" sz="3200" b="1">
                <a:solidFill>
                  <a:schemeClr val="tx1"/>
                </a:solidFill>
              </a:rPr>
              <a:t>log</a:t>
            </a:r>
            <a:r>
              <a:rPr lang="en-US" sz="3200" b="1" baseline="-25000">
                <a:solidFill>
                  <a:schemeClr val="tx1"/>
                </a:solidFill>
              </a:rPr>
              <a:t>2</a:t>
            </a:r>
            <a:r>
              <a:rPr lang="en-US" sz="3200" b="1">
                <a:solidFill>
                  <a:schemeClr val="tx1"/>
                </a:solidFill>
              </a:rPr>
              <a:t>(2</a:t>
            </a:r>
            <a:r>
              <a:rPr lang="en-US" sz="3200" b="1" baseline="30000">
                <a:solidFill>
                  <a:schemeClr val="tx1"/>
                </a:solidFill>
              </a:rPr>
              <a:t>x</a:t>
            </a:r>
            <a:r>
              <a:rPr lang="en-US" sz="3200" b="1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943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DB5FD7-E255-3654-0DF6-408ADF1B72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8000" y="1371600"/>
            <a:ext cx="4638421" cy="50292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/>
              <a:t>2 = 2</a:t>
            </a:r>
            <a:r>
              <a:rPr lang="en-US" baseline="30000"/>
              <a:t>1</a:t>
            </a:r>
          </a:p>
          <a:p>
            <a:r>
              <a:rPr lang="en-US"/>
              <a:t>4 = 2</a:t>
            </a:r>
            <a:r>
              <a:rPr lang="en-US" baseline="30000"/>
              <a:t>2</a:t>
            </a:r>
            <a:endParaRPr lang="en-US"/>
          </a:p>
          <a:p>
            <a:r>
              <a:rPr lang="en-US"/>
              <a:t>8 = 2</a:t>
            </a:r>
            <a:r>
              <a:rPr lang="en-US" baseline="30000"/>
              <a:t>3</a:t>
            </a:r>
            <a:endParaRPr lang="en-US"/>
          </a:p>
          <a:p>
            <a:r>
              <a:rPr lang="en-US"/>
              <a:t>16 = 2</a:t>
            </a:r>
            <a:r>
              <a:rPr lang="en-US" baseline="30000"/>
              <a:t>4</a:t>
            </a:r>
            <a:endParaRPr lang="en-US"/>
          </a:p>
          <a:p>
            <a:r>
              <a:rPr lang="en-US"/>
              <a:t>32 = 2</a:t>
            </a:r>
            <a:r>
              <a:rPr lang="en-US" baseline="30000"/>
              <a:t>5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52F02D-D907-7A8C-BCA9-C02F4235FE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1371600"/>
            <a:ext cx="4648200" cy="5029200"/>
          </a:xfrm>
        </p:spPr>
        <p:txBody>
          <a:bodyPr/>
          <a:lstStyle/>
          <a:p>
            <a:r>
              <a:rPr lang="en-US"/>
              <a:t>64 = 2</a:t>
            </a:r>
            <a:r>
              <a:rPr lang="en-US" baseline="30000"/>
              <a:t>6</a:t>
            </a:r>
            <a:endParaRPr lang="en-US"/>
          </a:p>
          <a:p>
            <a:r>
              <a:rPr lang="en-US"/>
              <a:t>128 = 2</a:t>
            </a:r>
            <a:r>
              <a:rPr lang="en-US" baseline="30000"/>
              <a:t>7</a:t>
            </a:r>
            <a:endParaRPr lang="en-US"/>
          </a:p>
          <a:p>
            <a:r>
              <a:rPr lang="en-US"/>
              <a:t>256 = 2</a:t>
            </a:r>
            <a:r>
              <a:rPr lang="en-US" baseline="30000"/>
              <a:t>8</a:t>
            </a:r>
            <a:endParaRPr lang="en-US"/>
          </a:p>
          <a:p>
            <a:r>
              <a:rPr lang="en-US"/>
              <a:t>512 = 2</a:t>
            </a:r>
            <a:r>
              <a:rPr lang="en-US" baseline="30000"/>
              <a:t>9</a:t>
            </a:r>
            <a:endParaRPr lang="en-US"/>
          </a:p>
          <a:p>
            <a:r>
              <a:rPr lang="en-US"/>
              <a:t>1024 = 2</a:t>
            </a:r>
            <a:r>
              <a:rPr lang="en-US" baseline="30000"/>
              <a:t>10</a:t>
            </a:r>
            <a:endParaRPr lang="en-US"/>
          </a:p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51D69DE-B535-DBAF-5926-D4CAD825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Memorize powers-of-2 and log</a:t>
            </a:r>
            <a:r>
              <a:rPr lang="en-US" baseline="-25000"/>
              <a:t>2</a:t>
            </a:r>
            <a:r>
              <a:rPr lang="en-US"/>
              <a:t> up to 1024!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6299BD-24E8-A150-A57B-467E931CEB04}"/>
              </a:ext>
            </a:extLst>
          </p:cNvPr>
          <p:cNvSpPr/>
          <p:nvPr/>
        </p:nvSpPr>
        <p:spPr>
          <a:xfrm>
            <a:off x="3045081" y="5065486"/>
            <a:ext cx="6096000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Combine with </a:t>
            </a:r>
            <a:r>
              <a:rPr lang="en-US" sz="2400" b="1">
                <a:solidFill>
                  <a:schemeClr val="tx1"/>
                </a:solidFill>
              </a:rPr>
              <a:t>SI prefixes</a:t>
            </a:r>
            <a:r>
              <a:rPr lang="en-US" sz="2400">
                <a:solidFill>
                  <a:schemeClr val="tx1"/>
                </a:solidFill>
              </a:rPr>
              <a:t> for larger numbers.</a:t>
            </a:r>
          </a:p>
        </p:txBody>
      </p:sp>
    </p:spTree>
    <p:extLst>
      <p:ext uri="{BB962C8B-B14F-4D97-AF65-F5344CB8AC3E}">
        <p14:creationId xmlns:p14="http://schemas.microsoft.com/office/powerpoint/2010/main" val="106693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DB15F-7E67-6818-11AC-8D957DDF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8DF55C-9C12-8839-BC0D-D89A80DA30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8000" y="1371600"/>
            <a:ext cx="10734419" cy="5029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800"/>
              <a:t>Multiplication by </a:t>
            </a:r>
            <a:r>
              <a:rPr lang="en-US" sz="2800" b="1"/>
              <a:t>2</a:t>
            </a:r>
            <a:r>
              <a:rPr lang="en-US" sz="2800" b="1" baseline="30000"/>
              <a:t>x</a:t>
            </a:r>
            <a:r>
              <a:rPr lang="en-US" sz="2800"/>
              <a:t> is equivalent to shifting left by </a:t>
            </a:r>
            <a:r>
              <a:rPr lang="en-US" sz="2800" b="1"/>
              <a:t>log</a:t>
            </a:r>
            <a:r>
              <a:rPr lang="en-US" sz="2800" b="1" baseline="-25000"/>
              <a:t>2</a:t>
            </a:r>
            <a:r>
              <a:rPr lang="en-US" sz="2800" b="1"/>
              <a:t>(x)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sz="2800" b="1"/>
              <a:t>Example: </a:t>
            </a:r>
          </a:p>
          <a:p>
            <a:pPr marL="0" indent="0">
              <a:buNone/>
            </a:pPr>
            <a:r>
              <a:rPr lang="en-US"/>
              <a:t>Multiplication by 8</a:t>
            </a:r>
          </a:p>
          <a:p>
            <a:pPr marL="457200" lvl="1" indent="0">
              <a:buNone/>
            </a:pPr>
            <a:r>
              <a:rPr lang="en-US" sz="2800"/>
              <a:t>8 = 2</a:t>
            </a:r>
            <a:r>
              <a:rPr lang="en-US" sz="2800" baseline="30000"/>
              <a:t>3</a:t>
            </a:r>
          </a:p>
          <a:p>
            <a:pPr marL="457200" lvl="1" indent="0">
              <a:buNone/>
            </a:pPr>
            <a:r>
              <a:rPr lang="en-US" sz="2800"/>
              <a:t>so log</a:t>
            </a:r>
            <a:r>
              <a:rPr lang="en-US" sz="2800" baseline="-25000"/>
              <a:t>2</a:t>
            </a:r>
            <a:r>
              <a:rPr lang="en-US" sz="2800"/>
              <a:t>(8) = 3</a:t>
            </a:r>
          </a:p>
          <a:p>
            <a:pPr lvl="1">
              <a:buNone/>
            </a:pPr>
            <a:r>
              <a:rPr lang="en-US" sz="2800"/>
              <a:t>To multiply a number by 8, shift it left by 3 positions</a:t>
            </a:r>
          </a:p>
          <a:p>
            <a:pPr marL="457200" lvl="1" indent="0">
              <a:buNone/>
            </a:pPr>
            <a:endParaRPr lang="en-US" sz="2800"/>
          </a:p>
          <a:p>
            <a:pPr marL="0" indent="0">
              <a:buNone/>
            </a:pPr>
            <a:r>
              <a:rPr lang="en-US"/>
              <a:t>Example with </a:t>
            </a:r>
            <a:r>
              <a:rPr lang="en-US" b="1"/>
              <a:t>6</a:t>
            </a:r>
            <a:r>
              <a:rPr lang="en-US"/>
              <a:t> (binary: </a:t>
            </a:r>
            <a:r>
              <a:rPr lang="en-US" b="1"/>
              <a:t>110</a:t>
            </a:r>
            <a:r>
              <a:rPr lang="en-US"/>
              <a:t>):</a:t>
            </a:r>
          </a:p>
          <a:p>
            <a:pPr marL="457200" lvl="1" indent="0">
              <a:buNone/>
            </a:pPr>
            <a:r>
              <a:rPr lang="en-US" sz="2800"/>
              <a:t>Multiply by </a:t>
            </a:r>
            <a:r>
              <a:rPr lang="en-US" sz="2800" b="1"/>
              <a:t>8</a:t>
            </a:r>
            <a:r>
              <a:rPr lang="en-US" sz="2800"/>
              <a:t>: 6 * 8 = 48</a:t>
            </a:r>
          </a:p>
          <a:p>
            <a:pPr marL="457200" lvl="1" indent="0">
              <a:buNone/>
            </a:pPr>
            <a:r>
              <a:rPr lang="en-US" sz="2800"/>
              <a:t>Left shift </a:t>
            </a:r>
            <a:r>
              <a:rPr lang="en-US" sz="2800" b="1"/>
              <a:t>110</a:t>
            </a:r>
            <a:r>
              <a:rPr lang="en-US" sz="2800"/>
              <a:t> by </a:t>
            </a:r>
            <a:r>
              <a:rPr lang="en-US" sz="2800" b="1"/>
              <a:t>3</a:t>
            </a:r>
            <a:r>
              <a:rPr lang="en-US" sz="2800"/>
              <a:t>: 110000 (binary for </a:t>
            </a:r>
            <a:r>
              <a:rPr lang="en-US" sz="2800" b="1"/>
              <a:t>48</a:t>
            </a:r>
            <a:r>
              <a:rPr lang="en-US" sz="2800"/>
              <a:t>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964D0C-130E-0630-4DC9-DCA459F3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875946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E7A00-1C1E-F7C2-DF65-6251CF75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High-Level Language – C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1CC62A-84F2-05DA-154F-6312ECE48B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g	=	h	*	256;</a:t>
            </a:r>
            <a:endParaRPr lang="en-US"/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904837-3335-E02E-0E84-85BC9D402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 – RISC-V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F914CE-4E82-D440-47C4-04BC1C318E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trike="sngStrike" err="1"/>
              <a:t>mul</a:t>
            </a:r>
            <a:r>
              <a:rPr lang="en-US" strike="sngStrike"/>
              <a:t> 	g, h, 256</a:t>
            </a:r>
            <a:endParaRPr lang="en-US"/>
          </a:p>
          <a:p>
            <a:pPr marL="0" indent="0">
              <a:buNone/>
            </a:pPr>
            <a:r>
              <a:rPr lang="en-US" err="1"/>
              <a:t>slli</a:t>
            </a:r>
            <a:r>
              <a:rPr lang="en-US"/>
              <a:t> 	g, h, 8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68DC6E-CF6A-2D2C-8BEA-1BCB127A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multiply by a power of 2!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FCBBEF-CB4B-9EDE-79B3-F4C781C1146D}"/>
              </a:ext>
            </a:extLst>
          </p:cNvPr>
          <p:cNvSpPr/>
          <p:nvPr/>
        </p:nvSpPr>
        <p:spPr>
          <a:xfrm>
            <a:off x="224716" y="3733800"/>
            <a:ext cx="10824284" cy="1219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Multiplication by </a:t>
            </a:r>
            <a:r>
              <a:rPr lang="en-US" sz="3200" b="1">
                <a:solidFill>
                  <a:schemeClr val="tx1"/>
                </a:solidFill>
              </a:rPr>
              <a:t>2</a:t>
            </a:r>
            <a:r>
              <a:rPr lang="en-US" sz="3200" b="1" baseline="30000">
                <a:solidFill>
                  <a:schemeClr val="tx1"/>
                </a:solidFill>
              </a:rPr>
              <a:t>8</a:t>
            </a:r>
            <a:r>
              <a:rPr lang="en-US" sz="3200">
                <a:solidFill>
                  <a:schemeClr val="tx1"/>
                </a:solidFill>
              </a:rPr>
              <a:t> is equivalent to shifting left by </a:t>
            </a:r>
            <a:r>
              <a:rPr lang="en-US" sz="3200" b="1">
                <a:solidFill>
                  <a:schemeClr val="tx1"/>
                </a:solidFill>
              </a:rPr>
              <a:t>log</a:t>
            </a:r>
            <a:r>
              <a:rPr lang="en-US" sz="3200" b="1" baseline="-25000">
                <a:solidFill>
                  <a:schemeClr val="tx1"/>
                </a:solidFill>
              </a:rPr>
              <a:t>2</a:t>
            </a:r>
            <a:r>
              <a:rPr lang="en-US" sz="3200" b="1">
                <a:solidFill>
                  <a:schemeClr val="tx1"/>
                </a:solidFill>
              </a:rPr>
              <a:t>(2</a:t>
            </a:r>
            <a:r>
              <a:rPr lang="en-US" sz="3200" b="1" baseline="30000">
                <a:solidFill>
                  <a:schemeClr val="tx1"/>
                </a:solidFill>
              </a:rPr>
              <a:t>8</a:t>
            </a:r>
            <a:r>
              <a:rPr lang="en-US" sz="3200" b="1">
                <a:solidFill>
                  <a:schemeClr val="tx1"/>
                </a:solidFill>
              </a:rPr>
              <a:t>) = 8</a:t>
            </a:r>
          </a:p>
        </p:txBody>
      </p:sp>
    </p:spTree>
    <p:extLst>
      <p:ext uri="{BB962C8B-B14F-4D97-AF65-F5344CB8AC3E}">
        <p14:creationId xmlns:p14="http://schemas.microsoft.com/office/powerpoint/2010/main" val="128807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E7A00-1C1E-F7C2-DF65-6251CF75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High-Level Language – C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1CC62A-84F2-05DA-154F-6312ECE48B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g	=	h	*	256;</a:t>
            </a:r>
            <a:endParaRPr lang="en-US"/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904837-3335-E02E-0E84-85BC9D402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 – RISC-V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F914CE-4E82-D440-47C4-04BC1C318E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trike="sngStrike" err="1"/>
              <a:t>mul</a:t>
            </a:r>
            <a:r>
              <a:rPr lang="en-US" strike="sngStrike"/>
              <a:t> 	g, h, 256</a:t>
            </a:r>
            <a:endParaRPr lang="en-US"/>
          </a:p>
          <a:p>
            <a:pPr marL="0" indent="0">
              <a:buNone/>
            </a:pPr>
            <a:r>
              <a:rPr lang="en-US" strike="sngStrike" err="1"/>
              <a:t>slli</a:t>
            </a:r>
            <a:r>
              <a:rPr lang="en-US" strike="sngStrike"/>
              <a:t> 	g, h, 8</a:t>
            </a:r>
          </a:p>
          <a:p>
            <a:pPr marL="0" indent="0">
              <a:buNone/>
            </a:pPr>
            <a:r>
              <a:rPr lang="en-US" err="1"/>
              <a:t>slli</a:t>
            </a:r>
            <a:r>
              <a:rPr lang="en-US"/>
              <a:t> 	t4, t3, 8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68DC6E-CF6A-2D2C-8BEA-1BCB127A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multiply by a power of 2!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FCBBEF-CB4B-9EDE-79B3-F4C781C1146D}"/>
              </a:ext>
            </a:extLst>
          </p:cNvPr>
          <p:cNvSpPr/>
          <p:nvPr/>
        </p:nvSpPr>
        <p:spPr>
          <a:xfrm>
            <a:off x="678287" y="4486729"/>
            <a:ext cx="10824284" cy="1219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Assume </a:t>
            </a:r>
            <a:r>
              <a:rPr lang="en-US" sz="3200" b="1">
                <a:solidFill>
                  <a:schemeClr val="tx1"/>
                </a:solidFill>
              </a:rPr>
              <a:t>h</a:t>
            </a:r>
            <a:r>
              <a:rPr lang="en-US" sz="3200">
                <a:solidFill>
                  <a:schemeClr val="tx1"/>
                </a:solidFill>
              </a:rPr>
              <a:t> is in </a:t>
            </a:r>
            <a:r>
              <a:rPr lang="en-US" sz="3200" b="1">
                <a:solidFill>
                  <a:schemeClr val="tx1"/>
                </a:solidFill>
              </a:rPr>
              <a:t>t3</a:t>
            </a:r>
            <a:r>
              <a:rPr lang="en-US" sz="3200">
                <a:solidFill>
                  <a:schemeClr val="tx1"/>
                </a:solidFill>
              </a:rPr>
              <a:t>, </a:t>
            </a:r>
            <a:r>
              <a:rPr lang="en-US" sz="3200" b="1">
                <a:solidFill>
                  <a:schemeClr val="tx1"/>
                </a:solidFill>
              </a:rPr>
              <a:t>g</a:t>
            </a:r>
            <a:r>
              <a:rPr lang="en-US" sz="3200">
                <a:solidFill>
                  <a:schemeClr val="tx1"/>
                </a:solidFill>
              </a:rPr>
              <a:t> goes in </a:t>
            </a:r>
            <a:r>
              <a:rPr lang="en-US" sz="3200" b="1">
                <a:solidFill>
                  <a:schemeClr val="tx1"/>
                </a:solidFill>
              </a:rPr>
              <a:t>t4</a:t>
            </a:r>
          </a:p>
        </p:txBody>
      </p:sp>
    </p:spTree>
    <p:extLst>
      <p:ext uri="{BB962C8B-B14F-4D97-AF65-F5344CB8AC3E}">
        <p14:creationId xmlns:p14="http://schemas.microsoft.com/office/powerpoint/2010/main" val="1815779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E7A00-1C1E-F7C2-DF65-6251CF75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High-Level Language – C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1CC62A-84F2-05DA-154F-6312ECE48B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g	 = 	h	*	18;</a:t>
            </a:r>
            <a:endParaRPr lang="en-US"/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904837-3335-E02E-0E84-85BC9D402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F914CE-4E82-D440-47C4-04BC1C318E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/>
              <a:t>mul</a:t>
            </a:r>
            <a:r>
              <a:rPr lang="en-US"/>
              <a:t> 	g, h, 18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68DC6E-CF6A-2D2C-8BEA-1BCB127A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Multiplication by other numbers.</a:t>
            </a:r>
          </a:p>
        </p:txBody>
      </p:sp>
    </p:spTree>
    <p:extLst>
      <p:ext uri="{BB962C8B-B14F-4D97-AF65-F5344CB8AC3E}">
        <p14:creationId xmlns:p14="http://schemas.microsoft.com/office/powerpoint/2010/main" val="3772173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E7A00-1C1E-F7C2-DF65-6251CF75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High-Level Language – C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1CC62A-84F2-05DA-154F-6312ECE48B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g 	= 	h	*	18;</a:t>
            </a:r>
            <a:endParaRPr lang="en-US"/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904837-3335-E02E-0E84-85BC9D402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F914CE-4E82-D440-47C4-04BC1C318E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/>
              <a:t>mul</a:t>
            </a:r>
            <a:r>
              <a:rPr lang="en-US"/>
              <a:t> 	g, h, 18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68DC6E-CF6A-2D2C-8BEA-1BCB127A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Multiplication by other numbers.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89FB7A-0D55-5964-98D3-0FD547730C87}"/>
              </a:ext>
            </a:extLst>
          </p:cNvPr>
          <p:cNvSpPr/>
          <p:nvPr/>
        </p:nvSpPr>
        <p:spPr>
          <a:xfrm>
            <a:off x="941359" y="4232728"/>
            <a:ext cx="10290883" cy="1219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h</a:t>
            </a:r>
            <a:r>
              <a:rPr lang="en-US" sz="3200">
                <a:solidFill>
                  <a:schemeClr val="tx1"/>
                </a:solidFill>
              </a:rPr>
              <a:t>*18 = </a:t>
            </a:r>
            <a:r>
              <a:rPr lang="en-US" sz="3200" b="1">
                <a:solidFill>
                  <a:schemeClr val="tx1"/>
                </a:solidFill>
              </a:rPr>
              <a:t>h</a:t>
            </a:r>
            <a:r>
              <a:rPr lang="en-US" sz="3200">
                <a:solidFill>
                  <a:schemeClr val="tx1"/>
                </a:solidFill>
              </a:rPr>
              <a:t>*16 + </a:t>
            </a:r>
            <a:r>
              <a:rPr lang="en-US" sz="3200" b="1">
                <a:solidFill>
                  <a:schemeClr val="tx1"/>
                </a:solidFill>
              </a:rPr>
              <a:t>h</a:t>
            </a:r>
            <a:r>
              <a:rPr lang="en-US" sz="3200">
                <a:solidFill>
                  <a:schemeClr val="tx1"/>
                </a:solidFill>
              </a:rPr>
              <a:t>*2</a:t>
            </a:r>
          </a:p>
        </p:txBody>
      </p:sp>
    </p:spTree>
    <p:extLst>
      <p:ext uri="{BB962C8B-B14F-4D97-AF65-F5344CB8AC3E}">
        <p14:creationId xmlns:p14="http://schemas.microsoft.com/office/powerpoint/2010/main" val="348008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E7A00-1C1E-F7C2-DF65-6251CF75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High-Level Language – C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1CC62A-84F2-05DA-154F-6312ECE48B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/>
              <a:t>g	=	h	*	18;</a:t>
            </a:r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904837-3335-E02E-0E84-85BC9D402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F914CE-4E82-D440-47C4-04BC1C318E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err="1"/>
              <a:t>mul</a:t>
            </a:r>
            <a:r>
              <a:rPr lang="en-US"/>
              <a:t> 	tmp1, h, 16</a:t>
            </a:r>
          </a:p>
          <a:p>
            <a:r>
              <a:rPr lang="en-US" err="1"/>
              <a:t>mul</a:t>
            </a:r>
            <a:r>
              <a:rPr lang="en-US"/>
              <a:t> 	tmp2, h, 2</a:t>
            </a:r>
          </a:p>
          <a:p>
            <a:r>
              <a:rPr lang="en-US"/>
              <a:t>add 	g, tmp1, tmp2</a:t>
            </a:r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68DC6E-CF6A-2D2C-8BEA-1BCB127A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Multiplication by other numbers.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ADB1EF9B-BEFE-93AD-183C-EB499BD4A64F}"/>
              </a:ext>
            </a:extLst>
          </p:cNvPr>
          <p:cNvSpPr/>
          <p:nvPr/>
        </p:nvSpPr>
        <p:spPr>
          <a:xfrm>
            <a:off x="9912929" y="1009725"/>
            <a:ext cx="1295400" cy="990600"/>
          </a:xfrm>
          <a:prstGeom prst="wedgeRectCallout">
            <a:avLst>
              <a:gd name="adj1" fmla="val -205147"/>
              <a:gd name="adj2" fmla="val 86859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h </a:t>
            </a:r>
            <a:r>
              <a:rPr lang="en-US">
                <a:solidFill>
                  <a:srgbClr val="000000"/>
                </a:solidFill>
              </a:rPr>
              <a:t>* 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0D3A2D-81E3-8879-5D34-FB48267F3458}"/>
              </a:ext>
            </a:extLst>
          </p:cNvPr>
          <p:cNvSpPr/>
          <p:nvPr/>
        </p:nvSpPr>
        <p:spPr>
          <a:xfrm>
            <a:off x="950430" y="4223657"/>
            <a:ext cx="10290883" cy="1219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h</a:t>
            </a:r>
            <a:r>
              <a:rPr lang="en-US" sz="3200">
                <a:solidFill>
                  <a:schemeClr val="tx1"/>
                </a:solidFill>
              </a:rPr>
              <a:t>*18 = </a:t>
            </a:r>
            <a:r>
              <a:rPr lang="en-US" sz="3200" b="1">
                <a:solidFill>
                  <a:schemeClr val="tx1"/>
                </a:solidFill>
              </a:rPr>
              <a:t>h</a:t>
            </a:r>
            <a:r>
              <a:rPr lang="en-US" sz="3200">
                <a:solidFill>
                  <a:schemeClr val="tx1"/>
                </a:solidFill>
              </a:rPr>
              <a:t>*16 + </a:t>
            </a:r>
            <a:r>
              <a:rPr lang="en-US" sz="3200" b="1">
                <a:solidFill>
                  <a:schemeClr val="tx1"/>
                </a:solidFill>
              </a:rPr>
              <a:t>h</a:t>
            </a:r>
            <a:r>
              <a:rPr lang="en-US" sz="3200">
                <a:solidFill>
                  <a:schemeClr val="tx1"/>
                </a:solidFill>
              </a:rPr>
              <a:t>*2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A5C16DC8-B004-E316-5512-F64CA7DB16EF}"/>
              </a:ext>
            </a:extLst>
          </p:cNvPr>
          <p:cNvSpPr/>
          <p:nvPr/>
        </p:nvSpPr>
        <p:spPr>
          <a:xfrm>
            <a:off x="9912929" y="2202509"/>
            <a:ext cx="1295400" cy="990600"/>
          </a:xfrm>
          <a:prstGeom prst="wedgeRectCallout">
            <a:avLst>
              <a:gd name="adj1" fmla="val -207108"/>
              <a:gd name="adj2" fmla="val 2788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h </a:t>
            </a:r>
            <a:r>
              <a:rPr lang="en-US">
                <a:solidFill>
                  <a:srgbClr val="000000"/>
                </a:solidFill>
              </a:rPr>
              <a:t>* 2</a:t>
            </a:r>
          </a:p>
        </p:txBody>
      </p:sp>
    </p:spTree>
    <p:extLst>
      <p:ext uri="{BB962C8B-B14F-4D97-AF65-F5344CB8AC3E}">
        <p14:creationId xmlns:p14="http://schemas.microsoft.com/office/powerpoint/2010/main" val="3896170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E7A00-1C1E-F7C2-DF65-6251CF75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High-Level Language – C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1CC62A-84F2-05DA-154F-6312ECE48B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/>
              <a:t>g	=	h	*	18;</a:t>
            </a:r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904837-3335-E02E-0E84-85BC9D402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 – RISC-V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F914CE-4E82-D440-47C4-04BC1C318E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trike="sngStrike" err="1"/>
              <a:t>mul</a:t>
            </a:r>
            <a:r>
              <a:rPr lang="en-US" strike="sngStrike"/>
              <a:t> 	tmp1, h, 16</a:t>
            </a:r>
          </a:p>
          <a:p>
            <a:r>
              <a:rPr lang="en-US" err="1"/>
              <a:t>slli</a:t>
            </a:r>
            <a:r>
              <a:rPr lang="en-US"/>
              <a:t> 	tmp1, h, 4</a:t>
            </a:r>
          </a:p>
          <a:p>
            <a:r>
              <a:rPr lang="en-US" strike="sngStrike" err="1"/>
              <a:t>mul</a:t>
            </a:r>
            <a:r>
              <a:rPr lang="en-US" strike="sngStrike"/>
              <a:t> 	tmp2, h, 2</a:t>
            </a:r>
          </a:p>
          <a:p>
            <a:r>
              <a:rPr lang="en-US" err="1"/>
              <a:t>slli</a:t>
            </a:r>
            <a:r>
              <a:rPr lang="en-US"/>
              <a:t> 	tmp2, h, 1</a:t>
            </a:r>
          </a:p>
          <a:p>
            <a:r>
              <a:rPr lang="en-US"/>
              <a:t>add 	g, tmp1, tmp2</a:t>
            </a:r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68DC6E-CF6A-2D2C-8BEA-1BCB127A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Multiplication by other numbers.</a:t>
            </a:r>
          </a:p>
        </p:txBody>
      </p:sp>
    </p:spTree>
    <p:extLst>
      <p:ext uri="{BB962C8B-B14F-4D97-AF65-F5344CB8AC3E}">
        <p14:creationId xmlns:p14="http://schemas.microsoft.com/office/powerpoint/2010/main" val="3634762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E7A00-1C1E-F7C2-DF65-6251CF75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High-Level Language – C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1CC62A-84F2-05DA-154F-6312ECE48B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/>
              <a:t>g	=	h	*	18;</a:t>
            </a:r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904837-3335-E02E-0E84-85BC9D402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 – RISC-V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F914CE-4E82-D440-47C4-04BC1C318E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trike="sngStrike" err="1"/>
              <a:t>mul</a:t>
            </a:r>
            <a:r>
              <a:rPr lang="en-US" strike="sngStrike"/>
              <a:t> 	tmp1, h, 16</a:t>
            </a:r>
          </a:p>
          <a:p>
            <a:r>
              <a:rPr lang="en-US" err="1"/>
              <a:t>slli</a:t>
            </a:r>
            <a:r>
              <a:rPr lang="en-US"/>
              <a:t> 	t0, t3, 4</a:t>
            </a:r>
          </a:p>
          <a:p>
            <a:r>
              <a:rPr lang="en-US" strike="sngStrike" err="1"/>
              <a:t>mul</a:t>
            </a:r>
            <a:r>
              <a:rPr lang="en-US" strike="sngStrike"/>
              <a:t> 	tmp2, h, 2</a:t>
            </a:r>
          </a:p>
          <a:p>
            <a:r>
              <a:rPr lang="en-US" err="1"/>
              <a:t>slli</a:t>
            </a:r>
            <a:r>
              <a:rPr lang="en-US"/>
              <a:t> 	t1, t3, 1</a:t>
            </a:r>
          </a:p>
          <a:p>
            <a:r>
              <a:rPr lang="en-US"/>
              <a:t>add 	t4, t0, t1</a:t>
            </a:r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68DC6E-CF6A-2D2C-8BEA-1BCB127A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Multiplication by other numbers.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5A83DB-E41A-5CC6-F066-4D86A526E9CA}"/>
              </a:ext>
            </a:extLst>
          </p:cNvPr>
          <p:cNvSpPr/>
          <p:nvPr/>
        </p:nvSpPr>
        <p:spPr>
          <a:xfrm>
            <a:off x="1400630" y="5005614"/>
            <a:ext cx="9376484" cy="1219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Assume </a:t>
            </a:r>
            <a:r>
              <a:rPr lang="en-US" sz="2800" b="1">
                <a:solidFill>
                  <a:schemeClr val="tx1"/>
                </a:solidFill>
              </a:rPr>
              <a:t>h</a:t>
            </a:r>
            <a:r>
              <a:rPr lang="en-US" sz="2800">
                <a:solidFill>
                  <a:schemeClr val="tx1"/>
                </a:solidFill>
              </a:rPr>
              <a:t> is in </a:t>
            </a:r>
            <a:r>
              <a:rPr lang="en-US" sz="2800" b="1">
                <a:solidFill>
                  <a:schemeClr val="tx1"/>
                </a:solidFill>
              </a:rPr>
              <a:t>t3</a:t>
            </a:r>
            <a:r>
              <a:rPr lang="en-US" sz="2800">
                <a:solidFill>
                  <a:schemeClr val="tx1"/>
                </a:solidFill>
              </a:rPr>
              <a:t>, </a:t>
            </a:r>
            <a:r>
              <a:rPr lang="en-US" sz="2800" b="1">
                <a:solidFill>
                  <a:schemeClr val="tx1"/>
                </a:solidFill>
              </a:rPr>
              <a:t>g</a:t>
            </a:r>
            <a:r>
              <a:rPr lang="en-US" sz="2800">
                <a:solidFill>
                  <a:schemeClr val="tx1"/>
                </a:solidFill>
              </a:rPr>
              <a:t> goes in </a:t>
            </a:r>
            <a:r>
              <a:rPr lang="en-US" sz="2800" b="1">
                <a:solidFill>
                  <a:schemeClr val="tx1"/>
                </a:solidFill>
              </a:rPr>
              <a:t>t4</a:t>
            </a:r>
            <a:r>
              <a:rPr lang="en-US" sz="2800">
                <a:solidFill>
                  <a:schemeClr val="tx1"/>
                </a:solidFill>
              </a:rPr>
              <a:t>,</a:t>
            </a:r>
            <a:br>
              <a:rPr lang="en-US" sz="2800"/>
            </a:br>
            <a:r>
              <a:rPr lang="en-US" sz="2800" b="1">
                <a:solidFill>
                  <a:schemeClr val="tx1"/>
                </a:solidFill>
              </a:rPr>
              <a:t>t0</a:t>
            </a:r>
            <a:r>
              <a:rPr lang="en-US" sz="2800">
                <a:solidFill>
                  <a:schemeClr val="tx1"/>
                </a:solidFill>
              </a:rPr>
              <a:t> and </a:t>
            </a:r>
            <a:r>
              <a:rPr lang="en-US" sz="2800" b="1">
                <a:solidFill>
                  <a:schemeClr val="tx1"/>
                </a:solidFill>
              </a:rPr>
              <a:t>t1</a:t>
            </a:r>
            <a:r>
              <a:rPr lang="en-US" sz="2800">
                <a:solidFill>
                  <a:schemeClr val="tx1"/>
                </a:solidFill>
              </a:rPr>
              <a:t> available to use</a:t>
            </a:r>
          </a:p>
        </p:txBody>
      </p:sp>
    </p:spTree>
    <p:extLst>
      <p:ext uri="{BB962C8B-B14F-4D97-AF65-F5344CB8AC3E}">
        <p14:creationId xmlns:p14="http://schemas.microsoft.com/office/powerpoint/2010/main" val="4252102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E7A00-1C1E-F7C2-DF65-6251CF75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High-Level Language – C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1CC62A-84F2-05DA-154F-6312ECE48B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/>
              <a:t>g	=	h	*	18;</a:t>
            </a:r>
          </a:p>
          <a:p>
            <a:endParaRPr lang="pt-BR"/>
          </a:p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904837-3335-E02E-0E84-85BC9D402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Assembly – RISC-V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F914CE-4E82-D440-47C4-04BC1C318E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trike="sngStrike" err="1"/>
              <a:t>mul</a:t>
            </a:r>
            <a:r>
              <a:rPr lang="en-US" strike="sngStrike"/>
              <a:t> 	tmp1, h, 16</a:t>
            </a:r>
          </a:p>
          <a:p>
            <a:r>
              <a:rPr lang="en-US" err="1"/>
              <a:t>slli</a:t>
            </a:r>
            <a:r>
              <a:rPr lang="en-US"/>
              <a:t> 	</a:t>
            </a:r>
            <a:r>
              <a:rPr lang="en-US" strike="sngStrike"/>
              <a:t>t0, </a:t>
            </a:r>
            <a:r>
              <a:rPr lang="en-US"/>
              <a:t>t4, t3, 4</a:t>
            </a:r>
          </a:p>
          <a:p>
            <a:r>
              <a:rPr lang="en-US" strike="sngStrike" err="1"/>
              <a:t>mul</a:t>
            </a:r>
            <a:r>
              <a:rPr lang="en-US" strike="sngStrike"/>
              <a:t> 	tmp2, h, 2</a:t>
            </a:r>
          </a:p>
          <a:p>
            <a:r>
              <a:rPr lang="en-US" err="1"/>
              <a:t>slli</a:t>
            </a:r>
            <a:r>
              <a:rPr lang="en-US"/>
              <a:t> 	t1, t3, 1</a:t>
            </a:r>
          </a:p>
          <a:p>
            <a:r>
              <a:rPr lang="en-US"/>
              <a:t>add 	t4, </a:t>
            </a:r>
            <a:r>
              <a:rPr lang="en-US" strike="sngStrike"/>
              <a:t>t0, </a:t>
            </a:r>
            <a:r>
              <a:rPr lang="en-US"/>
              <a:t>t4, t1</a:t>
            </a:r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68DC6E-CF6A-2D2C-8BEA-1BCB127A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Multiplication by other numbers.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5A83DB-E41A-5CC6-F066-4D86A526E9CA}"/>
              </a:ext>
            </a:extLst>
          </p:cNvPr>
          <p:cNvSpPr/>
          <p:nvPr/>
        </p:nvSpPr>
        <p:spPr>
          <a:xfrm>
            <a:off x="1527629" y="5023757"/>
            <a:ext cx="9376484" cy="1219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Can be done using one less temporary register</a:t>
            </a:r>
            <a:br>
              <a:rPr lang="en-US" sz="2800"/>
            </a:br>
            <a:r>
              <a:rPr lang="en-US" sz="2800">
                <a:solidFill>
                  <a:schemeClr val="tx1"/>
                </a:solidFill>
              </a:rPr>
              <a:t>by re-using </a:t>
            </a:r>
            <a:r>
              <a:rPr lang="en-US" sz="2800" b="1">
                <a:solidFill>
                  <a:schemeClr val="tx1"/>
                </a:solidFill>
              </a:rPr>
              <a:t>t4</a:t>
            </a:r>
            <a:r>
              <a:rPr lang="en-US" sz="2800">
                <a:solidFill>
                  <a:schemeClr val="tx1"/>
                </a:solidFill>
              </a:rPr>
              <a:t> for the </a:t>
            </a:r>
            <a:r>
              <a:rPr lang="en-US" sz="2800" b="1">
                <a:solidFill>
                  <a:schemeClr val="tx1"/>
                </a:solidFill>
              </a:rPr>
              <a:t>intermediate output</a:t>
            </a:r>
            <a:r>
              <a:rPr lang="en-US" sz="280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2869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EDDFD5-E2AD-A469-EA94-53BB1150C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>
            <a:extLst>
              <a:ext uri="{FF2B5EF4-FFF2-40B4-BE49-F238E27FC236}">
                <a16:creationId xmlns:a16="http://schemas.microsoft.com/office/drawing/2014/main" id="{216012A6-513F-AC9A-9266-19628BCA5D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8745" indent="-118745"/>
            <a:r>
              <a:rPr lang="en-US" b="1"/>
              <a:t>Let’s do some simple math!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0DB1D60-888A-C3C0-DD44-6BE312C98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6953989"/>
              </p:ext>
            </p:extLst>
          </p:nvPr>
        </p:nvGraphicFramePr>
        <p:xfrm>
          <a:off x="306360" y="2162991"/>
          <a:ext cx="11586284" cy="16778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75483">
                  <a:extLst>
                    <a:ext uri="{9D8B030D-6E8A-4147-A177-3AD203B41FA5}">
                      <a16:colId xmlns:a16="http://schemas.microsoft.com/office/drawing/2014/main" val="20106894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41682135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97083384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948352202"/>
                    </a:ext>
                  </a:extLst>
                </a:gridCol>
                <a:gridCol w="3886201">
                  <a:extLst>
                    <a:ext uri="{9D8B030D-6E8A-4147-A177-3AD203B41FA5}">
                      <a16:colId xmlns:a16="http://schemas.microsoft.com/office/drawing/2014/main" val="1264243146"/>
                    </a:ext>
                  </a:extLst>
                </a:gridCol>
              </a:tblGrid>
              <a:tr h="419463">
                <a:tc>
                  <a:txBody>
                    <a:bodyPr/>
                    <a:lstStyle/>
                    <a:p>
                      <a:r>
                        <a:rPr lang="en-US" sz="18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392817"/>
                  </a:ext>
                </a:extLst>
              </a:tr>
              <a:tr h="419463">
                <a:tc>
                  <a:txBody>
                    <a:bodyPr/>
                    <a:lstStyle/>
                    <a:p>
                      <a:r>
                        <a:rPr lang="en-US" sz="1800"/>
                        <a:t>Arithmetic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add x5. x6. 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X5 = x6 = 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Three register operands; add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36693"/>
                  </a:ext>
                </a:extLst>
              </a:tr>
              <a:tr h="419463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Subtract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sub x5. x6. 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X5 = x6 – 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Three register operands; subtract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163448"/>
                  </a:ext>
                </a:extLst>
              </a:tr>
              <a:tr h="419463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Add immediate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err="1"/>
                        <a:t>addi</a:t>
                      </a:r>
                      <a:r>
                        <a:rPr lang="en-US" sz="1800"/>
                        <a:t> x5. x6.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X5 = x6 + 20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Used to add constants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48122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6ACEC97-1579-2CC5-4577-03B5FA1195C7}"/>
              </a:ext>
            </a:extLst>
          </p:cNvPr>
          <p:cNvSpPr/>
          <p:nvPr/>
        </p:nvSpPr>
        <p:spPr>
          <a:xfrm>
            <a:off x="2303652" y="5092148"/>
            <a:ext cx="8305802" cy="1219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Refer to Book Figure </a:t>
            </a:r>
            <a:r>
              <a:rPr lang="en-US" sz="2800" b="1">
                <a:solidFill>
                  <a:schemeClr val="tx1"/>
                </a:solidFill>
              </a:rPr>
              <a:t>2.1</a:t>
            </a:r>
            <a:r>
              <a:rPr lang="en-US" sz="2800">
                <a:solidFill>
                  <a:schemeClr val="tx1"/>
                </a:solidFill>
              </a:rPr>
              <a:t> for more info </a:t>
            </a:r>
          </a:p>
        </p:txBody>
      </p:sp>
    </p:spTree>
    <p:extLst>
      <p:ext uri="{BB962C8B-B14F-4D97-AF65-F5344CB8AC3E}">
        <p14:creationId xmlns:p14="http://schemas.microsoft.com/office/powerpoint/2010/main" val="328309883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C381DE-F26D-95AC-23CE-3CEBF46A2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>
            <a:extLst>
              <a:ext uri="{FF2B5EF4-FFF2-40B4-BE49-F238E27FC236}">
                <a16:creationId xmlns:a16="http://schemas.microsoft.com/office/drawing/2014/main" id="{72626591-0E5E-2436-5635-6984014384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8745" indent="-118745"/>
            <a:r>
              <a:rPr lang="en-US" b="1"/>
              <a:t>Let’s do some simple math!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B127AB6-AC6E-F444-1764-CC8D12E552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0172611"/>
              </p:ext>
            </p:extLst>
          </p:nvPr>
        </p:nvGraphicFramePr>
        <p:xfrm>
          <a:off x="315431" y="2162991"/>
          <a:ext cx="11455790" cy="18984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46373">
                  <a:extLst>
                    <a:ext uri="{9D8B030D-6E8A-4147-A177-3AD203B41FA5}">
                      <a16:colId xmlns:a16="http://schemas.microsoft.com/office/drawing/2014/main" val="201068949"/>
                    </a:ext>
                  </a:extLst>
                </a:gridCol>
                <a:gridCol w="2947528">
                  <a:extLst>
                    <a:ext uri="{9D8B030D-6E8A-4147-A177-3AD203B41FA5}">
                      <a16:colId xmlns:a16="http://schemas.microsoft.com/office/drawing/2014/main" val="2416821355"/>
                    </a:ext>
                  </a:extLst>
                </a:gridCol>
                <a:gridCol w="3174261">
                  <a:extLst>
                    <a:ext uri="{9D8B030D-6E8A-4147-A177-3AD203B41FA5}">
                      <a16:colId xmlns:a16="http://schemas.microsoft.com/office/drawing/2014/main" val="97083384"/>
                    </a:ext>
                  </a:extLst>
                </a:gridCol>
                <a:gridCol w="3287628">
                  <a:extLst>
                    <a:ext uri="{9D8B030D-6E8A-4147-A177-3AD203B41FA5}">
                      <a16:colId xmlns:a16="http://schemas.microsoft.com/office/drawing/2014/main" val="1948352202"/>
                    </a:ext>
                  </a:extLst>
                </a:gridCol>
              </a:tblGrid>
              <a:tr h="419463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/>
                        <a:t>Format</a:t>
                      </a:r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/>
                        <a:t>Computation</a:t>
                      </a: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392817"/>
                  </a:ext>
                </a:extLst>
              </a:tr>
              <a:tr h="419463">
                <a:tc>
                  <a:txBody>
                    <a:bodyPr/>
                    <a:lstStyle/>
                    <a:p>
                      <a:r>
                        <a:rPr lang="en-US" sz="180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/>
                        <a:t>add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err="1"/>
                        <a:t>dest</a:t>
                      </a:r>
                      <a:r>
                        <a:rPr lang="en-US" sz="1800"/>
                        <a:t>, src1, src2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err="1"/>
                        <a:t>dest</a:t>
                      </a:r>
                      <a:r>
                        <a:rPr lang="en-US" sz="1800"/>
                        <a:t> = src1 + src2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36693"/>
                  </a:ext>
                </a:extLst>
              </a:tr>
              <a:tr h="419463">
                <a:tc>
                  <a:txBody>
                    <a:bodyPr/>
                    <a:lstStyle/>
                    <a:p>
                      <a:r>
                        <a:rPr lang="en-US" sz="180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/>
                        <a:t>sub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dest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, src1, src2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dest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 = src1 - src2</a:t>
                      </a:r>
                    </a:p>
                    <a:p>
                      <a:pPr lvl="0">
                        <a:buNone/>
                      </a:pP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163448"/>
                  </a:ext>
                </a:extLst>
              </a:tr>
              <a:tr h="419463">
                <a:tc>
                  <a:txBody>
                    <a:bodyPr/>
                    <a:lstStyle/>
                    <a:p>
                      <a:r>
                        <a:rPr lang="en-US" sz="1800"/>
                        <a:t>shift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err="1"/>
                        <a:t>sll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dest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, src1, src2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dest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 = src1 &lt;&lt; src2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48122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CA489887-2256-C189-5D87-1F8F45D4A5E4}"/>
              </a:ext>
            </a:extLst>
          </p:cNvPr>
          <p:cNvSpPr/>
          <p:nvPr/>
        </p:nvSpPr>
        <p:spPr>
          <a:xfrm>
            <a:off x="5585332" y="6148788"/>
            <a:ext cx="6609082" cy="711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Refer to Book Figure </a:t>
            </a:r>
            <a:r>
              <a:rPr lang="en-US" sz="2800" b="1">
                <a:solidFill>
                  <a:schemeClr val="tx1"/>
                </a:solidFill>
              </a:rPr>
              <a:t>2.1</a:t>
            </a:r>
            <a:r>
              <a:rPr lang="en-US" sz="2800">
                <a:solidFill>
                  <a:schemeClr val="tx1"/>
                </a:solidFill>
              </a:rPr>
              <a:t> for more info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E77C58-3701-2BAA-6B90-F49D3314434F}"/>
              </a:ext>
            </a:extLst>
          </p:cNvPr>
          <p:cNvSpPr txBox="1"/>
          <p:nvPr/>
        </p:nvSpPr>
        <p:spPr>
          <a:xfrm>
            <a:off x="1718633" y="4354285"/>
            <a:ext cx="8744857" cy="1494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en-US" sz="2400"/>
              <a:t>Also available with immediate versions (except sub):</a:t>
            </a:r>
            <a:endParaRPr lang="en-US"/>
          </a:p>
          <a:p>
            <a:pPr lvl="2">
              <a:lnSpc>
                <a:spcPct val="90000"/>
              </a:lnSpc>
              <a:spcBef>
                <a:spcPts val="500"/>
              </a:spcBef>
            </a:pPr>
            <a:r>
              <a:rPr lang="en-US" sz="2400" err="1">
                <a:latin typeface="Courier New"/>
                <a:cs typeface="Courier New"/>
              </a:rPr>
              <a:t>addi</a:t>
            </a:r>
            <a:r>
              <a:rPr lang="en-US" sz="2400">
                <a:solidFill>
                  <a:srgbClr val="980002"/>
                </a:solidFill>
                <a:latin typeface="Arial"/>
                <a:cs typeface="Arial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Arial"/>
                <a:cs typeface="Arial"/>
              </a:rPr>
              <a:t>dest</a:t>
            </a:r>
            <a:r>
              <a:rPr lang="en-US" sz="2400">
                <a:latin typeface="Arial"/>
                <a:cs typeface="Arial"/>
              </a:rPr>
              <a:t>, src1, </a:t>
            </a:r>
            <a:r>
              <a:rPr lang="en-US" sz="2400" err="1">
                <a:latin typeface="Arial"/>
                <a:cs typeface="Arial"/>
              </a:rPr>
              <a:t>imm</a:t>
            </a:r>
            <a:r>
              <a:rPr lang="en-US" sz="2400"/>
              <a:t> </a:t>
            </a:r>
            <a:r>
              <a:rPr lang="en-US" sz="2400" err="1"/>
              <a:t>dest</a:t>
            </a:r>
            <a:r>
              <a:rPr lang="en-US" sz="2400"/>
              <a:t> = src1 + Imm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buFont typeface="Arial"/>
            </a:pPr>
            <a:r>
              <a:rPr lang="en-US" sz="2400" err="1">
                <a:latin typeface="Courier New"/>
                <a:cs typeface="Courier New"/>
              </a:rPr>
              <a:t>slli</a:t>
            </a:r>
            <a:r>
              <a:rPr lang="en-US" sz="2400">
                <a:solidFill>
                  <a:srgbClr val="980002"/>
                </a:solidFill>
                <a:latin typeface="Arial"/>
                <a:cs typeface="Arial"/>
              </a:rPr>
              <a:t> </a:t>
            </a:r>
            <a:r>
              <a:rPr lang="en-US" sz="2400" err="1">
                <a:latin typeface="Arial"/>
                <a:cs typeface="Arial"/>
              </a:rPr>
              <a:t>dest</a:t>
            </a:r>
            <a:r>
              <a:rPr lang="en-US" sz="2400">
                <a:latin typeface="Arial"/>
                <a:cs typeface="Arial"/>
              </a:rPr>
              <a:t>, src1, </a:t>
            </a:r>
            <a:r>
              <a:rPr lang="en-US" sz="2400" err="1">
                <a:latin typeface="Arial"/>
                <a:cs typeface="Arial"/>
              </a:rPr>
              <a:t>imm</a:t>
            </a:r>
            <a:r>
              <a:rPr lang="en-US" sz="2400"/>
              <a:t> </a:t>
            </a:r>
            <a:r>
              <a:rPr lang="en-US" sz="2400" err="1"/>
              <a:t>dest</a:t>
            </a:r>
            <a:r>
              <a:rPr lang="en-US" sz="2400"/>
              <a:t> = src1 &lt;&lt; Imm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2377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8745" indent="-118745"/>
            <a:r>
              <a:rPr lang="en-US" b="1"/>
              <a:t>Arithmetic Expression Example.</a:t>
            </a:r>
          </a:p>
        </p:txBody>
      </p:sp>
      <p:sp>
        <p:nvSpPr>
          <p:cNvPr id="17412" name="Rectangle 4"/>
          <p:cNvSpPr>
            <a:spLocks/>
          </p:cNvSpPr>
          <p:nvPr/>
        </p:nvSpPr>
        <p:spPr bwMode="auto">
          <a:xfrm>
            <a:off x="365760" y="1863052"/>
            <a:ext cx="5532120" cy="417198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 anchor="t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(int x, int y, int z)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t1 =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x+y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t2 = z+t1;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t3 = x;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t4 = y * 48;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t5 = t3 + t4;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= t2 + t5;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2000">
              <a:latin typeface="Courier New"/>
              <a:ea typeface="Monaco" charset="0"/>
              <a:cs typeface="Courier New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return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  <a:endParaRPr lang="en-US" sz="2000">
              <a:latin typeface="Courier New"/>
              <a:ea typeface="Monaco" charset="0"/>
              <a:cs typeface="Courier New"/>
            </a:endParaRPr>
          </a:p>
        </p:txBody>
      </p:sp>
      <p:sp>
        <p:nvSpPr>
          <p:cNvPr id="17413" name="Rectangle 5"/>
          <p:cNvSpPr>
            <a:spLocks/>
          </p:cNvSpPr>
          <p:nvPr/>
        </p:nvSpPr>
        <p:spPr bwMode="auto">
          <a:xfrm>
            <a:off x="6342697" y="1854200"/>
            <a:ext cx="6215062" cy="3225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t1, a0,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t2, a2, t1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t4, a1,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t4, t4,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2400" b="1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slli</a:t>
            </a: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t4, t4, 4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t5, a0, t4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a0, t2, t5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</a:p>
        </p:txBody>
      </p:sp>
    </p:spTree>
    <p:extLst>
      <p:ext uri="{BB962C8B-B14F-4D97-AF65-F5344CB8AC3E}">
        <p14:creationId xmlns:p14="http://schemas.microsoft.com/office/powerpoint/2010/main" val="739854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81D46-F4BE-3DC6-09D3-B368D345C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0F872BD-98E6-F9AC-767B-2B86E5D5AED3}"/>
              </a:ext>
            </a:extLst>
          </p:cNvPr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9AE9D16-FEDF-1223-EC73-2BA077A83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8745" indent="-118745"/>
            <a:r>
              <a:rPr lang="en-US" b="1"/>
              <a:t>Arithmetic Expression Example.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A1BB0DF6-0780-C9CC-AF93-DE87C464CFE3}"/>
              </a:ext>
            </a:extLst>
          </p:cNvPr>
          <p:cNvSpPr>
            <a:spLocks/>
          </p:cNvSpPr>
          <p:nvPr/>
        </p:nvSpPr>
        <p:spPr bwMode="auto">
          <a:xfrm>
            <a:off x="365760" y="1863052"/>
            <a:ext cx="5532120" cy="417198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 anchor="t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(int x, int y, int z)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 t1 = </a:t>
            </a:r>
            <a:r>
              <a:rPr lang="en-US" sz="2000" err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x+y</a:t>
            </a:r>
            <a:r>
              <a:rPr lang="en-US" sz="200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t2 = z+t1;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t3 = x;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t4 = y * 48;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t5 = t3 + t4;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= t2 + t5;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2000">
              <a:latin typeface="Courier New"/>
              <a:ea typeface="Monaco" charset="0"/>
              <a:cs typeface="Courier New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return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  <a:endParaRPr lang="en-US" sz="2000">
              <a:latin typeface="Courier New"/>
              <a:ea typeface="Monaco" charset="0"/>
              <a:cs typeface="Courier New"/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479C6C6E-ED03-A735-1DCB-C44E632E1195}"/>
              </a:ext>
            </a:extLst>
          </p:cNvPr>
          <p:cNvSpPr>
            <a:spLocks/>
          </p:cNvSpPr>
          <p:nvPr/>
        </p:nvSpPr>
        <p:spPr bwMode="auto">
          <a:xfrm>
            <a:off x="6342697" y="1854200"/>
            <a:ext cx="6215062" cy="3225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t"/>
          <a:lstStyle/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add    t1, a0, a1</a:t>
            </a:r>
            <a:endParaRPr lang="en-US" sz="2400" b="1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t2, a2, t1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t4, a1,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t4, t4,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slli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 t4, t4, 4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t5, a0, t4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a0, t2, t5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CFB9A0-2B65-AB30-A61B-905502E8C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906640"/>
              </p:ext>
            </p:extLst>
          </p:nvPr>
        </p:nvGraphicFramePr>
        <p:xfrm>
          <a:off x="8836306" y="5234458"/>
          <a:ext cx="3352800" cy="1584960"/>
        </p:xfrm>
        <a:graphic>
          <a:graphicData uri="http://schemas.openxmlformats.org/drawingml/2006/table">
            <a:tbl>
              <a:tblPr firstRow="1" bandRow="1"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35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198CC-2A84-29C0-9BDC-AACBA2AE4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D80CBEC-C11D-3C3F-3EFB-104852C5A032}"/>
              </a:ext>
            </a:extLst>
          </p:cNvPr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A217ABC-93CA-C431-E265-3EE242ACC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8745" indent="-118745"/>
            <a:r>
              <a:rPr lang="en-US" b="1"/>
              <a:t>Arithmetic Expression Example.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C57901CC-0DEB-D5A2-1723-CE9126765CD2}"/>
              </a:ext>
            </a:extLst>
          </p:cNvPr>
          <p:cNvSpPr>
            <a:spLocks/>
          </p:cNvSpPr>
          <p:nvPr/>
        </p:nvSpPr>
        <p:spPr bwMode="auto">
          <a:xfrm>
            <a:off x="365760" y="1863052"/>
            <a:ext cx="5532120" cy="417198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 anchor="t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(int x, int y, int z)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t1 =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x+y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 t2 = z+t1;</a:t>
            </a:r>
            <a:endParaRPr lang="en-US" sz="2000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t3 = x;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t4 = y * 48;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t5 = t3 + t4;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= t2 + t5;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2000">
              <a:latin typeface="Courier New"/>
              <a:ea typeface="Monaco" charset="0"/>
              <a:cs typeface="Courier New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return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  <a:endParaRPr lang="en-US" sz="2000">
              <a:latin typeface="Courier New"/>
              <a:ea typeface="Monaco" charset="0"/>
              <a:cs typeface="Courier New"/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44EFCEAA-916A-017E-3C4F-B58661898881}"/>
              </a:ext>
            </a:extLst>
          </p:cNvPr>
          <p:cNvSpPr>
            <a:spLocks/>
          </p:cNvSpPr>
          <p:nvPr/>
        </p:nvSpPr>
        <p:spPr bwMode="auto">
          <a:xfrm>
            <a:off x="6342697" y="1854200"/>
            <a:ext cx="6215062" cy="3225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t"/>
          <a:lstStyle/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t1, a0,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add    t2, a2, t1</a:t>
            </a:r>
            <a:endParaRPr lang="en-US" sz="2400" b="1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t4, a1,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t4, t4,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slli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 t4, t4, 4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t5, a0, t4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a0, t2, t5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067C82-BA3B-0A36-E3EB-620784ED8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948275"/>
              </p:ext>
            </p:extLst>
          </p:nvPr>
        </p:nvGraphicFramePr>
        <p:xfrm>
          <a:off x="8836306" y="5234458"/>
          <a:ext cx="3352800" cy="1584960"/>
        </p:xfrm>
        <a:graphic>
          <a:graphicData uri="http://schemas.openxmlformats.org/drawingml/2006/table">
            <a:tbl>
              <a:tblPr firstRow="1" bandRow="1"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09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D85E3-8F74-8F92-642B-85396ADA7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669F90C-0ACE-01DA-DE30-40FA86855C95}"/>
              </a:ext>
            </a:extLst>
          </p:cNvPr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684FE4D-692B-645C-0267-39E591AFC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8745" indent="-118745"/>
            <a:r>
              <a:rPr lang="en-US" b="1"/>
              <a:t>Arithmetic Expression Example.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8E3CF122-A963-F731-FB40-D08AAE2376D6}"/>
              </a:ext>
            </a:extLst>
          </p:cNvPr>
          <p:cNvSpPr>
            <a:spLocks/>
          </p:cNvSpPr>
          <p:nvPr/>
        </p:nvSpPr>
        <p:spPr bwMode="auto">
          <a:xfrm>
            <a:off x="365760" y="1863052"/>
            <a:ext cx="5532120" cy="417198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 anchor="t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(int x, int y, int z)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t1 =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x+y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t2 = z+t1;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 t3 = x;</a:t>
            </a:r>
            <a:endParaRPr lang="en-US" sz="2000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t4 = y * 48;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t5 = t3 + t4;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= t2 + t5;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2000">
              <a:latin typeface="Courier New"/>
              <a:ea typeface="Monaco" charset="0"/>
              <a:cs typeface="Courier New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return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  <a:endParaRPr lang="en-US" sz="2000">
              <a:latin typeface="Courier New"/>
              <a:ea typeface="Monaco" charset="0"/>
              <a:cs typeface="Courier New"/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A149B71A-2C50-2C55-F20A-98640E4AB4F8}"/>
              </a:ext>
            </a:extLst>
          </p:cNvPr>
          <p:cNvSpPr>
            <a:spLocks/>
          </p:cNvSpPr>
          <p:nvPr/>
        </p:nvSpPr>
        <p:spPr bwMode="auto">
          <a:xfrm>
            <a:off x="6342697" y="1854200"/>
            <a:ext cx="6215062" cy="3225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t1, a0,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t2, a2, t1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t4, a1,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t4, t4,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2400" b="1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slli</a:t>
            </a: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t4, t4, 4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t5, a0, t4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a0, t2, t5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87B58F-B713-24CB-8CDF-C66F0791B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194987"/>
              </p:ext>
            </p:extLst>
          </p:nvPr>
        </p:nvGraphicFramePr>
        <p:xfrm>
          <a:off x="8836306" y="5234459"/>
          <a:ext cx="3352800" cy="1584960"/>
        </p:xfrm>
        <a:graphic>
          <a:graphicData uri="http://schemas.openxmlformats.org/drawingml/2006/table">
            <a:tbl>
              <a:tblPr firstRow="1" bandRow="1"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07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B74A-59A7-A030-355A-5018E22D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235A41F-EA8A-3321-B3B1-531D749B183A}"/>
              </a:ext>
            </a:extLst>
          </p:cNvPr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8B9C206-25F3-6B38-C6FF-A1178E4D0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8745" indent="-118745"/>
            <a:r>
              <a:rPr lang="en-US" b="1"/>
              <a:t>Arithmetic Expression Example.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30207E64-55E8-F993-03BD-7C68CD7F64F6}"/>
              </a:ext>
            </a:extLst>
          </p:cNvPr>
          <p:cNvSpPr>
            <a:spLocks/>
          </p:cNvSpPr>
          <p:nvPr/>
        </p:nvSpPr>
        <p:spPr bwMode="auto">
          <a:xfrm>
            <a:off x="365760" y="1863052"/>
            <a:ext cx="5532120" cy="417198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 anchor="t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(int x, int y, int z)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t1 =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x+y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t2 = z+t1;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 t3 = x;</a:t>
            </a:r>
            <a:endParaRPr lang="en-US" sz="2000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t4 = y * 48;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t5 = </a:t>
            </a:r>
            <a:r>
              <a:rPr lang="en-US" sz="200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x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+ t4;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= t2 + t5;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2000">
              <a:latin typeface="Courier New"/>
              <a:ea typeface="Monaco" charset="0"/>
              <a:cs typeface="Courier New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return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  <a:endParaRPr lang="en-US" sz="2000">
              <a:latin typeface="Courier New"/>
              <a:ea typeface="Monaco" charset="0"/>
              <a:cs typeface="Courier New"/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6BB16229-C213-5F79-9E2D-0EE8B030D839}"/>
              </a:ext>
            </a:extLst>
          </p:cNvPr>
          <p:cNvSpPr>
            <a:spLocks/>
          </p:cNvSpPr>
          <p:nvPr/>
        </p:nvSpPr>
        <p:spPr bwMode="auto">
          <a:xfrm>
            <a:off x="6342697" y="1854200"/>
            <a:ext cx="6215062" cy="3225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t"/>
          <a:lstStyle/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t1, a0,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t2, a2, t1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t4, a1,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t4, t4,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slli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 t4, t4, 4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add    t5, 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a0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, t4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a0, t2, t5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C578BF-5891-FAA0-8B1F-E37E01C73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69191"/>
              </p:ext>
            </p:extLst>
          </p:nvPr>
        </p:nvGraphicFramePr>
        <p:xfrm>
          <a:off x="8836306" y="5234458"/>
          <a:ext cx="3352800" cy="1584960"/>
        </p:xfrm>
        <a:graphic>
          <a:graphicData uri="http://schemas.openxmlformats.org/drawingml/2006/table">
            <a:tbl>
              <a:tblPr firstRow="1" bandRow="1"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5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75EC0-3AD5-DA98-C60F-7E3445FA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5381C73-8FCA-0294-CDF0-1052F563345B}"/>
              </a:ext>
            </a:extLst>
          </p:cNvPr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4DE9903-0EE0-9609-7991-11DF7D4B4E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8745" indent="-118745"/>
            <a:r>
              <a:rPr lang="en-US" b="1"/>
              <a:t>Arithmetic Expression Example.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480465F0-654B-ADF5-6C4E-B86DEA98CBBA}"/>
              </a:ext>
            </a:extLst>
          </p:cNvPr>
          <p:cNvSpPr>
            <a:spLocks/>
          </p:cNvSpPr>
          <p:nvPr/>
        </p:nvSpPr>
        <p:spPr bwMode="auto">
          <a:xfrm>
            <a:off x="365760" y="1863052"/>
            <a:ext cx="5532120" cy="417198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 anchor="t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(int x, int y, int z)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t1 =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x+y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t2 = z+t1;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 strike="sngStrike">
                <a:latin typeface="Courier New"/>
                <a:ea typeface="Monaco" charset="0"/>
                <a:cs typeface="Courier New"/>
                <a:sym typeface="Monaco" charset="0"/>
              </a:rPr>
              <a:t>int t3 = x;</a:t>
            </a:r>
            <a:endParaRPr lang="en-US" sz="2000" strike="sngStrike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 t4 = y * 48;</a:t>
            </a:r>
            <a:endParaRPr lang="en-US" sz="2000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t5 = x + t4;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= t2 + t5;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2000">
              <a:latin typeface="Courier New"/>
              <a:ea typeface="Monaco" charset="0"/>
              <a:cs typeface="Courier New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return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  <a:endParaRPr lang="en-US" sz="2000">
              <a:latin typeface="Courier New"/>
              <a:ea typeface="Monaco" charset="0"/>
              <a:cs typeface="Courier New"/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DABC6F1-018D-052F-F2A6-6FAFD3B9F79B}"/>
              </a:ext>
            </a:extLst>
          </p:cNvPr>
          <p:cNvSpPr>
            <a:spLocks/>
          </p:cNvSpPr>
          <p:nvPr/>
        </p:nvSpPr>
        <p:spPr bwMode="auto">
          <a:xfrm>
            <a:off x="6342697" y="1854200"/>
            <a:ext cx="6215062" cy="3225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t"/>
          <a:lstStyle/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t1, a0,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t2, a2, t1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add    t4, a1, a1</a:t>
            </a:r>
            <a:endParaRPr lang="en-US" sz="2400" b="1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add    t4, t4, a1</a:t>
            </a:r>
            <a:endParaRPr lang="en-US" sz="2400" b="1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 err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slli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t4, t4, 4</a:t>
            </a:r>
            <a:endParaRPr lang="en-US" sz="2400" b="1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t5, a0, t4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a0, t2, t5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4E5595-5398-5C77-724A-F0639E8DC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383043"/>
              </p:ext>
            </p:extLst>
          </p:nvPr>
        </p:nvGraphicFramePr>
        <p:xfrm>
          <a:off x="8836306" y="5234458"/>
          <a:ext cx="3352800" cy="1584960"/>
        </p:xfrm>
        <a:graphic>
          <a:graphicData uri="http://schemas.openxmlformats.org/drawingml/2006/table">
            <a:tbl>
              <a:tblPr firstRow="1" bandRow="1"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53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5AD4B-F5CA-D62D-9A3E-A26C9A864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C0DB244-A401-8B39-750D-7D5E5A62B514}"/>
              </a:ext>
            </a:extLst>
          </p:cNvPr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E2C3941-5765-72AA-872B-D74BA0049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8745" indent="-118745"/>
            <a:r>
              <a:rPr lang="en-US" b="1"/>
              <a:t>Arithmetic Expression Example.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F0E3873B-0506-B4C0-DB3D-E1D0248A67FB}"/>
              </a:ext>
            </a:extLst>
          </p:cNvPr>
          <p:cNvSpPr>
            <a:spLocks/>
          </p:cNvSpPr>
          <p:nvPr/>
        </p:nvSpPr>
        <p:spPr bwMode="auto">
          <a:xfrm>
            <a:off x="365760" y="1863052"/>
            <a:ext cx="5532120" cy="417198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 anchor="t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(int x, int y, int z)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t1 =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x+y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t2 = z+t1;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 strike="sngStrike">
                <a:latin typeface="Courier New"/>
                <a:ea typeface="Monaco" charset="0"/>
                <a:cs typeface="Courier New"/>
                <a:sym typeface="Monaco" charset="0"/>
              </a:rPr>
              <a:t>int t3 = x;</a:t>
            </a:r>
            <a:endParaRPr lang="en-US" sz="2000" strike="sngStrike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t4 = y * 48;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 t5 = x + t4;</a:t>
            </a:r>
            <a:endParaRPr lang="en-US" sz="2000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= t2 + t5;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2000">
              <a:latin typeface="Courier New"/>
              <a:ea typeface="Monaco" charset="0"/>
              <a:cs typeface="Courier New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return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  <a:endParaRPr lang="en-US" sz="2000">
              <a:latin typeface="Courier New"/>
              <a:ea typeface="Monaco" charset="0"/>
              <a:cs typeface="Courier New"/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760B960A-6179-8E51-5868-2617F409042F}"/>
              </a:ext>
            </a:extLst>
          </p:cNvPr>
          <p:cNvSpPr>
            <a:spLocks/>
          </p:cNvSpPr>
          <p:nvPr/>
        </p:nvSpPr>
        <p:spPr bwMode="auto">
          <a:xfrm>
            <a:off x="6342697" y="1854200"/>
            <a:ext cx="6215062" cy="3225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t"/>
          <a:lstStyle/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t1, a0,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t2, a2, t1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add    t4, a1, a1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add    t4, t4, a1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slli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 t4, t4, 4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add    t5, a0, t4</a:t>
            </a:r>
            <a:endParaRPr lang="en-US" sz="2400" b="1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a0, t2, t5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6DBA1A-34FD-C940-3A3C-6F1F0B4CF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243158"/>
              </p:ext>
            </p:extLst>
          </p:nvPr>
        </p:nvGraphicFramePr>
        <p:xfrm>
          <a:off x="8836306" y="5234458"/>
          <a:ext cx="3352800" cy="1584960"/>
        </p:xfrm>
        <a:graphic>
          <a:graphicData uri="http://schemas.openxmlformats.org/drawingml/2006/table">
            <a:tbl>
              <a:tblPr firstRow="1" bandRow="1"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51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06B9C-1B1B-E783-AB78-295D8B618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7462963-B9C4-6B3F-40C5-E706C60730C3}"/>
              </a:ext>
            </a:extLst>
          </p:cNvPr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73B4549-7BCF-9BE6-F7F2-129C8B98A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8745" indent="-118745"/>
            <a:r>
              <a:rPr lang="en-US" b="1"/>
              <a:t>Arithmetic Expression Example.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B4EDD306-7C28-B60E-A77B-58DD1DCAE508}"/>
              </a:ext>
            </a:extLst>
          </p:cNvPr>
          <p:cNvSpPr>
            <a:spLocks/>
          </p:cNvSpPr>
          <p:nvPr/>
        </p:nvSpPr>
        <p:spPr bwMode="auto">
          <a:xfrm>
            <a:off x="365760" y="1863052"/>
            <a:ext cx="5532120" cy="417198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 anchor="t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(int x, int y, int z)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t1 =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x+y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t2 = z+t1;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 strike="sngStrike">
                <a:latin typeface="Courier New"/>
                <a:ea typeface="Monaco" charset="0"/>
                <a:cs typeface="Courier New"/>
                <a:sym typeface="Monaco" charset="0"/>
              </a:rPr>
              <a:t>int t3 = x;</a:t>
            </a:r>
            <a:endParaRPr lang="en-US" sz="2000" strike="sngStrike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t4 = y * 48;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t5 = x + t4;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000" err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= t2 + t5;</a:t>
            </a:r>
            <a:endParaRPr lang="en-US" sz="2000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2000">
              <a:latin typeface="Courier New"/>
              <a:ea typeface="Monaco" charset="0"/>
              <a:cs typeface="Courier New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return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  <a:endParaRPr lang="en-US" sz="2000">
              <a:latin typeface="Courier New"/>
              <a:ea typeface="Monaco" charset="0"/>
              <a:cs typeface="Courier New"/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F93A8789-44D5-45D3-0DB6-8B9BCECE5152}"/>
              </a:ext>
            </a:extLst>
          </p:cNvPr>
          <p:cNvSpPr>
            <a:spLocks/>
          </p:cNvSpPr>
          <p:nvPr/>
        </p:nvSpPr>
        <p:spPr bwMode="auto">
          <a:xfrm>
            <a:off x="6342697" y="1854200"/>
            <a:ext cx="6215062" cy="3225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t"/>
          <a:lstStyle/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t1, a0,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t2, a2, t1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add    t4, a1, a1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add    t4, t4, a1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slli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 t4, t4, 4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add    t5, a0, t4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add    a0, t2, t5</a:t>
            </a:r>
            <a:endParaRPr lang="en-US" sz="2400" b="1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6605F5-E04D-CE72-E2CC-2E6870939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232119"/>
              </p:ext>
            </p:extLst>
          </p:nvPr>
        </p:nvGraphicFramePr>
        <p:xfrm>
          <a:off x="8836306" y="5234458"/>
          <a:ext cx="3352800" cy="1584960"/>
        </p:xfrm>
        <a:graphic>
          <a:graphicData uri="http://schemas.openxmlformats.org/drawingml/2006/table">
            <a:tbl>
              <a:tblPr firstRow="1" bandRow="1"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pPr lvl="0">
                        <a:buNone/>
                      </a:pPr>
                      <a:r>
                        <a:rPr lang="en-US" sz="20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rval</a:t>
                      </a:r>
                      <a:endParaRPr lang="en-US" sz="2000" b="1" i="0">
                        <a:solidFill>
                          <a:srgbClr val="FF0000"/>
                        </a:solidFill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27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C6408-CA11-DF51-F66B-56DBE2BB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985E75A-8D48-FA40-31E8-958EC40F4722}"/>
              </a:ext>
            </a:extLst>
          </p:cNvPr>
          <p:cNvSpPr>
            <a:spLocks/>
          </p:cNvSpPr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8F682D2-EBAC-1468-8C0E-4668857B5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8745" indent="-118745"/>
            <a:r>
              <a:rPr lang="en-US" b="1"/>
              <a:t>Arithmetic Expression Example.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4B8DBCC0-51D9-25E8-86F8-3EBA1B61C6E0}"/>
              </a:ext>
            </a:extLst>
          </p:cNvPr>
          <p:cNvSpPr>
            <a:spLocks/>
          </p:cNvSpPr>
          <p:nvPr/>
        </p:nvSpPr>
        <p:spPr bwMode="auto">
          <a:xfrm>
            <a:off x="365760" y="1863052"/>
            <a:ext cx="5532120" cy="417198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 anchor="t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(int x, int y, int z)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t1 =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x+y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t2 = z+t1;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 strike="sngStrike">
                <a:latin typeface="Courier New"/>
                <a:ea typeface="Monaco" charset="0"/>
                <a:cs typeface="Courier New"/>
                <a:sym typeface="Monaco" charset="0"/>
              </a:rPr>
              <a:t>int t3 = x;</a:t>
            </a:r>
            <a:endParaRPr lang="en-US" sz="2000" strike="sngStrike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t4 = y * 48;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t5 = x + t4;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int </a:t>
            </a:r>
            <a:r>
              <a:rPr lang="en-US" sz="2000" err="1"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= t2 + t5;</a:t>
            </a:r>
            <a:endParaRPr lang="en-US" sz="2000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2000">
              <a:latin typeface="Courier New"/>
              <a:ea typeface="Monaco" charset="0"/>
              <a:cs typeface="Courier New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return </a:t>
            </a:r>
            <a:r>
              <a:rPr lang="en-US" sz="2000" err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rval</a:t>
            </a:r>
            <a:r>
              <a:rPr lang="en-US" sz="200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sz="2000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000"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  <a:endParaRPr lang="en-US" sz="2000">
              <a:latin typeface="Courier New"/>
              <a:ea typeface="Monaco" charset="0"/>
              <a:cs typeface="Courier New"/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A586CADE-1C37-ADB4-027B-0019AFA495BF}"/>
              </a:ext>
            </a:extLst>
          </p:cNvPr>
          <p:cNvSpPr>
            <a:spLocks/>
          </p:cNvSpPr>
          <p:nvPr/>
        </p:nvSpPr>
        <p:spPr bwMode="auto">
          <a:xfrm>
            <a:off x="6342697" y="1854200"/>
            <a:ext cx="6215062" cy="3225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t"/>
          <a:lstStyle/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arith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t1, a0, a1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t2, a2, t1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add    t4, a1, a1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add    t4, t4, a1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 err="1">
                <a:latin typeface="Courier New"/>
                <a:ea typeface="Monaco" charset="0"/>
                <a:cs typeface="Courier New"/>
                <a:sym typeface="Monaco" charset="0"/>
              </a:rPr>
              <a:t>slli</a:t>
            </a: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 t4, t4, 4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add    t5, a0, t4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add    a0, t2, t5</a:t>
            </a:r>
            <a:endParaRPr lang="en-US" sz="2400" b="1">
              <a:latin typeface="Courier New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ret</a:t>
            </a:r>
            <a:endParaRPr lang="en-US" sz="2400" b="1">
              <a:solidFill>
                <a:srgbClr val="FF0000"/>
              </a:solidFill>
              <a:latin typeface="Courier New"/>
              <a:ea typeface="Monaco" charset="0"/>
              <a:cs typeface="Courier New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A288C5-69FE-C863-5EEB-6D0CCBC79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350748"/>
              </p:ext>
            </p:extLst>
          </p:nvPr>
        </p:nvGraphicFramePr>
        <p:xfrm>
          <a:off x="8836306" y="5234458"/>
          <a:ext cx="3352800" cy="1584960"/>
        </p:xfrm>
        <a:graphic>
          <a:graphicData uri="http://schemas.openxmlformats.org/drawingml/2006/table">
            <a:tbl>
              <a:tblPr firstRow="1" bandRow="1"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 b="1" i="0">
                          <a:latin typeface="Courier New"/>
                          <a:cs typeface="Courier New"/>
                        </a:rPr>
                        <a:t>a2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sz="200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sz="2000" b="1" i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9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03385-8DFA-3F90-FEE8-8590D3E5C4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2840" y="1371600"/>
            <a:ext cx="4648200" cy="5029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Reminders: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b="1"/>
              <a:t>a</a:t>
            </a:r>
            <a:r>
              <a:rPr lang="en-US"/>
              <a:t> in </a:t>
            </a:r>
            <a:r>
              <a:rPr lang="en-US" b="1"/>
              <a:t>a0</a:t>
            </a:r>
            <a:r>
              <a:rPr lang="en-US"/>
              <a:t>, </a:t>
            </a:r>
            <a:r>
              <a:rPr lang="en-US" b="1"/>
              <a:t>b</a:t>
            </a:r>
            <a:r>
              <a:rPr lang="en-US"/>
              <a:t> in </a:t>
            </a:r>
            <a:r>
              <a:rPr lang="en-US" b="1"/>
              <a:t>a1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/>
              <a:t>Put return value in </a:t>
            </a:r>
            <a:r>
              <a:rPr lang="en-US" b="1"/>
              <a:t>a0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/>
              <a:t>Can use temporary registers </a:t>
            </a:r>
            <a:r>
              <a:rPr lang="en-US" b="1"/>
              <a:t>t0-t7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D7E032-D28A-7BCF-B728-93DDC95D9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Exercise: Convert to RISC-V.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FFDAFF-B416-678C-3173-DA492783726D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203200" y="1371600"/>
            <a:ext cx="5400675" cy="5029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vert="horz" lIns="38100" tIns="38100" rIns="38100" bIns="38100" rtlCol="0" anchor="t">
            <a:normAutofit/>
          </a:bodyPr>
          <a:lstStyle/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400" err="1">
                <a:latin typeface="Courier New"/>
                <a:ea typeface="Monaco" charset="0"/>
                <a:cs typeface="Courier New"/>
                <a:sym typeface="Monaco" charset="0"/>
              </a:rPr>
              <a:t>silly_math</a:t>
            </a:r>
            <a:r>
              <a:rPr lang="en-US" sz="2400">
                <a:latin typeface="Courier New"/>
                <a:ea typeface="Monaco" charset="0"/>
                <a:cs typeface="Courier New"/>
                <a:sym typeface="Monaco" charset="0"/>
              </a:rPr>
              <a:t>(int a, int b)</a:t>
            </a:r>
            <a:endParaRPr lang="en-US"/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  <a:endParaRPr lang="en-US" sz="2400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int k = (b – a) + 11;</a:t>
            </a:r>
            <a:endParaRPr lang="en-US" sz="2400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k*42;</a:t>
            </a:r>
            <a:endParaRPr lang="en-US" sz="2400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  <a:endParaRPr lang="en-US" sz="2400">
              <a:latin typeface="Courier New" pitchFamily="49" charset="0"/>
              <a:ea typeface="Monaco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051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03385-8DFA-3F90-FEE8-8590D3E5C4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3000" y="1371600"/>
            <a:ext cx="7239000" cy="5029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800" b="1" err="1">
                <a:latin typeface="Courier New"/>
                <a:ea typeface="Monaco" charset="0"/>
                <a:cs typeface="Courier New"/>
                <a:sym typeface="Monaco" charset="0"/>
              </a:rPr>
              <a:t>silly_math</a:t>
            </a: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:</a:t>
            </a:r>
            <a:endParaRPr lang="en-US">
              <a:latin typeface="Courier New"/>
              <a:cs typeface="Courier New"/>
            </a:endParaRPr>
          </a:p>
          <a:p>
            <a:pPr marL="0" indent="0">
              <a:buNone/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b="1"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sub    t0, a1, a0	# (b-a)</a:t>
            </a:r>
            <a:endParaRPr lang="en-US" sz="2800" b="1">
              <a:latin typeface="Courier New"/>
              <a:ea typeface="Monaco" charset="0"/>
              <a:cs typeface="Courier New"/>
            </a:endParaRPr>
          </a:p>
          <a:p>
            <a:pPr marL="0" indent="0">
              <a:buNone/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800" b="1" err="1">
                <a:latin typeface="Courier New"/>
                <a:ea typeface="Monaco" charset="0"/>
                <a:cs typeface="Courier New"/>
                <a:sym typeface="Monaco" charset="0"/>
              </a:rPr>
              <a:t>addi</a:t>
            </a: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   t0, t0, 11	# (b-a)+11</a:t>
            </a:r>
            <a:endParaRPr lang="en-US" sz="2800" b="1">
              <a:latin typeface="Courier New"/>
              <a:ea typeface="Monaco" charset="0"/>
              <a:cs typeface="Courier New"/>
            </a:endParaRPr>
          </a:p>
          <a:p>
            <a:pPr marL="0" indent="0">
              <a:buNone/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800" b="1" err="1">
                <a:latin typeface="Courier New"/>
                <a:ea typeface="Monaco" charset="0"/>
                <a:cs typeface="Courier New"/>
                <a:sym typeface="Monaco" charset="0"/>
              </a:rPr>
              <a:t>slli</a:t>
            </a: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   t1, t0, 2	# 4*k</a:t>
            </a:r>
            <a:endParaRPr lang="en-US" sz="2800" b="1">
              <a:latin typeface="Courier New"/>
              <a:ea typeface="Monaco" charset="0"/>
              <a:cs typeface="Courier New"/>
            </a:endParaRPr>
          </a:p>
          <a:p>
            <a:pPr marL="0" indent="0">
              <a:buNone/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  add    t1, t1, t0	# 4*</a:t>
            </a:r>
            <a:r>
              <a:rPr lang="en-US" sz="2800" b="1" err="1">
                <a:latin typeface="Courier New"/>
                <a:ea typeface="Monaco" charset="0"/>
                <a:cs typeface="Courier New"/>
                <a:sym typeface="Monaco" charset="0"/>
              </a:rPr>
              <a:t>k+k</a:t>
            </a:r>
            <a:endParaRPr lang="en-US" sz="2800" b="1">
              <a:latin typeface="Courier New"/>
              <a:ea typeface="Monaco" charset="0"/>
              <a:cs typeface="Courier New"/>
            </a:endParaRPr>
          </a:p>
          <a:p>
            <a:pPr marL="0" indent="0">
              <a:buNone/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800" b="1" err="1">
                <a:latin typeface="Courier New"/>
                <a:ea typeface="Monaco" charset="0"/>
                <a:cs typeface="Courier New"/>
                <a:sym typeface="Monaco" charset="0"/>
              </a:rPr>
              <a:t>slli</a:t>
            </a: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   t1, t1, 2	# 4(4*</a:t>
            </a:r>
            <a:r>
              <a:rPr lang="en-US" sz="2800" b="1" err="1">
                <a:latin typeface="Courier New"/>
                <a:ea typeface="Monaco" charset="0"/>
                <a:cs typeface="Courier New"/>
                <a:sym typeface="Monaco" charset="0"/>
              </a:rPr>
              <a:t>k+k</a:t>
            </a: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)</a:t>
            </a:r>
            <a:endParaRPr lang="en-US" sz="2800" b="1">
              <a:latin typeface="Courier New"/>
              <a:ea typeface="Monaco" charset="0"/>
              <a:cs typeface="Courier New"/>
            </a:endParaRPr>
          </a:p>
          <a:p>
            <a:pPr marL="0" indent="0">
              <a:buNone/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800" b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add    t1, t1, t0	# 4(4k+k)+k</a:t>
            </a:r>
            <a:endParaRPr lang="en-US" sz="2800" b="1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800" b="1" err="1">
                <a:latin typeface="Courier New"/>
                <a:ea typeface="Monaco" charset="0"/>
                <a:cs typeface="Courier New"/>
                <a:sym typeface="Monaco" charset="0"/>
              </a:rPr>
              <a:t>slli</a:t>
            </a:r>
            <a:r>
              <a:rPr lang="en-US" sz="2800" b="1">
                <a:latin typeface="Courier New"/>
                <a:ea typeface="Monaco" charset="0"/>
                <a:cs typeface="Courier New"/>
                <a:sym typeface="Monaco" charset="0"/>
              </a:rPr>
              <a:t>   a0, t1, 1</a:t>
            </a:r>
            <a:endParaRPr lang="en-US" sz="2800" b="1">
              <a:latin typeface="Courier New"/>
              <a:ea typeface="Monaco" charset="0"/>
              <a:cs typeface="Courier New"/>
            </a:endParaRPr>
          </a:p>
          <a:p>
            <a:pPr marL="0" indent="0">
              <a:buNone/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b="1">
                <a:latin typeface="Courier New" pitchFamily="49" charset="0"/>
                <a:cs typeface="Courier New" pitchFamily="49" charset="0"/>
                <a:sym typeface="Monaco" charset="0"/>
              </a:rPr>
              <a:t>  ret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D7E032-D28A-7BCF-B728-93DDC95D9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solution.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FFDAFF-B416-678C-3173-DA492783726D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203200" y="1371600"/>
            <a:ext cx="4638675" cy="5029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vert="horz" lIns="38100" tIns="38100" rIns="38100" bIns="38100" rtlCol="0" anchor="t">
            <a:normAutofit/>
          </a:bodyPr>
          <a:lstStyle/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>
                <a:latin typeface="Courier New"/>
                <a:ea typeface="Monaco" charset="0"/>
                <a:cs typeface="Courier New"/>
                <a:sym typeface="Monaco" charset="0"/>
              </a:rPr>
              <a:t>int= </a:t>
            </a:r>
            <a:r>
              <a:rPr lang="en-US" sz="2400" err="1">
                <a:latin typeface="Courier New"/>
                <a:ea typeface="Monaco" charset="0"/>
                <a:cs typeface="Courier New"/>
                <a:sym typeface="Monaco" charset="0"/>
              </a:rPr>
              <a:t>silly_math</a:t>
            </a:r>
            <a:r>
              <a:rPr lang="en-US" sz="2400">
                <a:latin typeface="Courier New"/>
                <a:ea typeface="Monaco" charset="0"/>
                <a:cs typeface="Courier New"/>
                <a:sym typeface="Monaco" charset="0"/>
              </a:rPr>
              <a:t>(int a, int b)</a:t>
            </a:r>
            <a:endParaRPr lang="en-US">
              <a:latin typeface="Aptos" panose="020B0004020202020204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  <a:endParaRPr lang="en-US" sz="2400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int k = (b – a) + 11;</a:t>
            </a:r>
            <a:endParaRPr lang="en-US" sz="2400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k*42;</a:t>
            </a:r>
            <a:endParaRPr lang="en-US" sz="2400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  <a:endParaRPr lang="en-US" sz="2400">
              <a:latin typeface="Courier New" pitchFamily="49" charset="0"/>
              <a:ea typeface="Monaco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B5C66-BEEE-9745-A255-40493CDDED01}"/>
              </a:ext>
            </a:extLst>
          </p:cNvPr>
          <p:cNvSpPr txBox="1"/>
          <p:nvPr/>
        </p:nvSpPr>
        <p:spPr>
          <a:xfrm>
            <a:off x="4947920" y="824618"/>
            <a:ext cx="7233920" cy="3794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/>
              <a:t>k*42 = k*(32+8+2) = 2*( 4*(4k+1k)+1k)</a:t>
            </a:r>
          </a:p>
        </p:txBody>
      </p:sp>
    </p:spTree>
    <p:extLst>
      <p:ext uri="{BB962C8B-B14F-4D97-AF65-F5344CB8AC3E}">
        <p14:creationId xmlns:p14="http://schemas.microsoft.com/office/powerpoint/2010/main" val="34373894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587CC-E398-4A75-870F-110C87919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Things you should know or go learn more about:</a:t>
            </a:r>
          </a:p>
          <a:p>
            <a:pPr lvl="1"/>
            <a:r>
              <a:rPr lang="en-US"/>
              <a:t>RISC-V assembly programming straight-line code with basic arithmetic</a:t>
            </a:r>
          </a:p>
          <a:p>
            <a:pPr lvl="2"/>
            <a:r>
              <a:rPr lang="en-US"/>
              <a:t>Addition, subtraction, multiplication (shifts and adds)</a:t>
            </a:r>
          </a:p>
          <a:p>
            <a:pPr lvl="1"/>
            <a:r>
              <a:rPr lang="en-US"/>
              <a:t>Basic function call/return</a:t>
            </a:r>
          </a:p>
          <a:p>
            <a:pPr lvl="2"/>
            <a:r>
              <a:rPr lang="en-US"/>
              <a:t>Function calls that don’t make nested function calls (</a:t>
            </a:r>
            <a:r>
              <a:rPr lang="en-US" b="1">
                <a:solidFill>
                  <a:schemeClr val="accent1"/>
                </a:solidFill>
              </a:rPr>
              <a:t>leaf procedures</a:t>
            </a:r>
            <a:r>
              <a:rPr lang="en-US"/>
              <a:t>)</a:t>
            </a:r>
          </a:p>
          <a:p>
            <a:endParaRPr lang="en-US"/>
          </a:p>
          <a:p>
            <a:pPr marL="0" indent="0">
              <a:buNone/>
            </a:pPr>
            <a:r>
              <a:rPr lang="en-US" b="1"/>
              <a:t>Next up</a:t>
            </a:r>
            <a:r>
              <a:rPr lang="en-US"/>
              <a:t>: basic data movement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Read </a:t>
            </a:r>
            <a:r>
              <a:rPr lang="en-US" b="1"/>
              <a:t>chapter 2</a:t>
            </a:r>
            <a:r>
              <a:rPr lang="en-US"/>
              <a:t>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34C6FA-C530-426E-91B6-4360F9E6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Summary.</a:t>
            </a:r>
          </a:p>
        </p:txBody>
      </p:sp>
    </p:spTree>
    <p:extLst>
      <p:ext uri="{BB962C8B-B14F-4D97-AF65-F5344CB8AC3E}">
        <p14:creationId xmlns:p14="http://schemas.microsoft.com/office/powerpoint/2010/main" val="30073579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12156-12F0-4BD2-D35D-EEEDF658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D382-E63F-8072-3870-82AA42427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b="1"/>
              <a:t>Thank you.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95CBB-F04F-4CC7-8926-3050DC67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19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35097d-3c42-4841-8414-e54f32605794" xsi:nil="true"/>
    <lcf76f155ced4ddcb4097134ff3c332f xmlns="4619ee15-d16e-4cab-835a-106b42f09be9">
      <Terms xmlns="http://schemas.microsoft.com/office/infopath/2007/PartnerControls"/>
    </lcf76f155ced4ddcb4097134ff3c332f>
    <comment xmlns="4619ee15-d16e-4cab-835a-106b42f09be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F7041B20C9D84A837902E535A9C631" ma:contentTypeVersion="17" ma:contentTypeDescription="Create a new document." ma:contentTypeScope="" ma:versionID="bf947d493ea0e920a0a55c5a9bbc11a7">
  <xsd:schema xmlns:xsd="http://www.w3.org/2001/XMLSchema" xmlns:xs="http://www.w3.org/2001/XMLSchema" xmlns:p="http://schemas.microsoft.com/office/2006/metadata/properties" xmlns:ns2="4619ee15-d16e-4cab-835a-106b42f09be9" xmlns:ns3="9135097d-3c42-4841-8414-e54f32605794" targetNamespace="http://schemas.microsoft.com/office/2006/metadata/properties" ma:root="true" ma:fieldsID="626080d7c39690040fa29d374903722c" ns2:_="" ns3:_="">
    <xsd:import namespace="4619ee15-d16e-4cab-835a-106b42f09be9"/>
    <xsd:import namespace="9135097d-3c42-4841-8414-e54f326057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commen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ee15-d16e-4cab-835a-106b42f09b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7373dcc-d629-4f14-9a28-796bffe926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" ma:index="23" nillable="true" ma:displayName="comment" ma:format="Dropdown" ma:internalName="comment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5097d-3c42-4841-8414-e54f3260579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19991c60-4f88-465e-b0d6-8ccc2d76eff8}" ma:internalName="TaxCatchAll" ma:showField="CatchAllData" ma:web="9135097d-3c42-4841-8414-e54f326057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30B765-BC9D-41EA-B9D3-9E225854F8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583296-0ED5-46EC-9454-454006AAD442}">
  <ds:schemaRefs>
    <ds:schemaRef ds:uri="4619ee15-d16e-4cab-835a-106b42f09be9"/>
    <ds:schemaRef ds:uri="785cff9e-9d88-40f4-96cb-1285df94b63b"/>
    <ds:schemaRef ds:uri="9135097d-3c42-4841-8414-e54f32605794"/>
    <ds:schemaRef ds:uri="9fdeb73d-c18a-448e-b2ff-a2496585359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2EBC180-5FF9-4712-8D46-CF33F4FB5C84}">
  <ds:schemaRefs>
    <ds:schemaRef ds:uri="4619ee15-d16e-4cab-835a-106b42f09be9"/>
    <ds:schemaRef ds:uri="9135097d-3c42-4841-8414-e54f326057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46</Slides>
  <Notes>15</Notes>
  <HiddenSlides>5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CS 2160 Introduction to Assembly Programming and Computer Organization  Lecture 01: Arithmetic</vt:lpstr>
      <vt:lpstr>Today’s Agenda.</vt:lpstr>
      <vt:lpstr>What is RISC-V.</vt:lpstr>
      <vt:lpstr>RISC-V is a family of Instruction Sets .</vt:lpstr>
      <vt:lpstr>RISC-V is a family of Instruction Sets. </vt:lpstr>
      <vt:lpstr>Registers.</vt:lpstr>
      <vt:lpstr>A few RISC-V Integer Registers by mnemonic.</vt:lpstr>
      <vt:lpstr>Instructions.</vt:lpstr>
      <vt:lpstr>Instructions.</vt:lpstr>
      <vt:lpstr>Instructions.</vt:lpstr>
      <vt:lpstr>Instructions.</vt:lpstr>
      <vt:lpstr>PowerPoint Presentation</vt:lpstr>
      <vt:lpstr>Let’s do some simple math!</vt:lpstr>
      <vt:lpstr>Let’s do some simple math!</vt:lpstr>
      <vt:lpstr>Let’s do some simple math!</vt:lpstr>
      <vt:lpstr>Let’s do some simple math!</vt:lpstr>
      <vt:lpstr>Let’s do subtraction!</vt:lpstr>
      <vt:lpstr>Let’s do subtraction!</vt:lpstr>
      <vt:lpstr>Let’s multiply by a power of 2!</vt:lpstr>
      <vt:lpstr>Let’s multiply by a power of 2!</vt:lpstr>
      <vt:lpstr>Let’s multiply by a power of 2!</vt:lpstr>
      <vt:lpstr>Memorize powers-of-2 and log2 up to 1024!</vt:lpstr>
      <vt:lpstr>Multiplication</vt:lpstr>
      <vt:lpstr>Let’s multiply by a power of 2!</vt:lpstr>
      <vt:lpstr>Let’s multiply by a power of 2!</vt:lpstr>
      <vt:lpstr>Multiplication by other numbers.</vt:lpstr>
      <vt:lpstr>Multiplication by other numbers.</vt:lpstr>
      <vt:lpstr>Multiplication by other numbers.</vt:lpstr>
      <vt:lpstr>Multiplication by other numbers.</vt:lpstr>
      <vt:lpstr>Multiplication by other numbers.</vt:lpstr>
      <vt:lpstr>Multiplication by other numbers.</vt:lpstr>
      <vt:lpstr>Let’s do some simple math!</vt:lpstr>
      <vt:lpstr>Let’s do some simple math!</vt:lpstr>
      <vt:lpstr>Arithmetic Expression Example.</vt:lpstr>
      <vt:lpstr>Arithmetic Expression Example.</vt:lpstr>
      <vt:lpstr>Arithmetic Expression Example.</vt:lpstr>
      <vt:lpstr>Arithmetic Expression Example.</vt:lpstr>
      <vt:lpstr>Arithmetic Expression Example.</vt:lpstr>
      <vt:lpstr>Arithmetic Expression Example.</vt:lpstr>
      <vt:lpstr>Arithmetic Expression Example.</vt:lpstr>
      <vt:lpstr>Arithmetic Expression Example.</vt:lpstr>
      <vt:lpstr>Arithmetic Expression Example.</vt:lpstr>
      <vt:lpstr>Exercise: Convert to RISC-V.</vt:lpstr>
      <vt:lpstr>Exercise solution.</vt:lpstr>
      <vt:lpstr>Summary.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Himon Thakur</dc:creator>
  <cp:revision>2</cp:revision>
  <dcterms:created xsi:type="dcterms:W3CDTF">2026-02-17T00:04:35Z</dcterms:created>
  <dcterms:modified xsi:type="dcterms:W3CDTF">2026-08-26T22:54:04Z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0x010100EEF7041B20C9D84A837902E535A9C631</vt:lpwstr>
  </property>
</Properties>
</file>