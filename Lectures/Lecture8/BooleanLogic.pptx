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7" r:id="rId1"/>
  </p:sldMasterIdLst>
  <p:notesMasterIdLst>
    <p:notesMasterId r:id="rId35"/>
  </p:notesMasterIdLst>
  <p:sldIdLst>
    <p:sldId id="256" r:id="rId2"/>
    <p:sldId id="257" r:id="rId3"/>
    <p:sldId id="316" r:id="rId4"/>
    <p:sldId id="781" r:id="rId5"/>
    <p:sldId id="337" r:id="rId6"/>
    <p:sldId id="778" r:id="rId7"/>
    <p:sldId id="779" r:id="rId8"/>
    <p:sldId id="750" r:id="rId9"/>
    <p:sldId id="777" r:id="rId10"/>
    <p:sldId id="774" r:id="rId11"/>
    <p:sldId id="751" r:id="rId12"/>
    <p:sldId id="752" r:id="rId13"/>
    <p:sldId id="753" r:id="rId14"/>
    <p:sldId id="754" r:id="rId15"/>
    <p:sldId id="755" r:id="rId16"/>
    <p:sldId id="756" r:id="rId17"/>
    <p:sldId id="757" r:id="rId18"/>
    <p:sldId id="758" r:id="rId19"/>
    <p:sldId id="775" r:id="rId20"/>
    <p:sldId id="763" r:id="rId21"/>
    <p:sldId id="776" r:id="rId22"/>
    <p:sldId id="759" r:id="rId23"/>
    <p:sldId id="782" r:id="rId24"/>
    <p:sldId id="760" r:id="rId25"/>
    <p:sldId id="783" r:id="rId26"/>
    <p:sldId id="761" r:id="rId27"/>
    <p:sldId id="784" r:id="rId28"/>
    <p:sldId id="762" r:id="rId29"/>
    <p:sldId id="780" r:id="rId30"/>
    <p:sldId id="768" r:id="rId31"/>
    <p:sldId id="769" r:id="rId32"/>
    <p:sldId id="770" r:id="rId33"/>
    <p:sldId id="771"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DDF8"/>
    <a:srgbClr val="009639"/>
    <a:srgbClr val="00D657"/>
    <a:srgbClr val="00A840"/>
    <a:srgbClr val="71FF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15" dt="2026-10-05T22:30:09.223"/>
    <p1510:client id="{CD0F2B3E-0785-0E3F-6F2A-C0CB2D8EAE76}" v="31" dt="2026-10-05T20:44:52.1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5C8BA7-AD7A-4562-9101-3AAD26BB5789}" type="datetimeFigureOut">
              <a:rPr lang="en-US" smtClean="0"/>
              <a:pPr/>
              <a:t>10/5/2026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E34500-BB8F-47C6-8EB6-733711EA6A42}" type="slidenum">
              <a:rPr lang="en-US" smtClean="0"/>
              <a:pPr/>
              <a:t>‹#›</a:t>
            </a:fld>
            <a:endParaRPr lang="en-US"/>
          </a:p>
        </p:txBody>
      </p:sp>
    </p:spTree>
    <p:extLst>
      <p:ext uri="{BB962C8B-B14F-4D97-AF65-F5344CB8AC3E}">
        <p14:creationId xmlns:p14="http://schemas.microsoft.com/office/powerpoint/2010/main" val="1379869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33333"/>
                </a:solidFill>
                <a:effectLst/>
                <a:latin typeface="Roboto" panose="020F0502020204030204" pitchFamily="34" charset="0"/>
              </a:rPr>
              <a:t>Boolean algebra is the basis for all computer logic. Originally formulated by George Boole, an English mathematician (1815-1864), Boolean algebra describes propositions whose outcomes are either true or false. In computer work, the true and false statements are represented by the output state of an electronic circuit, whose state can be either 1 (true) or 0 (false). We perceive these logic changes as voltage levels. That is, when the logic level is supposed to represent a 1, the output voltage will typically measure five volts. Conversely, a logic 0 is represented by — what else? Zero volts. This is important. Logic 1 is five volts and logic 0 is no volts. </a:t>
            </a:r>
            <a:endParaRPr lang="en-US"/>
          </a:p>
        </p:txBody>
      </p:sp>
      <p:sp>
        <p:nvSpPr>
          <p:cNvPr id="4" name="Slide Number Placeholder 3"/>
          <p:cNvSpPr>
            <a:spLocks noGrp="1"/>
          </p:cNvSpPr>
          <p:nvPr>
            <p:ph type="sldNum" sz="quarter" idx="5"/>
          </p:nvPr>
        </p:nvSpPr>
        <p:spPr/>
        <p:txBody>
          <a:bodyPr/>
          <a:lstStyle/>
          <a:p>
            <a:fld id="{0EE34500-BB8F-47C6-8EB6-733711EA6A42}" type="slidenum">
              <a:rPr lang="en-US" smtClean="0"/>
              <a:pPr/>
              <a:t>5</a:t>
            </a:fld>
            <a:endParaRPr lang="en-US"/>
          </a:p>
        </p:txBody>
      </p:sp>
    </p:spTree>
    <p:extLst>
      <p:ext uri="{BB962C8B-B14F-4D97-AF65-F5344CB8AC3E}">
        <p14:creationId xmlns:p14="http://schemas.microsoft.com/office/powerpoint/2010/main" val="3443835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E34500-BB8F-47C6-8EB6-733711EA6A42}" type="slidenum">
              <a:rPr lang="en-US" smtClean="0"/>
              <a:pPr/>
              <a:t>6</a:t>
            </a:fld>
            <a:endParaRPr lang="en-US"/>
          </a:p>
        </p:txBody>
      </p:sp>
    </p:spTree>
    <p:extLst>
      <p:ext uri="{BB962C8B-B14F-4D97-AF65-F5344CB8AC3E}">
        <p14:creationId xmlns:p14="http://schemas.microsoft.com/office/powerpoint/2010/main" val="3218928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8DC24-C60E-003B-E52B-955812CD3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B7029-EBAD-015A-A258-89094AD2D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419DD9-6E71-D2DE-A961-A801942875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032D9D6-49A4-39F8-6634-59F3CEAF8296}"/>
              </a:ext>
            </a:extLst>
          </p:cNvPr>
          <p:cNvSpPr>
            <a:spLocks noGrp="1"/>
          </p:cNvSpPr>
          <p:nvPr>
            <p:ph type="sldNum" sz="quarter" idx="5"/>
          </p:nvPr>
        </p:nvSpPr>
        <p:spPr/>
        <p:txBody>
          <a:bodyPr/>
          <a:lstStyle/>
          <a:p>
            <a:fld id="{0EE34500-BB8F-47C6-8EB6-733711EA6A42}" type="slidenum">
              <a:rPr lang="en-US" smtClean="0"/>
              <a:pPr/>
              <a:t>7</a:t>
            </a:fld>
            <a:endParaRPr lang="en-US"/>
          </a:p>
        </p:txBody>
      </p:sp>
    </p:spTree>
    <p:extLst>
      <p:ext uri="{BB962C8B-B14F-4D97-AF65-F5344CB8AC3E}">
        <p14:creationId xmlns:p14="http://schemas.microsoft.com/office/powerpoint/2010/main" val="2790316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 </a:t>
            </a:r>
            <a:r>
              <a:rPr lang="en-US">
                <a:sym typeface="Wingdings" pitchFamily="2" charset="2"/>
              </a:rPr>
              <a:t> *</a:t>
            </a:r>
          </a:p>
          <a:p>
            <a:r>
              <a:rPr lang="en-US">
                <a:sym typeface="Wingdings" pitchFamily="2" charset="2"/>
              </a:rPr>
              <a:t>OR  addition</a:t>
            </a:r>
            <a:endParaRPr lang="en-US"/>
          </a:p>
        </p:txBody>
      </p:sp>
      <p:sp>
        <p:nvSpPr>
          <p:cNvPr id="4" name="Slide Number Placeholder 3"/>
          <p:cNvSpPr>
            <a:spLocks noGrp="1"/>
          </p:cNvSpPr>
          <p:nvPr>
            <p:ph type="sldNum" sz="quarter" idx="5"/>
          </p:nvPr>
        </p:nvSpPr>
        <p:spPr/>
        <p:txBody>
          <a:bodyPr/>
          <a:lstStyle/>
          <a:p>
            <a:fld id="{0EE34500-BB8F-47C6-8EB6-733711EA6A42}" type="slidenum">
              <a:rPr lang="en-US" smtClean="0"/>
              <a:pPr/>
              <a:t>13</a:t>
            </a:fld>
            <a:endParaRPr lang="en-US"/>
          </a:p>
        </p:txBody>
      </p:sp>
    </p:spTree>
    <p:extLst>
      <p:ext uri="{BB962C8B-B14F-4D97-AF65-F5344CB8AC3E}">
        <p14:creationId xmlns:p14="http://schemas.microsoft.com/office/powerpoint/2010/main" val="1442579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(5+2)+3 = 10, </a:t>
            </a:r>
          </a:p>
          <a:p>
            <a:r>
              <a:rPr lang="en-US"/>
              <a:t>(5 * 2) * 3 = 30</a:t>
            </a:r>
          </a:p>
        </p:txBody>
      </p:sp>
      <p:sp>
        <p:nvSpPr>
          <p:cNvPr id="4" name="Slide Number Placeholder 3"/>
          <p:cNvSpPr>
            <a:spLocks noGrp="1"/>
          </p:cNvSpPr>
          <p:nvPr>
            <p:ph type="sldNum" sz="quarter" idx="5"/>
          </p:nvPr>
        </p:nvSpPr>
        <p:spPr/>
        <p:txBody>
          <a:bodyPr/>
          <a:lstStyle/>
          <a:p>
            <a:fld id="{0EE34500-BB8F-47C6-8EB6-733711EA6A42}" type="slidenum">
              <a:rPr lang="en-US" smtClean="0"/>
              <a:pPr/>
              <a:t>17</a:t>
            </a:fld>
            <a:endParaRPr lang="en-US"/>
          </a:p>
        </p:txBody>
      </p:sp>
    </p:spTree>
    <p:extLst>
      <p:ext uri="{BB962C8B-B14F-4D97-AF65-F5344CB8AC3E}">
        <p14:creationId xmlns:p14="http://schemas.microsoft.com/office/powerpoint/2010/main" val="2214289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double complement law = double negation law</a:t>
            </a:r>
          </a:p>
        </p:txBody>
      </p:sp>
      <p:sp>
        <p:nvSpPr>
          <p:cNvPr id="4" name="Slide Number Placeholder 3"/>
          <p:cNvSpPr>
            <a:spLocks noGrp="1"/>
          </p:cNvSpPr>
          <p:nvPr>
            <p:ph type="sldNum" sz="quarter" idx="5"/>
          </p:nvPr>
        </p:nvSpPr>
        <p:spPr/>
        <p:txBody>
          <a:bodyPr/>
          <a:lstStyle/>
          <a:p>
            <a:fld id="{0EE34500-BB8F-47C6-8EB6-733711EA6A42}" type="slidenum">
              <a:rPr lang="en-US" smtClean="0"/>
              <a:pPr/>
              <a:t>18</a:t>
            </a:fld>
            <a:endParaRPr lang="en-US"/>
          </a:p>
        </p:txBody>
      </p:sp>
    </p:spTree>
    <p:extLst>
      <p:ext uri="{BB962C8B-B14F-4D97-AF65-F5344CB8AC3E}">
        <p14:creationId xmlns:p14="http://schemas.microsoft.com/office/powerpoint/2010/main" val="4283119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43637-C078-9977-51CE-25EB72E72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C3DABB-F6D6-CE9A-DE32-C89E680FD0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1DBD0C-1896-A542-DC98-C6966A83A833}"/>
              </a:ext>
            </a:extLst>
          </p:cNvPr>
          <p:cNvSpPr>
            <a:spLocks noGrp="1"/>
          </p:cNvSpPr>
          <p:nvPr>
            <p:ph type="body" idx="1"/>
          </p:nvPr>
        </p:nvSpPr>
        <p:spPr/>
        <p:txBody>
          <a:bodyPr/>
          <a:lstStyle/>
          <a:p>
            <a:r>
              <a:rPr lang="en-US"/>
              <a:t>double complement law = double negation law</a:t>
            </a:r>
          </a:p>
        </p:txBody>
      </p:sp>
      <p:sp>
        <p:nvSpPr>
          <p:cNvPr id="4" name="Slide Number Placeholder 3">
            <a:extLst>
              <a:ext uri="{FF2B5EF4-FFF2-40B4-BE49-F238E27FC236}">
                <a16:creationId xmlns:a16="http://schemas.microsoft.com/office/drawing/2014/main" id="{1235609F-D9E5-8CCF-C3BF-A4CFB7E650CC}"/>
              </a:ext>
            </a:extLst>
          </p:cNvPr>
          <p:cNvSpPr>
            <a:spLocks noGrp="1"/>
          </p:cNvSpPr>
          <p:nvPr>
            <p:ph type="sldNum" sz="quarter" idx="5"/>
          </p:nvPr>
        </p:nvSpPr>
        <p:spPr/>
        <p:txBody>
          <a:bodyPr/>
          <a:lstStyle/>
          <a:p>
            <a:fld id="{0EE34500-BB8F-47C6-8EB6-733711EA6A42}" type="slidenum">
              <a:rPr lang="en-US" smtClean="0"/>
              <a:pPr/>
              <a:t>19</a:t>
            </a:fld>
            <a:endParaRPr lang="en-US"/>
          </a:p>
        </p:txBody>
      </p:sp>
    </p:spTree>
    <p:extLst>
      <p:ext uri="{BB962C8B-B14F-4D97-AF65-F5344CB8AC3E}">
        <p14:creationId xmlns:p14="http://schemas.microsoft.com/office/powerpoint/2010/main" val="4142149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01229-22A1-B226-E33B-ADD72DEE2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2A98C-5437-E9F1-6245-637967DD0B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7513E5-EBB9-1C6F-B8C7-B84C04D33DBD}"/>
              </a:ext>
            </a:extLst>
          </p:cNvPr>
          <p:cNvSpPr>
            <a:spLocks noGrp="1"/>
          </p:cNvSpPr>
          <p:nvPr>
            <p:ph type="body" idx="1"/>
          </p:nvPr>
        </p:nvSpPr>
        <p:spPr/>
        <p:txBody>
          <a:bodyPr/>
          <a:lstStyle/>
          <a:p>
            <a:r>
              <a:rPr lang="en-US"/>
              <a:t>double complement law = double negation law</a:t>
            </a:r>
          </a:p>
        </p:txBody>
      </p:sp>
      <p:sp>
        <p:nvSpPr>
          <p:cNvPr id="4" name="Slide Number Placeholder 3">
            <a:extLst>
              <a:ext uri="{FF2B5EF4-FFF2-40B4-BE49-F238E27FC236}">
                <a16:creationId xmlns:a16="http://schemas.microsoft.com/office/drawing/2014/main" id="{B443A48E-3658-099E-F75A-2E5B80D187E1}"/>
              </a:ext>
            </a:extLst>
          </p:cNvPr>
          <p:cNvSpPr>
            <a:spLocks noGrp="1"/>
          </p:cNvSpPr>
          <p:nvPr>
            <p:ph type="sldNum" sz="quarter" idx="5"/>
          </p:nvPr>
        </p:nvSpPr>
        <p:spPr/>
        <p:txBody>
          <a:bodyPr/>
          <a:lstStyle/>
          <a:p>
            <a:fld id="{0EE34500-BB8F-47C6-8EB6-733711EA6A42}" type="slidenum">
              <a:rPr lang="en-US" smtClean="0"/>
              <a:pPr/>
              <a:t>20</a:t>
            </a:fld>
            <a:endParaRPr lang="en-US"/>
          </a:p>
        </p:txBody>
      </p:sp>
    </p:spTree>
    <p:extLst>
      <p:ext uri="{BB962C8B-B14F-4D97-AF65-F5344CB8AC3E}">
        <p14:creationId xmlns:p14="http://schemas.microsoft.com/office/powerpoint/2010/main" val="2418632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F9929-42FB-B075-A497-13A8101A8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38CF2-A191-65D1-86D1-8A2A32861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C1915-9F45-0213-DDCD-270651231CC7}"/>
              </a:ext>
            </a:extLst>
          </p:cNvPr>
          <p:cNvSpPr>
            <a:spLocks noGrp="1"/>
          </p:cNvSpPr>
          <p:nvPr>
            <p:ph type="body" idx="1"/>
          </p:nvPr>
        </p:nvSpPr>
        <p:spPr/>
        <p:txBody>
          <a:bodyPr/>
          <a:lstStyle/>
          <a:p>
            <a:pPr>
              <a:buFont typeface="+mj-lt"/>
              <a:buNone/>
            </a:pPr>
            <a:r>
              <a:rPr lang="en-US"/>
              <a:t>Although there can be many logically equivalent ways to write a Boolean expression, we often prefer to use specific, standardized forms for clarity and simplicity. These standard forms are called </a:t>
            </a:r>
            <a:r>
              <a:rPr lang="en-US" b="1"/>
              <a:t>canonical forms</a:t>
            </a:r>
            <a:r>
              <a:rPr lang="en-US"/>
              <a:t>, and the two most common ones are:</a:t>
            </a:r>
            <a:endParaRPr lang="en-US" b="1"/>
          </a:p>
          <a:p>
            <a:pPr>
              <a:buFont typeface="+mj-lt"/>
              <a:buAutoNum type="arabicPeriod"/>
            </a:pPr>
            <a:r>
              <a:rPr lang="en-US" b="1"/>
              <a:t>Sum-of-Products (SOP)</a:t>
            </a:r>
            <a:endParaRPr lang="en-US"/>
          </a:p>
          <a:p>
            <a:pPr>
              <a:buFont typeface="+mj-lt"/>
              <a:buAutoNum type="arabicPeriod"/>
            </a:pPr>
            <a:r>
              <a:rPr lang="en-US" b="1"/>
              <a:t>Product-of-Sums (POS)</a:t>
            </a:r>
            <a:endParaRPr lang="en-US"/>
          </a:p>
          <a:p>
            <a:r>
              <a:rPr lang="en-US"/>
              <a:t>Both forms represent the same logical function but use different arrangements of ANDs and ORs</a:t>
            </a:r>
          </a:p>
          <a:p>
            <a:endParaRPr lang="en-US"/>
          </a:p>
          <a:p>
            <a:endParaRPr lang="en-US"/>
          </a:p>
        </p:txBody>
      </p:sp>
      <p:sp>
        <p:nvSpPr>
          <p:cNvPr id="4" name="Slide Number Placeholder 3">
            <a:extLst>
              <a:ext uri="{FF2B5EF4-FFF2-40B4-BE49-F238E27FC236}">
                <a16:creationId xmlns:a16="http://schemas.microsoft.com/office/drawing/2014/main" id="{E473F85D-9360-6BE4-612A-E2F9CD03F655}"/>
              </a:ext>
            </a:extLst>
          </p:cNvPr>
          <p:cNvSpPr>
            <a:spLocks noGrp="1"/>
          </p:cNvSpPr>
          <p:nvPr>
            <p:ph type="sldNum" sz="quarter" idx="5"/>
          </p:nvPr>
        </p:nvSpPr>
        <p:spPr/>
        <p:txBody>
          <a:bodyPr/>
          <a:lstStyle/>
          <a:p>
            <a:fld id="{0EE34500-BB8F-47C6-8EB6-733711EA6A42}" type="slidenum">
              <a:rPr lang="en-US" smtClean="0"/>
              <a:pPr/>
              <a:t>27</a:t>
            </a:fld>
            <a:endParaRPr lang="en-US"/>
          </a:p>
        </p:txBody>
      </p:sp>
    </p:spTree>
    <p:extLst>
      <p:ext uri="{BB962C8B-B14F-4D97-AF65-F5344CB8AC3E}">
        <p14:creationId xmlns:p14="http://schemas.microsoft.com/office/powerpoint/2010/main" val="1567734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None/>
            </a:pPr>
            <a:r>
              <a:rPr lang="en-US"/>
              <a:t>Although there can be many logically equivalent ways to write a Boolean expression, we often prefer to use specific, standardized forms for clarity and simplicity. These standard forms are called </a:t>
            </a:r>
            <a:r>
              <a:rPr lang="en-US" b="1"/>
              <a:t>canonical forms</a:t>
            </a:r>
            <a:r>
              <a:rPr lang="en-US"/>
              <a:t>, and the two most common ones are:</a:t>
            </a:r>
            <a:endParaRPr lang="en-US" b="1"/>
          </a:p>
          <a:p>
            <a:pPr>
              <a:buFont typeface="+mj-lt"/>
              <a:buAutoNum type="arabicPeriod"/>
            </a:pPr>
            <a:r>
              <a:rPr lang="en-US" b="1"/>
              <a:t>Sum-of-Products (SOP)</a:t>
            </a:r>
            <a:endParaRPr lang="en-US"/>
          </a:p>
          <a:p>
            <a:pPr>
              <a:buFont typeface="+mj-lt"/>
              <a:buAutoNum type="arabicPeriod"/>
            </a:pPr>
            <a:r>
              <a:rPr lang="en-US" b="1"/>
              <a:t>Product-of-Sums (POS)</a:t>
            </a:r>
            <a:endParaRPr lang="en-US"/>
          </a:p>
          <a:p>
            <a:r>
              <a:rPr lang="en-US"/>
              <a:t>Both forms represent the same logical function but use different arrangements of ANDs and ORs</a:t>
            </a:r>
          </a:p>
          <a:p>
            <a:endParaRPr lang="en-US"/>
          </a:p>
          <a:p>
            <a:endParaRPr lang="en-US"/>
          </a:p>
        </p:txBody>
      </p:sp>
      <p:sp>
        <p:nvSpPr>
          <p:cNvPr id="4" name="Slide Number Placeholder 3"/>
          <p:cNvSpPr>
            <a:spLocks noGrp="1"/>
          </p:cNvSpPr>
          <p:nvPr>
            <p:ph type="sldNum" sz="quarter" idx="5"/>
          </p:nvPr>
        </p:nvSpPr>
        <p:spPr/>
        <p:txBody>
          <a:bodyPr/>
          <a:lstStyle/>
          <a:p>
            <a:fld id="{0EE34500-BB8F-47C6-8EB6-733711EA6A42}" type="slidenum">
              <a:rPr lang="en-US" smtClean="0"/>
              <a:pPr/>
              <a:t>28</a:t>
            </a:fld>
            <a:endParaRPr lang="en-US"/>
          </a:p>
        </p:txBody>
      </p:sp>
    </p:spTree>
    <p:extLst>
      <p:ext uri="{BB962C8B-B14F-4D97-AF65-F5344CB8AC3E}">
        <p14:creationId xmlns:p14="http://schemas.microsoft.com/office/powerpoint/2010/main" val="1112623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2400"/>
              <a:t>Rules:</a:t>
            </a:r>
          </a:p>
          <a:p>
            <a:pPr lvl="1"/>
            <a:r>
              <a:rPr lang="en-US" sz="2000"/>
              <a:t>If the variable is </a:t>
            </a:r>
            <a:r>
              <a:rPr lang="en-US" sz="2000" b="1"/>
              <a:t>0</a:t>
            </a:r>
            <a:r>
              <a:rPr lang="en-US" sz="2000"/>
              <a:t> in that row, use the </a:t>
            </a:r>
            <a:r>
              <a:rPr lang="en-US" sz="2000" b="1"/>
              <a:t>uncomplemented</a:t>
            </a:r>
            <a:r>
              <a:rPr lang="en-US" sz="2000"/>
              <a:t> form of the variable (because that literal will be 0).</a:t>
            </a:r>
          </a:p>
          <a:p>
            <a:pPr lvl="1"/>
            <a:r>
              <a:rPr lang="en-US" sz="2000"/>
              <a:t>If the variable is </a:t>
            </a:r>
            <a:r>
              <a:rPr lang="en-US" sz="2000" b="1"/>
              <a:t>1</a:t>
            </a:r>
            <a:r>
              <a:rPr lang="en-US" sz="2000"/>
              <a:t> in that row, use the </a:t>
            </a:r>
            <a:r>
              <a:rPr lang="en-US" sz="2000" b="1"/>
              <a:t>complemented</a:t>
            </a:r>
            <a:r>
              <a:rPr lang="en-US" sz="2000"/>
              <a:t> form of the variable (because that literal will be 0).</a:t>
            </a:r>
          </a:p>
          <a:p>
            <a:endParaRPr lang="en-US"/>
          </a:p>
        </p:txBody>
      </p:sp>
      <p:sp>
        <p:nvSpPr>
          <p:cNvPr id="4" name="Slide Number Placeholder 3"/>
          <p:cNvSpPr>
            <a:spLocks noGrp="1"/>
          </p:cNvSpPr>
          <p:nvPr>
            <p:ph type="sldNum" sz="quarter" idx="5"/>
          </p:nvPr>
        </p:nvSpPr>
        <p:spPr/>
        <p:txBody>
          <a:bodyPr/>
          <a:lstStyle/>
          <a:p>
            <a:fld id="{0EE34500-BB8F-47C6-8EB6-733711EA6A42}" type="slidenum">
              <a:rPr lang="en-US" smtClean="0"/>
              <a:pPr/>
              <a:t>31</a:t>
            </a:fld>
            <a:endParaRPr lang="en-US"/>
          </a:p>
        </p:txBody>
      </p:sp>
    </p:spTree>
    <p:extLst>
      <p:ext uri="{BB962C8B-B14F-4D97-AF65-F5344CB8AC3E}">
        <p14:creationId xmlns:p14="http://schemas.microsoft.com/office/powerpoint/2010/main" val="3184873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204" y="1371607"/>
            <a:ext cx="11785597" cy="4876793"/>
          </a:xfrm>
          <a:prstGeom prst="rect">
            <a:avLst/>
          </a:prstGeom>
        </p:spPr>
        <p:txBody>
          <a:bodyPr/>
          <a:lstStyle>
            <a:lvl1pPr>
              <a:defRPr sz="3200">
                <a:solidFill>
                  <a:schemeClr val="tx1"/>
                </a:solidFill>
                <a:latin typeface="+mn-lt"/>
                <a:cs typeface="Arial"/>
              </a:defRPr>
            </a:lvl1pPr>
            <a:lvl2pPr>
              <a:defRPr sz="2400">
                <a:latin typeface="+mn-lt"/>
                <a:cs typeface="Arial"/>
              </a:defRPr>
            </a:lvl2pPr>
            <a:lvl3pPr>
              <a:defRPr sz="2200">
                <a:latin typeface="+mn-lt"/>
                <a:cs typeface="Arial"/>
              </a:defRPr>
            </a:lvl3pPr>
            <a:lvl4pPr>
              <a:defRPr>
                <a:latin typeface="Arial"/>
                <a:cs typeface="Arial"/>
              </a:defRPr>
            </a:lvl4pPr>
            <a:lvl5pPr>
              <a:defRPr>
                <a:latin typeface="Arial"/>
                <a:cs typeface="Arial"/>
              </a:defRPr>
            </a:lvl5pPr>
          </a:lstStyle>
          <a:p>
            <a:pPr lvl="0"/>
            <a:r>
              <a:rPr lang="en-US"/>
              <a:t>Click to edit Master text styles</a:t>
            </a:r>
          </a:p>
          <a:p>
            <a:pPr lvl="1"/>
            <a:endParaRPr lang="en-US"/>
          </a:p>
          <a:p>
            <a:pPr lvl="2"/>
            <a:endParaRPr lang="en-US"/>
          </a:p>
        </p:txBody>
      </p:sp>
      <p:sp>
        <p:nvSpPr>
          <p:cNvPr id="11" name="Title 10"/>
          <p:cNvSpPr>
            <a:spLocks noGrp="1"/>
          </p:cNvSpPr>
          <p:nvPr>
            <p:ph type="title"/>
          </p:nvPr>
        </p:nvSpPr>
        <p:spPr>
          <a:xfrm>
            <a:off x="203201" y="152400"/>
            <a:ext cx="11764083" cy="1054250"/>
          </a:xfrm>
          <a:prstGeom prst="rect">
            <a:avLst/>
          </a:prstGeom>
        </p:spPr>
        <p:txBody>
          <a:bodyPr/>
          <a:lstStyle>
            <a:lvl1pPr algn="l">
              <a:defRPr sz="4400" b="1">
                <a:solidFill>
                  <a:schemeClr val="tx2"/>
                </a:solidFill>
                <a:latin typeface="+mj-lt"/>
                <a:cs typeface="Arial"/>
              </a:defRPr>
            </a:lvl1pPr>
          </a:lstStyle>
          <a:p>
            <a:r>
              <a:rPr lang="en-US"/>
              <a:t>Click to edit Master title style</a:t>
            </a: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8" name="Content Placeholder 7"/>
          <p:cNvSpPr>
            <a:spLocks noGrp="1"/>
          </p:cNvSpPr>
          <p:nvPr>
            <p:ph sz="quarter" idx="13"/>
          </p:nvPr>
        </p:nvSpPr>
        <p:spPr>
          <a:xfrm>
            <a:off x="203200" y="1371600"/>
            <a:ext cx="4638421" cy="5029200"/>
          </a:xfrm>
          <a:prstGeom prst="rect">
            <a:avLst/>
          </a:prstGeom>
        </p:spPr>
        <p:txBody>
          <a:bodyPr>
            <a:normAutofit/>
          </a:bodyPr>
          <a:lstStyle>
            <a:lvl1pPr>
              <a:defRPr sz="2800">
                <a:solidFill>
                  <a:schemeClr val="tx1"/>
                </a:solidFill>
                <a:latin typeface="+mn-lt"/>
                <a:cs typeface="Arial"/>
              </a:defRPr>
            </a:lvl1pPr>
            <a:lvl2pPr>
              <a:defRPr sz="2400"/>
            </a:lvl2pPr>
          </a:lstStyle>
          <a:p>
            <a:pPr lvl="0"/>
            <a:r>
              <a:rPr lang="en-US"/>
              <a:t>Click to edit Master text styles</a:t>
            </a:r>
          </a:p>
          <a:p>
            <a:pPr lvl="1"/>
            <a:endParaRPr lang="en-US"/>
          </a:p>
        </p:txBody>
      </p:sp>
      <p:sp>
        <p:nvSpPr>
          <p:cNvPr id="10" name="Content Placeholder 9"/>
          <p:cNvSpPr>
            <a:spLocks noGrp="1"/>
          </p:cNvSpPr>
          <p:nvPr>
            <p:ph sz="quarter" idx="14"/>
          </p:nvPr>
        </p:nvSpPr>
        <p:spPr>
          <a:xfrm>
            <a:off x="4953000" y="1371600"/>
            <a:ext cx="4648200" cy="5029200"/>
          </a:xfrm>
          <a:prstGeom prst="rect">
            <a:avLst/>
          </a:prstGeom>
        </p:spPr>
        <p:txBody>
          <a:bodyPr>
            <a:normAutofit/>
          </a:bodyPr>
          <a:lstStyle>
            <a:lvl1pPr>
              <a:defRPr sz="2800">
                <a:solidFill>
                  <a:schemeClr val="tx1"/>
                </a:solidFill>
                <a:latin typeface="+mn-lt"/>
                <a:cs typeface="Arial"/>
              </a:defRPr>
            </a:lvl1pPr>
            <a:lvl2pPr>
              <a:defRPr sz="2400"/>
            </a:lvl2pPr>
          </a:lstStyle>
          <a:p>
            <a:pPr lvl="0"/>
            <a:r>
              <a:rPr lang="en-US"/>
              <a:t>Click to edit Master text styles</a:t>
            </a:r>
          </a:p>
          <a:p>
            <a:pPr lvl="1"/>
            <a:endParaRPr lang="en-US"/>
          </a:p>
        </p:txBody>
      </p:sp>
      <p:sp>
        <p:nvSpPr>
          <p:cNvPr id="11" name="Title 10"/>
          <p:cNvSpPr>
            <a:spLocks noGrp="1"/>
          </p:cNvSpPr>
          <p:nvPr>
            <p:ph type="title"/>
          </p:nvPr>
        </p:nvSpPr>
        <p:spPr>
          <a:xfrm>
            <a:off x="203201" y="152400"/>
            <a:ext cx="11764083" cy="1054250"/>
          </a:xfrm>
          <a:prstGeom prst="rect">
            <a:avLst/>
          </a:prstGeom>
        </p:spPr>
        <p:txBody>
          <a:bodyPr/>
          <a:lstStyle>
            <a:lvl1pPr algn="l">
              <a:defRPr sz="4400" b="1">
                <a:solidFill>
                  <a:schemeClr val="tx2"/>
                </a:solidFill>
                <a:latin typeface="+mj-lt"/>
                <a:cs typeface="Arial"/>
              </a:defRPr>
            </a:lvl1pPr>
          </a:lstStyle>
          <a:p>
            <a:r>
              <a:rPr lang="en-US"/>
              <a:t>Click to edit Master title style</a:t>
            </a: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2838" y="1447800"/>
            <a:ext cx="4788622" cy="658368"/>
          </a:xfrm>
          <a:prstGeom prst="rect">
            <a:avLst/>
          </a:prstGeom>
        </p:spPr>
        <p:txBody>
          <a:bodyPr anchor="b">
            <a:noAutofit/>
          </a:bodyPr>
          <a:lstStyle>
            <a:lvl1pPr marL="0" indent="0" algn="l">
              <a:buNone/>
              <a:defRPr sz="2800" b="1">
                <a:solidFill>
                  <a:schemeClr val="tx1"/>
                </a:solidFill>
                <a:latin typeface="+mn-lt"/>
                <a:cs typeface="Aria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203206" y="2209801"/>
            <a:ext cx="4788624" cy="4270426"/>
          </a:xfrm>
          <a:prstGeom prst="rect">
            <a:avLst/>
          </a:prstGeom>
        </p:spPr>
        <p:txBody>
          <a:bodyPr>
            <a:normAutofit/>
          </a:bodyPr>
          <a:lstStyle>
            <a:lvl1pPr>
              <a:defRPr sz="2800">
                <a:solidFill>
                  <a:schemeClr val="tx1"/>
                </a:solidFill>
                <a:latin typeface="+mn-lt"/>
                <a:cs typeface="Arial"/>
              </a:defRPr>
            </a:lvl1pPr>
            <a:lvl2pPr>
              <a:defRPr sz="2400">
                <a:latin typeface="+mn-lt"/>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a:p>
            <a:pPr lvl="1"/>
            <a:endParaRPr lang="en-US"/>
          </a:p>
        </p:txBody>
      </p:sp>
      <p:sp>
        <p:nvSpPr>
          <p:cNvPr id="5" name="Text Placeholder 4"/>
          <p:cNvSpPr>
            <a:spLocks noGrp="1"/>
          </p:cNvSpPr>
          <p:nvPr>
            <p:ph type="body" sz="quarter" idx="3"/>
          </p:nvPr>
        </p:nvSpPr>
        <p:spPr>
          <a:xfrm>
            <a:off x="5125029" y="1447800"/>
            <a:ext cx="4826607" cy="658368"/>
          </a:xfrm>
          <a:prstGeom prst="rect">
            <a:avLst/>
          </a:prstGeom>
        </p:spPr>
        <p:txBody>
          <a:bodyPr anchor="b">
            <a:noAutofit/>
          </a:bodyPr>
          <a:lstStyle>
            <a:lvl1pPr marL="0" indent="0" algn="l">
              <a:buNone/>
              <a:defRPr sz="2800" b="1">
                <a:solidFill>
                  <a:schemeClr val="tx1"/>
                </a:solidFill>
                <a:latin typeface="+mn-lt"/>
                <a:cs typeface="Aria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05400" y="2206574"/>
            <a:ext cx="4820229" cy="4270426"/>
          </a:xfrm>
          <a:prstGeom prst="rect">
            <a:avLst/>
          </a:prstGeom>
        </p:spPr>
        <p:txBody>
          <a:bodyPr>
            <a:normAutofit/>
          </a:bodyPr>
          <a:lstStyle>
            <a:lvl1pPr>
              <a:defRPr sz="2800">
                <a:solidFill>
                  <a:schemeClr val="tx1"/>
                </a:solidFill>
                <a:latin typeface="+mn-lt"/>
                <a:cs typeface="Arial"/>
              </a:defRPr>
            </a:lvl1pPr>
            <a:lvl2pPr>
              <a:defRPr sz="24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endParaRPr lang="en-US"/>
          </a:p>
        </p:txBody>
      </p:sp>
      <p:sp>
        <p:nvSpPr>
          <p:cNvPr id="11" name="Title 10"/>
          <p:cNvSpPr>
            <a:spLocks noGrp="1"/>
          </p:cNvSpPr>
          <p:nvPr>
            <p:ph type="title"/>
          </p:nvPr>
        </p:nvSpPr>
        <p:spPr>
          <a:xfrm>
            <a:off x="203201" y="152400"/>
            <a:ext cx="11764083" cy="1054250"/>
          </a:xfrm>
          <a:prstGeom prst="rect">
            <a:avLst/>
          </a:prstGeom>
        </p:spPr>
        <p:txBody>
          <a:bodyPr/>
          <a:lstStyle>
            <a:lvl1pPr algn="l">
              <a:defRPr sz="4400" b="1">
                <a:solidFill>
                  <a:schemeClr val="tx2"/>
                </a:solidFill>
                <a:latin typeface="+mj-lt"/>
                <a:cs typeface="Arial"/>
              </a:defRPr>
            </a:lvl1pPr>
          </a:lstStyle>
          <a:p>
            <a:r>
              <a:rPr lang="en-US"/>
              <a:t>Click to edit Master title style</a:t>
            </a: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TextBox 8"/>
          <p:cNvSpPr txBox="1"/>
          <p:nvPr/>
        </p:nvSpPr>
        <p:spPr>
          <a:xfrm>
            <a:off x="5529433" y="2887580"/>
            <a:ext cx="1143691" cy="923330"/>
          </a:xfrm>
          <a:prstGeom prst="rect">
            <a:avLst/>
          </a:prstGeom>
          <a:noFill/>
        </p:spPr>
        <p:txBody>
          <a:bodyPr wrap="square" rtlCol="0">
            <a:spAutoFit/>
          </a:bodyPr>
          <a:lstStyle/>
          <a:p>
            <a:endParaRPr lang="en-US" sz="5400">
              <a:solidFill>
                <a:schemeClr val="tx2">
                  <a:lumMod val="60000"/>
                  <a:lumOff val="40000"/>
                </a:schemeClr>
              </a:solidFill>
              <a:latin typeface="Wingdings" pitchFamily="2" charset="2"/>
            </a:endParaRPr>
          </a:p>
        </p:txBody>
      </p:sp>
      <p:sp>
        <p:nvSpPr>
          <p:cNvPr id="2" name="Title 1"/>
          <p:cNvSpPr>
            <a:spLocks noGrp="1"/>
          </p:cNvSpPr>
          <p:nvPr>
            <p:ph type="title"/>
          </p:nvPr>
        </p:nvSpPr>
        <p:spPr>
          <a:xfrm>
            <a:off x="920058" y="1204857"/>
            <a:ext cx="10339617" cy="1910716"/>
          </a:xfrm>
          <a:prstGeom prst="rect">
            <a:avLst/>
          </a:prstGeom>
        </p:spPr>
        <p:txBody>
          <a:bodyPr anchor="b"/>
          <a:lstStyle>
            <a:lvl1pPr algn="ctr">
              <a:defRPr sz="4400" b="1" cap="none" baseline="0">
                <a:solidFill>
                  <a:schemeClr val="tx2"/>
                </a:solidFill>
                <a:latin typeface="+mj-lt"/>
                <a:cs typeface="Arial"/>
              </a:defRPr>
            </a:lvl1pPr>
          </a:lstStyle>
          <a:p>
            <a:r>
              <a:rPr lang="en-US"/>
              <a:t>Click to edit Master title style</a:t>
            </a:r>
          </a:p>
        </p:txBody>
      </p:sp>
      <p:sp>
        <p:nvSpPr>
          <p:cNvPr id="3" name="Text Placeholder 2"/>
          <p:cNvSpPr>
            <a:spLocks noGrp="1"/>
          </p:cNvSpPr>
          <p:nvPr>
            <p:ph type="body" idx="1"/>
          </p:nvPr>
        </p:nvSpPr>
        <p:spPr>
          <a:xfrm>
            <a:off x="932331" y="3324435"/>
            <a:ext cx="10312996" cy="1500187"/>
          </a:xfrm>
          <a:prstGeom prst="rect">
            <a:avLst/>
          </a:prstGeom>
        </p:spPr>
        <p:txBody>
          <a:bodyPr anchor="t"/>
          <a:lstStyle>
            <a:lvl1pPr marL="0" indent="0" algn="ctr">
              <a:buNone/>
              <a:defRPr sz="2400">
                <a:solidFill>
                  <a:srgbClr val="595959"/>
                </a:solidFill>
                <a:latin typeface="+mn-lt"/>
                <a:cs typeface="Aria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50901" y="1362075"/>
            <a:ext cx="5162551" cy="4972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6651" y="1362075"/>
            <a:ext cx="5162549" cy="4972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728615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77017" y="445070"/>
            <a:ext cx="10121900" cy="762000"/>
          </a:xfrm>
        </p:spPr>
        <p:txBody>
          <a:bodyPr/>
          <a:lstStyle/>
          <a:p>
            <a:r>
              <a:rPr lang="en-US"/>
              <a:t>Click to edit Master title style</a:t>
            </a:r>
          </a:p>
        </p:txBody>
      </p:sp>
    </p:spTree>
    <p:extLst>
      <p:ext uri="{BB962C8B-B14F-4D97-AF65-F5344CB8AC3E}">
        <p14:creationId xmlns:p14="http://schemas.microsoft.com/office/powerpoint/2010/main" val="320784737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D88813A-9329-426C-8047-01C1395FFE36}" type="datetime1">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59759380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80834" y="108013"/>
            <a:ext cx="10235565" cy="832269"/>
          </a:xfrm>
          <a:prstGeom prst="rect">
            <a:avLst/>
          </a:prstGeom>
        </p:spPr>
        <p:txBody>
          <a:bodyPr wrap="square" lIns="0" tIns="0" rIns="0" bIns="0">
            <a:spAutoFit/>
          </a:bodyPr>
          <a:lstStyle>
            <a:lvl1pPr>
              <a:defRPr sz="4400" b="1" i="0">
                <a:solidFill>
                  <a:srgbClr val="895D1D"/>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00361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895D1D"/>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248262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F9B38D-0C2C-467B-B327-8E5937302185}"/>
              </a:ext>
            </a:extLst>
          </p:cNvPr>
          <p:cNvSpPr txBox="1"/>
          <p:nvPr userDrawn="1"/>
        </p:nvSpPr>
        <p:spPr>
          <a:xfrm>
            <a:off x="11277600" y="0"/>
            <a:ext cx="914400" cy="369332"/>
          </a:xfrm>
          <a:prstGeom prst="rect">
            <a:avLst/>
          </a:prstGeom>
          <a:noFill/>
        </p:spPr>
        <p:txBody>
          <a:bodyPr wrap="square" rtlCol="0">
            <a:spAutoFit/>
          </a:bodyPr>
          <a:lstStyle/>
          <a:p>
            <a:pPr algn="r"/>
            <a:fld id="{91B1F5BA-E7B0-4ADC-8E3A-0FABFF1CB3B9}" type="slidenum">
              <a:rPr lang="en-US" sz="1800" smtClean="0">
                <a:solidFill>
                  <a:schemeClr val="tx2"/>
                </a:solidFill>
              </a:rPr>
              <a:pPr algn="r"/>
              <a:t>‹#›</a:t>
            </a:fld>
            <a:endParaRPr lang="en-US" sz="1800">
              <a:solidFill>
                <a:schemeClr val="tx2"/>
              </a:solidFill>
            </a:endParaRPr>
          </a:p>
        </p:txBody>
      </p:sp>
    </p:spTree>
  </p:cSld>
  <p:clrMap bg1="lt1" tx1="dk1" bg2="lt2" tx2="dk2" accent1="accent1" accent2="accent2" accent3="accent3" accent4="accent4" accent5="accent5" accent6="accent6" hlink="hlink" folHlink="folHlink"/>
  <p:sldLayoutIdLst>
    <p:sldLayoutId id="2147483679" r:id="rId1"/>
    <p:sldLayoutId id="2147483681" r:id="rId2"/>
    <p:sldLayoutId id="2147483682" r:id="rId3"/>
    <p:sldLayoutId id="2147483680" r:id="rId4"/>
    <p:sldLayoutId id="2147483678" r:id="rId5"/>
    <p:sldLayoutId id="2147483683" r:id="rId6"/>
    <p:sldLayoutId id="2147483684" r:id="rId7"/>
    <p:sldLayoutId id="2147483685" r:id="rId8"/>
    <p:sldLayoutId id="2147483686" r:id="rId9"/>
    <p:sldLayoutId id="2147483687" r:id="rId10"/>
  </p:sldLayoutIdLst>
  <p:hf sldNum="0" hdr="0" ftr="0" dt="0"/>
  <p:txStyles>
    <p:titleStyle>
      <a:lvl1pPr algn="ctr" defTabSz="914377"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14377" rtl="0" eaLnBrk="1" latinLnBrk="0" hangingPunct="1">
        <a:spcBef>
          <a:spcPct val="20000"/>
        </a:spcBef>
        <a:buClr>
          <a:schemeClr val="accent1"/>
        </a:buClr>
        <a:buFont typeface="Wingdings" pitchFamily="2" charset="2"/>
        <a:buNone/>
        <a:defRPr sz="2400" kern="1200">
          <a:solidFill>
            <a:schemeClr val="tx1">
              <a:lumMod val="85000"/>
              <a:lumOff val="15000"/>
            </a:schemeClr>
          </a:solidFill>
          <a:latin typeface="+mn-lt"/>
          <a:ea typeface="+mn-ea"/>
          <a:cs typeface="+mn-cs"/>
        </a:defRPr>
      </a:lvl1pPr>
      <a:lvl2pPr marL="411470" indent="0" algn="l" defTabSz="914377" rtl="0" eaLnBrk="1" latinLnBrk="0" hangingPunct="1">
        <a:spcBef>
          <a:spcPct val="20000"/>
        </a:spcBef>
        <a:buClr>
          <a:schemeClr val="accent1"/>
        </a:buClr>
        <a:buFont typeface="Wingdings" pitchFamily="2" charset="2"/>
        <a:buNone/>
        <a:defRPr sz="2200" kern="1200">
          <a:solidFill>
            <a:schemeClr val="tx1">
              <a:lumMod val="85000"/>
              <a:lumOff val="15000"/>
            </a:schemeClr>
          </a:solidFill>
          <a:latin typeface="+mn-lt"/>
          <a:ea typeface="+mn-ea"/>
          <a:cs typeface="+mn-cs"/>
        </a:defRPr>
      </a:lvl2pPr>
      <a:lvl3pPr marL="777221" indent="0" algn="l" defTabSz="914377" rtl="0" eaLnBrk="1" latinLnBrk="0" hangingPunct="1">
        <a:spcBef>
          <a:spcPct val="20000"/>
        </a:spcBef>
        <a:buClr>
          <a:schemeClr val="accent1"/>
        </a:buClr>
        <a:buFont typeface="Wingdings" pitchFamily="2" charset="2"/>
        <a:buNone/>
        <a:defRPr sz="2000" kern="1200">
          <a:solidFill>
            <a:schemeClr val="tx1">
              <a:lumMod val="85000"/>
              <a:lumOff val="15000"/>
            </a:schemeClr>
          </a:solidFill>
          <a:latin typeface="+mn-lt"/>
          <a:ea typeface="+mn-ea"/>
          <a:cs typeface="+mn-cs"/>
        </a:defRPr>
      </a:lvl3pPr>
      <a:lvl4pPr marL="1188690" indent="0" algn="l" defTabSz="914377" rtl="0" eaLnBrk="1" latinLnBrk="0" hangingPunct="1">
        <a:spcBef>
          <a:spcPct val="20000"/>
        </a:spcBef>
        <a:buClr>
          <a:schemeClr val="accent1"/>
        </a:buClr>
        <a:buFont typeface="Wingdings" pitchFamily="2" charset="2"/>
        <a:buNone/>
        <a:defRPr sz="1800" kern="1200">
          <a:solidFill>
            <a:schemeClr val="tx1">
              <a:lumMod val="85000"/>
              <a:lumOff val="15000"/>
            </a:schemeClr>
          </a:solidFill>
          <a:latin typeface="+mn-lt"/>
          <a:ea typeface="+mn-ea"/>
          <a:cs typeface="+mn-cs"/>
        </a:defRPr>
      </a:lvl4pPr>
      <a:lvl5pPr marL="1508722" indent="0" algn="l" defTabSz="914377" rtl="0" eaLnBrk="1" latinLnBrk="0" hangingPunct="1">
        <a:spcBef>
          <a:spcPct val="20000"/>
        </a:spcBef>
        <a:buClr>
          <a:schemeClr val="accent1"/>
        </a:buClr>
        <a:buFont typeface="Wingdings" pitchFamily="2" charset="2"/>
        <a:buNone/>
        <a:defRPr sz="1600" kern="1200">
          <a:solidFill>
            <a:schemeClr val="tx1">
              <a:lumMod val="85000"/>
              <a:lumOff val="15000"/>
            </a:schemeClr>
          </a:solidFill>
          <a:latin typeface="+mn-lt"/>
          <a:ea typeface="+mn-ea"/>
          <a:cs typeface="+mn-cs"/>
        </a:defRPr>
      </a:lvl5pPr>
      <a:lvl6pPr marL="2148786"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18"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850"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882"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hthakur@uccs.edu" TargetMode="Externa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gif"/></Relationships>
</file>

<file path=ppt/slides/_rels/slide14.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5.gi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494"/>
            <a:ext cx="12197675" cy="3431494"/>
          </a:xfrm>
        </p:spPr>
        <p:txBody>
          <a:bodyPr vert="horz" lIns="91440" tIns="45720" rIns="91440" bIns="45720" rtlCol="0" anchor="ctr">
            <a:normAutofit/>
          </a:bodyPr>
          <a:lstStyle/>
          <a:p>
            <a:r>
              <a:rPr lang="en-US" sz="3600" b="1">
                <a:solidFill>
                  <a:schemeClr val="tx1"/>
                </a:solidFill>
                <a:ea typeface="+mj-lt"/>
                <a:cs typeface="+mj-lt"/>
              </a:rPr>
              <a:t>CS 2160</a:t>
            </a:r>
            <a:br>
              <a:rPr lang="en-US" sz="3600" b="1">
                <a:solidFill>
                  <a:schemeClr val="tx1"/>
                </a:solidFill>
                <a:ea typeface="+mj-lt"/>
                <a:cs typeface="+mj-lt"/>
              </a:rPr>
            </a:br>
            <a:r>
              <a:rPr lang="en-US" sz="3600">
                <a:solidFill>
                  <a:schemeClr val="tx1"/>
                </a:solidFill>
              </a:rPr>
              <a:t>Introduction to Assembly Programming and</a:t>
            </a:r>
            <a:br>
              <a:rPr lang="en-US" sz="3600">
                <a:solidFill>
                  <a:schemeClr val="tx1"/>
                </a:solidFill>
              </a:rPr>
            </a:br>
            <a:r>
              <a:rPr lang="en-US" sz="3600">
                <a:solidFill>
                  <a:schemeClr val="tx1"/>
                </a:solidFill>
              </a:rPr>
              <a:t>Computer Organization</a:t>
            </a:r>
            <a:br>
              <a:rPr lang="en-US" sz="3600">
                <a:solidFill>
                  <a:schemeClr val="tx1"/>
                </a:solidFill>
              </a:rPr>
            </a:br>
            <a:br>
              <a:rPr lang="en-US" sz="3600">
                <a:solidFill>
                  <a:schemeClr val="tx1"/>
                </a:solidFill>
                <a:ea typeface="+mj-lt"/>
                <a:cs typeface="+mj-lt"/>
              </a:rPr>
            </a:br>
            <a:r>
              <a:rPr lang="en-US" sz="3200" b="1">
                <a:solidFill>
                  <a:schemeClr val="tx1"/>
                </a:solidFill>
                <a:ea typeface="+mj-lt"/>
                <a:cs typeface="+mj-lt"/>
              </a:rPr>
              <a:t>Lecture 08</a:t>
            </a:r>
            <a:r>
              <a:rPr lang="en-US" sz="3200">
                <a:solidFill>
                  <a:schemeClr val="tx1"/>
                </a:solidFill>
                <a:ea typeface="+mj-lt"/>
                <a:cs typeface="+mj-lt"/>
              </a:rPr>
              <a:t>: Boolean Logic</a:t>
            </a:r>
          </a:p>
        </p:txBody>
      </p:sp>
      <p:sp>
        <p:nvSpPr>
          <p:cNvPr id="3" name="Subtitle 2"/>
          <p:cNvSpPr>
            <a:spLocks noGrp="1"/>
          </p:cNvSpPr>
          <p:nvPr>
            <p:ph type="subTitle" idx="1"/>
          </p:nvPr>
        </p:nvSpPr>
        <p:spPr>
          <a:xfrm>
            <a:off x="21140" y="3424813"/>
            <a:ext cx="12175382" cy="2981681"/>
          </a:xfrm>
        </p:spPr>
        <p:txBody>
          <a:bodyPr vert="horz" lIns="91440" tIns="45720" rIns="91440" bIns="45720" rtlCol="0" anchor="t">
            <a:normAutofit lnSpcReduction="10000"/>
          </a:bodyPr>
          <a:lstStyle/>
          <a:p>
            <a:r>
              <a:rPr lang="en-US" b="1">
                <a:latin typeface="Aptos"/>
                <a:ea typeface="Calibri"/>
                <a:cs typeface="Calibri"/>
              </a:rPr>
              <a:t>Fall 2026</a:t>
            </a:r>
            <a:endParaRPr lang="en-US">
              <a:latin typeface="Aptos"/>
              <a:ea typeface="Calibri"/>
              <a:cs typeface="Calibri"/>
            </a:endParaRPr>
          </a:p>
          <a:p>
            <a:pPr>
              <a:spcBef>
                <a:spcPts val="0"/>
              </a:spcBef>
            </a:pPr>
            <a:endParaRPr lang="en-US" b="1">
              <a:latin typeface="Calibri"/>
              <a:ea typeface="Calibri"/>
              <a:cs typeface="Calibri"/>
            </a:endParaRPr>
          </a:p>
          <a:p>
            <a:pPr>
              <a:spcBef>
                <a:spcPts val="0"/>
              </a:spcBef>
            </a:pPr>
            <a:endParaRPr lang="en-US" b="1">
              <a:latin typeface="Calibri"/>
              <a:ea typeface="Calibri"/>
              <a:cs typeface="Calibri"/>
            </a:endParaRPr>
          </a:p>
          <a:p>
            <a:pPr>
              <a:spcBef>
                <a:spcPts val="0"/>
              </a:spcBef>
            </a:pPr>
            <a:r>
              <a:rPr lang="en-US" b="1">
                <a:latin typeface="Calibri"/>
                <a:ea typeface="Calibri"/>
                <a:cs typeface="Calibri"/>
              </a:rPr>
              <a:t>Instructor</a:t>
            </a:r>
            <a:r>
              <a:rPr lang="en-US">
                <a:latin typeface="Calibri"/>
                <a:ea typeface="Calibri"/>
                <a:cs typeface="Calibri"/>
              </a:rPr>
              <a:t>: Himon Thakur</a:t>
            </a:r>
            <a:endParaRPr lang="en-US"/>
          </a:p>
          <a:p>
            <a:pPr>
              <a:spcBef>
                <a:spcPts val="0"/>
              </a:spcBef>
            </a:pPr>
            <a:r>
              <a:rPr lang="en-US" b="1">
                <a:latin typeface="Calibri"/>
                <a:ea typeface="Calibri"/>
                <a:cs typeface="Calibri"/>
              </a:rPr>
              <a:t>TA: </a:t>
            </a:r>
            <a:r>
              <a:rPr lang="en-US">
                <a:latin typeface="Calibri"/>
                <a:ea typeface="Calibri"/>
                <a:cs typeface="Calibri"/>
              </a:rPr>
              <a:t>Hassan Shakil</a:t>
            </a:r>
          </a:p>
          <a:p>
            <a:pPr>
              <a:spcBef>
                <a:spcPts val="0"/>
              </a:spcBef>
            </a:pPr>
            <a:endParaRPr lang="en-US" b="1">
              <a:latin typeface="Calibri"/>
              <a:ea typeface="Calibri"/>
              <a:cs typeface="Calibri"/>
            </a:endParaRPr>
          </a:p>
          <a:p>
            <a:pPr>
              <a:spcBef>
                <a:spcPts val="0"/>
              </a:spcBef>
            </a:pPr>
            <a:endParaRPr lang="en-US" b="1">
              <a:latin typeface="Calibri"/>
              <a:ea typeface="Calibri"/>
              <a:cs typeface="Calibri"/>
            </a:endParaRPr>
          </a:p>
          <a:p>
            <a:pPr>
              <a:spcBef>
                <a:spcPts val="0"/>
              </a:spcBef>
            </a:pPr>
            <a:r>
              <a:rPr lang="en-US"/>
              <a:t>University of Colorado </a:t>
            </a:r>
            <a:r>
              <a:rPr lang="en-US" err="1"/>
              <a:t>Colorado</a:t>
            </a:r>
            <a:r>
              <a:rPr lang="en-US"/>
              <a:t> Springs (UCCS)</a:t>
            </a:r>
            <a:endParaRPr lang="en-US" b="1">
              <a:latin typeface="Calibri"/>
              <a:ea typeface="Calibri"/>
              <a:cs typeface="Calibri"/>
            </a:endParaRPr>
          </a:p>
        </p:txBody>
      </p:sp>
      <p:sp>
        <p:nvSpPr>
          <p:cNvPr id="4" name="TextBox 1">
            <a:extLst>
              <a:ext uri="{FF2B5EF4-FFF2-40B4-BE49-F238E27FC236}">
                <a16:creationId xmlns:a16="http://schemas.microsoft.com/office/drawing/2014/main" id="{23017D99-3D2A-E0CE-054E-E32FE8E968E6}"/>
              </a:ext>
            </a:extLst>
          </p:cNvPr>
          <p:cNvSpPr txBox="1"/>
          <p:nvPr/>
        </p:nvSpPr>
        <p:spPr>
          <a:xfrm>
            <a:off x="20320" y="6407876"/>
            <a:ext cx="12181838" cy="438582"/>
          </a:xfrm>
          <a:prstGeom prst="rect">
            <a:avLst/>
          </a:prstGeom>
          <a:noFill/>
        </p:spPr>
        <p:txBody>
          <a:bodyPr rot="0" spcFirstLastPara="0" vert="horz" wrap="square" lIns="91440" tIns="45720" rIns="91440" bIns="4572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a:latin typeface="Aptos Display"/>
                <a:ea typeface="Calibri"/>
                <a:cs typeface="Calibri"/>
              </a:rPr>
              <a:t>Himon Thakur</a:t>
            </a:r>
            <a:r>
              <a:rPr lang="en-US" sz="1200">
                <a:latin typeface="Aptos Display"/>
                <a:ea typeface="Calibri"/>
                <a:cs typeface="Calibri"/>
              </a:rPr>
              <a:t> (</a:t>
            </a:r>
            <a:r>
              <a:rPr lang="en-US" sz="1200">
                <a:latin typeface="Aptos Display"/>
                <a:ea typeface="Calibri"/>
                <a:cs typeface="Calibri"/>
                <a:hlinkClick r:id="rId2">
                  <a:extLst>
                    <a:ext uri="{A12FA001-AC4F-418D-AE19-62706E023703}">
                      <ahyp:hlinkClr xmlns:ahyp="http://schemas.microsoft.com/office/drawing/2018/hyperlinkcolor" val="tx"/>
                    </a:ext>
                  </a:extLst>
                </a:hlinkClick>
              </a:rPr>
              <a:t>hthakur@uccs.edu</a:t>
            </a:r>
            <a:r>
              <a:rPr lang="en-US" sz="1200" i="1">
                <a:latin typeface="Aptos Display"/>
                <a:ea typeface="Calibri"/>
                <a:cs typeface="Calibri"/>
              </a:rPr>
              <a:t>); </a:t>
            </a:r>
            <a:r>
              <a:rPr lang="en-US" sz="1200" b="1">
                <a:latin typeface="Aptos Display"/>
                <a:ea typeface="Calibri"/>
                <a:cs typeface="Calibri"/>
              </a:rPr>
              <a:t>CC BY-NC-SA 4.0;</a:t>
            </a:r>
            <a:endParaRPr lang="en-US" sz="1200">
              <a:latin typeface="Aptos Display"/>
              <a:ea typeface="Calibri"/>
              <a:cs typeface="Calibri"/>
            </a:endParaRPr>
          </a:p>
          <a:p>
            <a:pPr algn="ctr"/>
            <a:r>
              <a:rPr lang="en-US" sz="1050" i="1">
                <a:latin typeface="Aptos Display"/>
                <a:ea typeface="Calibri"/>
                <a:cs typeface="Calibri"/>
              </a:rPr>
              <a:t>Special Thanks to Dr. Keith Paarpong and Dr. Xi Tan.</a:t>
            </a:r>
            <a:endParaRPr lang="en-US" sz="1050">
              <a:latin typeface="Aptos Display"/>
              <a:ea typeface="Calibri"/>
              <a:cs typeface="Calibri"/>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6786A-DB79-C2E9-C26B-F79D3B6651A5}"/>
              </a:ext>
            </a:extLst>
          </p:cNvPr>
          <p:cNvSpPr>
            <a:spLocks noGrp="1"/>
          </p:cNvSpPr>
          <p:nvPr>
            <p:ph type="title"/>
          </p:nvPr>
        </p:nvSpPr>
        <p:spPr>
          <a:xfrm>
            <a:off x="838199" y="-2959"/>
            <a:ext cx="11355091" cy="688760"/>
          </a:xfrm>
        </p:spPr>
        <p:txBody>
          <a:bodyPr lIns="91440" tIns="45720" rIns="91440" bIns="45720" anchor="t">
            <a:normAutofit fontScale="90000"/>
          </a:bodyPr>
          <a:lstStyle/>
          <a:p>
            <a:r>
              <a:rPr lang="en-US" sz="4500" b="1">
                <a:solidFill>
                  <a:schemeClr val="tx1"/>
                </a:solidFill>
                <a:ea typeface="Calibri"/>
                <a:cs typeface="Calibri"/>
              </a:rPr>
              <a:t>Today’s Agenda.</a:t>
            </a:r>
          </a:p>
        </p:txBody>
      </p:sp>
      <p:sp>
        <p:nvSpPr>
          <p:cNvPr id="25" name="TextBox 24">
            <a:extLst>
              <a:ext uri="{FF2B5EF4-FFF2-40B4-BE49-F238E27FC236}">
                <a16:creationId xmlns:a16="http://schemas.microsoft.com/office/drawing/2014/main" id="{D22DD545-B3A4-BBE9-77EB-C7F4C36452AF}"/>
              </a:ext>
            </a:extLst>
          </p:cNvPr>
          <p:cNvSpPr txBox="1"/>
          <p:nvPr/>
        </p:nvSpPr>
        <p:spPr>
          <a:xfrm>
            <a:off x="846030" y="1294312"/>
            <a:ext cx="10504655" cy="50623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457200" indent="-457200">
              <a:spcBef>
                <a:spcPct val="20000"/>
              </a:spcBef>
              <a:buFont typeface="Arial"/>
              <a:buChar char="•"/>
            </a:pPr>
            <a:r>
              <a:rPr lang="en-US" sz="2800">
                <a:latin typeface="Aptos"/>
                <a:ea typeface="Calibri"/>
                <a:cs typeface="Calibri"/>
              </a:rPr>
              <a:t>Boolean Logic</a:t>
            </a:r>
            <a:endParaRPr lang="en-US"/>
          </a:p>
        </p:txBody>
      </p:sp>
    </p:spTree>
    <p:extLst>
      <p:ext uri="{BB962C8B-B14F-4D97-AF65-F5344CB8AC3E}">
        <p14:creationId xmlns:p14="http://schemas.microsoft.com/office/powerpoint/2010/main" val="2096135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a:t>
            </a:r>
            <a:endParaRPr lang="en-US">
              <a:solidFill>
                <a:schemeClr val="tx1"/>
              </a:solidFill>
              <a:ea typeface="Calibri"/>
            </a:endParaRPr>
          </a:p>
        </p:txBody>
      </p:sp>
      <p:sp>
        <p:nvSpPr>
          <p:cNvPr id="3" name="Content Placeholder 2"/>
          <p:cNvSpPr>
            <a:spLocks noGrp="1"/>
          </p:cNvSpPr>
          <p:nvPr>
            <p:ph idx="1"/>
          </p:nvPr>
        </p:nvSpPr>
        <p:spPr>
          <a:xfrm>
            <a:off x="406404" y="985527"/>
            <a:ext cx="11348717" cy="5547353"/>
          </a:xfrm>
        </p:spPr>
        <p:txBody>
          <a:bodyPr lIns="91440" tIns="45720" rIns="91440" bIns="45720" anchor="t"/>
          <a:lstStyle/>
          <a:p>
            <a:pPr marL="457200" indent="-457200">
              <a:buFont typeface="Calibri" pitchFamily="2" charset="2"/>
              <a:buChar char="-"/>
            </a:pPr>
            <a:r>
              <a:rPr lang="en-US" altLang="en-US">
                <a:latin typeface="Aptos"/>
              </a:rPr>
              <a:t>Pioneered by </a:t>
            </a:r>
            <a:r>
              <a:rPr lang="en-US" altLang="en-US" b="1">
                <a:latin typeface="Aptos"/>
              </a:rPr>
              <a:t>George Boole. </a:t>
            </a:r>
            <a:r>
              <a:rPr lang="en-US">
                <a:latin typeface="Aptos"/>
                <a:ea typeface="+mn-lt"/>
                <a:cs typeface="+mn-lt"/>
              </a:rPr>
              <a:t>Recognized by pioneers including John Atanasoff and Claude Shannon </a:t>
            </a:r>
            <a:endParaRPr lang="en-US">
              <a:latin typeface="Aptos"/>
              <a:ea typeface="Calibri"/>
            </a:endParaRPr>
          </a:p>
          <a:p>
            <a:pPr marL="457200" indent="-457200">
              <a:buFont typeface="Calibri" pitchFamily="2" charset="2"/>
              <a:buChar char="-"/>
            </a:pPr>
            <a:r>
              <a:rPr lang="en-US" altLang="en-US">
                <a:latin typeface="Aptos"/>
              </a:rPr>
              <a:t>Logical thought can be represented through mathematical equations</a:t>
            </a:r>
            <a:endParaRPr lang="en-US">
              <a:latin typeface="Aptos"/>
              <a:ea typeface="Calibri"/>
            </a:endParaRPr>
          </a:p>
          <a:p>
            <a:endParaRPr lang="en-US">
              <a:latin typeface="Aptos"/>
            </a:endParaRPr>
          </a:p>
          <a:p>
            <a:endParaRPr lang="en-US">
              <a:latin typeface="Aptos"/>
            </a:endParaRPr>
          </a:p>
          <a:p>
            <a:r>
              <a:rPr lang="en-US">
                <a:latin typeface="Aptos"/>
              </a:rPr>
              <a:t>Late 1800s: fear and loathing</a:t>
            </a:r>
          </a:p>
          <a:p>
            <a:r>
              <a:rPr lang="en-US">
                <a:latin typeface="Aptos"/>
              </a:rPr>
              <a:t>Mid 1900s: revolutionary concept -  computers implement Boole’s </a:t>
            </a:r>
            <a:r>
              <a:rPr lang="en-US" i="1">
                <a:latin typeface="Aptos"/>
              </a:rPr>
              <a:t>Laws of Thought</a:t>
            </a:r>
            <a:endParaRPr lang="en-US">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23664-9991-48EA-EE27-9C2298DF74B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EB3E22-E398-DFF0-3396-CACA62075CE5}"/>
              </a:ext>
            </a:extLst>
          </p:cNvPr>
          <p:cNvSpPr>
            <a:spLocks noGrp="1"/>
          </p:cNvSpPr>
          <p:nvPr>
            <p:ph idx="1"/>
          </p:nvPr>
        </p:nvSpPr>
        <p:spPr>
          <a:xfrm>
            <a:off x="406404" y="1371607"/>
            <a:ext cx="11582397" cy="5079993"/>
          </a:xfrm>
        </p:spPr>
        <p:txBody>
          <a:bodyPr lIns="91440" tIns="45720" rIns="91440" bIns="45720" anchor="t"/>
          <a:lstStyle/>
          <a:p>
            <a:pPr marL="457200" indent="-457200">
              <a:buFont typeface="Calibri" pitchFamily="2" charset="2"/>
              <a:buChar char="-"/>
            </a:pPr>
            <a:r>
              <a:rPr lang="en-US"/>
              <a:t>Variables may have one of two values</a:t>
            </a:r>
          </a:p>
          <a:p>
            <a:pPr marL="410845" lvl="1"/>
            <a:r>
              <a:rPr lang="en-US" b="1">
                <a:cs typeface="Calibri"/>
              </a:rPr>
              <a:t>True</a:t>
            </a:r>
            <a:r>
              <a:rPr lang="en-US">
                <a:cs typeface="Calibri"/>
              </a:rPr>
              <a:t> (1, “on”, “high”)</a:t>
            </a:r>
            <a:endParaRPr lang="en-US">
              <a:solidFill>
                <a:srgbClr val="000000"/>
              </a:solidFill>
              <a:cs typeface="Calibri"/>
            </a:endParaRPr>
          </a:p>
          <a:p>
            <a:pPr marL="410845" lvl="1"/>
            <a:r>
              <a:rPr lang="en-US" b="1">
                <a:cs typeface="Calibri"/>
              </a:rPr>
              <a:t>False</a:t>
            </a:r>
            <a:r>
              <a:rPr lang="en-US">
                <a:cs typeface="Calibri"/>
              </a:rPr>
              <a:t> (0, “off”, “low”)</a:t>
            </a:r>
            <a:endParaRPr lang="en-US">
              <a:solidFill>
                <a:srgbClr val="000000"/>
              </a:solidFill>
              <a:cs typeface="Calibri"/>
            </a:endParaRPr>
          </a:p>
          <a:p>
            <a:pPr marL="410845" lvl="1"/>
            <a:endParaRPr lang="en-US" b="1">
              <a:ea typeface="Calibri"/>
            </a:endParaRPr>
          </a:p>
          <a:p>
            <a:pPr marL="457200" indent="-457200">
              <a:buFont typeface="Calibri" pitchFamily="2" charset="2"/>
              <a:buChar char="-"/>
            </a:pPr>
            <a:r>
              <a:rPr lang="en-US"/>
              <a:t>Operations define relations between values</a:t>
            </a:r>
            <a:endParaRPr lang="en-US">
              <a:ea typeface="Calibri"/>
            </a:endParaRPr>
          </a:p>
          <a:p>
            <a:pPr marL="457200" indent="-457200">
              <a:buFont typeface="Calibri" pitchFamily="2" charset="2"/>
              <a:buChar char="-"/>
            </a:pPr>
            <a:r>
              <a:rPr lang="en-US"/>
              <a:t>Expressions compose operations</a:t>
            </a:r>
          </a:p>
          <a:p>
            <a:endParaRPr lang="en-US">
              <a:ea typeface="Calibri"/>
              <a:cs typeface="Calibri"/>
            </a:endParaRPr>
          </a:p>
          <a:p>
            <a:r>
              <a:rPr lang="en-US">
                <a:ea typeface="Calibri"/>
                <a:cs typeface="Calibri"/>
              </a:rPr>
              <a:t>Binary:</a:t>
            </a:r>
            <a:endParaRPr lang="en-US"/>
          </a:p>
          <a:p>
            <a:pPr marL="410845" lvl="1"/>
            <a:r>
              <a:rPr lang="en-US">
                <a:solidFill>
                  <a:srgbClr val="262626"/>
                </a:solidFill>
                <a:ea typeface="Calibri"/>
                <a:cs typeface="Calibri"/>
              </a:rPr>
              <a:t>0 -&gt; OFF -&gt; false -&gt; 0 Volts</a:t>
            </a:r>
            <a:endParaRPr lang="en-US">
              <a:ea typeface="Calibri"/>
              <a:cs typeface="Calibri"/>
            </a:endParaRPr>
          </a:p>
          <a:p>
            <a:pPr marL="410845" lvl="1"/>
            <a:r>
              <a:rPr lang="en-US">
                <a:solidFill>
                  <a:srgbClr val="262626"/>
                </a:solidFill>
                <a:ea typeface="Calibri"/>
                <a:cs typeface="Calibri"/>
              </a:rPr>
              <a:t>1 -&gt; ON -&gt; True -&gt; 5 Volts</a:t>
            </a:r>
            <a:endParaRPr lang="en-US">
              <a:ea typeface="Calibri"/>
              <a:cs typeface="Calibri"/>
            </a:endParaRPr>
          </a:p>
          <a:p>
            <a:endParaRPr lang="en-US">
              <a:ea typeface="Calibri"/>
              <a:cs typeface="Calibri"/>
            </a:endParaRPr>
          </a:p>
          <a:p>
            <a:endParaRPr lang="en-US">
              <a:ea typeface="Calibri"/>
            </a:endParaRPr>
          </a:p>
        </p:txBody>
      </p:sp>
      <p:sp>
        <p:nvSpPr>
          <p:cNvPr id="7" name="Title 1">
            <a:extLst>
              <a:ext uri="{FF2B5EF4-FFF2-40B4-BE49-F238E27FC236}">
                <a16:creationId xmlns:a16="http://schemas.microsoft.com/office/drawing/2014/main" id="{8BA141CC-2008-EEFA-3EEB-F9AB2C354982}"/>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a:t>
            </a:r>
            <a:endParaRPr lang="en-US">
              <a:solidFill>
                <a:schemeClr val="tx1"/>
              </a:solidFill>
              <a:ea typeface="Calibri"/>
            </a:endParaRPr>
          </a:p>
        </p:txBody>
      </p:sp>
    </p:spTree>
    <p:extLst>
      <p:ext uri="{BB962C8B-B14F-4D97-AF65-F5344CB8AC3E}">
        <p14:creationId xmlns:p14="http://schemas.microsoft.com/office/powerpoint/2010/main" val="1110837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4" y="1371607"/>
            <a:ext cx="11582397" cy="4876793"/>
          </a:xfrm>
        </p:spPr>
        <p:txBody>
          <a:bodyPr/>
          <a:lstStyle/>
          <a:p>
            <a:r>
              <a:rPr lang="en-US"/>
              <a:t>Variables may have one of two values</a:t>
            </a:r>
          </a:p>
          <a:p>
            <a:pPr lvl="1"/>
            <a:r>
              <a:rPr lang="en-US"/>
              <a:t>True (1, “on”, “high”)</a:t>
            </a:r>
          </a:p>
          <a:p>
            <a:pPr lvl="1"/>
            <a:r>
              <a:rPr lang="en-US"/>
              <a:t>False (0, “off”, “low”)</a:t>
            </a:r>
          </a:p>
          <a:p>
            <a:r>
              <a:rPr lang="en-US"/>
              <a:t>Operations define relations between values</a:t>
            </a:r>
          </a:p>
          <a:p>
            <a:r>
              <a:rPr lang="en-US"/>
              <a:t>Expressions compose operations</a:t>
            </a:r>
          </a:p>
          <a:p>
            <a:endParaRPr lang="en-US"/>
          </a:p>
          <a:p>
            <a:r>
              <a:rPr lang="en-US"/>
              <a:t>Binary: </a:t>
            </a:r>
          </a:p>
          <a:p>
            <a:pPr lvl="1"/>
            <a:r>
              <a:rPr lang="en-US"/>
              <a:t>0 </a:t>
            </a:r>
            <a:r>
              <a:rPr lang="en-US">
                <a:sym typeface="Wingdings" pitchFamily="2" charset="2"/>
              </a:rPr>
              <a:t> OFF  false  0 Volts</a:t>
            </a:r>
          </a:p>
          <a:p>
            <a:pPr lvl="1"/>
            <a:r>
              <a:rPr lang="en-US">
                <a:sym typeface="Wingdings" pitchFamily="2" charset="2"/>
              </a:rPr>
              <a:t>1  ON  True  5 Volts</a:t>
            </a:r>
            <a:endParaRPr lang="en-US"/>
          </a:p>
          <a:p>
            <a:endParaRPr lang="en-US"/>
          </a:p>
        </p:txBody>
      </p:sp>
      <p:sp>
        <p:nvSpPr>
          <p:cNvPr id="7" name="Title 1">
            <a:extLst>
              <a:ext uri="{FF2B5EF4-FFF2-40B4-BE49-F238E27FC236}">
                <a16:creationId xmlns:a16="http://schemas.microsoft.com/office/drawing/2014/main" id="{CDBFC881-05FC-9C47-8A25-E2764316DF8A}"/>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a:t>
            </a:r>
            <a:endParaRPr lang="en-US">
              <a:solidFill>
                <a:schemeClr val="tx1"/>
              </a:solidFill>
              <a:ea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554EC-C8DE-4529-0029-D8C02A36ABF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0BBBFC-61A1-84F3-AB9B-7D3804570589}"/>
              </a:ext>
            </a:extLst>
          </p:cNvPr>
          <p:cNvSpPr>
            <a:spLocks noGrp="1"/>
          </p:cNvSpPr>
          <p:nvPr>
            <p:ph idx="1"/>
          </p:nvPr>
        </p:nvSpPr>
        <p:spPr>
          <a:xfrm>
            <a:off x="406404" y="1371607"/>
            <a:ext cx="11358877" cy="4876793"/>
          </a:xfrm>
        </p:spPr>
        <p:txBody>
          <a:bodyPr/>
          <a:lstStyle/>
          <a:p>
            <a:pPr>
              <a:spcBef>
                <a:spcPct val="10000"/>
              </a:spcBef>
            </a:pPr>
            <a:r>
              <a:rPr lang="en-US" altLang="en-US" sz="2800"/>
              <a:t>Boolean functions are implemented by digital computer circuits using </a:t>
            </a:r>
            <a:r>
              <a:rPr lang="en-US" altLang="en-US" sz="2800" b="1"/>
              <a:t>gates</a:t>
            </a:r>
            <a:r>
              <a:rPr lang="en-US" altLang="en-US" sz="2800"/>
              <a:t>.</a:t>
            </a:r>
          </a:p>
          <a:p>
            <a:pPr>
              <a:spcBef>
                <a:spcPct val="10000"/>
              </a:spcBef>
            </a:pPr>
            <a:r>
              <a:rPr lang="en-US" altLang="en-US" sz="2800"/>
              <a:t>A gate is an electronic device that produces a result based on </a:t>
            </a:r>
            <a:r>
              <a:rPr lang="en-US" altLang="en-US" sz="2800" b="1"/>
              <a:t>one or more input values</a:t>
            </a:r>
            <a:r>
              <a:rPr lang="en-US" altLang="en-US" sz="2800"/>
              <a:t>.</a:t>
            </a:r>
          </a:p>
          <a:p>
            <a:pPr>
              <a:spcBef>
                <a:spcPct val="10000"/>
              </a:spcBef>
            </a:pPr>
            <a:endParaRPr lang="en-US" altLang="en-US" sz="2800"/>
          </a:p>
          <a:p>
            <a:pPr>
              <a:spcBef>
                <a:spcPct val="10000"/>
              </a:spcBef>
            </a:pPr>
            <a:endParaRPr lang="en-US" altLang="en-US" sz="2800"/>
          </a:p>
        </p:txBody>
      </p:sp>
      <p:sp>
        <p:nvSpPr>
          <p:cNvPr id="4" name="Rectangle 3">
            <a:extLst>
              <a:ext uri="{FF2B5EF4-FFF2-40B4-BE49-F238E27FC236}">
                <a16:creationId xmlns:a16="http://schemas.microsoft.com/office/drawing/2014/main" id="{C8D60AFB-06C9-F10D-7E5D-BDDD2F8B76F2}"/>
              </a:ext>
            </a:extLst>
          </p:cNvPr>
          <p:cNvSpPr/>
          <p:nvPr/>
        </p:nvSpPr>
        <p:spPr>
          <a:xfrm>
            <a:off x="5361342" y="3429000"/>
            <a:ext cx="1447800" cy="21336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tx1"/>
                </a:solidFill>
              </a:rPr>
              <a:t>Logic Gate</a:t>
            </a:r>
            <a:endParaRPr lang="en-US" sz="2400" b="1">
              <a:solidFill>
                <a:schemeClr val="tx1"/>
              </a:solidFill>
              <a:ea typeface="Calibri"/>
              <a:cs typeface="Calibri"/>
            </a:endParaRPr>
          </a:p>
        </p:txBody>
      </p:sp>
      <p:cxnSp>
        <p:nvCxnSpPr>
          <p:cNvPr id="6" name="Straight Connector 5">
            <a:extLst>
              <a:ext uri="{FF2B5EF4-FFF2-40B4-BE49-F238E27FC236}">
                <a16:creationId xmlns:a16="http://schemas.microsoft.com/office/drawing/2014/main" id="{850F2DA8-1EFE-902E-7306-64E2EF46E4BA}"/>
              </a:ext>
            </a:extLst>
          </p:cNvPr>
          <p:cNvCxnSpPr>
            <a:cxnSpLocks/>
            <a:endCxn id="4" idx="1"/>
          </p:cNvCxnSpPr>
          <p:nvPr/>
        </p:nvCxnSpPr>
        <p:spPr>
          <a:xfrm>
            <a:off x="3505200" y="4495800"/>
            <a:ext cx="1856142" cy="0"/>
          </a:xfrm>
          <a:prstGeom prst="line">
            <a:avLst/>
          </a:prstGeom>
          <a:ln w="38100">
            <a:head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8E04BF9-FF36-3D92-43BD-1267438F3785}"/>
              </a:ext>
            </a:extLst>
          </p:cNvPr>
          <p:cNvCxnSpPr>
            <a:cxnSpLocks/>
          </p:cNvCxnSpPr>
          <p:nvPr/>
        </p:nvCxnSpPr>
        <p:spPr>
          <a:xfrm>
            <a:off x="6809142" y="4495800"/>
            <a:ext cx="1856142" cy="0"/>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FF4B27D-7110-CAF8-A2AE-4A11AC871DAB}"/>
              </a:ext>
            </a:extLst>
          </p:cNvPr>
          <p:cNvCxnSpPr>
            <a:cxnSpLocks/>
          </p:cNvCxnSpPr>
          <p:nvPr/>
        </p:nvCxnSpPr>
        <p:spPr>
          <a:xfrm>
            <a:off x="3505200" y="4953000"/>
            <a:ext cx="1856142" cy="0"/>
          </a:xfrm>
          <a:prstGeom prst="line">
            <a:avLst/>
          </a:prstGeom>
          <a:ln w="38100">
            <a:head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B0BF6AC-0AEB-5FAE-285E-A50195FAB00F}"/>
              </a:ext>
            </a:extLst>
          </p:cNvPr>
          <p:cNvCxnSpPr>
            <a:cxnSpLocks/>
          </p:cNvCxnSpPr>
          <p:nvPr/>
        </p:nvCxnSpPr>
        <p:spPr>
          <a:xfrm>
            <a:off x="3505200" y="4038600"/>
            <a:ext cx="1856142" cy="0"/>
          </a:xfrm>
          <a:prstGeom prst="line">
            <a:avLst/>
          </a:prstGeom>
          <a:ln w="38100">
            <a:head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B63B7E5-8021-16D8-C59D-D1490412A626}"/>
              </a:ext>
            </a:extLst>
          </p:cNvPr>
          <p:cNvCxnSpPr>
            <a:cxnSpLocks/>
          </p:cNvCxnSpPr>
          <p:nvPr/>
        </p:nvCxnSpPr>
        <p:spPr>
          <a:xfrm>
            <a:off x="3505200" y="5410200"/>
            <a:ext cx="1856142" cy="0"/>
          </a:xfrm>
          <a:prstGeom prst="line">
            <a:avLst/>
          </a:prstGeom>
          <a:ln w="38100">
            <a:head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FB294FE-DC5E-EF99-B245-F28C5AA5608E}"/>
              </a:ext>
            </a:extLst>
          </p:cNvPr>
          <p:cNvCxnSpPr>
            <a:cxnSpLocks/>
          </p:cNvCxnSpPr>
          <p:nvPr/>
        </p:nvCxnSpPr>
        <p:spPr>
          <a:xfrm>
            <a:off x="3505200" y="3581400"/>
            <a:ext cx="1856142" cy="0"/>
          </a:xfrm>
          <a:prstGeom prst="line">
            <a:avLst/>
          </a:prstGeom>
          <a:ln w="38100">
            <a:head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A3AFBEE-01B6-BF00-0DE1-210E051C270B}"/>
              </a:ext>
            </a:extLst>
          </p:cNvPr>
          <p:cNvSpPr txBox="1"/>
          <p:nvPr/>
        </p:nvSpPr>
        <p:spPr>
          <a:xfrm>
            <a:off x="1828800" y="4311134"/>
            <a:ext cx="1328312" cy="461665"/>
          </a:xfrm>
          <a:prstGeom prst="rect">
            <a:avLst/>
          </a:prstGeom>
          <a:noFill/>
        </p:spPr>
        <p:txBody>
          <a:bodyPr wrap="square">
            <a:spAutoFit/>
          </a:bodyPr>
          <a:lstStyle/>
          <a:p>
            <a:r>
              <a:rPr lang="en-US" altLang="en-US" sz="2400"/>
              <a:t>Input(s)</a:t>
            </a:r>
            <a:endParaRPr lang="en-US" sz="2400"/>
          </a:p>
        </p:txBody>
      </p:sp>
      <p:sp>
        <p:nvSpPr>
          <p:cNvPr id="15" name="TextBox 14">
            <a:extLst>
              <a:ext uri="{FF2B5EF4-FFF2-40B4-BE49-F238E27FC236}">
                <a16:creationId xmlns:a16="http://schemas.microsoft.com/office/drawing/2014/main" id="{3213DAC3-DCC2-3283-E4C3-0205461E98B0}"/>
              </a:ext>
            </a:extLst>
          </p:cNvPr>
          <p:cNvSpPr txBox="1"/>
          <p:nvPr/>
        </p:nvSpPr>
        <p:spPr>
          <a:xfrm>
            <a:off x="8699628" y="4311134"/>
            <a:ext cx="1084943" cy="461665"/>
          </a:xfrm>
          <a:prstGeom prst="rect">
            <a:avLst/>
          </a:prstGeom>
          <a:noFill/>
        </p:spPr>
        <p:txBody>
          <a:bodyPr wrap="square">
            <a:spAutoFit/>
          </a:bodyPr>
          <a:lstStyle/>
          <a:p>
            <a:r>
              <a:rPr lang="en-US" altLang="en-US" sz="2400"/>
              <a:t>Output</a:t>
            </a:r>
            <a:endParaRPr lang="en-US" sz="2400"/>
          </a:p>
        </p:txBody>
      </p:sp>
      <p:sp>
        <p:nvSpPr>
          <p:cNvPr id="17" name="Title 1">
            <a:extLst>
              <a:ext uri="{FF2B5EF4-FFF2-40B4-BE49-F238E27FC236}">
                <a16:creationId xmlns:a16="http://schemas.microsoft.com/office/drawing/2014/main" id="{8D694E06-65CC-6B70-3D5A-41A3E112FA4B}"/>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Logic Gates</a:t>
            </a:r>
          </a:p>
        </p:txBody>
      </p:sp>
    </p:spTree>
    <p:extLst>
      <p:ext uri="{BB962C8B-B14F-4D97-AF65-F5344CB8AC3E}">
        <p14:creationId xmlns:p14="http://schemas.microsoft.com/office/powerpoint/2010/main" val="1677152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A64CD-061F-14B4-B4F8-F0B0D983F0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8525C1-3EC7-401A-8195-F4E049256735}"/>
              </a:ext>
            </a:extLst>
          </p:cNvPr>
          <p:cNvSpPr>
            <a:spLocks noGrp="1"/>
          </p:cNvSpPr>
          <p:nvPr>
            <p:ph idx="1"/>
          </p:nvPr>
        </p:nvSpPr>
        <p:spPr>
          <a:xfrm>
            <a:off x="203204" y="1371608"/>
            <a:ext cx="11785597" cy="1447792"/>
          </a:xfrm>
        </p:spPr>
        <p:txBody>
          <a:bodyPr lIns="91440" tIns="45720" rIns="91440" bIns="45720" anchor="t"/>
          <a:lstStyle/>
          <a:p>
            <a:pPr>
              <a:spcBef>
                <a:spcPct val="10000"/>
              </a:spcBef>
            </a:pPr>
            <a:r>
              <a:rPr lang="en-US" altLang="en-US" sz="2800" dirty="0"/>
              <a:t>Boolean functions are implemented by digital computer circuits using </a:t>
            </a:r>
            <a:r>
              <a:rPr lang="en-US" altLang="en-US" sz="2800" b="1" dirty="0"/>
              <a:t>gates</a:t>
            </a:r>
            <a:r>
              <a:rPr lang="en-US" altLang="en-US" sz="2800" dirty="0"/>
              <a:t>.</a:t>
            </a:r>
          </a:p>
          <a:p>
            <a:pPr>
              <a:spcBef>
                <a:spcPct val="10000"/>
              </a:spcBef>
            </a:pPr>
            <a:r>
              <a:rPr lang="en-US" altLang="en-US" sz="2800" dirty="0"/>
              <a:t>A gate is an electronic device that produces a result based on </a:t>
            </a:r>
            <a:r>
              <a:rPr lang="en-US" altLang="en-US" sz="2800" b="1" dirty="0"/>
              <a:t>one or more input values</a:t>
            </a:r>
            <a:r>
              <a:rPr lang="en-US" altLang="en-US" sz="2800" dirty="0"/>
              <a:t>.</a:t>
            </a:r>
            <a:endParaRPr lang="en-US" altLang="en-US" sz="2800" dirty="0">
              <a:ea typeface="Calibri"/>
            </a:endParaRPr>
          </a:p>
          <a:p>
            <a:pPr>
              <a:spcBef>
                <a:spcPct val="10000"/>
              </a:spcBef>
            </a:pPr>
            <a:endParaRPr lang="en-US" altLang="en-US" sz="2800"/>
          </a:p>
          <a:p>
            <a:pPr>
              <a:spcBef>
                <a:spcPct val="10000"/>
              </a:spcBef>
            </a:pPr>
            <a:endParaRPr lang="en-US" altLang="en-US" sz="2800"/>
          </a:p>
        </p:txBody>
      </p:sp>
      <p:pic>
        <p:nvPicPr>
          <p:cNvPr id="1026" name="Picture 2" descr="Small Logic Gates — The building blocks of versatile digital circuits -  Part 1 | Nuts &amp; Volts Magazine">
            <a:extLst>
              <a:ext uri="{FF2B5EF4-FFF2-40B4-BE49-F238E27FC236}">
                <a16:creationId xmlns:a16="http://schemas.microsoft.com/office/drawing/2014/main" id="{878FFF7C-EA47-E18E-90DB-57F0B2F98C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619"/>
          <a:stretch/>
        </p:blipFill>
        <p:spPr bwMode="auto">
          <a:xfrm>
            <a:off x="2389542" y="3352800"/>
            <a:ext cx="7391400" cy="29337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A054F43-CCF3-F076-C6EF-B3097280FF9B}"/>
              </a:ext>
            </a:extLst>
          </p:cNvPr>
          <p:cNvSpPr txBox="1"/>
          <p:nvPr/>
        </p:nvSpPr>
        <p:spPr>
          <a:xfrm>
            <a:off x="4572000" y="6449672"/>
            <a:ext cx="7891631" cy="338554"/>
          </a:xfrm>
          <a:prstGeom prst="rect">
            <a:avLst/>
          </a:prstGeom>
          <a:noFill/>
        </p:spPr>
        <p:txBody>
          <a:bodyPr wrap="square">
            <a:spAutoFit/>
          </a:bodyPr>
          <a:lstStyle/>
          <a:p>
            <a:r>
              <a:rPr lang="en-US" sz="1600" i="1">
                <a:solidFill>
                  <a:schemeClr val="bg1">
                    <a:lumMod val="75000"/>
                  </a:schemeClr>
                </a:solidFill>
                <a:latin typeface="Times New Roman" panose="02020603050405020304" pitchFamily="18" charset="0"/>
                <a:cs typeface="Times New Roman" panose="02020603050405020304" pitchFamily="18" charset="0"/>
              </a:rPr>
              <a:t>https://</a:t>
            </a:r>
            <a:r>
              <a:rPr lang="en-US" sz="1600" i="1" err="1">
                <a:solidFill>
                  <a:schemeClr val="bg1">
                    <a:lumMod val="75000"/>
                  </a:schemeClr>
                </a:solidFill>
                <a:latin typeface="Times New Roman" panose="02020603050405020304" pitchFamily="18" charset="0"/>
                <a:cs typeface="Times New Roman" panose="02020603050405020304" pitchFamily="18" charset="0"/>
              </a:rPr>
              <a:t>www.nutsvolts.com</a:t>
            </a:r>
            <a:r>
              <a:rPr lang="en-US" sz="1600" i="1">
                <a:solidFill>
                  <a:schemeClr val="bg1">
                    <a:lumMod val="75000"/>
                  </a:schemeClr>
                </a:solidFill>
                <a:latin typeface="Times New Roman" panose="02020603050405020304" pitchFamily="18" charset="0"/>
                <a:cs typeface="Times New Roman" panose="02020603050405020304" pitchFamily="18" charset="0"/>
              </a:rPr>
              <a:t>/magazine/article/small-logic-gates-spawn-big-dreams-part-1</a:t>
            </a:r>
          </a:p>
        </p:txBody>
      </p:sp>
      <p:sp>
        <p:nvSpPr>
          <p:cNvPr id="8" name="Title 1">
            <a:extLst>
              <a:ext uri="{FF2B5EF4-FFF2-40B4-BE49-F238E27FC236}">
                <a16:creationId xmlns:a16="http://schemas.microsoft.com/office/drawing/2014/main" id="{23BB4F03-831F-6F8D-53E0-D0399E41F42E}"/>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Logic Gate Symbols</a:t>
            </a:r>
          </a:p>
        </p:txBody>
      </p:sp>
    </p:spTree>
    <p:extLst>
      <p:ext uri="{BB962C8B-B14F-4D97-AF65-F5344CB8AC3E}">
        <p14:creationId xmlns:p14="http://schemas.microsoft.com/office/powerpoint/2010/main" val="1285109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04C76-7D66-41CD-F573-46E0BB2BAAC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D24421-08E0-C8D5-1C85-B78640500DC7}"/>
              </a:ext>
            </a:extLst>
          </p:cNvPr>
          <p:cNvSpPr>
            <a:spLocks noGrp="1"/>
          </p:cNvSpPr>
          <p:nvPr>
            <p:ph idx="1"/>
          </p:nvPr>
        </p:nvSpPr>
        <p:spPr>
          <a:xfrm>
            <a:off x="203204" y="1371608"/>
            <a:ext cx="11764080" cy="1680216"/>
          </a:xfrm>
        </p:spPr>
        <p:txBody>
          <a:bodyPr lIns="91440" tIns="45720" rIns="91440" bIns="45720" anchor="t"/>
          <a:lstStyle/>
          <a:p>
            <a:pPr>
              <a:spcBef>
                <a:spcPct val="40000"/>
              </a:spcBef>
            </a:pPr>
            <a:r>
              <a:rPr lang="en-US" altLang="en-US" sz="2800"/>
              <a:t>A Boolean operator can be completely described using a </a:t>
            </a:r>
            <a:r>
              <a:rPr lang="en-US" altLang="en-US" sz="2800" b="1"/>
              <a:t>truth table</a:t>
            </a:r>
            <a:r>
              <a:rPr lang="en-US" altLang="en-US" sz="2800"/>
              <a:t>.</a:t>
            </a:r>
          </a:p>
          <a:p>
            <a:pPr>
              <a:spcBef>
                <a:spcPct val="40000"/>
              </a:spcBef>
            </a:pPr>
            <a:endParaRPr lang="en-US" altLang="en-US" sz="2800"/>
          </a:p>
          <a:p>
            <a:pPr>
              <a:spcBef>
                <a:spcPct val="40000"/>
              </a:spcBef>
            </a:pPr>
            <a:r>
              <a:rPr lang="en-US" altLang="en-US" sz="2800"/>
              <a:t>Simple examples:</a:t>
            </a:r>
            <a:endParaRPr lang="en-US" altLang="en-US" sz="2800">
              <a:ea typeface="Calibri"/>
            </a:endParaRPr>
          </a:p>
        </p:txBody>
      </p:sp>
      <p:graphicFrame>
        <p:nvGraphicFramePr>
          <p:cNvPr id="16" name="Table 15">
            <a:extLst>
              <a:ext uri="{FF2B5EF4-FFF2-40B4-BE49-F238E27FC236}">
                <a16:creationId xmlns:a16="http://schemas.microsoft.com/office/drawing/2014/main" id="{3AD9071A-F5D9-03C5-11FA-BCEB98BF6AF1}"/>
              </a:ext>
            </a:extLst>
          </p:cNvPr>
          <p:cNvGraphicFramePr>
            <a:graphicFrameLocks noGrp="1"/>
          </p:cNvGraphicFramePr>
          <p:nvPr>
            <p:extLst>
              <p:ext uri="{D42A27DB-BD31-4B8C-83A1-F6EECF244321}">
                <p14:modId xmlns:p14="http://schemas.microsoft.com/office/powerpoint/2010/main" val="1358597446"/>
              </p:ext>
            </p:extLst>
          </p:nvPr>
        </p:nvGraphicFramePr>
        <p:xfrm>
          <a:off x="5643921" y="2691284"/>
          <a:ext cx="1643697" cy="1828800"/>
        </p:xfrm>
        <a:graphic>
          <a:graphicData uri="http://schemas.openxmlformats.org/drawingml/2006/table">
            <a:tbl>
              <a:tblPr firstRow="1" bandRow="1">
                <a:tableStyleId>{073A0DAA-6AF3-43AB-8588-CEC1D06C72B9}</a:tableStyleId>
              </a:tblPr>
              <a:tblGrid>
                <a:gridCol w="730567">
                  <a:extLst>
                    <a:ext uri="{9D8B030D-6E8A-4147-A177-3AD203B41FA5}">
                      <a16:colId xmlns:a16="http://schemas.microsoft.com/office/drawing/2014/main" val="2780462019"/>
                    </a:ext>
                  </a:extLst>
                </a:gridCol>
                <a:gridCol w="913130">
                  <a:extLst>
                    <a:ext uri="{9D8B030D-6E8A-4147-A177-3AD203B41FA5}">
                      <a16:colId xmlns:a16="http://schemas.microsoft.com/office/drawing/2014/main" val="1155341415"/>
                    </a:ext>
                  </a:extLst>
                </a:gridCol>
              </a:tblGrid>
              <a:tr h="370840">
                <a:tc gridSpan="2">
                  <a:txBody>
                    <a:bodyPr/>
                    <a:lstStyle/>
                    <a:p>
                      <a:pPr algn="ctr"/>
                      <a:r>
                        <a:rPr lang="en-US" sz="2400"/>
                        <a:t>X</a:t>
                      </a:r>
                    </a:p>
                  </a:txBody>
                  <a:tcPr/>
                </a:tc>
                <a:tc hMerge="1">
                  <a:txBody>
                    <a:bodyPr/>
                    <a:lstStyle/>
                    <a:p>
                      <a:pPr algn="ctr"/>
                      <a:endParaRPr lang="en-US" sz="2400" b="1">
                        <a:latin typeface="Courier New" panose="02070309020205020404" pitchFamily="49" charset="0"/>
                        <a:cs typeface="Courier New" panose="02070309020205020404" pitchFamily="49" charset="0"/>
                      </a:endParaRPr>
                    </a:p>
                  </a:txBody>
                  <a:tcPr marL="0" marR="0" marT="0" marB="0" horzOverflow="overflow"/>
                </a:tc>
                <a:extLst>
                  <a:ext uri="{0D108BD9-81ED-4DB2-BD59-A6C34878D82A}">
                    <a16:rowId xmlns:a16="http://schemas.microsoft.com/office/drawing/2014/main" val="1115266922"/>
                  </a:ext>
                </a:extLst>
              </a:tr>
              <a:tr h="370840">
                <a:tc>
                  <a:txBody>
                    <a:bodyPr/>
                    <a:lstStyle/>
                    <a:p>
                      <a:pPr algn="ctr"/>
                      <a:r>
                        <a:rPr lang="en-US" sz="2400"/>
                        <a:t>In</a:t>
                      </a:r>
                    </a:p>
                  </a:txBody>
                  <a:tcPr/>
                </a:tc>
                <a:tc>
                  <a:txBody>
                    <a:bodyPr/>
                    <a:lstStyle/>
                    <a:p>
                      <a:pPr algn="ctr"/>
                      <a:r>
                        <a:rPr lang="en-US" sz="2400"/>
                        <a:t>Out</a:t>
                      </a:r>
                    </a:p>
                  </a:txBody>
                  <a:tcPr/>
                </a:tc>
                <a:extLst>
                  <a:ext uri="{0D108BD9-81ED-4DB2-BD59-A6C34878D82A}">
                    <a16:rowId xmlns:a16="http://schemas.microsoft.com/office/drawing/2014/main" val="2763696928"/>
                  </a:ext>
                </a:extLst>
              </a:tr>
              <a:tr h="370840">
                <a:tc>
                  <a:txBody>
                    <a:bodyPr/>
                    <a:lstStyle/>
                    <a:p>
                      <a:pPr algn="ctr"/>
                      <a:r>
                        <a:rPr lang="en-US" sz="2400"/>
                        <a:t>0</a:t>
                      </a:r>
                    </a:p>
                  </a:txBody>
                  <a:tcPr/>
                </a:tc>
                <a:tc>
                  <a:txBody>
                    <a:bodyPr/>
                    <a:lstStyle/>
                    <a:p>
                      <a:pPr algn="ctr"/>
                      <a:r>
                        <a:rPr lang="en-US" sz="2400"/>
                        <a:t>0</a:t>
                      </a:r>
                    </a:p>
                  </a:txBody>
                  <a:tcPr/>
                </a:tc>
                <a:extLst>
                  <a:ext uri="{0D108BD9-81ED-4DB2-BD59-A6C34878D82A}">
                    <a16:rowId xmlns:a16="http://schemas.microsoft.com/office/drawing/2014/main" val="1033269395"/>
                  </a:ext>
                </a:extLst>
              </a:tr>
              <a:tr h="370840">
                <a:tc>
                  <a:txBody>
                    <a:bodyPr/>
                    <a:lstStyle/>
                    <a:p>
                      <a:pPr algn="ctr"/>
                      <a:r>
                        <a:rPr lang="en-US" sz="2400"/>
                        <a:t>1</a:t>
                      </a:r>
                    </a:p>
                  </a:txBody>
                  <a:tcPr/>
                </a:tc>
                <a:tc>
                  <a:txBody>
                    <a:bodyPr/>
                    <a:lstStyle/>
                    <a:p>
                      <a:pPr algn="ctr"/>
                      <a:r>
                        <a:rPr lang="en-US" sz="2400"/>
                        <a:t>1</a:t>
                      </a:r>
                    </a:p>
                  </a:txBody>
                  <a:tcPr/>
                </a:tc>
                <a:extLst>
                  <a:ext uri="{0D108BD9-81ED-4DB2-BD59-A6C34878D82A}">
                    <a16:rowId xmlns:a16="http://schemas.microsoft.com/office/drawing/2014/main" val="2600521341"/>
                  </a:ext>
                </a:extLst>
              </a:tr>
            </a:tbl>
          </a:graphicData>
        </a:graphic>
      </p:graphicFrame>
      <p:sp>
        <p:nvSpPr>
          <p:cNvPr id="17" name="object 31">
            <a:extLst>
              <a:ext uri="{FF2B5EF4-FFF2-40B4-BE49-F238E27FC236}">
                <a16:creationId xmlns:a16="http://schemas.microsoft.com/office/drawing/2014/main" id="{2D86C925-B314-AC52-72BB-B4BD249D1E8B}"/>
              </a:ext>
            </a:extLst>
          </p:cNvPr>
          <p:cNvSpPr txBox="1"/>
          <p:nvPr/>
        </p:nvSpPr>
        <p:spPr>
          <a:xfrm>
            <a:off x="2569637" y="3800465"/>
            <a:ext cx="977277" cy="259045"/>
          </a:xfrm>
          <a:prstGeom prst="rect">
            <a:avLst/>
          </a:prstGeom>
        </p:spPr>
        <p:txBody>
          <a:bodyPr vert="horz" wrap="square" lIns="0" tIns="12700" rIns="0" bIns="0" rtlCol="0">
            <a:spAutoFit/>
          </a:bodyPr>
          <a:lstStyle/>
          <a:p>
            <a:pPr marL="12700">
              <a:spcBef>
                <a:spcPts val="100"/>
              </a:spcBef>
            </a:pPr>
            <a:r>
              <a:rPr sz="1600" b="1" spc="-10">
                <a:latin typeface="Courier New" panose="02070309020205020404" pitchFamily="49" charset="0"/>
                <a:cs typeface="Courier New" panose="02070309020205020404" pitchFamily="49" charset="0"/>
              </a:rPr>
              <a:t>buffer</a:t>
            </a:r>
            <a:endParaRPr sz="1600">
              <a:latin typeface="Courier New" panose="02070309020205020404" pitchFamily="49" charset="0"/>
              <a:cs typeface="Courier New" panose="02070309020205020404" pitchFamily="49" charset="0"/>
            </a:endParaRPr>
          </a:p>
        </p:txBody>
      </p:sp>
      <p:grpSp>
        <p:nvGrpSpPr>
          <p:cNvPr id="18" name="object 33">
            <a:extLst>
              <a:ext uri="{FF2B5EF4-FFF2-40B4-BE49-F238E27FC236}">
                <a16:creationId xmlns:a16="http://schemas.microsoft.com/office/drawing/2014/main" id="{C2072F4C-BE55-4F9E-C6F0-E56D6C544CC3}"/>
              </a:ext>
            </a:extLst>
          </p:cNvPr>
          <p:cNvGrpSpPr/>
          <p:nvPr/>
        </p:nvGrpSpPr>
        <p:grpSpPr>
          <a:xfrm>
            <a:off x="1828800" y="3466466"/>
            <a:ext cx="2349500" cy="419734"/>
            <a:chOff x="1481262" y="2858299"/>
            <a:chExt cx="2349500" cy="419734"/>
          </a:xfrm>
        </p:grpSpPr>
        <p:sp>
          <p:nvSpPr>
            <p:cNvPr id="19" name="object 34">
              <a:extLst>
                <a:ext uri="{FF2B5EF4-FFF2-40B4-BE49-F238E27FC236}">
                  <a16:creationId xmlns:a16="http://schemas.microsoft.com/office/drawing/2014/main" id="{D55768C3-51A6-7528-E482-DE48FDE6D857}"/>
                </a:ext>
              </a:extLst>
            </p:cNvPr>
            <p:cNvSpPr/>
            <p:nvPr/>
          </p:nvSpPr>
          <p:spPr>
            <a:xfrm>
              <a:off x="1495549" y="3068637"/>
              <a:ext cx="911225" cy="1905"/>
            </a:xfrm>
            <a:custGeom>
              <a:avLst/>
              <a:gdLst/>
              <a:ahLst/>
              <a:cxnLst/>
              <a:rect l="l" t="t" r="r" b="b"/>
              <a:pathLst>
                <a:path w="911225" h="1905">
                  <a:moveTo>
                    <a:pt x="911099" y="0"/>
                  </a:moveTo>
                  <a:lnTo>
                    <a:pt x="0" y="1499"/>
                  </a:lnTo>
                </a:path>
              </a:pathLst>
            </a:custGeom>
            <a:ln w="28574">
              <a:solidFill>
                <a:srgbClr val="000000"/>
              </a:solidFill>
            </a:ln>
          </p:spPr>
          <p:txBody>
            <a:bodyPr wrap="square" lIns="0" tIns="0" rIns="0" bIns="0" rtlCol="0"/>
            <a:lstStyle/>
            <a:p>
              <a:endParaRPr/>
            </a:p>
          </p:txBody>
        </p:sp>
        <p:sp>
          <p:nvSpPr>
            <p:cNvPr id="20" name="object 35">
              <a:extLst>
                <a:ext uri="{FF2B5EF4-FFF2-40B4-BE49-F238E27FC236}">
                  <a16:creationId xmlns:a16="http://schemas.microsoft.com/office/drawing/2014/main" id="{27DE7398-C242-90A7-9040-E3CF37BD9C83}"/>
                </a:ext>
              </a:extLst>
            </p:cNvPr>
            <p:cNvSpPr/>
            <p:nvPr/>
          </p:nvSpPr>
          <p:spPr>
            <a:xfrm>
              <a:off x="2406650" y="2878137"/>
              <a:ext cx="371475" cy="379730"/>
            </a:xfrm>
            <a:custGeom>
              <a:avLst/>
              <a:gdLst/>
              <a:ahLst/>
              <a:cxnLst/>
              <a:rect l="l" t="t" r="r" b="b"/>
              <a:pathLst>
                <a:path w="371475" h="379729">
                  <a:moveTo>
                    <a:pt x="19049" y="0"/>
                  </a:moveTo>
                  <a:lnTo>
                    <a:pt x="20549" y="379499"/>
                  </a:lnTo>
                </a:path>
                <a:path w="371475" h="379729">
                  <a:moveTo>
                    <a:pt x="0" y="371474"/>
                  </a:moveTo>
                  <a:lnTo>
                    <a:pt x="371399" y="180974"/>
                  </a:lnTo>
                </a:path>
                <a:path w="371475" h="379729">
                  <a:moveTo>
                    <a:pt x="371474" y="200024"/>
                  </a:moveTo>
                  <a:lnTo>
                    <a:pt x="74" y="9524"/>
                  </a:lnTo>
                </a:path>
              </a:pathLst>
            </a:custGeom>
            <a:ln w="39674">
              <a:solidFill>
                <a:srgbClr val="000000"/>
              </a:solidFill>
            </a:ln>
          </p:spPr>
          <p:txBody>
            <a:bodyPr wrap="square" lIns="0" tIns="0" rIns="0" bIns="0" rtlCol="0"/>
            <a:lstStyle/>
            <a:p>
              <a:endParaRPr/>
            </a:p>
          </p:txBody>
        </p:sp>
        <p:sp>
          <p:nvSpPr>
            <p:cNvPr id="21" name="object 36">
              <a:extLst>
                <a:ext uri="{FF2B5EF4-FFF2-40B4-BE49-F238E27FC236}">
                  <a16:creationId xmlns:a16="http://schemas.microsoft.com/office/drawing/2014/main" id="{36DF80FC-0BE4-8CA7-31E8-489350556D37}"/>
                </a:ext>
              </a:extLst>
            </p:cNvPr>
            <p:cNvSpPr/>
            <p:nvPr/>
          </p:nvSpPr>
          <p:spPr>
            <a:xfrm>
              <a:off x="2797175" y="3068637"/>
              <a:ext cx="1019175" cy="1905"/>
            </a:xfrm>
            <a:custGeom>
              <a:avLst/>
              <a:gdLst/>
              <a:ahLst/>
              <a:cxnLst/>
              <a:rect l="l" t="t" r="r" b="b"/>
              <a:pathLst>
                <a:path w="1019175" h="1905">
                  <a:moveTo>
                    <a:pt x="0" y="0"/>
                  </a:moveTo>
                  <a:lnTo>
                    <a:pt x="1019099" y="1499"/>
                  </a:lnTo>
                </a:path>
              </a:pathLst>
            </a:custGeom>
            <a:ln w="28574">
              <a:solidFill>
                <a:srgbClr val="000000"/>
              </a:solidFill>
            </a:ln>
          </p:spPr>
          <p:txBody>
            <a:bodyPr wrap="square" lIns="0" tIns="0" rIns="0" bIns="0" rtlCol="0"/>
            <a:lstStyle/>
            <a:p>
              <a:endParaRPr/>
            </a:p>
          </p:txBody>
        </p:sp>
      </p:grpSp>
      <p:sp>
        <p:nvSpPr>
          <p:cNvPr id="22" name="object 37">
            <a:extLst>
              <a:ext uri="{FF2B5EF4-FFF2-40B4-BE49-F238E27FC236}">
                <a16:creationId xmlns:a16="http://schemas.microsoft.com/office/drawing/2014/main" id="{AF35F60D-237E-1640-E7D4-5DAD25132285}"/>
              </a:ext>
            </a:extLst>
          </p:cNvPr>
          <p:cNvSpPr txBox="1"/>
          <p:nvPr/>
        </p:nvSpPr>
        <p:spPr>
          <a:xfrm>
            <a:off x="1512763" y="3462314"/>
            <a:ext cx="248920" cy="391160"/>
          </a:xfrm>
          <a:prstGeom prst="rect">
            <a:avLst/>
          </a:prstGeom>
        </p:spPr>
        <p:txBody>
          <a:bodyPr vert="horz" wrap="square" lIns="0" tIns="12700" rIns="0" bIns="0" rtlCol="0">
            <a:spAutoFit/>
          </a:bodyPr>
          <a:lstStyle/>
          <a:p>
            <a:pPr marL="12700">
              <a:spcBef>
                <a:spcPts val="100"/>
              </a:spcBef>
            </a:pPr>
            <a:r>
              <a:rPr sz="2400" b="1" spc="-50">
                <a:latin typeface="Courier New" panose="02070309020205020404" pitchFamily="49" charset="0"/>
                <a:cs typeface="Courier New" panose="02070309020205020404" pitchFamily="49" charset="0"/>
              </a:rPr>
              <a:t>A</a:t>
            </a:r>
            <a:endParaRPr sz="2400" b="1">
              <a:latin typeface="Courier New" panose="02070309020205020404" pitchFamily="49" charset="0"/>
              <a:cs typeface="Courier New" panose="02070309020205020404" pitchFamily="49" charset="0"/>
            </a:endParaRPr>
          </a:p>
        </p:txBody>
      </p:sp>
      <p:sp>
        <p:nvSpPr>
          <p:cNvPr id="23" name="object 38">
            <a:extLst>
              <a:ext uri="{FF2B5EF4-FFF2-40B4-BE49-F238E27FC236}">
                <a16:creationId xmlns:a16="http://schemas.microsoft.com/office/drawing/2014/main" id="{4EFB7A32-E75C-982A-F9E9-7583CEAECE1B}"/>
              </a:ext>
            </a:extLst>
          </p:cNvPr>
          <p:cNvSpPr txBox="1"/>
          <p:nvPr/>
        </p:nvSpPr>
        <p:spPr>
          <a:xfrm>
            <a:off x="4236914" y="3462314"/>
            <a:ext cx="219075" cy="391160"/>
          </a:xfrm>
          <a:prstGeom prst="rect">
            <a:avLst/>
          </a:prstGeom>
        </p:spPr>
        <p:txBody>
          <a:bodyPr vert="horz" wrap="square" lIns="0" tIns="12700" rIns="0" bIns="0" rtlCol="0">
            <a:spAutoFit/>
          </a:bodyPr>
          <a:lstStyle/>
          <a:p>
            <a:pPr marL="12700">
              <a:spcBef>
                <a:spcPts val="100"/>
              </a:spcBef>
            </a:pPr>
            <a:r>
              <a:rPr sz="2400" b="1" spc="-50">
                <a:latin typeface="Courier New" panose="02070309020205020404" pitchFamily="49" charset="0"/>
                <a:cs typeface="Courier New" panose="02070309020205020404" pitchFamily="49" charset="0"/>
              </a:rPr>
              <a:t>Y</a:t>
            </a:r>
            <a:endParaRPr sz="2400" b="1">
              <a:latin typeface="Courier New" panose="02070309020205020404" pitchFamily="49" charset="0"/>
              <a:cs typeface="Courier New" panose="02070309020205020404" pitchFamily="49" charset="0"/>
            </a:endParaRPr>
          </a:p>
        </p:txBody>
      </p:sp>
      <p:grpSp>
        <p:nvGrpSpPr>
          <p:cNvPr id="24" name="object 10">
            <a:extLst>
              <a:ext uri="{FF2B5EF4-FFF2-40B4-BE49-F238E27FC236}">
                <a16:creationId xmlns:a16="http://schemas.microsoft.com/office/drawing/2014/main" id="{21DDAFF1-F1F1-A04C-6892-E743719F409F}"/>
              </a:ext>
            </a:extLst>
          </p:cNvPr>
          <p:cNvGrpSpPr/>
          <p:nvPr/>
        </p:nvGrpSpPr>
        <p:grpSpPr>
          <a:xfrm>
            <a:off x="1795689" y="5454722"/>
            <a:ext cx="2349500" cy="419734"/>
            <a:chOff x="5202362" y="2917037"/>
            <a:chExt cx="2349500" cy="419734"/>
          </a:xfrm>
        </p:grpSpPr>
        <p:sp>
          <p:nvSpPr>
            <p:cNvPr id="25" name="object 11">
              <a:extLst>
                <a:ext uri="{FF2B5EF4-FFF2-40B4-BE49-F238E27FC236}">
                  <a16:creationId xmlns:a16="http://schemas.microsoft.com/office/drawing/2014/main" id="{A68CC768-8F26-70A4-AB3F-F011BF3D8382}"/>
                </a:ext>
              </a:extLst>
            </p:cNvPr>
            <p:cNvSpPr/>
            <p:nvPr/>
          </p:nvSpPr>
          <p:spPr>
            <a:xfrm>
              <a:off x="5216649" y="3127375"/>
              <a:ext cx="911225" cy="1905"/>
            </a:xfrm>
            <a:custGeom>
              <a:avLst/>
              <a:gdLst/>
              <a:ahLst/>
              <a:cxnLst/>
              <a:rect l="l" t="t" r="r" b="b"/>
              <a:pathLst>
                <a:path w="911225" h="1905">
                  <a:moveTo>
                    <a:pt x="911099" y="0"/>
                  </a:moveTo>
                  <a:lnTo>
                    <a:pt x="0" y="1499"/>
                  </a:lnTo>
                </a:path>
              </a:pathLst>
            </a:custGeom>
            <a:ln w="28574">
              <a:solidFill>
                <a:srgbClr val="000000"/>
              </a:solidFill>
            </a:ln>
          </p:spPr>
          <p:txBody>
            <a:bodyPr wrap="square" lIns="0" tIns="0" rIns="0" bIns="0" rtlCol="0"/>
            <a:lstStyle/>
            <a:p>
              <a:endParaRPr/>
            </a:p>
          </p:txBody>
        </p:sp>
        <p:sp>
          <p:nvSpPr>
            <p:cNvPr id="26" name="object 12">
              <a:extLst>
                <a:ext uri="{FF2B5EF4-FFF2-40B4-BE49-F238E27FC236}">
                  <a16:creationId xmlns:a16="http://schemas.microsoft.com/office/drawing/2014/main" id="{BB81F1C1-6043-ADF2-C8F8-8442ADF2E003}"/>
                </a:ext>
              </a:extLst>
            </p:cNvPr>
            <p:cNvSpPr/>
            <p:nvPr/>
          </p:nvSpPr>
          <p:spPr>
            <a:xfrm>
              <a:off x="6127749" y="2936874"/>
              <a:ext cx="371475" cy="379730"/>
            </a:xfrm>
            <a:custGeom>
              <a:avLst/>
              <a:gdLst/>
              <a:ahLst/>
              <a:cxnLst/>
              <a:rect l="l" t="t" r="r" b="b"/>
              <a:pathLst>
                <a:path w="371475" h="379729">
                  <a:moveTo>
                    <a:pt x="19049" y="0"/>
                  </a:moveTo>
                  <a:lnTo>
                    <a:pt x="20549" y="379499"/>
                  </a:lnTo>
                </a:path>
                <a:path w="371475" h="379729">
                  <a:moveTo>
                    <a:pt x="0" y="371474"/>
                  </a:moveTo>
                  <a:lnTo>
                    <a:pt x="371399" y="180974"/>
                  </a:lnTo>
                </a:path>
                <a:path w="371475" h="379729">
                  <a:moveTo>
                    <a:pt x="371474" y="200024"/>
                  </a:moveTo>
                  <a:lnTo>
                    <a:pt x="74" y="9524"/>
                  </a:lnTo>
                </a:path>
              </a:pathLst>
            </a:custGeom>
            <a:ln w="39674">
              <a:solidFill>
                <a:srgbClr val="000000"/>
              </a:solidFill>
            </a:ln>
          </p:spPr>
          <p:txBody>
            <a:bodyPr wrap="square" lIns="0" tIns="0" rIns="0" bIns="0" rtlCol="0"/>
            <a:lstStyle/>
            <a:p>
              <a:endParaRPr/>
            </a:p>
          </p:txBody>
        </p:sp>
        <p:sp>
          <p:nvSpPr>
            <p:cNvPr id="27" name="object 13">
              <a:extLst>
                <a:ext uri="{FF2B5EF4-FFF2-40B4-BE49-F238E27FC236}">
                  <a16:creationId xmlns:a16="http://schemas.microsoft.com/office/drawing/2014/main" id="{6BF332EA-03AD-4B7D-25D2-88F1BE96130F}"/>
                </a:ext>
              </a:extLst>
            </p:cNvPr>
            <p:cNvSpPr/>
            <p:nvPr/>
          </p:nvSpPr>
          <p:spPr>
            <a:xfrm>
              <a:off x="6518274" y="3127375"/>
              <a:ext cx="1019175" cy="1905"/>
            </a:xfrm>
            <a:custGeom>
              <a:avLst/>
              <a:gdLst/>
              <a:ahLst/>
              <a:cxnLst/>
              <a:rect l="l" t="t" r="r" b="b"/>
              <a:pathLst>
                <a:path w="1019175" h="1905">
                  <a:moveTo>
                    <a:pt x="0" y="0"/>
                  </a:moveTo>
                  <a:lnTo>
                    <a:pt x="1019099" y="1499"/>
                  </a:lnTo>
                </a:path>
              </a:pathLst>
            </a:custGeom>
            <a:ln w="28574">
              <a:solidFill>
                <a:srgbClr val="000000"/>
              </a:solidFill>
            </a:ln>
          </p:spPr>
          <p:txBody>
            <a:bodyPr wrap="square" lIns="0" tIns="0" rIns="0" bIns="0" rtlCol="0"/>
            <a:lstStyle/>
            <a:p>
              <a:endParaRPr/>
            </a:p>
          </p:txBody>
        </p:sp>
        <p:pic>
          <p:nvPicPr>
            <p:cNvPr id="28" name="object 14">
              <a:extLst>
                <a:ext uri="{FF2B5EF4-FFF2-40B4-BE49-F238E27FC236}">
                  <a16:creationId xmlns:a16="http://schemas.microsoft.com/office/drawing/2014/main" id="{247302C2-2404-29A6-DB9E-69994FDF96D7}"/>
                </a:ext>
              </a:extLst>
            </p:cNvPr>
            <p:cNvPicPr/>
            <p:nvPr/>
          </p:nvPicPr>
          <p:blipFill>
            <a:blip r:embed="rId2" cstate="print"/>
            <a:stretch>
              <a:fillRect/>
            </a:stretch>
          </p:blipFill>
          <p:spPr>
            <a:xfrm>
              <a:off x="6441287" y="3031337"/>
              <a:ext cx="217574" cy="209474"/>
            </a:xfrm>
            <a:prstGeom prst="rect">
              <a:avLst/>
            </a:prstGeom>
          </p:spPr>
        </p:pic>
      </p:grpSp>
      <p:sp>
        <p:nvSpPr>
          <p:cNvPr id="29" name="object 21">
            <a:extLst>
              <a:ext uri="{FF2B5EF4-FFF2-40B4-BE49-F238E27FC236}">
                <a16:creationId xmlns:a16="http://schemas.microsoft.com/office/drawing/2014/main" id="{39BCFD17-6AC6-D249-8CCF-C90F3A89D069}"/>
              </a:ext>
            </a:extLst>
          </p:cNvPr>
          <p:cNvSpPr txBox="1"/>
          <p:nvPr/>
        </p:nvSpPr>
        <p:spPr>
          <a:xfrm>
            <a:off x="1476477" y="5441044"/>
            <a:ext cx="248920" cy="391160"/>
          </a:xfrm>
          <a:prstGeom prst="rect">
            <a:avLst/>
          </a:prstGeom>
        </p:spPr>
        <p:txBody>
          <a:bodyPr vert="horz" wrap="square" lIns="0" tIns="12700" rIns="0" bIns="0" rtlCol="0">
            <a:spAutoFit/>
          </a:bodyPr>
          <a:lstStyle/>
          <a:p>
            <a:pPr marL="12700">
              <a:spcBef>
                <a:spcPts val="100"/>
              </a:spcBef>
            </a:pPr>
            <a:r>
              <a:rPr sz="2400" b="1" spc="-50">
                <a:latin typeface="Courier New" panose="02070309020205020404" pitchFamily="49" charset="0"/>
                <a:cs typeface="Courier New" panose="02070309020205020404" pitchFamily="49" charset="0"/>
              </a:rPr>
              <a:t>A</a:t>
            </a:r>
            <a:endParaRPr sz="2400" b="1">
              <a:latin typeface="Courier New" panose="02070309020205020404" pitchFamily="49" charset="0"/>
              <a:cs typeface="Courier New" panose="02070309020205020404" pitchFamily="49" charset="0"/>
            </a:endParaRPr>
          </a:p>
        </p:txBody>
      </p:sp>
      <p:sp>
        <p:nvSpPr>
          <p:cNvPr id="30" name="object 22">
            <a:extLst>
              <a:ext uri="{FF2B5EF4-FFF2-40B4-BE49-F238E27FC236}">
                <a16:creationId xmlns:a16="http://schemas.microsoft.com/office/drawing/2014/main" id="{C4501A59-5290-373E-F66D-B36745E06F3D}"/>
              </a:ext>
            </a:extLst>
          </p:cNvPr>
          <p:cNvSpPr txBox="1"/>
          <p:nvPr/>
        </p:nvSpPr>
        <p:spPr>
          <a:xfrm>
            <a:off x="4200628" y="5441044"/>
            <a:ext cx="219075" cy="391160"/>
          </a:xfrm>
          <a:prstGeom prst="rect">
            <a:avLst/>
          </a:prstGeom>
        </p:spPr>
        <p:txBody>
          <a:bodyPr vert="horz" wrap="square" lIns="0" tIns="12700" rIns="0" bIns="0" rtlCol="0">
            <a:spAutoFit/>
          </a:bodyPr>
          <a:lstStyle/>
          <a:p>
            <a:pPr marL="12700">
              <a:spcBef>
                <a:spcPts val="100"/>
              </a:spcBef>
            </a:pPr>
            <a:r>
              <a:rPr sz="2400" b="1" spc="-50">
                <a:latin typeface="Courier New" panose="02070309020205020404" pitchFamily="49" charset="0"/>
                <a:cs typeface="Courier New" panose="02070309020205020404" pitchFamily="49" charset="0"/>
              </a:rPr>
              <a:t>Y</a:t>
            </a:r>
            <a:endParaRPr sz="2400" b="1">
              <a:latin typeface="Courier New" panose="02070309020205020404" pitchFamily="49" charset="0"/>
              <a:cs typeface="Courier New" panose="02070309020205020404" pitchFamily="49" charset="0"/>
            </a:endParaRPr>
          </a:p>
        </p:txBody>
      </p:sp>
      <p:sp>
        <p:nvSpPr>
          <p:cNvPr id="31" name="object 32">
            <a:extLst>
              <a:ext uri="{FF2B5EF4-FFF2-40B4-BE49-F238E27FC236}">
                <a16:creationId xmlns:a16="http://schemas.microsoft.com/office/drawing/2014/main" id="{C8EB5949-5922-525F-15C3-0E24A50A7C62}"/>
              </a:ext>
            </a:extLst>
          </p:cNvPr>
          <p:cNvSpPr txBox="1"/>
          <p:nvPr/>
        </p:nvSpPr>
        <p:spPr>
          <a:xfrm>
            <a:off x="2473131" y="5818883"/>
            <a:ext cx="1105988" cy="259045"/>
          </a:xfrm>
          <a:prstGeom prst="rect">
            <a:avLst/>
          </a:prstGeom>
        </p:spPr>
        <p:txBody>
          <a:bodyPr vert="horz" wrap="square" lIns="0" tIns="12700" rIns="0" bIns="0" rtlCol="0">
            <a:spAutoFit/>
          </a:bodyPr>
          <a:lstStyle/>
          <a:p>
            <a:pPr marL="12700">
              <a:spcBef>
                <a:spcPts val="100"/>
              </a:spcBef>
            </a:pPr>
            <a:r>
              <a:rPr sz="1600" b="1" spc="-10">
                <a:latin typeface="Courier New" panose="02070309020205020404" pitchFamily="49" charset="0"/>
                <a:cs typeface="Courier New" panose="02070309020205020404" pitchFamily="49" charset="0"/>
              </a:rPr>
              <a:t>inverter</a:t>
            </a:r>
            <a:endParaRPr sz="1600">
              <a:latin typeface="Courier New" panose="02070309020205020404" pitchFamily="49" charset="0"/>
              <a:cs typeface="Courier New" panose="02070309020205020404" pitchFamily="49" charset="0"/>
            </a:endParaRPr>
          </a:p>
        </p:txBody>
      </p:sp>
      <p:graphicFrame>
        <p:nvGraphicFramePr>
          <p:cNvPr id="32" name="Table 31">
            <a:extLst>
              <a:ext uri="{FF2B5EF4-FFF2-40B4-BE49-F238E27FC236}">
                <a16:creationId xmlns:a16="http://schemas.microsoft.com/office/drawing/2014/main" id="{DDD1F64C-12BC-0726-FFE4-CB0AB6850BE1}"/>
              </a:ext>
            </a:extLst>
          </p:cNvPr>
          <p:cNvGraphicFramePr>
            <a:graphicFrameLocks noGrp="1"/>
          </p:cNvGraphicFramePr>
          <p:nvPr>
            <p:extLst>
              <p:ext uri="{D42A27DB-BD31-4B8C-83A1-F6EECF244321}">
                <p14:modId xmlns:p14="http://schemas.microsoft.com/office/powerpoint/2010/main" val="3603135982"/>
              </p:ext>
            </p:extLst>
          </p:nvPr>
        </p:nvGraphicFramePr>
        <p:xfrm>
          <a:off x="5643921" y="4805680"/>
          <a:ext cx="1643697" cy="1828800"/>
        </p:xfrm>
        <a:graphic>
          <a:graphicData uri="http://schemas.openxmlformats.org/drawingml/2006/table">
            <a:tbl>
              <a:tblPr firstRow="1" bandRow="1">
                <a:tableStyleId>{073A0DAA-6AF3-43AB-8588-CEC1D06C72B9}</a:tableStyleId>
              </a:tblPr>
              <a:tblGrid>
                <a:gridCol w="730567">
                  <a:extLst>
                    <a:ext uri="{9D8B030D-6E8A-4147-A177-3AD203B41FA5}">
                      <a16:colId xmlns:a16="http://schemas.microsoft.com/office/drawing/2014/main" val="2780462019"/>
                    </a:ext>
                  </a:extLst>
                </a:gridCol>
                <a:gridCol w="913130">
                  <a:extLst>
                    <a:ext uri="{9D8B030D-6E8A-4147-A177-3AD203B41FA5}">
                      <a16:colId xmlns:a16="http://schemas.microsoft.com/office/drawing/2014/main" val="1155341415"/>
                    </a:ext>
                  </a:extLst>
                </a:gridCol>
              </a:tblGrid>
              <a:tr h="370840">
                <a:tc gridSpan="2">
                  <a:txBody>
                    <a:bodyPr/>
                    <a:lstStyle/>
                    <a:p>
                      <a:pPr algn="ctr"/>
                      <a:r>
                        <a:rPr lang="en-US" sz="2400"/>
                        <a:t>NOT X</a:t>
                      </a:r>
                    </a:p>
                  </a:txBody>
                  <a:tcPr/>
                </a:tc>
                <a:tc hMerge="1">
                  <a:txBody>
                    <a:bodyPr/>
                    <a:lstStyle/>
                    <a:p>
                      <a:pPr algn="ctr"/>
                      <a:endParaRPr lang="en-US" sz="2400" b="1">
                        <a:latin typeface="Courier New" panose="02070309020205020404" pitchFamily="49" charset="0"/>
                        <a:cs typeface="Courier New" panose="02070309020205020404" pitchFamily="49" charset="0"/>
                      </a:endParaRPr>
                    </a:p>
                  </a:txBody>
                  <a:tcPr marL="0" marR="0" marT="0" marB="0" horzOverflow="overflow"/>
                </a:tc>
                <a:extLst>
                  <a:ext uri="{0D108BD9-81ED-4DB2-BD59-A6C34878D82A}">
                    <a16:rowId xmlns:a16="http://schemas.microsoft.com/office/drawing/2014/main" val="1115266922"/>
                  </a:ext>
                </a:extLst>
              </a:tr>
              <a:tr h="370840">
                <a:tc>
                  <a:txBody>
                    <a:bodyPr/>
                    <a:lstStyle/>
                    <a:p>
                      <a:pPr algn="ctr"/>
                      <a:r>
                        <a:rPr lang="en-US" sz="2400"/>
                        <a:t>In</a:t>
                      </a:r>
                    </a:p>
                  </a:txBody>
                  <a:tcPr/>
                </a:tc>
                <a:tc>
                  <a:txBody>
                    <a:bodyPr/>
                    <a:lstStyle/>
                    <a:p>
                      <a:pPr algn="ctr"/>
                      <a:r>
                        <a:rPr lang="en-US" sz="2400"/>
                        <a:t>Out</a:t>
                      </a:r>
                    </a:p>
                  </a:txBody>
                  <a:tcPr/>
                </a:tc>
                <a:extLst>
                  <a:ext uri="{0D108BD9-81ED-4DB2-BD59-A6C34878D82A}">
                    <a16:rowId xmlns:a16="http://schemas.microsoft.com/office/drawing/2014/main" val="2763696928"/>
                  </a:ext>
                </a:extLst>
              </a:tr>
              <a:tr h="370840">
                <a:tc>
                  <a:txBody>
                    <a:bodyPr/>
                    <a:lstStyle/>
                    <a:p>
                      <a:pPr algn="ctr"/>
                      <a:r>
                        <a:rPr lang="en-US" sz="2400"/>
                        <a:t>0</a:t>
                      </a:r>
                    </a:p>
                  </a:txBody>
                  <a:tcPr/>
                </a:tc>
                <a:tc>
                  <a:txBody>
                    <a:bodyPr/>
                    <a:lstStyle/>
                    <a:p>
                      <a:pPr algn="ctr"/>
                      <a:r>
                        <a:rPr lang="en-US" sz="2400"/>
                        <a:t>1</a:t>
                      </a:r>
                    </a:p>
                  </a:txBody>
                  <a:tcPr/>
                </a:tc>
                <a:extLst>
                  <a:ext uri="{0D108BD9-81ED-4DB2-BD59-A6C34878D82A}">
                    <a16:rowId xmlns:a16="http://schemas.microsoft.com/office/drawing/2014/main" val="1033269395"/>
                  </a:ext>
                </a:extLst>
              </a:tr>
              <a:tr h="370840">
                <a:tc>
                  <a:txBody>
                    <a:bodyPr/>
                    <a:lstStyle/>
                    <a:p>
                      <a:pPr algn="ctr"/>
                      <a:r>
                        <a:rPr lang="en-US" sz="2400"/>
                        <a:t>1</a:t>
                      </a:r>
                    </a:p>
                  </a:txBody>
                  <a:tcPr/>
                </a:tc>
                <a:tc>
                  <a:txBody>
                    <a:bodyPr/>
                    <a:lstStyle/>
                    <a:p>
                      <a:pPr algn="ctr"/>
                      <a:r>
                        <a:rPr lang="en-US" sz="2400"/>
                        <a:t>0</a:t>
                      </a:r>
                    </a:p>
                  </a:txBody>
                  <a:tcPr/>
                </a:tc>
                <a:extLst>
                  <a:ext uri="{0D108BD9-81ED-4DB2-BD59-A6C34878D82A}">
                    <a16:rowId xmlns:a16="http://schemas.microsoft.com/office/drawing/2014/main" val="2600521341"/>
                  </a:ext>
                </a:extLst>
              </a:tr>
            </a:tbl>
          </a:graphicData>
        </a:graphic>
      </p:graphicFrame>
      <p:sp>
        <p:nvSpPr>
          <p:cNvPr id="7" name="Title 1">
            <a:extLst>
              <a:ext uri="{FF2B5EF4-FFF2-40B4-BE49-F238E27FC236}">
                <a16:creationId xmlns:a16="http://schemas.microsoft.com/office/drawing/2014/main" id="{ADDC5186-96D3-904B-0066-F9CA72760645}"/>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1716774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2" grpId="0"/>
      <p:bldP spid="23" grpId="0"/>
      <p:bldP spid="29" grpId="0"/>
      <p:bldP spid="30"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15A0A-8585-1997-F68C-07ED25E8A5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E9CCDF-A519-A7B5-425F-E054B35BFE34}"/>
              </a:ext>
            </a:extLst>
          </p:cNvPr>
          <p:cNvSpPr>
            <a:spLocks noGrp="1"/>
          </p:cNvSpPr>
          <p:nvPr>
            <p:ph idx="1"/>
          </p:nvPr>
        </p:nvSpPr>
        <p:spPr>
          <a:xfrm>
            <a:off x="203204" y="1371607"/>
            <a:ext cx="11764080" cy="4876793"/>
          </a:xfrm>
        </p:spPr>
        <p:txBody>
          <a:bodyPr/>
          <a:lstStyle/>
          <a:p>
            <a:pPr>
              <a:spcBef>
                <a:spcPct val="40000"/>
              </a:spcBef>
            </a:pPr>
            <a:r>
              <a:rPr lang="en-US" altLang="en-US" sz="2800"/>
              <a:t>A Boolean operator can be completely described using a </a:t>
            </a:r>
            <a:r>
              <a:rPr lang="en-US" altLang="en-US" sz="2800" b="1"/>
              <a:t>truth table</a:t>
            </a:r>
            <a:r>
              <a:rPr lang="en-US" altLang="en-US" sz="2800"/>
              <a:t>.</a:t>
            </a:r>
          </a:p>
          <a:p>
            <a:pPr>
              <a:spcBef>
                <a:spcPct val="40000"/>
              </a:spcBef>
            </a:pPr>
            <a:r>
              <a:rPr lang="en-US" altLang="en-US" sz="2800"/>
              <a:t>The </a:t>
            </a:r>
            <a:r>
              <a:rPr lang="en-US" altLang="en-US" sz="2800" b="1"/>
              <a:t>truth table</a:t>
            </a:r>
            <a:r>
              <a:rPr lang="en-US" altLang="en-US" sz="2800"/>
              <a:t> for the Boolean operators OR and AND are shown at the following.</a:t>
            </a:r>
          </a:p>
        </p:txBody>
      </p:sp>
      <p:graphicFrame>
        <p:nvGraphicFramePr>
          <p:cNvPr id="7" name="Table 6">
            <a:extLst>
              <a:ext uri="{FF2B5EF4-FFF2-40B4-BE49-F238E27FC236}">
                <a16:creationId xmlns:a16="http://schemas.microsoft.com/office/drawing/2014/main" id="{0B674FB3-5F6D-0804-E05B-8422958B11D4}"/>
              </a:ext>
            </a:extLst>
          </p:cNvPr>
          <p:cNvGraphicFramePr>
            <a:graphicFrameLocks noGrp="1"/>
          </p:cNvGraphicFramePr>
          <p:nvPr>
            <p:extLst>
              <p:ext uri="{D42A27DB-BD31-4B8C-83A1-F6EECF244321}">
                <p14:modId xmlns:p14="http://schemas.microsoft.com/office/powerpoint/2010/main" val="3292510859"/>
              </p:ext>
            </p:extLst>
          </p:nvPr>
        </p:nvGraphicFramePr>
        <p:xfrm>
          <a:off x="9067800" y="3022863"/>
          <a:ext cx="2009140" cy="2743200"/>
        </p:xfrm>
        <a:graphic>
          <a:graphicData uri="http://schemas.openxmlformats.org/drawingml/2006/table">
            <a:tbl>
              <a:tblPr firstRow="1" bandRow="1">
                <a:tableStyleId>{073A0DAA-6AF3-43AB-8588-CEC1D06C72B9}</a:tableStyleId>
              </a:tblPr>
              <a:tblGrid>
                <a:gridCol w="548005">
                  <a:extLst>
                    <a:ext uri="{9D8B030D-6E8A-4147-A177-3AD203B41FA5}">
                      <a16:colId xmlns:a16="http://schemas.microsoft.com/office/drawing/2014/main" val="2780462019"/>
                    </a:ext>
                  </a:extLst>
                </a:gridCol>
                <a:gridCol w="548005">
                  <a:extLst>
                    <a:ext uri="{9D8B030D-6E8A-4147-A177-3AD203B41FA5}">
                      <a16:colId xmlns:a16="http://schemas.microsoft.com/office/drawing/2014/main" val="1155341415"/>
                    </a:ext>
                  </a:extLst>
                </a:gridCol>
                <a:gridCol w="913130">
                  <a:extLst>
                    <a:ext uri="{9D8B030D-6E8A-4147-A177-3AD203B41FA5}">
                      <a16:colId xmlns:a16="http://schemas.microsoft.com/office/drawing/2014/main" val="1443851111"/>
                    </a:ext>
                  </a:extLst>
                </a:gridCol>
              </a:tblGrid>
              <a:tr h="370840">
                <a:tc gridSpan="3">
                  <a:txBody>
                    <a:bodyPr/>
                    <a:lstStyle/>
                    <a:p>
                      <a:pPr algn="ctr"/>
                      <a:r>
                        <a:rPr lang="en-US" sz="2400"/>
                        <a:t>X AND Y</a:t>
                      </a:r>
                    </a:p>
                  </a:txBody>
                  <a:tcPr/>
                </a:tc>
                <a:tc hMerge="1">
                  <a:txBody>
                    <a:bodyPr/>
                    <a:lstStyle/>
                    <a:p>
                      <a:pPr algn="ctr"/>
                      <a:endParaRPr lang="en-US" sz="2400" b="1">
                        <a:latin typeface="Courier New" panose="02070309020205020404" pitchFamily="49" charset="0"/>
                        <a:cs typeface="Courier New" panose="02070309020205020404" pitchFamily="49" charset="0"/>
                      </a:endParaRPr>
                    </a:p>
                  </a:txBody>
                  <a:tcPr marL="0" marR="0" marT="0" marB="0" horzOverflow="overflow"/>
                </a:tc>
                <a:tc hMerge="1">
                  <a:txBody>
                    <a:bodyPr/>
                    <a:lstStyle/>
                    <a:p>
                      <a:pPr algn="ctr"/>
                      <a:endParaRPr lang="en-US" sz="2400" b="1">
                        <a:latin typeface="Courier New" panose="02070309020205020404" pitchFamily="49" charset="0"/>
                        <a:cs typeface="Courier New" panose="02070309020205020404" pitchFamily="49" charset="0"/>
                      </a:endParaRPr>
                    </a:p>
                  </a:txBody>
                  <a:tcPr marL="0" marR="0" marT="0" marB="0" horzOverflow="overflow"/>
                </a:tc>
                <a:extLst>
                  <a:ext uri="{0D108BD9-81ED-4DB2-BD59-A6C34878D82A}">
                    <a16:rowId xmlns:a16="http://schemas.microsoft.com/office/drawing/2014/main" val="1115266922"/>
                  </a:ext>
                </a:extLst>
              </a:tr>
              <a:tr h="370840">
                <a:tc>
                  <a:txBody>
                    <a:bodyPr/>
                    <a:lstStyle/>
                    <a:p>
                      <a:pPr algn="ctr"/>
                      <a:r>
                        <a:rPr lang="en-US" sz="2400"/>
                        <a:t>X</a:t>
                      </a:r>
                    </a:p>
                  </a:txBody>
                  <a:tcPr/>
                </a:tc>
                <a:tc>
                  <a:txBody>
                    <a:bodyPr/>
                    <a:lstStyle/>
                    <a:p>
                      <a:pPr algn="ctr"/>
                      <a:r>
                        <a:rPr lang="en-US" sz="2400"/>
                        <a:t>Y</a:t>
                      </a:r>
                    </a:p>
                  </a:txBody>
                  <a:tcPr/>
                </a:tc>
                <a:tc>
                  <a:txBody>
                    <a:bodyPr/>
                    <a:lstStyle/>
                    <a:p>
                      <a:pPr algn="ctr"/>
                      <a:r>
                        <a:rPr lang="en-US" sz="2400"/>
                        <a:t>XY</a:t>
                      </a:r>
                    </a:p>
                  </a:txBody>
                  <a:tcPr/>
                </a:tc>
                <a:extLst>
                  <a:ext uri="{0D108BD9-81ED-4DB2-BD59-A6C34878D82A}">
                    <a16:rowId xmlns:a16="http://schemas.microsoft.com/office/drawing/2014/main" val="2763696928"/>
                  </a:ext>
                </a:extLst>
              </a:tr>
              <a:tr h="370840">
                <a:tc>
                  <a:txBody>
                    <a:bodyPr/>
                    <a:lstStyle/>
                    <a:p>
                      <a:pPr algn="ctr"/>
                      <a:r>
                        <a:rPr lang="en-US" sz="2400"/>
                        <a:t>0</a:t>
                      </a:r>
                    </a:p>
                  </a:txBody>
                  <a:tcPr/>
                </a:tc>
                <a:tc>
                  <a:txBody>
                    <a:bodyPr/>
                    <a:lstStyle/>
                    <a:p>
                      <a:pPr algn="ctr"/>
                      <a:r>
                        <a:rPr lang="en-US" sz="2400"/>
                        <a:t>0</a:t>
                      </a:r>
                    </a:p>
                  </a:txBody>
                  <a:tcPr/>
                </a:tc>
                <a:tc>
                  <a:txBody>
                    <a:bodyPr/>
                    <a:lstStyle/>
                    <a:p>
                      <a:pPr algn="ctr"/>
                      <a:r>
                        <a:rPr lang="en-US" sz="2400"/>
                        <a:t>0</a:t>
                      </a:r>
                    </a:p>
                  </a:txBody>
                  <a:tcPr/>
                </a:tc>
                <a:extLst>
                  <a:ext uri="{0D108BD9-81ED-4DB2-BD59-A6C34878D82A}">
                    <a16:rowId xmlns:a16="http://schemas.microsoft.com/office/drawing/2014/main" val="1033269395"/>
                  </a:ext>
                </a:extLst>
              </a:tr>
              <a:tr h="370840">
                <a:tc>
                  <a:txBody>
                    <a:bodyPr/>
                    <a:lstStyle/>
                    <a:p>
                      <a:pPr algn="ctr"/>
                      <a:r>
                        <a:rPr lang="en-US" sz="2400"/>
                        <a:t>0</a:t>
                      </a:r>
                    </a:p>
                  </a:txBody>
                  <a:tcPr/>
                </a:tc>
                <a:tc>
                  <a:txBody>
                    <a:bodyPr/>
                    <a:lstStyle/>
                    <a:p>
                      <a:pPr algn="ctr"/>
                      <a:r>
                        <a:rPr lang="en-US" sz="2400"/>
                        <a:t>1</a:t>
                      </a:r>
                    </a:p>
                  </a:txBody>
                  <a:tcPr/>
                </a:tc>
                <a:tc>
                  <a:txBody>
                    <a:bodyPr/>
                    <a:lstStyle/>
                    <a:p>
                      <a:pPr algn="ctr"/>
                      <a:r>
                        <a:rPr lang="en-US" sz="2400"/>
                        <a:t>0</a:t>
                      </a:r>
                    </a:p>
                  </a:txBody>
                  <a:tcPr/>
                </a:tc>
                <a:extLst>
                  <a:ext uri="{0D108BD9-81ED-4DB2-BD59-A6C34878D82A}">
                    <a16:rowId xmlns:a16="http://schemas.microsoft.com/office/drawing/2014/main" val="2600521341"/>
                  </a:ext>
                </a:extLst>
              </a:tr>
              <a:tr h="370840">
                <a:tc>
                  <a:txBody>
                    <a:bodyPr/>
                    <a:lstStyle/>
                    <a:p>
                      <a:pPr algn="ctr"/>
                      <a:r>
                        <a:rPr lang="en-US" sz="2400"/>
                        <a:t>1</a:t>
                      </a:r>
                    </a:p>
                  </a:txBody>
                  <a:tcPr/>
                </a:tc>
                <a:tc>
                  <a:txBody>
                    <a:bodyPr/>
                    <a:lstStyle/>
                    <a:p>
                      <a:pPr algn="ctr"/>
                      <a:r>
                        <a:rPr lang="en-US" sz="2400"/>
                        <a:t>0</a:t>
                      </a:r>
                    </a:p>
                  </a:txBody>
                  <a:tcPr/>
                </a:tc>
                <a:tc>
                  <a:txBody>
                    <a:bodyPr/>
                    <a:lstStyle/>
                    <a:p>
                      <a:pPr algn="ctr"/>
                      <a:r>
                        <a:rPr lang="en-US" sz="2400"/>
                        <a:t>0</a:t>
                      </a:r>
                    </a:p>
                  </a:txBody>
                  <a:tcPr/>
                </a:tc>
                <a:extLst>
                  <a:ext uri="{0D108BD9-81ED-4DB2-BD59-A6C34878D82A}">
                    <a16:rowId xmlns:a16="http://schemas.microsoft.com/office/drawing/2014/main" val="1802581302"/>
                  </a:ext>
                </a:extLst>
              </a:tr>
              <a:tr h="370840">
                <a:tc>
                  <a:txBody>
                    <a:bodyPr/>
                    <a:lstStyle/>
                    <a:p>
                      <a:pPr algn="ctr"/>
                      <a:r>
                        <a:rPr lang="en-US" sz="2400"/>
                        <a:t>1</a:t>
                      </a:r>
                    </a:p>
                  </a:txBody>
                  <a:tcPr/>
                </a:tc>
                <a:tc>
                  <a:txBody>
                    <a:bodyPr/>
                    <a:lstStyle/>
                    <a:p>
                      <a:pPr algn="ctr"/>
                      <a:r>
                        <a:rPr lang="en-US" sz="2400"/>
                        <a:t>1</a:t>
                      </a:r>
                    </a:p>
                  </a:txBody>
                  <a:tcPr/>
                </a:tc>
                <a:tc>
                  <a:txBody>
                    <a:bodyPr/>
                    <a:lstStyle/>
                    <a:p>
                      <a:pPr algn="ctr"/>
                      <a:r>
                        <a:rPr lang="en-US" sz="2400"/>
                        <a:t>1</a:t>
                      </a:r>
                    </a:p>
                  </a:txBody>
                  <a:tcPr/>
                </a:tc>
                <a:extLst>
                  <a:ext uri="{0D108BD9-81ED-4DB2-BD59-A6C34878D82A}">
                    <a16:rowId xmlns:a16="http://schemas.microsoft.com/office/drawing/2014/main" val="3165771403"/>
                  </a:ext>
                </a:extLst>
              </a:tr>
            </a:tbl>
          </a:graphicData>
        </a:graphic>
      </p:graphicFrame>
      <p:graphicFrame>
        <p:nvGraphicFramePr>
          <p:cNvPr id="8" name="Table 7">
            <a:extLst>
              <a:ext uri="{FF2B5EF4-FFF2-40B4-BE49-F238E27FC236}">
                <a16:creationId xmlns:a16="http://schemas.microsoft.com/office/drawing/2014/main" id="{BDED11B1-CA0B-DEAE-665F-49C689375946}"/>
              </a:ext>
            </a:extLst>
          </p:cNvPr>
          <p:cNvGraphicFramePr>
            <a:graphicFrameLocks noGrp="1"/>
          </p:cNvGraphicFramePr>
          <p:nvPr>
            <p:extLst>
              <p:ext uri="{D42A27DB-BD31-4B8C-83A1-F6EECF244321}">
                <p14:modId xmlns:p14="http://schemas.microsoft.com/office/powerpoint/2010/main" val="2172442804"/>
              </p:ext>
            </p:extLst>
          </p:nvPr>
        </p:nvGraphicFramePr>
        <p:xfrm>
          <a:off x="3479252" y="3048000"/>
          <a:ext cx="2009140" cy="2743200"/>
        </p:xfrm>
        <a:graphic>
          <a:graphicData uri="http://schemas.openxmlformats.org/drawingml/2006/table">
            <a:tbl>
              <a:tblPr firstRow="1" bandRow="1">
                <a:tableStyleId>{073A0DAA-6AF3-43AB-8588-CEC1D06C72B9}</a:tableStyleId>
              </a:tblPr>
              <a:tblGrid>
                <a:gridCol w="548005">
                  <a:extLst>
                    <a:ext uri="{9D8B030D-6E8A-4147-A177-3AD203B41FA5}">
                      <a16:colId xmlns:a16="http://schemas.microsoft.com/office/drawing/2014/main" val="2780462019"/>
                    </a:ext>
                  </a:extLst>
                </a:gridCol>
                <a:gridCol w="548005">
                  <a:extLst>
                    <a:ext uri="{9D8B030D-6E8A-4147-A177-3AD203B41FA5}">
                      <a16:colId xmlns:a16="http://schemas.microsoft.com/office/drawing/2014/main" val="1155341415"/>
                    </a:ext>
                  </a:extLst>
                </a:gridCol>
                <a:gridCol w="913130">
                  <a:extLst>
                    <a:ext uri="{9D8B030D-6E8A-4147-A177-3AD203B41FA5}">
                      <a16:colId xmlns:a16="http://schemas.microsoft.com/office/drawing/2014/main" val="1443851111"/>
                    </a:ext>
                  </a:extLst>
                </a:gridCol>
              </a:tblGrid>
              <a:tr h="370840">
                <a:tc gridSpan="3">
                  <a:txBody>
                    <a:bodyPr/>
                    <a:lstStyle/>
                    <a:p>
                      <a:pPr algn="ctr"/>
                      <a:r>
                        <a:rPr lang="en-US" sz="2400"/>
                        <a:t>X OR Y</a:t>
                      </a:r>
                    </a:p>
                  </a:txBody>
                  <a:tcPr/>
                </a:tc>
                <a:tc hMerge="1">
                  <a:txBody>
                    <a:bodyPr/>
                    <a:lstStyle/>
                    <a:p>
                      <a:pPr algn="ctr"/>
                      <a:endParaRPr lang="en-US" sz="2400" b="1">
                        <a:latin typeface="Courier New" panose="02070309020205020404" pitchFamily="49" charset="0"/>
                        <a:cs typeface="Courier New" panose="02070309020205020404" pitchFamily="49" charset="0"/>
                      </a:endParaRPr>
                    </a:p>
                  </a:txBody>
                  <a:tcPr marL="0" marR="0" marT="0" marB="0" horzOverflow="overflow"/>
                </a:tc>
                <a:tc hMerge="1">
                  <a:txBody>
                    <a:bodyPr/>
                    <a:lstStyle/>
                    <a:p>
                      <a:pPr algn="ctr"/>
                      <a:endParaRPr lang="en-US" sz="2400" b="1">
                        <a:latin typeface="Courier New" panose="02070309020205020404" pitchFamily="49" charset="0"/>
                        <a:cs typeface="Courier New" panose="02070309020205020404" pitchFamily="49" charset="0"/>
                      </a:endParaRPr>
                    </a:p>
                  </a:txBody>
                  <a:tcPr marL="0" marR="0" marT="0" marB="0" horzOverflow="overflow"/>
                </a:tc>
                <a:extLst>
                  <a:ext uri="{0D108BD9-81ED-4DB2-BD59-A6C34878D82A}">
                    <a16:rowId xmlns:a16="http://schemas.microsoft.com/office/drawing/2014/main" val="1115266922"/>
                  </a:ext>
                </a:extLst>
              </a:tr>
              <a:tr h="370840">
                <a:tc>
                  <a:txBody>
                    <a:bodyPr/>
                    <a:lstStyle/>
                    <a:p>
                      <a:pPr algn="ctr"/>
                      <a:r>
                        <a:rPr lang="en-US" sz="2400"/>
                        <a:t>X</a:t>
                      </a:r>
                    </a:p>
                  </a:txBody>
                  <a:tcPr/>
                </a:tc>
                <a:tc>
                  <a:txBody>
                    <a:bodyPr/>
                    <a:lstStyle/>
                    <a:p>
                      <a:pPr algn="ctr"/>
                      <a:r>
                        <a:rPr lang="en-US" sz="2400"/>
                        <a:t>Y</a:t>
                      </a:r>
                    </a:p>
                  </a:txBody>
                  <a:tcPr/>
                </a:tc>
                <a:tc>
                  <a:txBody>
                    <a:bodyPr/>
                    <a:lstStyle/>
                    <a:p>
                      <a:pPr algn="ctr"/>
                      <a:r>
                        <a:rPr lang="en-US" sz="2400"/>
                        <a:t>X+Y</a:t>
                      </a:r>
                    </a:p>
                  </a:txBody>
                  <a:tcPr/>
                </a:tc>
                <a:extLst>
                  <a:ext uri="{0D108BD9-81ED-4DB2-BD59-A6C34878D82A}">
                    <a16:rowId xmlns:a16="http://schemas.microsoft.com/office/drawing/2014/main" val="2763696928"/>
                  </a:ext>
                </a:extLst>
              </a:tr>
              <a:tr h="370840">
                <a:tc>
                  <a:txBody>
                    <a:bodyPr/>
                    <a:lstStyle/>
                    <a:p>
                      <a:pPr algn="ctr"/>
                      <a:r>
                        <a:rPr lang="en-US" sz="2400"/>
                        <a:t>0</a:t>
                      </a:r>
                    </a:p>
                  </a:txBody>
                  <a:tcPr/>
                </a:tc>
                <a:tc>
                  <a:txBody>
                    <a:bodyPr/>
                    <a:lstStyle/>
                    <a:p>
                      <a:pPr algn="ctr"/>
                      <a:r>
                        <a:rPr lang="en-US" sz="2400"/>
                        <a:t>0</a:t>
                      </a:r>
                    </a:p>
                  </a:txBody>
                  <a:tcPr/>
                </a:tc>
                <a:tc>
                  <a:txBody>
                    <a:bodyPr/>
                    <a:lstStyle/>
                    <a:p>
                      <a:pPr algn="ctr"/>
                      <a:r>
                        <a:rPr lang="en-US" sz="2400"/>
                        <a:t>0</a:t>
                      </a:r>
                    </a:p>
                  </a:txBody>
                  <a:tcPr/>
                </a:tc>
                <a:extLst>
                  <a:ext uri="{0D108BD9-81ED-4DB2-BD59-A6C34878D82A}">
                    <a16:rowId xmlns:a16="http://schemas.microsoft.com/office/drawing/2014/main" val="1033269395"/>
                  </a:ext>
                </a:extLst>
              </a:tr>
              <a:tr h="370840">
                <a:tc>
                  <a:txBody>
                    <a:bodyPr/>
                    <a:lstStyle/>
                    <a:p>
                      <a:pPr algn="ctr"/>
                      <a:r>
                        <a:rPr lang="en-US" sz="2400"/>
                        <a:t>0</a:t>
                      </a:r>
                    </a:p>
                  </a:txBody>
                  <a:tcPr/>
                </a:tc>
                <a:tc>
                  <a:txBody>
                    <a:bodyPr/>
                    <a:lstStyle/>
                    <a:p>
                      <a:pPr algn="ctr"/>
                      <a:r>
                        <a:rPr lang="en-US" sz="2400"/>
                        <a:t>1</a:t>
                      </a:r>
                    </a:p>
                  </a:txBody>
                  <a:tcPr/>
                </a:tc>
                <a:tc>
                  <a:txBody>
                    <a:bodyPr/>
                    <a:lstStyle/>
                    <a:p>
                      <a:pPr algn="ctr"/>
                      <a:r>
                        <a:rPr lang="en-US" sz="2400"/>
                        <a:t>1</a:t>
                      </a:r>
                    </a:p>
                  </a:txBody>
                  <a:tcPr/>
                </a:tc>
                <a:extLst>
                  <a:ext uri="{0D108BD9-81ED-4DB2-BD59-A6C34878D82A}">
                    <a16:rowId xmlns:a16="http://schemas.microsoft.com/office/drawing/2014/main" val="2600521341"/>
                  </a:ext>
                </a:extLst>
              </a:tr>
              <a:tr h="370840">
                <a:tc>
                  <a:txBody>
                    <a:bodyPr/>
                    <a:lstStyle/>
                    <a:p>
                      <a:pPr algn="ctr"/>
                      <a:r>
                        <a:rPr lang="en-US" sz="2400"/>
                        <a:t>1</a:t>
                      </a:r>
                    </a:p>
                  </a:txBody>
                  <a:tcPr/>
                </a:tc>
                <a:tc>
                  <a:txBody>
                    <a:bodyPr/>
                    <a:lstStyle/>
                    <a:p>
                      <a:pPr algn="ctr"/>
                      <a:r>
                        <a:rPr lang="en-US" sz="2400"/>
                        <a:t>0</a:t>
                      </a:r>
                    </a:p>
                  </a:txBody>
                  <a:tcPr/>
                </a:tc>
                <a:tc>
                  <a:txBody>
                    <a:bodyPr/>
                    <a:lstStyle/>
                    <a:p>
                      <a:pPr algn="ctr"/>
                      <a:r>
                        <a:rPr lang="en-US" sz="2400"/>
                        <a:t>1</a:t>
                      </a:r>
                    </a:p>
                  </a:txBody>
                  <a:tcPr/>
                </a:tc>
                <a:extLst>
                  <a:ext uri="{0D108BD9-81ED-4DB2-BD59-A6C34878D82A}">
                    <a16:rowId xmlns:a16="http://schemas.microsoft.com/office/drawing/2014/main" val="1802581302"/>
                  </a:ext>
                </a:extLst>
              </a:tr>
              <a:tr h="370840">
                <a:tc>
                  <a:txBody>
                    <a:bodyPr/>
                    <a:lstStyle/>
                    <a:p>
                      <a:pPr algn="ctr"/>
                      <a:r>
                        <a:rPr lang="en-US" sz="2400"/>
                        <a:t>1</a:t>
                      </a:r>
                    </a:p>
                  </a:txBody>
                  <a:tcPr/>
                </a:tc>
                <a:tc>
                  <a:txBody>
                    <a:bodyPr/>
                    <a:lstStyle/>
                    <a:p>
                      <a:pPr algn="ctr"/>
                      <a:r>
                        <a:rPr lang="en-US" sz="2400"/>
                        <a:t>1</a:t>
                      </a:r>
                    </a:p>
                  </a:txBody>
                  <a:tcPr/>
                </a:tc>
                <a:tc>
                  <a:txBody>
                    <a:bodyPr/>
                    <a:lstStyle/>
                    <a:p>
                      <a:pPr algn="ctr"/>
                      <a:r>
                        <a:rPr lang="en-US" sz="2400"/>
                        <a:t>1</a:t>
                      </a:r>
                    </a:p>
                  </a:txBody>
                  <a:tcPr/>
                </a:tc>
                <a:extLst>
                  <a:ext uri="{0D108BD9-81ED-4DB2-BD59-A6C34878D82A}">
                    <a16:rowId xmlns:a16="http://schemas.microsoft.com/office/drawing/2014/main" val="3165771403"/>
                  </a:ext>
                </a:extLst>
              </a:tr>
            </a:tbl>
          </a:graphicData>
        </a:graphic>
      </p:graphicFrame>
      <p:pic>
        <p:nvPicPr>
          <p:cNvPr id="4" name="object 17">
            <a:extLst>
              <a:ext uri="{FF2B5EF4-FFF2-40B4-BE49-F238E27FC236}">
                <a16:creationId xmlns:a16="http://schemas.microsoft.com/office/drawing/2014/main" id="{B2EBF363-D029-0FE8-90E8-94F212016565}"/>
              </a:ext>
            </a:extLst>
          </p:cNvPr>
          <p:cNvPicPr/>
          <p:nvPr/>
        </p:nvPicPr>
        <p:blipFill>
          <a:blip r:embed="rId2" cstate="print"/>
          <a:stretch>
            <a:fillRect/>
          </a:stretch>
        </p:blipFill>
        <p:spPr>
          <a:xfrm>
            <a:off x="472468" y="3886200"/>
            <a:ext cx="2160399" cy="1016526"/>
          </a:xfrm>
          <a:prstGeom prst="rect">
            <a:avLst/>
          </a:prstGeom>
        </p:spPr>
      </p:pic>
      <p:sp>
        <p:nvSpPr>
          <p:cNvPr id="5" name="object 18">
            <a:extLst>
              <a:ext uri="{FF2B5EF4-FFF2-40B4-BE49-F238E27FC236}">
                <a16:creationId xmlns:a16="http://schemas.microsoft.com/office/drawing/2014/main" id="{841EE6FC-50AD-7C16-C988-B77014E3C92B}"/>
              </a:ext>
            </a:extLst>
          </p:cNvPr>
          <p:cNvSpPr txBox="1"/>
          <p:nvPr/>
        </p:nvSpPr>
        <p:spPr>
          <a:xfrm>
            <a:off x="1396254" y="4251159"/>
            <a:ext cx="318135" cy="269240"/>
          </a:xfrm>
          <a:prstGeom prst="rect">
            <a:avLst/>
          </a:prstGeom>
        </p:spPr>
        <p:txBody>
          <a:bodyPr vert="horz" wrap="square" lIns="0" tIns="12700" rIns="0" bIns="0" rtlCol="0">
            <a:spAutoFit/>
          </a:bodyPr>
          <a:lstStyle/>
          <a:p>
            <a:pPr marL="12700">
              <a:spcBef>
                <a:spcPts val="100"/>
              </a:spcBef>
            </a:pPr>
            <a:r>
              <a:rPr sz="1600" b="1" spc="-25">
                <a:latin typeface="Courier New" panose="02070309020205020404" pitchFamily="49" charset="0"/>
                <a:cs typeface="Courier New" panose="02070309020205020404" pitchFamily="49" charset="0"/>
              </a:rPr>
              <a:t>OR</a:t>
            </a:r>
            <a:endParaRPr sz="1600" b="1">
              <a:latin typeface="Courier New" panose="02070309020205020404" pitchFamily="49" charset="0"/>
              <a:cs typeface="Courier New" panose="02070309020205020404" pitchFamily="49" charset="0"/>
            </a:endParaRPr>
          </a:p>
        </p:txBody>
      </p:sp>
      <p:sp>
        <p:nvSpPr>
          <p:cNvPr id="6" name="object 19">
            <a:extLst>
              <a:ext uri="{FF2B5EF4-FFF2-40B4-BE49-F238E27FC236}">
                <a16:creationId xmlns:a16="http://schemas.microsoft.com/office/drawing/2014/main" id="{246B68EF-AE8E-0A75-9786-59CACC4858B5}"/>
              </a:ext>
            </a:extLst>
          </p:cNvPr>
          <p:cNvSpPr txBox="1"/>
          <p:nvPr/>
        </p:nvSpPr>
        <p:spPr>
          <a:xfrm>
            <a:off x="221344" y="3844481"/>
            <a:ext cx="248920" cy="913070"/>
          </a:xfrm>
          <a:prstGeom prst="rect">
            <a:avLst/>
          </a:prstGeom>
        </p:spPr>
        <p:txBody>
          <a:bodyPr vert="horz" wrap="square" lIns="0" tIns="12700" rIns="0" bIns="0" rtlCol="0">
            <a:spAutoFit/>
          </a:bodyPr>
          <a:lstStyle/>
          <a:p>
            <a:pPr marL="28575" marR="5080" indent="-16510">
              <a:lnSpc>
                <a:spcPct val="125000"/>
              </a:lnSpc>
              <a:spcBef>
                <a:spcPts val="100"/>
              </a:spcBef>
            </a:pPr>
            <a:r>
              <a:rPr lang="en-US" sz="2400" b="1" spc="-50">
                <a:latin typeface="Courier New" panose="02070309020205020404" pitchFamily="49" charset="0"/>
                <a:cs typeface="Courier New" panose="02070309020205020404" pitchFamily="49" charset="0"/>
              </a:rPr>
              <a:t>X</a:t>
            </a:r>
            <a:r>
              <a:rPr sz="2400" b="1" spc="-50">
                <a:latin typeface="Courier New" panose="02070309020205020404" pitchFamily="49" charset="0"/>
                <a:cs typeface="Courier New" panose="02070309020205020404" pitchFamily="49" charset="0"/>
              </a:rPr>
              <a:t> </a:t>
            </a:r>
            <a:r>
              <a:rPr lang="en-US" sz="2400" b="1" spc="-50">
                <a:latin typeface="Courier New" panose="02070309020205020404" pitchFamily="49" charset="0"/>
                <a:cs typeface="Courier New" panose="02070309020205020404" pitchFamily="49" charset="0"/>
              </a:rPr>
              <a:t>Y</a:t>
            </a:r>
            <a:endParaRPr sz="2400" b="1">
              <a:latin typeface="Courier New" panose="02070309020205020404" pitchFamily="49" charset="0"/>
              <a:cs typeface="Courier New" panose="02070309020205020404" pitchFamily="49" charset="0"/>
            </a:endParaRPr>
          </a:p>
        </p:txBody>
      </p:sp>
      <p:sp>
        <p:nvSpPr>
          <p:cNvPr id="9" name="object 20">
            <a:extLst>
              <a:ext uri="{FF2B5EF4-FFF2-40B4-BE49-F238E27FC236}">
                <a16:creationId xmlns:a16="http://schemas.microsoft.com/office/drawing/2014/main" id="{4A7CFE70-00CC-9701-2E25-9ADFC25CEB35}"/>
              </a:ext>
            </a:extLst>
          </p:cNvPr>
          <p:cNvSpPr txBox="1"/>
          <p:nvPr/>
        </p:nvSpPr>
        <p:spPr>
          <a:xfrm>
            <a:off x="2685405" y="4164520"/>
            <a:ext cx="834239" cy="382156"/>
          </a:xfrm>
          <a:prstGeom prst="rect">
            <a:avLst/>
          </a:prstGeom>
        </p:spPr>
        <p:txBody>
          <a:bodyPr vert="horz" wrap="square" lIns="0" tIns="12700" rIns="0" bIns="0" rtlCol="0">
            <a:spAutoFit/>
          </a:bodyPr>
          <a:lstStyle/>
          <a:p>
            <a:pPr marL="12700">
              <a:spcBef>
                <a:spcPts val="100"/>
              </a:spcBef>
            </a:pPr>
            <a:r>
              <a:rPr lang="en-US" sz="2400" b="1" spc="-50">
                <a:latin typeface="Courier New" panose="02070309020205020404" pitchFamily="49" charset="0"/>
                <a:cs typeface="Courier New" panose="02070309020205020404" pitchFamily="49" charset="0"/>
              </a:rPr>
              <a:t>X+Y</a:t>
            </a:r>
            <a:endParaRPr sz="2400" b="1">
              <a:latin typeface="Courier New" panose="02070309020205020404" pitchFamily="49" charset="0"/>
              <a:cs typeface="Courier New" panose="02070309020205020404" pitchFamily="49" charset="0"/>
            </a:endParaRPr>
          </a:p>
        </p:txBody>
      </p:sp>
      <p:grpSp>
        <p:nvGrpSpPr>
          <p:cNvPr id="10" name="object 4">
            <a:extLst>
              <a:ext uri="{FF2B5EF4-FFF2-40B4-BE49-F238E27FC236}">
                <a16:creationId xmlns:a16="http://schemas.microsoft.com/office/drawing/2014/main" id="{041E0D57-3416-7830-CE0C-79101A07D261}"/>
              </a:ext>
            </a:extLst>
          </p:cNvPr>
          <p:cNvGrpSpPr/>
          <p:nvPr/>
        </p:nvGrpSpPr>
        <p:grpSpPr>
          <a:xfrm>
            <a:off x="6528632" y="3916571"/>
            <a:ext cx="2043430" cy="986155"/>
            <a:chOff x="1628792" y="3976935"/>
            <a:chExt cx="2043430" cy="986155"/>
          </a:xfrm>
        </p:grpSpPr>
        <p:sp>
          <p:nvSpPr>
            <p:cNvPr id="11" name="object 5">
              <a:extLst>
                <a:ext uri="{FF2B5EF4-FFF2-40B4-BE49-F238E27FC236}">
                  <a16:creationId xmlns:a16="http://schemas.microsoft.com/office/drawing/2014/main" id="{9662D3A3-22B1-FCCB-07C4-7E84FC5C7D25}"/>
                </a:ext>
              </a:extLst>
            </p:cNvPr>
            <p:cNvSpPr/>
            <p:nvPr/>
          </p:nvSpPr>
          <p:spPr>
            <a:xfrm>
              <a:off x="2043757" y="4011465"/>
              <a:ext cx="1232535" cy="927735"/>
            </a:xfrm>
            <a:custGeom>
              <a:avLst/>
              <a:gdLst/>
              <a:ahLst/>
              <a:cxnLst/>
              <a:rect l="l" t="t" r="r" b="b"/>
              <a:pathLst>
                <a:path w="1232535" h="927735">
                  <a:moveTo>
                    <a:pt x="0" y="463865"/>
                  </a:moveTo>
                  <a:lnTo>
                    <a:pt x="2260" y="423841"/>
                  </a:lnTo>
                  <a:lnTo>
                    <a:pt x="8920" y="384763"/>
                  </a:lnTo>
                  <a:lnTo>
                    <a:pt x="19793" y="346769"/>
                  </a:lnTo>
                  <a:lnTo>
                    <a:pt x="34695" y="309999"/>
                  </a:lnTo>
                  <a:lnTo>
                    <a:pt x="53441" y="274592"/>
                  </a:lnTo>
                  <a:lnTo>
                    <a:pt x="75846" y="240687"/>
                  </a:lnTo>
                  <a:lnTo>
                    <a:pt x="101725" y="208424"/>
                  </a:lnTo>
                  <a:lnTo>
                    <a:pt x="130894" y="177942"/>
                  </a:lnTo>
                  <a:lnTo>
                    <a:pt x="163166" y="149380"/>
                  </a:lnTo>
                  <a:lnTo>
                    <a:pt x="198359" y="122878"/>
                  </a:lnTo>
                  <a:lnTo>
                    <a:pt x="236285" y="98574"/>
                  </a:lnTo>
                  <a:lnTo>
                    <a:pt x="276762" y="76607"/>
                  </a:lnTo>
                  <a:lnTo>
                    <a:pt x="319603" y="57118"/>
                  </a:lnTo>
                  <a:lnTo>
                    <a:pt x="364624" y="40245"/>
                  </a:lnTo>
                  <a:lnTo>
                    <a:pt x="411640" y="26128"/>
                  </a:lnTo>
                  <a:lnTo>
                    <a:pt x="460467" y="14906"/>
                  </a:lnTo>
                  <a:lnTo>
                    <a:pt x="510918" y="6717"/>
                  </a:lnTo>
                  <a:lnTo>
                    <a:pt x="562810" y="1702"/>
                  </a:lnTo>
                  <a:lnTo>
                    <a:pt x="615957" y="0"/>
                  </a:lnTo>
                  <a:lnTo>
                    <a:pt x="669104" y="1702"/>
                  </a:lnTo>
                  <a:lnTo>
                    <a:pt x="720996" y="6717"/>
                  </a:lnTo>
                  <a:lnTo>
                    <a:pt x="771447" y="14906"/>
                  </a:lnTo>
                  <a:lnTo>
                    <a:pt x="820273" y="26128"/>
                  </a:lnTo>
                  <a:lnTo>
                    <a:pt x="867290" y="40245"/>
                  </a:lnTo>
                  <a:lnTo>
                    <a:pt x="912311" y="57118"/>
                  </a:lnTo>
                  <a:lnTo>
                    <a:pt x="955152" y="76607"/>
                  </a:lnTo>
                  <a:lnTo>
                    <a:pt x="995628" y="98574"/>
                  </a:lnTo>
                  <a:lnTo>
                    <a:pt x="1033555" y="122878"/>
                  </a:lnTo>
                  <a:lnTo>
                    <a:pt x="1068747" y="149380"/>
                  </a:lnTo>
                  <a:lnTo>
                    <a:pt x="1101020" y="177942"/>
                  </a:lnTo>
                  <a:lnTo>
                    <a:pt x="1130188" y="208424"/>
                  </a:lnTo>
                  <a:lnTo>
                    <a:pt x="1156068" y="240687"/>
                  </a:lnTo>
                  <a:lnTo>
                    <a:pt x="1178473" y="274592"/>
                  </a:lnTo>
                  <a:lnTo>
                    <a:pt x="1197219" y="309999"/>
                  </a:lnTo>
                  <a:lnTo>
                    <a:pt x="1212121" y="346769"/>
                  </a:lnTo>
                  <a:lnTo>
                    <a:pt x="1222994" y="384763"/>
                  </a:lnTo>
                  <a:lnTo>
                    <a:pt x="1229653" y="423841"/>
                  </a:lnTo>
                  <a:lnTo>
                    <a:pt x="1231914" y="463865"/>
                  </a:lnTo>
                  <a:lnTo>
                    <a:pt x="1229653" y="503890"/>
                  </a:lnTo>
                  <a:lnTo>
                    <a:pt x="1222994" y="542968"/>
                  </a:lnTo>
                  <a:lnTo>
                    <a:pt x="1212121" y="580962"/>
                  </a:lnTo>
                  <a:lnTo>
                    <a:pt x="1197219" y="617732"/>
                  </a:lnTo>
                  <a:lnTo>
                    <a:pt x="1178473" y="653139"/>
                  </a:lnTo>
                  <a:lnTo>
                    <a:pt x="1156068" y="687044"/>
                  </a:lnTo>
                  <a:lnTo>
                    <a:pt x="1130188" y="719307"/>
                  </a:lnTo>
                  <a:lnTo>
                    <a:pt x="1101020" y="749789"/>
                  </a:lnTo>
                  <a:lnTo>
                    <a:pt x="1068747" y="778351"/>
                  </a:lnTo>
                  <a:lnTo>
                    <a:pt x="1033555" y="804853"/>
                  </a:lnTo>
                  <a:lnTo>
                    <a:pt x="995628" y="829157"/>
                  </a:lnTo>
                  <a:lnTo>
                    <a:pt x="955152" y="851124"/>
                  </a:lnTo>
                  <a:lnTo>
                    <a:pt x="912311" y="870613"/>
                  </a:lnTo>
                  <a:lnTo>
                    <a:pt x="867290" y="887486"/>
                  </a:lnTo>
                  <a:lnTo>
                    <a:pt x="820273" y="901603"/>
                  </a:lnTo>
                  <a:lnTo>
                    <a:pt x="771447" y="912825"/>
                  </a:lnTo>
                  <a:lnTo>
                    <a:pt x="720996" y="921014"/>
                  </a:lnTo>
                  <a:lnTo>
                    <a:pt x="669104" y="926029"/>
                  </a:lnTo>
                  <a:lnTo>
                    <a:pt x="615957" y="927731"/>
                  </a:lnTo>
                  <a:lnTo>
                    <a:pt x="562810" y="926029"/>
                  </a:lnTo>
                  <a:lnTo>
                    <a:pt x="510918" y="921014"/>
                  </a:lnTo>
                  <a:lnTo>
                    <a:pt x="460467" y="912825"/>
                  </a:lnTo>
                  <a:lnTo>
                    <a:pt x="411640" y="901603"/>
                  </a:lnTo>
                  <a:lnTo>
                    <a:pt x="364624" y="887486"/>
                  </a:lnTo>
                  <a:lnTo>
                    <a:pt x="319603" y="870613"/>
                  </a:lnTo>
                  <a:lnTo>
                    <a:pt x="276762" y="851124"/>
                  </a:lnTo>
                  <a:lnTo>
                    <a:pt x="236285" y="829157"/>
                  </a:lnTo>
                  <a:lnTo>
                    <a:pt x="198359" y="804853"/>
                  </a:lnTo>
                  <a:lnTo>
                    <a:pt x="163166" y="778351"/>
                  </a:lnTo>
                  <a:lnTo>
                    <a:pt x="130894" y="749789"/>
                  </a:lnTo>
                  <a:lnTo>
                    <a:pt x="101725" y="719307"/>
                  </a:lnTo>
                  <a:lnTo>
                    <a:pt x="75846" y="687044"/>
                  </a:lnTo>
                  <a:lnTo>
                    <a:pt x="53441" y="653139"/>
                  </a:lnTo>
                  <a:lnTo>
                    <a:pt x="34695" y="617732"/>
                  </a:lnTo>
                  <a:lnTo>
                    <a:pt x="19793" y="580962"/>
                  </a:lnTo>
                  <a:lnTo>
                    <a:pt x="8920" y="542968"/>
                  </a:lnTo>
                  <a:lnTo>
                    <a:pt x="2260" y="503890"/>
                  </a:lnTo>
                  <a:lnTo>
                    <a:pt x="0" y="463865"/>
                  </a:lnTo>
                  <a:close/>
                </a:path>
              </a:pathLst>
            </a:custGeom>
            <a:ln w="38099">
              <a:solidFill>
                <a:srgbClr val="000000"/>
              </a:solidFill>
            </a:ln>
          </p:spPr>
          <p:txBody>
            <a:bodyPr wrap="square" lIns="0" tIns="0" rIns="0" bIns="0" rtlCol="0"/>
            <a:lstStyle/>
            <a:p>
              <a:endParaRPr/>
            </a:p>
          </p:txBody>
        </p:sp>
        <p:sp>
          <p:nvSpPr>
            <p:cNvPr id="12" name="object 6">
              <a:extLst>
                <a:ext uri="{FF2B5EF4-FFF2-40B4-BE49-F238E27FC236}">
                  <a16:creationId xmlns:a16="http://schemas.microsoft.com/office/drawing/2014/main" id="{06861AE9-C5ED-629F-388C-060384B90301}"/>
                </a:ext>
              </a:extLst>
            </p:cNvPr>
            <p:cNvSpPr/>
            <p:nvPr/>
          </p:nvSpPr>
          <p:spPr>
            <a:xfrm>
              <a:off x="1991233" y="3976935"/>
              <a:ext cx="762635" cy="967105"/>
            </a:xfrm>
            <a:custGeom>
              <a:avLst/>
              <a:gdLst/>
              <a:ahLst/>
              <a:cxnLst/>
              <a:rect l="l" t="t" r="r" b="b"/>
              <a:pathLst>
                <a:path w="762635" h="967104">
                  <a:moveTo>
                    <a:pt x="762290" y="966883"/>
                  </a:moveTo>
                  <a:lnTo>
                    <a:pt x="0" y="966883"/>
                  </a:lnTo>
                  <a:lnTo>
                    <a:pt x="0" y="0"/>
                  </a:lnTo>
                  <a:lnTo>
                    <a:pt x="762290" y="0"/>
                  </a:lnTo>
                  <a:lnTo>
                    <a:pt x="762290" y="966883"/>
                  </a:lnTo>
                  <a:close/>
                </a:path>
              </a:pathLst>
            </a:custGeom>
            <a:solidFill>
              <a:srgbClr val="FFFFFF"/>
            </a:solidFill>
          </p:spPr>
          <p:txBody>
            <a:bodyPr wrap="square" lIns="0" tIns="0" rIns="0" bIns="0" rtlCol="0"/>
            <a:lstStyle/>
            <a:p>
              <a:endParaRPr/>
            </a:p>
          </p:txBody>
        </p:sp>
        <p:sp>
          <p:nvSpPr>
            <p:cNvPr id="13" name="object 7">
              <a:extLst>
                <a:ext uri="{FF2B5EF4-FFF2-40B4-BE49-F238E27FC236}">
                  <a16:creationId xmlns:a16="http://schemas.microsoft.com/office/drawing/2014/main" id="{3E38238A-A363-ED3A-F316-4DD4333A61BD}"/>
                </a:ext>
              </a:extLst>
            </p:cNvPr>
            <p:cNvSpPr/>
            <p:nvPr/>
          </p:nvSpPr>
          <p:spPr>
            <a:xfrm>
              <a:off x="2100782" y="4012967"/>
              <a:ext cx="653415" cy="930910"/>
            </a:xfrm>
            <a:custGeom>
              <a:avLst/>
              <a:gdLst/>
              <a:ahLst/>
              <a:cxnLst/>
              <a:rect l="l" t="t" r="r" b="b"/>
              <a:pathLst>
                <a:path w="653414" h="930910">
                  <a:moveTo>
                    <a:pt x="0" y="0"/>
                  </a:moveTo>
                  <a:lnTo>
                    <a:pt x="0" y="930852"/>
                  </a:lnTo>
                </a:path>
                <a:path w="653414" h="930910">
                  <a:moveTo>
                    <a:pt x="0" y="0"/>
                  </a:moveTo>
                  <a:lnTo>
                    <a:pt x="652824" y="0"/>
                  </a:lnTo>
                </a:path>
                <a:path w="653414" h="930910">
                  <a:moveTo>
                    <a:pt x="0" y="930804"/>
                  </a:moveTo>
                  <a:lnTo>
                    <a:pt x="652824" y="930804"/>
                  </a:lnTo>
                </a:path>
              </a:pathLst>
            </a:custGeom>
            <a:ln w="38099">
              <a:solidFill>
                <a:srgbClr val="000000"/>
              </a:solidFill>
            </a:ln>
          </p:spPr>
          <p:txBody>
            <a:bodyPr wrap="square" lIns="0" tIns="0" rIns="0" bIns="0" rtlCol="0"/>
            <a:lstStyle/>
            <a:p>
              <a:endParaRPr/>
            </a:p>
          </p:txBody>
        </p:sp>
        <p:sp>
          <p:nvSpPr>
            <p:cNvPr id="14" name="object 8">
              <a:extLst>
                <a:ext uri="{FF2B5EF4-FFF2-40B4-BE49-F238E27FC236}">
                  <a16:creationId xmlns:a16="http://schemas.microsoft.com/office/drawing/2014/main" id="{450D55F1-646F-F7BA-AA62-DE90E0D51ED2}"/>
                </a:ext>
              </a:extLst>
            </p:cNvPr>
            <p:cNvSpPr/>
            <p:nvPr/>
          </p:nvSpPr>
          <p:spPr>
            <a:xfrm>
              <a:off x="1643079" y="4197626"/>
              <a:ext cx="2029460" cy="536575"/>
            </a:xfrm>
            <a:custGeom>
              <a:avLst/>
              <a:gdLst/>
              <a:ahLst/>
              <a:cxnLst/>
              <a:rect l="l" t="t" r="r" b="b"/>
              <a:pathLst>
                <a:path w="2029460" h="536575">
                  <a:moveTo>
                    <a:pt x="1632722" y="243210"/>
                  </a:moveTo>
                  <a:lnTo>
                    <a:pt x="2028897" y="243210"/>
                  </a:lnTo>
                </a:path>
                <a:path w="2029460" h="536575">
                  <a:moveTo>
                    <a:pt x="0" y="532961"/>
                  </a:moveTo>
                  <a:lnTo>
                    <a:pt x="462251" y="536081"/>
                  </a:lnTo>
                </a:path>
                <a:path w="2029460" h="536575">
                  <a:moveTo>
                    <a:pt x="0" y="0"/>
                  </a:moveTo>
                  <a:lnTo>
                    <a:pt x="462251" y="3120"/>
                  </a:lnTo>
                </a:path>
              </a:pathLst>
            </a:custGeom>
            <a:ln w="28574">
              <a:solidFill>
                <a:srgbClr val="000000"/>
              </a:solidFill>
            </a:ln>
          </p:spPr>
          <p:txBody>
            <a:bodyPr wrap="square" lIns="0" tIns="0" rIns="0" bIns="0" rtlCol="0"/>
            <a:lstStyle/>
            <a:p>
              <a:endParaRPr/>
            </a:p>
          </p:txBody>
        </p:sp>
      </p:grpSp>
      <p:sp>
        <p:nvSpPr>
          <p:cNvPr id="15" name="object 9">
            <a:extLst>
              <a:ext uri="{FF2B5EF4-FFF2-40B4-BE49-F238E27FC236}">
                <a16:creationId xmlns:a16="http://schemas.microsoft.com/office/drawing/2014/main" id="{FE3793E7-EE0E-55C1-F7FD-B7EEB0DCF72F}"/>
              </a:ext>
            </a:extLst>
          </p:cNvPr>
          <p:cNvSpPr txBox="1"/>
          <p:nvPr/>
        </p:nvSpPr>
        <p:spPr>
          <a:xfrm>
            <a:off x="7285797" y="4282869"/>
            <a:ext cx="485775" cy="269240"/>
          </a:xfrm>
          <a:prstGeom prst="rect">
            <a:avLst/>
          </a:prstGeom>
        </p:spPr>
        <p:txBody>
          <a:bodyPr vert="horz" wrap="square" lIns="0" tIns="12700" rIns="0" bIns="0" rtlCol="0">
            <a:spAutoFit/>
          </a:bodyPr>
          <a:lstStyle/>
          <a:p>
            <a:pPr marL="12700">
              <a:spcBef>
                <a:spcPts val="100"/>
              </a:spcBef>
            </a:pPr>
            <a:r>
              <a:rPr sz="1600" b="1" spc="-25">
                <a:latin typeface="Courier New" panose="02070309020205020404" pitchFamily="49" charset="0"/>
                <a:cs typeface="Courier New" panose="02070309020205020404" pitchFamily="49" charset="0"/>
              </a:rPr>
              <a:t>AND</a:t>
            </a:r>
            <a:endParaRPr sz="1600" b="1">
              <a:latin typeface="Courier New" panose="02070309020205020404" pitchFamily="49" charset="0"/>
              <a:cs typeface="Courier New" panose="02070309020205020404" pitchFamily="49" charset="0"/>
            </a:endParaRPr>
          </a:p>
        </p:txBody>
      </p:sp>
      <p:sp>
        <p:nvSpPr>
          <p:cNvPr id="16" name="object 15">
            <a:extLst>
              <a:ext uri="{FF2B5EF4-FFF2-40B4-BE49-F238E27FC236}">
                <a16:creationId xmlns:a16="http://schemas.microsoft.com/office/drawing/2014/main" id="{75B815CB-C451-F50C-D31D-43C24759CA63}"/>
              </a:ext>
            </a:extLst>
          </p:cNvPr>
          <p:cNvSpPr txBox="1"/>
          <p:nvPr/>
        </p:nvSpPr>
        <p:spPr>
          <a:xfrm>
            <a:off x="6198117" y="3747603"/>
            <a:ext cx="248920" cy="1061766"/>
          </a:xfrm>
          <a:prstGeom prst="rect">
            <a:avLst/>
          </a:prstGeom>
        </p:spPr>
        <p:txBody>
          <a:bodyPr vert="horz" wrap="square" lIns="0" tIns="12700" rIns="0" bIns="0" rtlCol="0">
            <a:spAutoFit/>
          </a:bodyPr>
          <a:lstStyle/>
          <a:p>
            <a:pPr marL="28575" marR="5080" indent="-16510">
              <a:lnSpc>
                <a:spcPct val="148000"/>
              </a:lnSpc>
              <a:spcBef>
                <a:spcPts val="100"/>
              </a:spcBef>
            </a:pPr>
            <a:r>
              <a:rPr lang="en-US" sz="2400" b="1" spc="-50">
                <a:latin typeface="Courier New" panose="02070309020205020404" pitchFamily="49" charset="0"/>
                <a:cs typeface="Courier New" panose="02070309020205020404" pitchFamily="49" charset="0"/>
              </a:rPr>
              <a:t>X</a:t>
            </a:r>
            <a:r>
              <a:rPr sz="2400" b="1" spc="-50">
                <a:latin typeface="Courier New" panose="02070309020205020404" pitchFamily="49" charset="0"/>
                <a:cs typeface="Courier New" panose="02070309020205020404" pitchFamily="49" charset="0"/>
              </a:rPr>
              <a:t> </a:t>
            </a:r>
            <a:r>
              <a:rPr lang="en-US" sz="2400" b="1" spc="-50">
                <a:latin typeface="Courier New" panose="02070309020205020404" pitchFamily="49" charset="0"/>
                <a:cs typeface="Courier New" panose="02070309020205020404" pitchFamily="49" charset="0"/>
              </a:rPr>
              <a:t>Y</a:t>
            </a:r>
            <a:endParaRPr sz="2400" b="1">
              <a:latin typeface="Courier New" panose="02070309020205020404" pitchFamily="49" charset="0"/>
              <a:cs typeface="Courier New" panose="02070309020205020404" pitchFamily="49" charset="0"/>
            </a:endParaRPr>
          </a:p>
        </p:txBody>
      </p:sp>
      <p:sp>
        <p:nvSpPr>
          <p:cNvPr id="17" name="object 16">
            <a:extLst>
              <a:ext uri="{FF2B5EF4-FFF2-40B4-BE49-F238E27FC236}">
                <a16:creationId xmlns:a16="http://schemas.microsoft.com/office/drawing/2014/main" id="{DAD66798-6E56-D84D-9593-D44E067D8A16}"/>
              </a:ext>
            </a:extLst>
          </p:cNvPr>
          <p:cNvSpPr txBox="1"/>
          <p:nvPr/>
        </p:nvSpPr>
        <p:spPr>
          <a:xfrm>
            <a:off x="8578040" y="4120030"/>
            <a:ext cx="471843" cy="382156"/>
          </a:xfrm>
          <a:prstGeom prst="rect">
            <a:avLst/>
          </a:prstGeom>
        </p:spPr>
        <p:txBody>
          <a:bodyPr vert="horz" wrap="square" lIns="0" tIns="12700" rIns="0" bIns="0" rtlCol="0">
            <a:spAutoFit/>
          </a:bodyPr>
          <a:lstStyle/>
          <a:p>
            <a:pPr marL="12700">
              <a:spcBef>
                <a:spcPts val="100"/>
              </a:spcBef>
            </a:pPr>
            <a:r>
              <a:rPr lang="en-US" sz="2400" b="1" spc="-50">
                <a:latin typeface="Courier New" panose="02070309020205020404" pitchFamily="49" charset="0"/>
                <a:cs typeface="Courier New" panose="02070309020205020404" pitchFamily="49" charset="0"/>
              </a:rPr>
              <a:t>XY</a:t>
            </a:r>
            <a:endParaRPr sz="2400" b="1">
              <a:latin typeface="Courier New" panose="02070309020205020404" pitchFamily="49" charset="0"/>
              <a:cs typeface="Courier New" panose="02070309020205020404" pitchFamily="49" charset="0"/>
            </a:endParaRPr>
          </a:p>
        </p:txBody>
      </p:sp>
      <p:sp>
        <p:nvSpPr>
          <p:cNvPr id="21" name="Title 1">
            <a:extLst>
              <a:ext uri="{FF2B5EF4-FFF2-40B4-BE49-F238E27FC236}">
                <a16:creationId xmlns:a16="http://schemas.microsoft.com/office/drawing/2014/main" id="{C32FCB88-1EC6-4DF4-849E-A5A10259D836}"/>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878297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A91BF-D3C4-1C36-305B-F93EC0756A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7708B1-857C-A297-0674-712607972009}"/>
              </a:ext>
            </a:extLst>
          </p:cNvPr>
          <p:cNvSpPr>
            <a:spLocks noGrp="1"/>
          </p:cNvSpPr>
          <p:nvPr>
            <p:ph idx="1"/>
          </p:nvPr>
        </p:nvSpPr>
        <p:spPr>
          <a:xfrm>
            <a:off x="533401" y="1371607"/>
            <a:ext cx="1644016" cy="4876793"/>
          </a:xfrm>
        </p:spPr>
        <p:txBody>
          <a:bodyPr/>
          <a:lstStyle/>
          <a:p>
            <a:endParaRPr lang="en-US" altLang="en-US" sz="2600">
              <a:latin typeface="Arial" charset="0"/>
            </a:endParaRPr>
          </a:p>
          <a:p>
            <a:endParaRPr lang="en-US" altLang="en-US" sz="2600">
              <a:latin typeface="Arial" charset="0"/>
            </a:endParaRPr>
          </a:p>
          <a:p>
            <a:endParaRPr lang="en-US" altLang="en-US" sz="2600">
              <a:latin typeface="Arial" charset="0"/>
            </a:endParaRPr>
          </a:p>
          <a:p>
            <a:r>
              <a:rPr lang="en-US" altLang="en-US" sz="2600">
                <a:latin typeface="Arial" charset="0"/>
              </a:rPr>
              <a:t>0 + 0 = 0</a:t>
            </a:r>
          </a:p>
          <a:p>
            <a:r>
              <a:rPr lang="en-US" altLang="en-US" sz="2600">
                <a:latin typeface="Arial" charset="0"/>
              </a:rPr>
              <a:t>0 + 1 = 1</a:t>
            </a:r>
          </a:p>
          <a:p>
            <a:r>
              <a:rPr lang="en-US" altLang="en-US" sz="2600">
                <a:latin typeface="Arial" charset="0"/>
              </a:rPr>
              <a:t>1 + 0 = 1</a:t>
            </a:r>
          </a:p>
          <a:p>
            <a:r>
              <a:rPr lang="en-US" altLang="en-US" sz="2600">
                <a:latin typeface="Arial" charset="0"/>
              </a:rPr>
              <a:t>1 + 1 = 1</a:t>
            </a:r>
          </a:p>
        </p:txBody>
      </p:sp>
      <p:sp>
        <p:nvSpPr>
          <p:cNvPr id="4" name="Content Placeholder 2">
            <a:extLst>
              <a:ext uri="{FF2B5EF4-FFF2-40B4-BE49-F238E27FC236}">
                <a16:creationId xmlns:a16="http://schemas.microsoft.com/office/drawing/2014/main" id="{4883E3A8-199A-2498-CFF2-EBA970A3802D}"/>
              </a:ext>
            </a:extLst>
          </p:cNvPr>
          <p:cNvSpPr txBox="1">
            <a:spLocks/>
          </p:cNvSpPr>
          <p:nvPr/>
        </p:nvSpPr>
        <p:spPr>
          <a:xfrm>
            <a:off x="6858001" y="1371607"/>
            <a:ext cx="1644016" cy="4876793"/>
          </a:xfrm>
          <a:prstGeom prst="rect">
            <a:avLst/>
          </a:prstGeom>
        </p:spPr>
        <p:txBody>
          <a:bodyPr/>
          <a:lstStyle>
            <a:lvl1pPr marL="0" indent="0" algn="l" defTabSz="914377" rtl="0" eaLnBrk="1" latinLnBrk="0" hangingPunct="1">
              <a:spcBef>
                <a:spcPct val="20000"/>
              </a:spcBef>
              <a:buClr>
                <a:schemeClr val="accent1"/>
              </a:buClr>
              <a:buFont typeface="Wingdings" pitchFamily="2" charset="2"/>
              <a:buNone/>
              <a:defRPr sz="3200" kern="1200">
                <a:solidFill>
                  <a:schemeClr val="tx1"/>
                </a:solidFill>
                <a:latin typeface="+mn-lt"/>
                <a:ea typeface="+mn-ea"/>
                <a:cs typeface="Arial"/>
              </a:defRPr>
            </a:lvl1pPr>
            <a:lvl2pPr marL="411470" indent="0" algn="l" defTabSz="914377" rtl="0" eaLnBrk="1" latinLnBrk="0" hangingPunct="1">
              <a:spcBef>
                <a:spcPct val="20000"/>
              </a:spcBef>
              <a:buClr>
                <a:schemeClr val="accent1"/>
              </a:buClr>
              <a:buFont typeface="Wingdings" pitchFamily="2" charset="2"/>
              <a:buNone/>
              <a:defRPr sz="2400" kern="1200">
                <a:solidFill>
                  <a:schemeClr val="tx1">
                    <a:lumMod val="85000"/>
                    <a:lumOff val="15000"/>
                  </a:schemeClr>
                </a:solidFill>
                <a:latin typeface="+mn-lt"/>
                <a:ea typeface="+mn-ea"/>
                <a:cs typeface="Arial"/>
              </a:defRPr>
            </a:lvl2pPr>
            <a:lvl3pPr marL="777221" indent="0" algn="l" defTabSz="914377" rtl="0" eaLnBrk="1" latinLnBrk="0" hangingPunct="1">
              <a:spcBef>
                <a:spcPct val="20000"/>
              </a:spcBef>
              <a:buClr>
                <a:schemeClr val="accent1"/>
              </a:buClr>
              <a:buFont typeface="Wingdings" pitchFamily="2" charset="2"/>
              <a:buNone/>
              <a:defRPr sz="2200" kern="1200">
                <a:solidFill>
                  <a:schemeClr val="tx1">
                    <a:lumMod val="85000"/>
                    <a:lumOff val="15000"/>
                  </a:schemeClr>
                </a:solidFill>
                <a:latin typeface="+mn-lt"/>
                <a:ea typeface="+mn-ea"/>
                <a:cs typeface="Arial"/>
              </a:defRPr>
            </a:lvl3pPr>
            <a:lvl4pPr marL="1188690" indent="0" algn="l" defTabSz="914377" rtl="0" eaLnBrk="1" latinLnBrk="0" hangingPunct="1">
              <a:spcBef>
                <a:spcPct val="20000"/>
              </a:spcBef>
              <a:buClr>
                <a:schemeClr val="accent1"/>
              </a:buClr>
              <a:buFont typeface="Wingdings" pitchFamily="2" charset="2"/>
              <a:buNone/>
              <a:defRPr sz="1800" kern="1200">
                <a:solidFill>
                  <a:schemeClr val="tx1">
                    <a:lumMod val="85000"/>
                    <a:lumOff val="15000"/>
                  </a:schemeClr>
                </a:solidFill>
                <a:latin typeface="Arial"/>
                <a:ea typeface="+mn-ea"/>
                <a:cs typeface="Arial"/>
              </a:defRPr>
            </a:lvl4pPr>
            <a:lvl5pPr marL="1508722" indent="0" algn="l" defTabSz="914377" rtl="0" eaLnBrk="1" latinLnBrk="0" hangingPunct="1">
              <a:spcBef>
                <a:spcPct val="20000"/>
              </a:spcBef>
              <a:buClr>
                <a:schemeClr val="accent1"/>
              </a:buClr>
              <a:buFont typeface="Wingdings" pitchFamily="2" charset="2"/>
              <a:buNone/>
              <a:defRPr sz="1600" kern="1200">
                <a:solidFill>
                  <a:schemeClr val="tx1">
                    <a:lumMod val="85000"/>
                    <a:lumOff val="15000"/>
                  </a:schemeClr>
                </a:solidFill>
                <a:latin typeface="Arial"/>
                <a:ea typeface="+mn-ea"/>
                <a:cs typeface="Arial"/>
              </a:defRPr>
            </a:lvl5pPr>
            <a:lvl6pPr marL="2148786"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18"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850"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882"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endParaRPr lang="en-US" altLang="en-US" sz="2600">
              <a:latin typeface="Arial" charset="0"/>
            </a:endParaRPr>
          </a:p>
          <a:p>
            <a:endParaRPr lang="en-US" altLang="en-US" sz="2600">
              <a:latin typeface="Arial" charset="0"/>
            </a:endParaRPr>
          </a:p>
          <a:p>
            <a:endParaRPr lang="en-US" altLang="en-US" sz="2600">
              <a:latin typeface="Arial" charset="0"/>
            </a:endParaRPr>
          </a:p>
          <a:p>
            <a:r>
              <a:rPr lang="en-US" altLang="en-US" sz="2600">
                <a:latin typeface="Arial" charset="0"/>
              </a:rPr>
              <a:t>0 * 0 = 0</a:t>
            </a:r>
          </a:p>
          <a:p>
            <a:r>
              <a:rPr lang="en-US" altLang="en-US" sz="2600">
                <a:latin typeface="Arial" charset="0"/>
              </a:rPr>
              <a:t>0 * 1 = 0</a:t>
            </a:r>
          </a:p>
          <a:p>
            <a:r>
              <a:rPr lang="en-US" altLang="en-US" sz="2600">
                <a:latin typeface="Arial" charset="0"/>
              </a:rPr>
              <a:t>1 * 0 = 0</a:t>
            </a:r>
          </a:p>
          <a:p>
            <a:r>
              <a:rPr lang="en-US" altLang="en-US" sz="2600">
                <a:latin typeface="Arial" charset="0"/>
              </a:rPr>
              <a:t>1 * 1 = 1</a:t>
            </a:r>
          </a:p>
        </p:txBody>
      </p:sp>
      <p:sp>
        <p:nvSpPr>
          <p:cNvPr id="7" name="Content Placeholder 2">
            <a:extLst>
              <a:ext uri="{FF2B5EF4-FFF2-40B4-BE49-F238E27FC236}">
                <a16:creationId xmlns:a16="http://schemas.microsoft.com/office/drawing/2014/main" id="{88255769-3A3B-8CC5-42CB-C813E3733A9D}"/>
              </a:ext>
            </a:extLst>
          </p:cNvPr>
          <p:cNvSpPr txBox="1">
            <a:spLocks/>
          </p:cNvSpPr>
          <p:nvPr/>
        </p:nvSpPr>
        <p:spPr>
          <a:xfrm>
            <a:off x="796609" y="5041757"/>
            <a:ext cx="4953000" cy="1371600"/>
          </a:xfrm>
          <a:prstGeom prst="rect">
            <a:avLst/>
          </a:prstGeom>
        </p:spPr>
        <p:txBody>
          <a:bodyPr lIns="91440" tIns="45720" rIns="91440" bIns="45720" anchor="t"/>
          <a:lstStyle>
            <a:lvl1pPr marL="0" indent="0" algn="l" defTabSz="914377" rtl="0" eaLnBrk="1" latinLnBrk="0" hangingPunct="1">
              <a:spcBef>
                <a:spcPct val="20000"/>
              </a:spcBef>
              <a:buClr>
                <a:schemeClr val="accent1"/>
              </a:buClr>
              <a:buFont typeface="Wingdings" pitchFamily="2" charset="2"/>
              <a:buNone/>
              <a:defRPr sz="3200" kern="1200">
                <a:solidFill>
                  <a:schemeClr val="tx1"/>
                </a:solidFill>
                <a:latin typeface="+mn-lt"/>
                <a:ea typeface="+mn-ea"/>
                <a:cs typeface="Arial"/>
              </a:defRPr>
            </a:lvl1pPr>
            <a:lvl2pPr marL="411470" indent="0" algn="l" defTabSz="914377" rtl="0" eaLnBrk="1" latinLnBrk="0" hangingPunct="1">
              <a:spcBef>
                <a:spcPct val="20000"/>
              </a:spcBef>
              <a:buClr>
                <a:schemeClr val="accent1"/>
              </a:buClr>
              <a:buFont typeface="Wingdings" pitchFamily="2" charset="2"/>
              <a:buNone/>
              <a:defRPr sz="2400" kern="1200">
                <a:solidFill>
                  <a:schemeClr val="tx1">
                    <a:lumMod val="85000"/>
                    <a:lumOff val="15000"/>
                  </a:schemeClr>
                </a:solidFill>
                <a:latin typeface="+mn-lt"/>
                <a:ea typeface="+mn-ea"/>
                <a:cs typeface="Arial"/>
              </a:defRPr>
            </a:lvl2pPr>
            <a:lvl3pPr marL="777221" indent="0" algn="l" defTabSz="914377" rtl="0" eaLnBrk="1" latinLnBrk="0" hangingPunct="1">
              <a:spcBef>
                <a:spcPct val="20000"/>
              </a:spcBef>
              <a:buClr>
                <a:schemeClr val="accent1"/>
              </a:buClr>
              <a:buFont typeface="Wingdings" pitchFamily="2" charset="2"/>
              <a:buNone/>
              <a:defRPr sz="2200" kern="1200">
                <a:solidFill>
                  <a:schemeClr val="tx1">
                    <a:lumMod val="85000"/>
                    <a:lumOff val="15000"/>
                  </a:schemeClr>
                </a:solidFill>
                <a:latin typeface="+mn-lt"/>
                <a:ea typeface="+mn-ea"/>
                <a:cs typeface="Arial"/>
              </a:defRPr>
            </a:lvl3pPr>
            <a:lvl4pPr marL="1188690" indent="0" algn="l" defTabSz="914377" rtl="0" eaLnBrk="1" latinLnBrk="0" hangingPunct="1">
              <a:spcBef>
                <a:spcPct val="20000"/>
              </a:spcBef>
              <a:buClr>
                <a:schemeClr val="accent1"/>
              </a:buClr>
              <a:buFont typeface="Wingdings" pitchFamily="2" charset="2"/>
              <a:buNone/>
              <a:defRPr sz="1800" kern="1200">
                <a:solidFill>
                  <a:schemeClr val="tx1">
                    <a:lumMod val="85000"/>
                    <a:lumOff val="15000"/>
                  </a:schemeClr>
                </a:solidFill>
                <a:latin typeface="Arial"/>
                <a:ea typeface="+mn-ea"/>
                <a:cs typeface="Arial"/>
              </a:defRPr>
            </a:lvl4pPr>
            <a:lvl5pPr marL="1508722" indent="0" algn="l" defTabSz="914377" rtl="0" eaLnBrk="1" latinLnBrk="0" hangingPunct="1">
              <a:spcBef>
                <a:spcPct val="20000"/>
              </a:spcBef>
              <a:buClr>
                <a:schemeClr val="accent1"/>
              </a:buClr>
              <a:buFont typeface="Wingdings" pitchFamily="2" charset="2"/>
              <a:buNone/>
              <a:defRPr sz="1600" kern="1200">
                <a:solidFill>
                  <a:schemeClr val="tx1">
                    <a:lumMod val="85000"/>
                    <a:lumOff val="15000"/>
                  </a:schemeClr>
                </a:solidFill>
                <a:latin typeface="Arial"/>
                <a:ea typeface="+mn-ea"/>
                <a:cs typeface="Arial"/>
              </a:defRPr>
            </a:lvl5pPr>
            <a:lvl6pPr marL="2148786"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18"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850"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882"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a:spcBef>
                <a:spcPct val="40000"/>
              </a:spcBef>
            </a:pPr>
            <a:r>
              <a:rPr lang="en-US" altLang="en-US" sz="2600">
                <a:latin typeface="Aptos"/>
              </a:rPr>
              <a:t>The OR operator is the Boolean sum.</a:t>
            </a:r>
            <a:endParaRPr lang="en-US">
              <a:solidFill>
                <a:srgbClr val="262626"/>
              </a:solidFill>
              <a:latin typeface="Aptos"/>
            </a:endParaRPr>
          </a:p>
          <a:p>
            <a:pPr>
              <a:spcBef>
                <a:spcPct val="40000"/>
              </a:spcBef>
            </a:pPr>
            <a:r>
              <a:rPr lang="en-US" altLang="en-US" sz="2200">
                <a:solidFill>
                  <a:srgbClr val="262626"/>
                </a:solidFill>
                <a:latin typeface="Aptos"/>
              </a:rPr>
              <a:t>Operators: +, |</a:t>
            </a:r>
            <a:endParaRPr lang="en-US">
              <a:solidFill>
                <a:srgbClr val="262626"/>
              </a:solidFill>
              <a:latin typeface="Aptos"/>
            </a:endParaRPr>
          </a:p>
        </p:txBody>
      </p:sp>
      <p:sp>
        <p:nvSpPr>
          <p:cNvPr id="8" name="Content Placeholder 2">
            <a:extLst>
              <a:ext uri="{FF2B5EF4-FFF2-40B4-BE49-F238E27FC236}">
                <a16:creationId xmlns:a16="http://schemas.microsoft.com/office/drawing/2014/main" id="{C2E7DC63-36E1-DA61-0F92-369770A2B423}"/>
              </a:ext>
            </a:extLst>
          </p:cNvPr>
          <p:cNvSpPr txBox="1">
            <a:spLocks/>
          </p:cNvSpPr>
          <p:nvPr/>
        </p:nvSpPr>
        <p:spPr>
          <a:xfrm>
            <a:off x="6442394" y="5041757"/>
            <a:ext cx="5524890" cy="1371600"/>
          </a:xfrm>
          <a:prstGeom prst="rect">
            <a:avLst/>
          </a:prstGeom>
        </p:spPr>
        <p:txBody>
          <a:bodyPr lIns="91440" tIns="45720" rIns="91440" bIns="45720" anchor="t"/>
          <a:lstStyle>
            <a:lvl1pPr marL="0" indent="0" algn="l" defTabSz="914377" rtl="0" eaLnBrk="1" latinLnBrk="0" hangingPunct="1">
              <a:spcBef>
                <a:spcPct val="20000"/>
              </a:spcBef>
              <a:buClr>
                <a:schemeClr val="accent1"/>
              </a:buClr>
              <a:buFont typeface="Wingdings" pitchFamily="2" charset="2"/>
              <a:buNone/>
              <a:defRPr sz="3200" kern="1200">
                <a:solidFill>
                  <a:schemeClr val="tx1"/>
                </a:solidFill>
                <a:latin typeface="+mn-lt"/>
                <a:ea typeface="+mn-ea"/>
                <a:cs typeface="Arial"/>
              </a:defRPr>
            </a:lvl1pPr>
            <a:lvl2pPr marL="411470" indent="0" algn="l" defTabSz="914377" rtl="0" eaLnBrk="1" latinLnBrk="0" hangingPunct="1">
              <a:spcBef>
                <a:spcPct val="20000"/>
              </a:spcBef>
              <a:buClr>
                <a:schemeClr val="accent1"/>
              </a:buClr>
              <a:buFont typeface="Wingdings" pitchFamily="2" charset="2"/>
              <a:buNone/>
              <a:defRPr sz="2400" kern="1200">
                <a:solidFill>
                  <a:schemeClr val="tx1">
                    <a:lumMod val="85000"/>
                    <a:lumOff val="15000"/>
                  </a:schemeClr>
                </a:solidFill>
                <a:latin typeface="+mn-lt"/>
                <a:ea typeface="+mn-ea"/>
                <a:cs typeface="Arial"/>
              </a:defRPr>
            </a:lvl2pPr>
            <a:lvl3pPr marL="777221" indent="0" algn="l" defTabSz="914377" rtl="0" eaLnBrk="1" latinLnBrk="0" hangingPunct="1">
              <a:spcBef>
                <a:spcPct val="20000"/>
              </a:spcBef>
              <a:buClr>
                <a:schemeClr val="accent1"/>
              </a:buClr>
              <a:buFont typeface="Wingdings" pitchFamily="2" charset="2"/>
              <a:buNone/>
              <a:defRPr sz="2200" kern="1200">
                <a:solidFill>
                  <a:schemeClr val="tx1">
                    <a:lumMod val="85000"/>
                    <a:lumOff val="15000"/>
                  </a:schemeClr>
                </a:solidFill>
                <a:latin typeface="+mn-lt"/>
                <a:ea typeface="+mn-ea"/>
                <a:cs typeface="Arial"/>
              </a:defRPr>
            </a:lvl3pPr>
            <a:lvl4pPr marL="1188690" indent="0" algn="l" defTabSz="914377" rtl="0" eaLnBrk="1" latinLnBrk="0" hangingPunct="1">
              <a:spcBef>
                <a:spcPct val="20000"/>
              </a:spcBef>
              <a:buClr>
                <a:schemeClr val="accent1"/>
              </a:buClr>
              <a:buFont typeface="Wingdings" pitchFamily="2" charset="2"/>
              <a:buNone/>
              <a:defRPr sz="1800" kern="1200">
                <a:solidFill>
                  <a:schemeClr val="tx1">
                    <a:lumMod val="85000"/>
                    <a:lumOff val="15000"/>
                  </a:schemeClr>
                </a:solidFill>
                <a:latin typeface="Arial"/>
                <a:ea typeface="+mn-ea"/>
                <a:cs typeface="Arial"/>
              </a:defRPr>
            </a:lvl4pPr>
            <a:lvl5pPr marL="1508722" indent="0" algn="l" defTabSz="914377" rtl="0" eaLnBrk="1" latinLnBrk="0" hangingPunct="1">
              <a:spcBef>
                <a:spcPct val="20000"/>
              </a:spcBef>
              <a:buClr>
                <a:schemeClr val="accent1"/>
              </a:buClr>
              <a:buFont typeface="Wingdings" pitchFamily="2" charset="2"/>
              <a:buNone/>
              <a:defRPr sz="1600" kern="1200">
                <a:solidFill>
                  <a:schemeClr val="tx1">
                    <a:lumMod val="85000"/>
                    <a:lumOff val="15000"/>
                  </a:schemeClr>
                </a:solidFill>
                <a:latin typeface="Arial"/>
                <a:ea typeface="+mn-ea"/>
                <a:cs typeface="Arial"/>
              </a:defRPr>
            </a:lvl5pPr>
            <a:lvl6pPr marL="2148786"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18"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850"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882" indent="-274313" algn="l" defTabSz="914377"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a:spcBef>
                <a:spcPct val="40000"/>
              </a:spcBef>
            </a:pPr>
            <a:r>
              <a:rPr lang="en-US" altLang="en-US" sz="2600"/>
              <a:t>The AND operator is also known as a Boolean product.</a:t>
            </a:r>
            <a:endParaRPr lang="en-US"/>
          </a:p>
          <a:p>
            <a:pPr>
              <a:spcBef>
                <a:spcPct val="40000"/>
              </a:spcBef>
            </a:pPr>
            <a:r>
              <a:rPr lang="en-US" altLang="en-US" sz="2200"/>
              <a:t>Operators: *, ­&amp;, ·</a:t>
            </a:r>
            <a:endParaRPr lang="en-US">
              <a:ea typeface="Calibri"/>
            </a:endParaRPr>
          </a:p>
        </p:txBody>
      </p:sp>
      <p:graphicFrame>
        <p:nvGraphicFramePr>
          <p:cNvPr id="9" name="Table 8">
            <a:extLst>
              <a:ext uri="{FF2B5EF4-FFF2-40B4-BE49-F238E27FC236}">
                <a16:creationId xmlns:a16="http://schemas.microsoft.com/office/drawing/2014/main" id="{54D628EB-FD5F-673A-D4A9-1CEBA06DA18C}"/>
              </a:ext>
            </a:extLst>
          </p:cNvPr>
          <p:cNvGraphicFramePr>
            <a:graphicFrameLocks noGrp="1"/>
          </p:cNvGraphicFramePr>
          <p:nvPr>
            <p:extLst>
              <p:ext uri="{D42A27DB-BD31-4B8C-83A1-F6EECF244321}">
                <p14:modId xmlns:p14="http://schemas.microsoft.com/office/powerpoint/2010/main" val="1344674180"/>
              </p:ext>
            </p:extLst>
          </p:nvPr>
        </p:nvGraphicFramePr>
        <p:xfrm>
          <a:off x="8343917" y="1913238"/>
          <a:ext cx="2009140" cy="2743200"/>
        </p:xfrm>
        <a:graphic>
          <a:graphicData uri="http://schemas.openxmlformats.org/drawingml/2006/table">
            <a:tbl>
              <a:tblPr firstRow="1" bandRow="1">
                <a:tableStyleId>{073A0DAA-6AF3-43AB-8588-CEC1D06C72B9}</a:tableStyleId>
              </a:tblPr>
              <a:tblGrid>
                <a:gridCol w="548005">
                  <a:extLst>
                    <a:ext uri="{9D8B030D-6E8A-4147-A177-3AD203B41FA5}">
                      <a16:colId xmlns:a16="http://schemas.microsoft.com/office/drawing/2014/main" val="2780462019"/>
                    </a:ext>
                  </a:extLst>
                </a:gridCol>
                <a:gridCol w="548005">
                  <a:extLst>
                    <a:ext uri="{9D8B030D-6E8A-4147-A177-3AD203B41FA5}">
                      <a16:colId xmlns:a16="http://schemas.microsoft.com/office/drawing/2014/main" val="1155341415"/>
                    </a:ext>
                  </a:extLst>
                </a:gridCol>
                <a:gridCol w="913130">
                  <a:extLst>
                    <a:ext uri="{9D8B030D-6E8A-4147-A177-3AD203B41FA5}">
                      <a16:colId xmlns:a16="http://schemas.microsoft.com/office/drawing/2014/main" val="1443851111"/>
                    </a:ext>
                  </a:extLst>
                </a:gridCol>
              </a:tblGrid>
              <a:tr h="370840">
                <a:tc gridSpan="3">
                  <a:txBody>
                    <a:bodyPr/>
                    <a:lstStyle/>
                    <a:p>
                      <a:pPr algn="ctr"/>
                      <a:r>
                        <a:rPr lang="en-US" sz="2400"/>
                        <a:t>X AND Y</a:t>
                      </a:r>
                    </a:p>
                  </a:txBody>
                  <a:tcPr/>
                </a:tc>
                <a:tc hMerge="1">
                  <a:txBody>
                    <a:bodyPr/>
                    <a:lstStyle/>
                    <a:p>
                      <a:pPr algn="ctr"/>
                      <a:endParaRPr lang="en-US" sz="2400" b="1">
                        <a:latin typeface="Courier New" panose="02070309020205020404" pitchFamily="49" charset="0"/>
                        <a:cs typeface="Courier New" panose="02070309020205020404" pitchFamily="49" charset="0"/>
                      </a:endParaRPr>
                    </a:p>
                  </a:txBody>
                  <a:tcPr marL="0" marR="0" marT="0" marB="0" horzOverflow="overflow"/>
                </a:tc>
                <a:tc hMerge="1">
                  <a:txBody>
                    <a:bodyPr/>
                    <a:lstStyle/>
                    <a:p>
                      <a:pPr algn="ctr"/>
                      <a:endParaRPr lang="en-US" sz="2400" b="1">
                        <a:latin typeface="Courier New" panose="02070309020205020404" pitchFamily="49" charset="0"/>
                        <a:cs typeface="Courier New" panose="02070309020205020404" pitchFamily="49" charset="0"/>
                      </a:endParaRPr>
                    </a:p>
                  </a:txBody>
                  <a:tcPr marL="0" marR="0" marT="0" marB="0" horzOverflow="overflow"/>
                </a:tc>
                <a:extLst>
                  <a:ext uri="{0D108BD9-81ED-4DB2-BD59-A6C34878D82A}">
                    <a16:rowId xmlns:a16="http://schemas.microsoft.com/office/drawing/2014/main" val="1115266922"/>
                  </a:ext>
                </a:extLst>
              </a:tr>
              <a:tr h="370840">
                <a:tc>
                  <a:txBody>
                    <a:bodyPr/>
                    <a:lstStyle/>
                    <a:p>
                      <a:pPr algn="ctr"/>
                      <a:r>
                        <a:rPr lang="en-US" sz="2400"/>
                        <a:t>X</a:t>
                      </a:r>
                    </a:p>
                  </a:txBody>
                  <a:tcPr/>
                </a:tc>
                <a:tc>
                  <a:txBody>
                    <a:bodyPr/>
                    <a:lstStyle/>
                    <a:p>
                      <a:pPr algn="ctr"/>
                      <a:r>
                        <a:rPr lang="en-US" sz="2400"/>
                        <a:t>Y</a:t>
                      </a:r>
                    </a:p>
                  </a:txBody>
                  <a:tcPr/>
                </a:tc>
                <a:tc>
                  <a:txBody>
                    <a:bodyPr/>
                    <a:lstStyle/>
                    <a:p>
                      <a:pPr algn="ctr"/>
                      <a:r>
                        <a:rPr lang="en-US" sz="2400"/>
                        <a:t>XY</a:t>
                      </a:r>
                    </a:p>
                  </a:txBody>
                  <a:tcPr/>
                </a:tc>
                <a:extLst>
                  <a:ext uri="{0D108BD9-81ED-4DB2-BD59-A6C34878D82A}">
                    <a16:rowId xmlns:a16="http://schemas.microsoft.com/office/drawing/2014/main" val="2763696928"/>
                  </a:ext>
                </a:extLst>
              </a:tr>
              <a:tr h="370840">
                <a:tc>
                  <a:txBody>
                    <a:bodyPr/>
                    <a:lstStyle/>
                    <a:p>
                      <a:pPr algn="ctr"/>
                      <a:r>
                        <a:rPr lang="en-US" sz="2400"/>
                        <a:t>0</a:t>
                      </a:r>
                    </a:p>
                  </a:txBody>
                  <a:tcPr/>
                </a:tc>
                <a:tc>
                  <a:txBody>
                    <a:bodyPr/>
                    <a:lstStyle/>
                    <a:p>
                      <a:pPr algn="ctr"/>
                      <a:r>
                        <a:rPr lang="en-US" sz="2400"/>
                        <a:t>0</a:t>
                      </a:r>
                    </a:p>
                  </a:txBody>
                  <a:tcPr/>
                </a:tc>
                <a:tc>
                  <a:txBody>
                    <a:bodyPr/>
                    <a:lstStyle/>
                    <a:p>
                      <a:pPr algn="ctr"/>
                      <a:r>
                        <a:rPr lang="en-US" sz="2400"/>
                        <a:t>0</a:t>
                      </a:r>
                    </a:p>
                  </a:txBody>
                  <a:tcPr/>
                </a:tc>
                <a:extLst>
                  <a:ext uri="{0D108BD9-81ED-4DB2-BD59-A6C34878D82A}">
                    <a16:rowId xmlns:a16="http://schemas.microsoft.com/office/drawing/2014/main" val="1033269395"/>
                  </a:ext>
                </a:extLst>
              </a:tr>
              <a:tr h="370840">
                <a:tc>
                  <a:txBody>
                    <a:bodyPr/>
                    <a:lstStyle/>
                    <a:p>
                      <a:pPr algn="ctr"/>
                      <a:r>
                        <a:rPr lang="en-US" sz="2400"/>
                        <a:t>0</a:t>
                      </a:r>
                    </a:p>
                  </a:txBody>
                  <a:tcPr/>
                </a:tc>
                <a:tc>
                  <a:txBody>
                    <a:bodyPr/>
                    <a:lstStyle/>
                    <a:p>
                      <a:pPr algn="ctr"/>
                      <a:r>
                        <a:rPr lang="en-US" sz="2400"/>
                        <a:t>1</a:t>
                      </a:r>
                    </a:p>
                  </a:txBody>
                  <a:tcPr/>
                </a:tc>
                <a:tc>
                  <a:txBody>
                    <a:bodyPr/>
                    <a:lstStyle/>
                    <a:p>
                      <a:pPr algn="ctr"/>
                      <a:r>
                        <a:rPr lang="en-US" sz="2400"/>
                        <a:t>0</a:t>
                      </a:r>
                    </a:p>
                  </a:txBody>
                  <a:tcPr/>
                </a:tc>
                <a:extLst>
                  <a:ext uri="{0D108BD9-81ED-4DB2-BD59-A6C34878D82A}">
                    <a16:rowId xmlns:a16="http://schemas.microsoft.com/office/drawing/2014/main" val="2600521341"/>
                  </a:ext>
                </a:extLst>
              </a:tr>
              <a:tr h="370840">
                <a:tc>
                  <a:txBody>
                    <a:bodyPr/>
                    <a:lstStyle/>
                    <a:p>
                      <a:pPr algn="ctr"/>
                      <a:r>
                        <a:rPr lang="en-US" sz="2400"/>
                        <a:t>1</a:t>
                      </a:r>
                    </a:p>
                  </a:txBody>
                  <a:tcPr/>
                </a:tc>
                <a:tc>
                  <a:txBody>
                    <a:bodyPr/>
                    <a:lstStyle/>
                    <a:p>
                      <a:pPr algn="ctr"/>
                      <a:r>
                        <a:rPr lang="en-US" sz="2400"/>
                        <a:t>0</a:t>
                      </a:r>
                    </a:p>
                  </a:txBody>
                  <a:tcPr/>
                </a:tc>
                <a:tc>
                  <a:txBody>
                    <a:bodyPr/>
                    <a:lstStyle/>
                    <a:p>
                      <a:pPr algn="ctr"/>
                      <a:r>
                        <a:rPr lang="en-US" sz="2400"/>
                        <a:t>0</a:t>
                      </a:r>
                    </a:p>
                  </a:txBody>
                  <a:tcPr/>
                </a:tc>
                <a:extLst>
                  <a:ext uri="{0D108BD9-81ED-4DB2-BD59-A6C34878D82A}">
                    <a16:rowId xmlns:a16="http://schemas.microsoft.com/office/drawing/2014/main" val="1802581302"/>
                  </a:ext>
                </a:extLst>
              </a:tr>
              <a:tr h="370840">
                <a:tc>
                  <a:txBody>
                    <a:bodyPr/>
                    <a:lstStyle/>
                    <a:p>
                      <a:pPr algn="ctr"/>
                      <a:r>
                        <a:rPr lang="en-US" sz="2400"/>
                        <a:t>1</a:t>
                      </a:r>
                    </a:p>
                  </a:txBody>
                  <a:tcPr/>
                </a:tc>
                <a:tc>
                  <a:txBody>
                    <a:bodyPr/>
                    <a:lstStyle/>
                    <a:p>
                      <a:pPr algn="ctr"/>
                      <a:r>
                        <a:rPr lang="en-US" sz="2400"/>
                        <a:t>1</a:t>
                      </a:r>
                    </a:p>
                  </a:txBody>
                  <a:tcPr/>
                </a:tc>
                <a:tc>
                  <a:txBody>
                    <a:bodyPr/>
                    <a:lstStyle/>
                    <a:p>
                      <a:pPr algn="ctr"/>
                      <a:r>
                        <a:rPr lang="en-US" sz="2400"/>
                        <a:t>1</a:t>
                      </a:r>
                    </a:p>
                  </a:txBody>
                  <a:tcPr/>
                </a:tc>
                <a:extLst>
                  <a:ext uri="{0D108BD9-81ED-4DB2-BD59-A6C34878D82A}">
                    <a16:rowId xmlns:a16="http://schemas.microsoft.com/office/drawing/2014/main" val="3165771403"/>
                  </a:ext>
                </a:extLst>
              </a:tr>
            </a:tbl>
          </a:graphicData>
        </a:graphic>
      </p:graphicFrame>
      <p:graphicFrame>
        <p:nvGraphicFramePr>
          <p:cNvPr id="10" name="Table 9">
            <a:extLst>
              <a:ext uri="{FF2B5EF4-FFF2-40B4-BE49-F238E27FC236}">
                <a16:creationId xmlns:a16="http://schemas.microsoft.com/office/drawing/2014/main" id="{E15FFBF8-7552-B8B2-37F5-D115079CCC71}"/>
              </a:ext>
            </a:extLst>
          </p:cNvPr>
          <p:cNvGraphicFramePr>
            <a:graphicFrameLocks noGrp="1"/>
          </p:cNvGraphicFramePr>
          <p:nvPr>
            <p:extLst>
              <p:ext uri="{D42A27DB-BD31-4B8C-83A1-F6EECF244321}">
                <p14:modId xmlns:p14="http://schemas.microsoft.com/office/powerpoint/2010/main" val="3731087469"/>
              </p:ext>
            </p:extLst>
          </p:nvPr>
        </p:nvGraphicFramePr>
        <p:xfrm>
          <a:off x="2169179" y="1913238"/>
          <a:ext cx="2009140" cy="2743200"/>
        </p:xfrm>
        <a:graphic>
          <a:graphicData uri="http://schemas.openxmlformats.org/drawingml/2006/table">
            <a:tbl>
              <a:tblPr firstRow="1" bandRow="1">
                <a:tableStyleId>{073A0DAA-6AF3-43AB-8588-CEC1D06C72B9}</a:tableStyleId>
              </a:tblPr>
              <a:tblGrid>
                <a:gridCol w="548005">
                  <a:extLst>
                    <a:ext uri="{9D8B030D-6E8A-4147-A177-3AD203B41FA5}">
                      <a16:colId xmlns:a16="http://schemas.microsoft.com/office/drawing/2014/main" val="2780462019"/>
                    </a:ext>
                  </a:extLst>
                </a:gridCol>
                <a:gridCol w="548005">
                  <a:extLst>
                    <a:ext uri="{9D8B030D-6E8A-4147-A177-3AD203B41FA5}">
                      <a16:colId xmlns:a16="http://schemas.microsoft.com/office/drawing/2014/main" val="1155341415"/>
                    </a:ext>
                  </a:extLst>
                </a:gridCol>
                <a:gridCol w="913130">
                  <a:extLst>
                    <a:ext uri="{9D8B030D-6E8A-4147-A177-3AD203B41FA5}">
                      <a16:colId xmlns:a16="http://schemas.microsoft.com/office/drawing/2014/main" val="1443851111"/>
                    </a:ext>
                  </a:extLst>
                </a:gridCol>
              </a:tblGrid>
              <a:tr h="370840">
                <a:tc gridSpan="3">
                  <a:txBody>
                    <a:bodyPr/>
                    <a:lstStyle/>
                    <a:p>
                      <a:pPr algn="ctr"/>
                      <a:r>
                        <a:rPr lang="en-US" sz="2400"/>
                        <a:t>X OR Y</a:t>
                      </a:r>
                    </a:p>
                  </a:txBody>
                  <a:tcPr/>
                </a:tc>
                <a:tc hMerge="1">
                  <a:txBody>
                    <a:bodyPr/>
                    <a:lstStyle/>
                    <a:p>
                      <a:pPr algn="ctr"/>
                      <a:endParaRPr lang="en-US" sz="2400" b="1">
                        <a:latin typeface="Courier New" panose="02070309020205020404" pitchFamily="49" charset="0"/>
                        <a:cs typeface="Courier New" panose="02070309020205020404" pitchFamily="49" charset="0"/>
                      </a:endParaRPr>
                    </a:p>
                  </a:txBody>
                  <a:tcPr marL="0" marR="0" marT="0" marB="0" horzOverflow="overflow"/>
                </a:tc>
                <a:tc hMerge="1">
                  <a:txBody>
                    <a:bodyPr/>
                    <a:lstStyle/>
                    <a:p>
                      <a:pPr algn="ctr"/>
                      <a:endParaRPr lang="en-US" sz="2400" b="1">
                        <a:latin typeface="Courier New" panose="02070309020205020404" pitchFamily="49" charset="0"/>
                        <a:cs typeface="Courier New" panose="02070309020205020404" pitchFamily="49" charset="0"/>
                      </a:endParaRPr>
                    </a:p>
                  </a:txBody>
                  <a:tcPr marL="0" marR="0" marT="0" marB="0" horzOverflow="overflow"/>
                </a:tc>
                <a:extLst>
                  <a:ext uri="{0D108BD9-81ED-4DB2-BD59-A6C34878D82A}">
                    <a16:rowId xmlns:a16="http://schemas.microsoft.com/office/drawing/2014/main" val="1115266922"/>
                  </a:ext>
                </a:extLst>
              </a:tr>
              <a:tr h="370840">
                <a:tc>
                  <a:txBody>
                    <a:bodyPr/>
                    <a:lstStyle/>
                    <a:p>
                      <a:pPr algn="ctr"/>
                      <a:r>
                        <a:rPr lang="en-US" sz="2400"/>
                        <a:t>X</a:t>
                      </a:r>
                    </a:p>
                  </a:txBody>
                  <a:tcPr/>
                </a:tc>
                <a:tc>
                  <a:txBody>
                    <a:bodyPr/>
                    <a:lstStyle/>
                    <a:p>
                      <a:pPr algn="ctr"/>
                      <a:r>
                        <a:rPr lang="en-US" sz="2400"/>
                        <a:t>Y</a:t>
                      </a:r>
                    </a:p>
                  </a:txBody>
                  <a:tcPr/>
                </a:tc>
                <a:tc>
                  <a:txBody>
                    <a:bodyPr/>
                    <a:lstStyle/>
                    <a:p>
                      <a:pPr algn="ctr"/>
                      <a:r>
                        <a:rPr lang="en-US" sz="2400"/>
                        <a:t>X+Y</a:t>
                      </a:r>
                    </a:p>
                  </a:txBody>
                  <a:tcPr/>
                </a:tc>
                <a:extLst>
                  <a:ext uri="{0D108BD9-81ED-4DB2-BD59-A6C34878D82A}">
                    <a16:rowId xmlns:a16="http://schemas.microsoft.com/office/drawing/2014/main" val="2763696928"/>
                  </a:ext>
                </a:extLst>
              </a:tr>
              <a:tr h="370840">
                <a:tc>
                  <a:txBody>
                    <a:bodyPr/>
                    <a:lstStyle/>
                    <a:p>
                      <a:pPr algn="ctr"/>
                      <a:r>
                        <a:rPr lang="en-US" sz="2400"/>
                        <a:t>0</a:t>
                      </a:r>
                    </a:p>
                  </a:txBody>
                  <a:tcPr/>
                </a:tc>
                <a:tc>
                  <a:txBody>
                    <a:bodyPr/>
                    <a:lstStyle/>
                    <a:p>
                      <a:pPr algn="ctr"/>
                      <a:r>
                        <a:rPr lang="en-US" sz="2400"/>
                        <a:t>0</a:t>
                      </a:r>
                    </a:p>
                  </a:txBody>
                  <a:tcPr/>
                </a:tc>
                <a:tc>
                  <a:txBody>
                    <a:bodyPr/>
                    <a:lstStyle/>
                    <a:p>
                      <a:pPr algn="ctr"/>
                      <a:r>
                        <a:rPr lang="en-US" sz="2400"/>
                        <a:t>0</a:t>
                      </a:r>
                    </a:p>
                  </a:txBody>
                  <a:tcPr/>
                </a:tc>
                <a:extLst>
                  <a:ext uri="{0D108BD9-81ED-4DB2-BD59-A6C34878D82A}">
                    <a16:rowId xmlns:a16="http://schemas.microsoft.com/office/drawing/2014/main" val="1033269395"/>
                  </a:ext>
                </a:extLst>
              </a:tr>
              <a:tr h="370840">
                <a:tc>
                  <a:txBody>
                    <a:bodyPr/>
                    <a:lstStyle/>
                    <a:p>
                      <a:pPr algn="ctr"/>
                      <a:r>
                        <a:rPr lang="en-US" sz="2400"/>
                        <a:t>0</a:t>
                      </a:r>
                    </a:p>
                  </a:txBody>
                  <a:tcPr/>
                </a:tc>
                <a:tc>
                  <a:txBody>
                    <a:bodyPr/>
                    <a:lstStyle/>
                    <a:p>
                      <a:pPr algn="ctr"/>
                      <a:r>
                        <a:rPr lang="en-US" sz="2400"/>
                        <a:t>1</a:t>
                      </a:r>
                    </a:p>
                  </a:txBody>
                  <a:tcPr/>
                </a:tc>
                <a:tc>
                  <a:txBody>
                    <a:bodyPr/>
                    <a:lstStyle/>
                    <a:p>
                      <a:pPr algn="ctr"/>
                      <a:r>
                        <a:rPr lang="en-US" sz="2400"/>
                        <a:t>1</a:t>
                      </a:r>
                    </a:p>
                  </a:txBody>
                  <a:tcPr/>
                </a:tc>
                <a:extLst>
                  <a:ext uri="{0D108BD9-81ED-4DB2-BD59-A6C34878D82A}">
                    <a16:rowId xmlns:a16="http://schemas.microsoft.com/office/drawing/2014/main" val="2600521341"/>
                  </a:ext>
                </a:extLst>
              </a:tr>
              <a:tr h="370840">
                <a:tc>
                  <a:txBody>
                    <a:bodyPr/>
                    <a:lstStyle/>
                    <a:p>
                      <a:pPr algn="ctr"/>
                      <a:r>
                        <a:rPr lang="en-US" sz="2400"/>
                        <a:t>1</a:t>
                      </a:r>
                    </a:p>
                  </a:txBody>
                  <a:tcPr/>
                </a:tc>
                <a:tc>
                  <a:txBody>
                    <a:bodyPr/>
                    <a:lstStyle/>
                    <a:p>
                      <a:pPr algn="ctr"/>
                      <a:r>
                        <a:rPr lang="en-US" sz="2400"/>
                        <a:t>0</a:t>
                      </a:r>
                    </a:p>
                  </a:txBody>
                  <a:tcPr/>
                </a:tc>
                <a:tc>
                  <a:txBody>
                    <a:bodyPr/>
                    <a:lstStyle/>
                    <a:p>
                      <a:pPr algn="ctr"/>
                      <a:r>
                        <a:rPr lang="en-US" sz="2400"/>
                        <a:t>1</a:t>
                      </a:r>
                    </a:p>
                  </a:txBody>
                  <a:tcPr/>
                </a:tc>
                <a:extLst>
                  <a:ext uri="{0D108BD9-81ED-4DB2-BD59-A6C34878D82A}">
                    <a16:rowId xmlns:a16="http://schemas.microsoft.com/office/drawing/2014/main" val="1802581302"/>
                  </a:ext>
                </a:extLst>
              </a:tr>
              <a:tr h="370840">
                <a:tc>
                  <a:txBody>
                    <a:bodyPr/>
                    <a:lstStyle/>
                    <a:p>
                      <a:pPr algn="ctr"/>
                      <a:r>
                        <a:rPr lang="en-US" sz="2400"/>
                        <a:t>1</a:t>
                      </a:r>
                    </a:p>
                  </a:txBody>
                  <a:tcPr/>
                </a:tc>
                <a:tc>
                  <a:txBody>
                    <a:bodyPr/>
                    <a:lstStyle/>
                    <a:p>
                      <a:pPr algn="ctr"/>
                      <a:r>
                        <a:rPr lang="en-US" sz="2400"/>
                        <a:t>1</a:t>
                      </a:r>
                    </a:p>
                  </a:txBody>
                  <a:tcPr/>
                </a:tc>
                <a:tc>
                  <a:txBody>
                    <a:bodyPr/>
                    <a:lstStyle/>
                    <a:p>
                      <a:pPr algn="ctr"/>
                      <a:r>
                        <a:rPr lang="en-US" sz="2400"/>
                        <a:t>1</a:t>
                      </a:r>
                    </a:p>
                  </a:txBody>
                  <a:tcPr/>
                </a:tc>
                <a:extLst>
                  <a:ext uri="{0D108BD9-81ED-4DB2-BD59-A6C34878D82A}">
                    <a16:rowId xmlns:a16="http://schemas.microsoft.com/office/drawing/2014/main" val="3165771403"/>
                  </a:ext>
                </a:extLst>
              </a:tr>
            </a:tbl>
          </a:graphicData>
        </a:graphic>
      </p:graphicFrame>
      <p:sp>
        <p:nvSpPr>
          <p:cNvPr id="12" name="Title 1">
            <a:extLst>
              <a:ext uri="{FF2B5EF4-FFF2-40B4-BE49-F238E27FC236}">
                <a16:creationId xmlns:a16="http://schemas.microsoft.com/office/drawing/2014/main" id="{FEE9CE48-F477-AB50-350E-0150E2CFCFD3}"/>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4133747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20CD4-9C2F-B99E-B290-38D1F0DBDB1D}"/>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26CC32-E59D-88BB-46E8-C495EFBCC105}"/>
                  </a:ext>
                </a:extLst>
              </p:cNvPr>
              <p:cNvSpPr>
                <a:spLocks noGrp="1"/>
              </p:cNvSpPr>
              <p:nvPr>
                <p:ph idx="1"/>
              </p:nvPr>
            </p:nvSpPr>
            <p:spPr>
              <a:xfrm>
                <a:off x="203204" y="1371607"/>
                <a:ext cx="11455396" cy="4876793"/>
              </a:xfrm>
            </p:spPr>
            <p:txBody>
              <a:bodyPr/>
              <a:lstStyle/>
              <a:p>
                <a:pPr>
                  <a:spcBef>
                    <a:spcPct val="40000"/>
                  </a:spcBef>
                </a:pPr>
                <a:r>
                  <a:rPr lang="en-US" altLang="en-US" sz="2800" kern="0"/>
                  <a:t>The truth table for the Boolean NOT operator is shown at the right.</a:t>
                </a:r>
              </a:p>
              <a:p>
                <a:pPr>
                  <a:spcBef>
                    <a:spcPct val="40000"/>
                  </a:spcBef>
                </a:pPr>
                <a:r>
                  <a:rPr lang="en-US" altLang="en-US" sz="2800" kern="0"/>
                  <a:t>The NOT operation is often designated by a prime mark ( </a:t>
                </a:r>
                <a:r>
                  <a:rPr lang="en-US" altLang="en-US" sz="2800" b="1" kern="0">
                    <a:cs typeface="Courier New" panose="02070309020205020404" pitchFamily="49" charset="0"/>
                  </a:rPr>
                  <a:t>X</a:t>
                </a:r>
                <a:r>
                  <a:rPr lang="en-US" altLang="en-US" sz="2800" kern="0">
                    <a:cs typeface="Courier New" panose="02070309020205020404" pitchFamily="49" charset="0"/>
                  </a:rPr>
                  <a:t>’</a:t>
                </a:r>
                <a:r>
                  <a:rPr lang="en-US" altLang="en-US" sz="2800" kern="0"/>
                  <a:t>). </a:t>
                </a:r>
              </a:p>
              <a:p>
                <a:pPr lvl="1">
                  <a:spcBef>
                    <a:spcPct val="40000"/>
                  </a:spcBef>
                </a:pPr>
                <a:r>
                  <a:rPr lang="en-US" altLang="en-US" sz="2800" kern="0"/>
                  <a:t>Sometimes indicated by an</a:t>
                </a:r>
              </a:p>
              <a:p>
                <a:pPr lvl="2">
                  <a:spcBef>
                    <a:spcPct val="40000"/>
                  </a:spcBef>
                </a:pPr>
                <a:r>
                  <a:rPr lang="en-US" altLang="en-US" sz="2400" kern="0"/>
                  <a:t>overbar ( </a:t>
                </a:r>
                <a14:m>
                  <m:oMath xmlns:m="http://schemas.openxmlformats.org/officeDocument/2006/math">
                    <m:acc>
                      <m:accPr>
                        <m:chr m:val="̅"/>
                        <m:ctrlPr>
                          <a:rPr lang="en-US" altLang="en-US" sz="2400" b="1" i="1" kern="0" dirty="0">
                            <a:latin typeface="Cambria Math" panose="02040503050406030204" pitchFamily="18" charset="0"/>
                            <a:cs typeface="Courier New" panose="02070309020205020404" pitchFamily="49" charset="0"/>
                          </a:rPr>
                        </m:ctrlPr>
                      </m:accPr>
                      <m:e>
                        <m:r>
                          <m:rPr>
                            <m:nor/>
                          </m:rPr>
                          <a:rPr lang="en-US" altLang="en-US" sz="2400" b="1" i="0" kern="0" dirty="0">
                            <a:cs typeface="Courier New" panose="02070309020205020404" pitchFamily="49" charset="0"/>
                          </a:rPr>
                          <m:t>X</m:t>
                        </m:r>
                      </m:e>
                    </m:acc>
                  </m:oMath>
                </a14:m>
                <a:r>
                  <a:rPr lang="en-US" altLang="en-US" sz="2400" kern="0"/>
                  <a:t>)</a:t>
                </a:r>
              </a:p>
              <a:p>
                <a:pPr lvl="2">
                  <a:spcBef>
                    <a:spcPct val="40000"/>
                  </a:spcBef>
                </a:pPr>
                <a:r>
                  <a:rPr lang="en-US" altLang="en-US" sz="2400" kern="0"/>
                  <a:t>“elbow” (</a:t>
                </a:r>
                <a:r>
                  <a:rPr lang="en-US" altLang="en-US" sz="2800" b="1" kern="0" baseline="30000">
                    <a:sym typeface="Symbol" pitchFamily="18" charset="2"/>
                  </a:rPr>
                  <a:t>¬</a:t>
                </a:r>
                <a:r>
                  <a:rPr lang="en-US" altLang="en-US" sz="2400" b="1" kern="0">
                    <a:cs typeface="Courier New" panose="02070309020205020404" pitchFamily="49" charset="0"/>
                  </a:rPr>
                  <a:t>X)</a:t>
                </a:r>
              </a:p>
              <a:p>
                <a:pPr lvl="2">
                  <a:spcBef>
                    <a:spcPct val="40000"/>
                  </a:spcBef>
                </a:pPr>
                <a:r>
                  <a:rPr lang="en-US" altLang="en-US" sz="2400" kern="0"/>
                  <a:t>“tilde” (</a:t>
                </a:r>
                <a:r>
                  <a:rPr lang="en-US" altLang="en-US" sz="2400" b="1" kern="0"/>
                  <a:t>~x</a:t>
                </a:r>
                <a:r>
                  <a:rPr lang="en-US" altLang="en-US" sz="2400" kern="0"/>
                  <a:t>)</a:t>
                </a:r>
              </a:p>
            </p:txBody>
          </p:sp>
        </mc:Choice>
        <mc:Fallback>
          <p:sp>
            <p:nvSpPr>
              <p:cNvPr id="3" name="Content Placeholder 2">
                <a:extLst>
                  <a:ext uri="{FF2B5EF4-FFF2-40B4-BE49-F238E27FC236}">
                    <a16:creationId xmlns:a16="http://schemas.microsoft.com/office/drawing/2014/main" id="{1526CC32-E59D-88BB-46E8-C495EFBCC105}"/>
                  </a:ext>
                </a:extLst>
              </p:cNvPr>
              <p:cNvSpPr>
                <a:spLocks noGrp="1" noRot="1" noChangeAspect="1" noMove="1" noResize="1" noEditPoints="1" noAdjustHandles="1" noChangeArrowheads="1" noChangeShapeType="1" noTextEdit="1"/>
              </p:cNvSpPr>
              <p:nvPr>
                <p:ph idx="1"/>
              </p:nvPr>
            </p:nvSpPr>
            <p:spPr>
              <a:xfrm>
                <a:off x="203204" y="1371607"/>
                <a:ext cx="11455396" cy="4876793"/>
              </a:xfrm>
              <a:blipFill>
                <a:blip r:embed="rId2"/>
                <a:stretch>
                  <a:fillRect l="-1064" t="-1125"/>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D6249021-CCE8-A2D7-F10B-6BE49BD76249}"/>
              </a:ext>
            </a:extLst>
          </p:cNvPr>
          <p:cNvGraphicFramePr>
            <a:graphicFrameLocks noGrp="1"/>
          </p:cNvGraphicFramePr>
          <p:nvPr>
            <p:extLst>
              <p:ext uri="{D42A27DB-BD31-4B8C-83A1-F6EECF244321}">
                <p14:modId xmlns:p14="http://schemas.microsoft.com/office/powerpoint/2010/main" val="1500543146"/>
              </p:ext>
            </p:extLst>
          </p:nvPr>
        </p:nvGraphicFramePr>
        <p:xfrm>
          <a:off x="8686800" y="2895603"/>
          <a:ext cx="1096010" cy="1828800"/>
        </p:xfrm>
        <a:graphic>
          <a:graphicData uri="http://schemas.openxmlformats.org/drawingml/2006/table">
            <a:tbl>
              <a:tblPr firstRow="1" bandRow="1">
                <a:tableStyleId>{073A0DAA-6AF3-43AB-8588-CEC1D06C72B9}</a:tableStyleId>
              </a:tblPr>
              <a:tblGrid>
                <a:gridCol w="548005">
                  <a:extLst>
                    <a:ext uri="{9D8B030D-6E8A-4147-A177-3AD203B41FA5}">
                      <a16:colId xmlns:a16="http://schemas.microsoft.com/office/drawing/2014/main" val="2780462019"/>
                    </a:ext>
                  </a:extLst>
                </a:gridCol>
                <a:gridCol w="548005">
                  <a:extLst>
                    <a:ext uri="{9D8B030D-6E8A-4147-A177-3AD203B41FA5}">
                      <a16:colId xmlns:a16="http://schemas.microsoft.com/office/drawing/2014/main" val="1155341415"/>
                    </a:ext>
                  </a:extLst>
                </a:gridCol>
              </a:tblGrid>
              <a:tr h="370840">
                <a:tc gridSpan="2">
                  <a:txBody>
                    <a:bodyPr/>
                    <a:lstStyle/>
                    <a:p>
                      <a:pPr algn="ctr"/>
                      <a:r>
                        <a:rPr lang="en-US" sz="2400"/>
                        <a:t>NOT X</a:t>
                      </a:r>
                    </a:p>
                  </a:txBody>
                  <a:tcPr/>
                </a:tc>
                <a:tc hMerge="1">
                  <a:txBody>
                    <a:bodyPr/>
                    <a:lstStyle/>
                    <a:p>
                      <a:pPr algn="ctr"/>
                      <a:endParaRPr lang="en-US" sz="2400" b="1">
                        <a:latin typeface="Courier New" panose="02070309020205020404" pitchFamily="49" charset="0"/>
                        <a:cs typeface="Courier New" panose="02070309020205020404" pitchFamily="49" charset="0"/>
                      </a:endParaRPr>
                    </a:p>
                  </a:txBody>
                  <a:tcPr marL="0" marR="0" marT="0" marB="0" horzOverflow="overflow"/>
                </a:tc>
                <a:extLst>
                  <a:ext uri="{0D108BD9-81ED-4DB2-BD59-A6C34878D82A}">
                    <a16:rowId xmlns:a16="http://schemas.microsoft.com/office/drawing/2014/main" val="1115266922"/>
                  </a:ext>
                </a:extLst>
              </a:tr>
              <a:tr h="370840">
                <a:tc>
                  <a:txBody>
                    <a:bodyPr/>
                    <a:lstStyle/>
                    <a:p>
                      <a:pPr algn="ctr"/>
                      <a:r>
                        <a:rPr lang="en-US" sz="2400"/>
                        <a:t>X</a:t>
                      </a:r>
                    </a:p>
                  </a:txBody>
                  <a:tcPr/>
                </a:tc>
                <a:tc>
                  <a:txBody>
                    <a:bodyPr/>
                    <a:lstStyle/>
                    <a:p>
                      <a:pPr algn="ctr"/>
                      <a:r>
                        <a:rPr lang="en-US" sz="2400"/>
                        <a:t>X’</a:t>
                      </a:r>
                    </a:p>
                  </a:txBody>
                  <a:tcPr/>
                </a:tc>
                <a:extLst>
                  <a:ext uri="{0D108BD9-81ED-4DB2-BD59-A6C34878D82A}">
                    <a16:rowId xmlns:a16="http://schemas.microsoft.com/office/drawing/2014/main" val="2763696928"/>
                  </a:ext>
                </a:extLst>
              </a:tr>
              <a:tr h="370840">
                <a:tc>
                  <a:txBody>
                    <a:bodyPr/>
                    <a:lstStyle/>
                    <a:p>
                      <a:pPr algn="ctr"/>
                      <a:r>
                        <a:rPr lang="en-US" sz="2400"/>
                        <a:t>0</a:t>
                      </a:r>
                    </a:p>
                  </a:txBody>
                  <a:tcPr/>
                </a:tc>
                <a:tc>
                  <a:txBody>
                    <a:bodyPr/>
                    <a:lstStyle/>
                    <a:p>
                      <a:pPr algn="ctr"/>
                      <a:r>
                        <a:rPr lang="en-US" sz="2400"/>
                        <a:t>1</a:t>
                      </a:r>
                    </a:p>
                  </a:txBody>
                  <a:tcPr/>
                </a:tc>
                <a:extLst>
                  <a:ext uri="{0D108BD9-81ED-4DB2-BD59-A6C34878D82A}">
                    <a16:rowId xmlns:a16="http://schemas.microsoft.com/office/drawing/2014/main" val="1033269395"/>
                  </a:ext>
                </a:extLst>
              </a:tr>
              <a:tr h="370840">
                <a:tc>
                  <a:txBody>
                    <a:bodyPr/>
                    <a:lstStyle/>
                    <a:p>
                      <a:pPr algn="ctr"/>
                      <a:r>
                        <a:rPr lang="en-US" sz="2400"/>
                        <a:t>1</a:t>
                      </a:r>
                    </a:p>
                  </a:txBody>
                  <a:tcPr/>
                </a:tc>
                <a:tc>
                  <a:txBody>
                    <a:bodyPr/>
                    <a:lstStyle/>
                    <a:p>
                      <a:pPr algn="ctr"/>
                      <a:r>
                        <a:rPr lang="en-US" sz="2400"/>
                        <a:t>0</a:t>
                      </a:r>
                    </a:p>
                  </a:txBody>
                  <a:tcPr/>
                </a:tc>
                <a:extLst>
                  <a:ext uri="{0D108BD9-81ED-4DB2-BD59-A6C34878D82A}">
                    <a16:rowId xmlns:a16="http://schemas.microsoft.com/office/drawing/2014/main" val="2600521341"/>
                  </a:ext>
                </a:extLst>
              </a:tr>
            </a:tbl>
          </a:graphicData>
        </a:graphic>
      </p:graphicFrame>
      <p:sp>
        <p:nvSpPr>
          <p:cNvPr id="8" name="Title 1">
            <a:extLst>
              <a:ext uri="{FF2B5EF4-FFF2-40B4-BE49-F238E27FC236}">
                <a16:creationId xmlns:a16="http://schemas.microsoft.com/office/drawing/2014/main" id="{5A55D4BA-B683-55BE-1177-FF9D2974867F}"/>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398941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2B72F-A1AC-ADB0-DD78-2986433AFA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1DE084-A260-53E6-0F0B-9080AFCE1B28}"/>
              </a:ext>
            </a:extLst>
          </p:cNvPr>
          <p:cNvSpPr>
            <a:spLocks noGrp="1"/>
          </p:cNvSpPr>
          <p:nvPr>
            <p:ph idx="1"/>
          </p:nvPr>
        </p:nvSpPr>
        <p:spPr/>
        <p:txBody>
          <a:bodyPr/>
          <a:lstStyle/>
          <a:p>
            <a:r>
              <a:rPr lang="en-US" altLang="en-US" sz="2800"/>
              <a:t>A Boolean function has:</a:t>
            </a:r>
          </a:p>
          <a:p>
            <a:pPr marL="754370" lvl="1" indent="-342900">
              <a:buSzPct val="80000"/>
              <a:buFont typeface="Arial" panose="020B0604020202020204" pitchFamily="34" charset="0"/>
              <a:buChar char="•"/>
            </a:pPr>
            <a:r>
              <a:rPr lang="en-US" altLang="en-US" sz="2800"/>
              <a:t>At least one Boolean variable, </a:t>
            </a:r>
          </a:p>
          <a:p>
            <a:pPr marL="754370" lvl="1" indent="-342900">
              <a:buSzPct val="80000"/>
              <a:buFont typeface="Arial" panose="020B0604020202020204" pitchFamily="34" charset="0"/>
              <a:buChar char="•"/>
            </a:pPr>
            <a:r>
              <a:rPr lang="en-US" altLang="en-US" sz="2800"/>
              <a:t>At least one Boolean operator.</a:t>
            </a:r>
            <a:r>
              <a:rPr lang="en-US" altLang="en-US"/>
              <a:t>  </a:t>
            </a:r>
          </a:p>
          <a:p>
            <a:pPr>
              <a:spcBef>
                <a:spcPct val="40000"/>
              </a:spcBef>
            </a:pPr>
            <a:r>
              <a:rPr lang="en-US" altLang="en-US" sz="2800"/>
              <a:t>Given input from the set {0,1}, it produces an output that is also a member of the set {0,1}.</a:t>
            </a:r>
          </a:p>
        </p:txBody>
      </p:sp>
      <p:sp>
        <p:nvSpPr>
          <p:cNvPr id="4" name="Text Box 4">
            <a:extLst>
              <a:ext uri="{FF2B5EF4-FFF2-40B4-BE49-F238E27FC236}">
                <a16:creationId xmlns:a16="http://schemas.microsoft.com/office/drawing/2014/main" id="{6EC69A0A-005C-F6C6-580F-4948407FA0B2}"/>
              </a:ext>
            </a:extLst>
          </p:cNvPr>
          <p:cNvSpPr txBox="1">
            <a:spLocks noChangeArrowheads="1"/>
          </p:cNvSpPr>
          <p:nvPr/>
        </p:nvSpPr>
        <p:spPr bwMode="auto">
          <a:xfrm>
            <a:off x="3505200" y="4606380"/>
            <a:ext cx="6019800" cy="769441"/>
          </a:xfrm>
          <a:prstGeom prst="rect">
            <a:avLst/>
          </a:prstGeom>
          <a:noFill/>
          <a:ln>
            <a:noFill/>
          </a:ln>
          <a:effectLst/>
        </p:spPr>
        <p:txBody>
          <a:bodyPr wrap="square" anchor="ctr">
            <a:spAutoFit/>
          </a:bodyPr>
          <a:lstStyle/>
          <a:p>
            <a:pPr algn="l"/>
            <a:r>
              <a:rPr lang="en-US" altLang="en-US" sz="2200">
                <a:solidFill>
                  <a:srgbClr val="CC3300"/>
                </a:solidFill>
              </a:rPr>
              <a:t>Do you see why the binary numbering system is so handy in digital systems?</a:t>
            </a:r>
            <a:endParaRPr lang="en-US" altLang="en-US"/>
          </a:p>
        </p:txBody>
      </p:sp>
      <p:sp>
        <p:nvSpPr>
          <p:cNvPr id="8" name="Title 1">
            <a:extLst>
              <a:ext uri="{FF2B5EF4-FFF2-40B4-BE49-F238E27FC236}">
                <a16:creationId xmlns:a16="http://schemas.microsoft.com/office/drawing/2014/main" id="{C3296B64-7EDB-157B-47C4-21CA1C6A106E}"/>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3902618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70793-01AB-5A1E-5AFF-329AB3019B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5CB0E2-59B4-2D96-DE01-A2A659A664C2}"/>
              </a:ext>
            </a:extLst>
          </p:cNvPr>
          <p:cNvSpPr>
            <a:spLocks noGrp="1"/>
          </p:cNvSpPr>
          <p:nvPr>
            <p:ph idx="1"/>
          </p:nvPr>
        </p:nvSpPr>
        <p:spPr>
          <a:xfrm>
            <a:off x="203205" y="1371607"/>
            <a:ext cx="6349996" cy="4876793"/>
          </a:xfrm>
        </p:spPr>
        <p:txBody>
          <a:bodyPr/>
          <a:lstStyle/>
          <a:p>
            <a:pPr>
              <a:spcBef>
                <a:spcPct val="10000"/>
              </a:spcBef>
            </a:pPr>
            <a:r>
              <a:rPr lang="en-US" altLang="en-US" sz="2800"/>
              <a:t>The truth table for the Boolean function: </a:t>
            </a:r>
          </a:p>
          <a:p>
            <a:pPr lvl="1">
              <a:spcBef>
                <a:spcPct val="10000"/>
              </a:spcBef>
              <a:buFontTx/>
              <a:buNone/>
            </a:pPr>
            <a:r>
              <a:rPr lang="en-US" altLang="en-US"/>
              <a:t>   </a:t>
            </a:r>
          </a:p>
          <a:p>
            <a:pPr lvl="1">
              <a:spcBef>
                <a:spcPct val="10000"/>
              </a:spcBef>
              <a:buFontTx/>
              <a:buNone/>
            </a:pPr>
            <a:endParaRPr lang="en-US" altLang="en-US"/>
          </a:p>
          <a:p>
            <a:pPr>
              <a:spcBef>
                <a:spcPct val="40000"/>
              </a:spcBef>
            </a:pPr>
            <a:r>
              <a:rPr lang="en-US" altLang="en-US" sz="2800"/>
              <a:t>Extra (shaded) columns hold evaluations of subexpressions</a:t>
            </a:r>
          </a:p>
          <a:p>
            <a:endParaRPr lang="en-US" altLang="en-US" sz="2600"/>
          </a:p>
        </p:txBody>
      </p:sp>
      <p:pic>
        <p:nvPicPr>
          <p:cNvPr id="7" name="Picture 6">
            <a:extLst>
              <a:ext uri="{FF2B5EF4-FFF2-40B4-BE49-F238E27FC236}">
                <a16:creationId xmlns:a16="http://schemas.microsoft.com/office/drawing/2014/main" id="{F31AB772-2A49-260F-6E19-90E1D42FA1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33918" y="2133601"/>
            <a:ext cx="3429000" cy="440893"/>
          </a:xfrm>
          <a:prstGeom prst="rect">
            <a:avLst/>
          </a:prstGeom>
        </p:spPr>
      </p:pic>
      <p:pic>
        <p:nvPicPr>
          <p:cNvPr id="8" name="Picture 7">
            <a:extLst>
              <a:ext uri="{FF2B5EF4-FFF2-40B4-BE49-F238E27FC236}">
                <a16:creationId xmlns:a16="http://schemas.microsoft.com/office/drawing/2014/main" id="{ADCF03B3-DAA9-9184-F039-096ED2690C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94416" y="1488137"/>
            <a:ext cx="3953691" cy="4069977"/>
          </a:xfrm>
          <a:prstGeom prst="rect">
            <a:avLst/>
          </a:prstGeom>
        </p:spPr>
      </p:pic>
      <p:sp>
        <p:nvSpPr>
          <p:cNvPr id="9" name="Title 1">
            <a:extLst>
              <a:ext uri="{FF2B5EF4-FFF2-40B4-BE49-F238E27FC236}">
                <a16:creationId xmlns:a16="http://schemas.microsoft.com/office/drawing/2014/main" id="{BC14EAEE-20FD-AD1D-358F-65B089B58DD1}"/>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290575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FB991-4BDF-0042-70A7-B08C15C28B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8B6B83-750C-C418-C198-5D639F88CC23}"/>
              </a:ext>
            </a:extLst>
          </p:cNvPr>
          <p:cNvSpPr>
            <a:spLocks noGrp="1"/>
          </p:cNvSpPr>
          <p:nvPr>
            <p:ph idx="1"/>
          </p:nvPr>
        </p:nvSpPr>
        <p:spPr>
          <a:xfrm>
            <a:off x="203205" y="1371607"/>
            <a:ext cx="6045195" cy="4876793"/>
          </a:xfrm>
        </p:spPr>
        <p:txBody>
          <a:bodyPr lIns="91440" tIns="45720" rIns="91440" bIns="45720" anchor="t"/>
          <a:lstStyle/>
          <a:p>
            <a:pPr>
              <a:spcBef>
                <a:spcPct val="40000"/>
              </a:spcBef>
            </a:pPr>
            <a:r>
              <a:rPr lang="en-US" altLang="en-US" sz="2800" dirty="0"/>
              <a:t>Boolean operations have rules of precedence.</a:t>
            </a:r>
          </a:p>
          <a:p>
            <a:pPr>
              <a:spcBef>
                <a:spcPct val="40000"/>
              </a:spcBef>
            </a:pPr>
            <a:r>
              <a:rPr lang="en-US" altLang="en-US" sz="2800" dirty="0"/>
              <a:t>The </a:t>
            </a:r>
            <a:r>
              <a:rPr lang="en-US" altLang="en-US" sz="2800" b="1" dirty="0"/>
              <a:t>NOT </a:t>
            </a:r>
            <a:r>
              <a:rPr lang="en-US" altLang="en-US" sz="2800" dirty="0"/>
              <a:t>operator has </a:t>
            </a:r>
            <a:r>
              <a:rPr lang="en-US" altLang="en-US" sz="2800" b="1" i="1" dirty="0"/>
              <a:t>highest</a:t>
            </a:r>
            <a:r>
              <a:rPr lang="en-US" altLang="en-US" sz="2800" i="1" dirty="0"/>
              <a:t> </a:t>
            </a:r>
            <a:r>
              <a:rPr lang="en-US" altLang="en-US" sz="2800" dirty="0"/>
              <a:t>priority, followed by </a:t>
            </a:r>
            <a:r>
              <a:rPr lang="en-US" altLang="en-US" sz="2800" b="1" dirty="0"/>
              <a:t>AND </a:t>
            </a:r>
            <a:r>
              <a:rPr lang="en-US" altLang="en-US" sz="2800" dirty="0" err="1"/>
              <a:t>and</a:t>
            </a:r>
            <a:r>
              <a:rPr lang="en-US" altLang="en-US" sz="2800" dirty="0"/>
              <a:t> then </a:t>
            </a:r>
            <a:r>
              <a:rPr lang="en-US" altLang="en-US" sz="2800" b="1" dirty="0"/>
              <a:t>OR</a:t>
            </a:r>
            <a:r>
              <a:rPr lang="en-US" altLang="en-US" sz="2800" dirty="0"/>
              <a:t>.</a:t>
            </a:r>
            <a:endParaRPr lang="en-US" altLang="en-US" sz="2800" dirty="0">
              <a:ea typeface="Calibri"/>
            </a:endParaRPr>
          </a:p>
          <a:p>
            <a:pPr>
              <a:spcBef>
                <a:spcPct val="40000"/>
              </a:spcBef>
            </a:pPr>
            <a:r>
              <a:rPr lang="en-US" altLang="en-US" sz="2800" dirty="0"/>
              <a:t>Determines the (shaded) function subparts in our table. </a:t>
            </a:r>
            <a:endParaRPr lang="en-US" altLang="en-US" sz="2800" dirty="0">
              <a:ea typeface="Calibri"/>
            </a:endParaRPr>
          </a:p>
        </p:txBody>
      </p:sp>
      <p:pic>
        <p:nvPicPr>
          <p:cNvPr id="6" name="Picture 5">
            <a:extLst>
              <a:ext uri="{FF2B5EF4-FFF2-40B4-BE49-F238E27FC236}">
                <a16:creationId xmlns:a16="http://schemas.microsoft.com/office/drawing/2014/main" id="{3153CF42-DB5B-34F9-E4B7-63E32C7BAB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94416" y="1488137"/>
            <a:ext cx="3953691" cy="4069977"/>
          </a:xfrm>
          <a:prstGeom prst="rect">
            <a:avLst/>
          </a:prstGeom>
        </p:spPr>
      </p:pic>
      <p:sp>
        <p:nvSpPr>
          <p:cNvPr id="8" name="Title 1">
            <a:extLst>
              <a:ext uri="{FF2B5EF4-FFF2-40B4-BE49-F238E27FC236}">
                <a16:creationId xmlns:a16="http://schemas.microsoft.com/office/drawing/2014/main" id="{C07DC32D-3891-F717-D993-A0AFB863A23A}"/>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2234832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772D0-AA58-B807-DCC0-040A32CD63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B7333E-65E2-6AFC-24AB-43252D42F100}"/>
              </a:ext>
            </a:extLst>
          </p:cNvPr>
          <p:cNvSpPr>
            <a:spLocks noGrp="1"/>
          </p:cNvSpPr>
          <p:nvPr>
            <p:ph idx="1"/>
          </p:nvPr>
        </p:nvSpPr>
        <p:spPr/>
        <p:txBody>
          <a:bodyPr/>
          <a:lstStyle/>
          <a:p>
            <a:r>
              <a:rPr lang="en-US" altLang="en-US" sz="2800"/>
              <a:t>Digital computers contain circuits that implement Boolean functions.</a:t>
            </a:r>
          </a:p>
          <a:p>
            <a:endParaRPr lang="en-US" altLang="en-US" sz="2800"/>
          </a:p>
          <a:p>
            <a:r>
              <a:rPr lang="en-US" altLang="en-US" sz="2800"/>
              <a:t>The simpler the Boolean function, the smaller the circuit: </a:t>
            </a:r>
            <a:r>
              <a:rPr lang="en-US" altLang="en-US" sz="2800">
                <a:cs typeface="Arial" pitchFamily="34" charset="0"/>
              </a:rPr>
              <a:t>cheaper to build, consume less power, and run faster than complex circuits.</a:t>
            </a:r>
          </a:p>
          <a:p>
            <a:endParaRPr lang="en-US" altLang="en-US" sz="2800">
              <a:cs typeface="Arial" pitchFamily="34" charset="0"/>
            </a:endParaRPr>
          </a:p>
          <a:p>
            <a:r>
              <a:rPr lang="en-US" altLang="en-US" sz="2800"/>
              <a:t>Reduce Boolean functions!</a:t>
            </a:r>
          </a:p>
        </p:txBody>
      </p:sp>
      <p:sp>
        <p:nvSpPr>
          <p:cNvPr id="7" name="Title 1">
            <a:extLst>
              <a:ext uri="{FF2B5EF4-FFF2-40B4-BE49-F238E27FC236}">
                <a16:creationId xmlns:a16="http://schemas.microsoft.com/office/drawing/2014/main" id="{B927E4EF-76B9-01D9-8166-6B6E92343938}"/>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3222016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491DE-8254-CAF5-AA82-4F4835E62F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B0103A-A8A3-302F-771F-2D174AEF5175}"/>
              </a:ext>
            </a:extLst>
          </p:cNvPr>
          <p:cNvSpPr>
            <a:spLocks noGrp="1"/>
          </p:cNvSpPr>
          <p:nvPr>
            <p:ph idx="1"/>
          </p:nvPr>
        </p:nvSpPr>
        <p:spPr/>
        <p:txBody>
          <a:bodyPr/>
          <a:lstStyle/>
          <a:p>
            <a:r>
              <a:rPr lang="en-US" altLang="en-US" sz="2800"/>
              <a:t>Most Boolean identities have an AND (product) form as well as an OR (sum) form.  We give our identities using both forms. Our first group is rather intuitive:</a:t>
            </a:r>
          </a:p>
        </p:txBody>
      </p:sp>
      <p:graphicFrame>
        <p:nvGraphicFramePr>
          <p:cNvPr id="5" name="Table 4">
            <a:extLst>
              <a:ext uri="{FF2B5EF4-FFF2-40B4-BE49-F238E27FC236}">
                <a16:creationId xmlns:a16="http://schemas.microsoft.com/office/drawing/2014/main" id="{F95FCE29-89ED-3F2D-44C3-003F88A77F3C}"/>
              </a:ext>
            </a:extLst>
          </p:cNvPr>
          <p:cNvGraphicFramePr>
            <a:graphicFrameLocks noGrp="1"/>
          </p:cNvGraphicFramePr>
          <p:nvPr>
            <p:extLst>
              <p:ext uri="{D42A27DB-BD31-4B8C-83A1-F6EECF244321}">
                <p14:modId xmlns:p14="http://schemas.microsoft.com/office/powerpoint/2010/main" val="3696711472"/>
              </p:ext>
            </p:extLst>
          </p:nvPr>
        </p:nvGraphicFramePr>
        <p:xfrm>
          <a:off x="1476861" y="2819403"/>
          <a:ext cx="9216762" cy="2286000"/>
        </p:xfrm>
        <a:graphic>
          <a:graphicData uri="http://schemas.openxmlformats.org/drawingml/2006/table">
            <a:tbl>
              <a:tblPr firstRow="1" bandRow="1">
                <a:tableStyleId>{073A0DAA-6AF3-43AB-8588-CEC1D06C72B9}</a:tableStyleId>
              </a:tblPr>
              <a:tblGrid>
                <a:gridCol w="3072254">
                  <a:extLst>
                    <a:ext uri="{9D8B030D-6E8A-4147-A177-3AD203B41FA5}">
                      <a16:colId xmlns:a16="http://schemas.microsoft.com/office/drawing/2014/main" val="2780462019"/>
                    </a:ext>
                  </a:extLst>
                </a:gridCol>
                <a:gridCol w="3072254">
                  <a:extLst>
                    <a:ext uri="{9D8B030D-6E8A-4147-A177-3AD203B41FA5}">
                      <a16:colId xmlns:a16="http://schemas.microsoft.com/office/drawing/2014/main" val="1155341415"/>
                    </a:ext>
                  </a:extLst>
                </a:gridCol>
                <a:gridCol w="3072254">
                  <a:extLst>
                    <a:ext uri="{9D8B030D-6E8A-4147-A177-3AD203B41FA5}">
                      <a16:colId xmlns:a16="http://schemas.microsoft.com/office/drawing/2014/main" val="1443851111"/>
                    </a:ext>
                  </a:extLst>
                </a:gridCol>
              </a:tblGrid>
              <a:tr h="370840">
                <a:tc>
                  <a:txBody>
                    <a:bodyPr/>
                    <a:lstStyle/>
                    <a:p>
                      <a:pPr algn="ctr"/>
                      <a:r>
                        <a:rPr lang="en-US" sz="2400" dirty="0"/>
                        <a:t>Identity Name</a:t>
                      </a:r>
                    </a:p>
                  </a:txBody>
                  <a:tcPr/>
                </a:tc>
                <a:tc>
                  <a:txBody>
                    <a:bodyPr/>
                    <a:lstStyle/>
                    <a:p>
                      <a:pPr algn="ctr"/>
                      <a:r>
                        <a:rPr lang="en-US" sz="2400" dirty="0"/>
                        <a:t>AND Form</a:t>
                      </a:r>
                    </a:p>
                  </a:txBody>
                  <a:tcPr/>
                </a:tc>
                <a:tc>
                  <a:txBody>
                    <a:bodyPr/>
                    <a:lstStyle/>
                    <a:p>
                      <a:pPr algn="ctr"/>
                      <a:r>
                        <a:rPr lang="en-US" sz="2400" dirty="0"/>
                        <a:t>OR Form</a:t>
                      </a:r>
                    </a:p>
                  </a:txBody>
                  <a:tcPr/>
                </a:tc>
                <a:extLst>
                  <a:ext uri="{0D108BD9-81ED-4DB2-BD59-A6C34878D82A}">
                    <a16:rowId xmlns:a16="http://schemas.microsoft.com/office/drawing/2014/main" val="2763696928"/>
                  </a:ext>
                </a:extLst>
              </a:tr>
              <a:tr h="370840">
                <a:tc>
                  <a:txBody>
                    <a:bodyPr/>
                    <a:lstStyle/>
                    <a:p>
                      <a:pPr algn="ctr"/>
                      <a:r>
                        <a:rPr lang="en-US" sz="2400" dirty="0"/>
                        <a:t>Identity Law</a:t>
                      </a:r>
                    </a:p>
                  </a:txBody>
                  <a:tcPr/>
                </a:tc>
                <a:tc>
                  <a:txBody>
                    <a:bodyPr/>
                    <a:lstStyle/>
                    <a:p>
                      <a:pPr algn="ctr"/>
                      <a:r>
                        <a:rPr lang="en-US" sz="2400" dirty="0"/>
                        <a:t>1x = x</a:t>
                      </a:r>
                    </a:p>
                  </a:txBody>
                  <a:tcPr/>
                </a:tc>
                <a:tc>
                  <a:txBody>
                    <a:bodyPr/>
                    <a:lstStyle/>
                    <a:p>
                      <a:pPr algn="ctr"/>
                      <a:r>
                        <a:rPr lang="en-US" sz="2400" dirty="0"/>
                        <a:t>0 + x = x</a:t>
                      </a:r>
                    </a:p>
                  </a:txBody>
                  <a:tcPr/>
                </a:tc>
                <a:extLst>
                  <a:ext uri="{0D108BD9-81ED-4DB2-BD59-A6C34878D82A}">
                    <a16:rowId xmlns:a16="http://schemas.microsoft.com/office/drawing/2014/main" val="1033269395"/>
                  </a:ext>
                </a:extLst>
              </a:tr>
              <a:tr h="370840">
                <a:tc>
                  <a:txBody>
                    <a:bodyPr/>
                    <a:lstStyle/>
                    <a:p>
                      <a:pPr algn="ctr"/>
                      <a:r>
                        <a:rPr lang="en-US" sz="2400" dirty="0"/>
                        <a:t>Null Law</a:t>
                      </a:r>
                    </a:p>
                  </a:txBody>
                  <a:tcPr/>
                </a:tc>
                <a:tc>
                  <a:txBody>
                    <a:bodyPr/>
                    <a:lstStyle/>
                    <a:p>
                      <a:pPr algn="ctr"/>
                      <a:r>
                        <a:rPr lang="en-US" sz="2400" dirty="0"/>
                        <a:t>0x = 0</a:t>
                      </a:r>
                    </a:p>
                  </a:txBody>
                  <a:tcPr/>
                </a:tc>
                <a:tc>
                  <a:txBody>
                    <a:bodyPr/>
                    <a:lstStyle/>
                    <a:p>
                      <a:pPr algn="ctr"/>
                      <a:r>
                        <a:rPr lang="en-US" sz="2400" dirty="0"/>
                        <a:t>1 + x = 1</a:t>
                      </a:r>
                    </a:p>
                  </a:txBody>
                  <a:tcPr/>
                </a:tc>
                <a:extLst>
                  <a:ext uri="{0D108BD9-81ED-4DB2-BD59-A6C34878D82A}">
                    <a16:rowId xmlns:a16="http://schemas.microsoft.com/office/drawing/2014/main" val="2600521341"/>
                  </a:ext>
                </a:extLst>
              </a:tr>
              <a:tr h="370840">
                <a:tc>
                  <a:txBody>
                    <a:bodyPr/>
                    <a:lstStyle/>
                    <a:p>
                      <a:pPr algn="ctr"/>
                      <a:r>
                        <a:rPr lang="en-US" sz="2400" dirty="0"/>
                        <a:t>Idempotent Law</a:t>
                      </a:r>
                    </a:p>
                  </a:txBody>
                  <a:tcPr/>
                </a:tc>
                <a:tc>
                  <a:txBody>
                    <a:bodyPr/>
                    <a:lstStyle/>
                    <a:p>
                      <a:pPr algn="ctr"/>
                      <a:r>
                        <a:rPr lang="en-US" sz="2400" dirty="0"/>
                        <a:t>xx = x</a:t>
                      </a:r>
                    </a:p>
                  </a:txBody>
                  <a:tcPr/>
                </a:tc>
                <a:tc>
                  <a:txBody>
                    <a:bodyPr/>
                    <a:lstStyle/>
                    <a:p>
                      <a:pPr algn="ctr"/>
                      <a:r>
                        <a:rPr lang="en-US" sz="2400" dirty="0"/>
                        <a:t>x + x = x</a:t>
                      </a:r>
                    </a:p>
                  </a:txBody>
                  <a:tcPr/>
                </a:tc>
                <a:extLst>
                  <a:ext uri="{0D108BD9-81ED-4DB2-BD59-A6C34878D82A}">
                    <a16:rowId xmlns:a16="http://schemas.microsoft.com/office/drawing/2014/main" val="1802581302"/>
                  </a:ext>
                </a:extLst>
              </a:tr>
              <a:tr h="370840">
                <a:tc>
                  <a:txBody>
                    <a:bodyPr/>
                    <a:lstStyle/>
                    <a:p>
                      <a:pPr algn="ctr"/>
                      <a:r>
                        <a:rPr lang="en-US" sz="2400" dirty="0"/>
                        <a:t>Inverse Law</a:t>
                      </a:r>
                    </a:p>
                  </a:txBody>
                  <a:tcPr/>
                </a:tc>
                <a:tc>
                  <a:txBody>
                    <a:bodyPr/>
                    <a:lstStyle/>
                    <a:p>
                      <a:pPr algn="ctr"/>
                      <a:r>
                        <a:rPr lang="en-US" sz="2400" dirty="0"/>
                        <a:t>xx’ = 0</a:t>
                      </a:r>
                    </a:p>
                  </a:txBody>
                  <a:tcPr/>
                </a:tc>
                <a:tc>
                  <a:txBody>
                    <a:bodyPr/>
                    <a:lstStyle/>
                    <a:p>
                      <a:pPr algn="ctr"/>
                      <a:r>
                        <a:rPr lang="en-US" sz="2400" dirty="0"/>
                        <a:t>x + x’ = 1</a:t>
                      </a:r>
                    </a:p>
                  </a:txBody>
                  <a:tcPr/>
                </a:tc>
                <a:extLst>
                  <a:ext uri="{0D108BD9-81ED-4DB2-BD59-A6C34878D82A}">
                    <a16:rowId xmlns:a16="http://schemas.microsoft.com/office/drawing/2014/main" val="3165771403"/>
                  </a:ext>
                </a:extLst>
              </a:tr>
            </a:tbl>
          </a:graphicData>
        </a:graphic>
      </p:graphicFrame>
      <p:sp>
        <p:nvSpPr>
          <p:cNvPr id="8" name="Title 1">
            <a:extLst>
              <a:ext uri="{FF2B5EF4-FFF2-40B4-BE49-F238E27FC236}">
                <a16:creationId xmlns:a16="http://schemas.microsoft.com/office/drawing/2014/main" id="{5A322170-3A22-7BD9-9185-5D8FD46628DC}"/>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250468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4E545-BB5B-1D56-9A18-1069612902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C05E12-A29F-8479-EE48-16BD3AB2638F}"/>
              </a:ext>
            </a:extLst>
          </p:cNvPr>
          <p:cNvSpPr>
            <a:spLocks noGrp="1"/>
          </p:cNvSpPr>
          <p:nvPr>
            <p:ph idx="1"/>
          </p:nvPr>
        </p:nvSpPr>
        <p:spPr/>
        <p:txBody>
          <a:bodyPr/>
          <a:lstStyle/>
          <a:p>
            <a:r>
              <a:rPr lang="en-US" altLang="en-US" sz="2800"/>
              <a:t>This second group of Boolean identities should be familiar from high school algebra:</a:t>
            </a:r>
          </a:p>
        </p:txBody>
      </p:sp>
      <p:graphicFrame>
        <p:nvGraphicFramePr>
          <p:cNvPr id="4" name="Table 3">
            <a:extLst>
              <a:ext uri="{FF2B5EF4-FFF2-40B4-BE49-F238E27FC236}">
                <a16:creationId xmlns:a16="http://schemas.microsoft.com/office/drawing/2014/main" id="{5DC10792-A20C-0F92-4DD1-F93DFEAEE44E}"/>
              </a:ext>
            </a:extLst>
          </p:cNvPr>
          <p:cNvGraphicFramePr>
            <a:graphicFrameLocks noGrp="1"/>
          </p:cNvGraphicFramePr>
          <p:nvPr>
            <p:extLst>
              <p:ext uri="{D42A27DB-BD31-4B8C-83A1-F6EECF244321}">
                <p14:modId xmlns:p14="http://schemas.microsoft.com/office/powerpoint/2010/main" val="2315878712"/>
              </p:ext>
            </p:extLst>
          </p:nvPr>
        </p:nvGraphicFramePr>
        <p:xfrm>
          <a:off x="484542" y="3017523"/>
          <a:ext cx="11201400" cy="1828800"/>
        </p:xfrm>
        <a:graphic>
          <a:graphicData uri="http://schemas.openxmlformats.org/drawingml/2006/table">
            <a:tbl>
              <a:tblPr firstRow="1" bandRow="1">
                <a:tableStyleId>{073A0DAA-6AF3-43AB-8588-CEC1D06C72B9}</a:tableStyleId>
              </a:tblPr>
              <a:tblGrid>
                <a:gridCol w="3124200">
                  <a:extLst>
                    <a:ext uri="{9D8B030D-6E8A-4147-A177-3AD203B41FA5}">
                      <a16:colId xmlns:a16="http://schemas.microsoft.com/office/drawing/2014/main" val="2780462019"/>
                    </a:ext>
                  </a:extLst>
                </a:gridCol>
                <a:gridCol w="3810000">
                  <a:extLst>
                    <a:ext uri="{9D8B030D-6E8A-4147-A177-3AD203B41FA5}">
                      <a16:colId xmlns:a16="http://schemas.microsoft.com/office/drawing/2014/main" val="1155341415"/>
                    </a:ext>
                  </a:extLst>
                </a:gridCol>
                <a:gridCol w="4267200">
                  <a:extLst>
                    <a:ext uri="{9D8B030D-6E8A-4147-A177-3AD203B41FA5}">
                      <a16:colId xmlns:a16="http://schemas.microsoft.com/office/drawing/2014/main" val="1443851111"/>
                    </a:ext>
                  </a:extLst>
                </a:gridCol>
              </a:tblGrid>
              <a:tr h="370840">
                <a:tc>
                  <a:txBody>
                    <a:bodyPr/>
                    <a:lstStyle/>
                    <a:p>
                      <a:pPr algn="ctr"/>
                      <a:r>
                        <a:rPr lang="en-US" sz="2400" dirty="0"/>
                        <a:t>Identity Name</a:t>
                      </a:r>
                    </a:p>
                  </a:txBody>
                  <a:tcPr/>
                </a:tc>
                <a:tc>
                  <a:txBody>
                    <a:bodyPr/>
                    <a:lstStyle/>
                    <a:p>
                      <a:pPr algn="ctr"/>
                      <a:r>
                        <a:rPr lang="en-US" sz="2400" dirty="0"/>
                        <a:t>AND Form</a:t>
                      </a:r>
                    </a:p>
                  </a:txBody>
                  <a:tcPr/>
                </a:tc>
                <a:tc>
                  <a:txBody>
                    <a:bodyPr/>
                    <a:lstStyle/>
                    <a:p>
                      <a:pPr algn="ctr"/>
                      <a:r>
                        <a:rPr lang="en-US" sz="2400" dirty="0"/>
                        <a:t>OR Form</a:t>
                      </a:r>
                    </a:p>
                  </a:txBody>
                  <a:tcPr/>
                </a:tc>
                <a:extLst>
                  <a:ext uri="{0D108BD9-81ED-4DB2-BD59-A6C34878D82A}">
                    <a16:rowId xmlns:a16="http://schemas.microsoft.com/office/drawing/2014/main" val="2763696928"/>
                  </a:ext>
                </a:extLst>
              </a:tr>
              <a:tr h="370840">
                <a:tc>
                  <a:txBody>
                    <a:bodyPr/>
                    <a:lstStyle/>
                    <a:p>
                      <a:pPr algn="ctr"/>
                      <a:r>
                        <a:rPr lang="en-US" sz="2400" dirty="0"/>
                        <a:t>Commutative Law</a:t>
                      </a:r>
                    </a:p>
                  </a:txBody>
                  <a:tcPr/>
                </a:tc>
                <a:tc>
                  <a:txBody>
                    <a:bodyPr/>
                    <a:lstStyle/>
                    <a:p>
                      <a:pPr algn="ctr"/>
                      <a:r>
                        <a:rPr lang="en-US" sz="2400" dirty="0" err="1"/>
                        <a:t>xy</a:t>
                      </a:r>
                      <a:r>
                        <a:rPr lang="en-US" sz="2400" dirty="0"/>
                        <a:t> = </a:t>
                      </a:r>
                      <a:r>
                        <a:rPr lang="en-US" sz="2400" dirty="0" err="1"/>
                        <a:t>yx</a:t>
                      </a:r>
                      <a:endParaRPr lang="en-US" sz="2400" dirty="0"/>
                    </a:p>
                  </a:txBody>
                  <a:tcPr/>
                </a:tc>
                <a:tc>
                  <a:txBody>
                    <a:bodyPr/>
                    <a:lstStyle/>
                    <a:p>
                      <a:pPr algn="ctr"/>
                      <a:r>
                        <a:rPr lang="en-US" sz="2400" err="1"/>
                        <a:t>x+y</a:t>
                      </a:r>
                      <a:r>
                        <a:rPr lang="en-US" sz="2400" dirty="0"/>
                        <a:t> = </a:t>
                      </a:r>
                      <a:r>
                        <a:rPr lang="en-US" sz="2400" err="1"/>
                        <a:t>y+x</a:t>
                      </a:r>
                      <a:endParaRPr lang="en-US" sz="2400"/>
                    </a:p>
                  </a:txBody>
                  <a:tcPr/>
                </a:tc>
                <a:extLst>
                  <a:ext uri="{0D108BD9-81ED-4DB2-BD59-A6C34878D82A}">
                    <a16:rowId xmlns:a16="http://schemas.microsoft.com/office/drawing/2014/main" val="1033269395"/>
                  </a:ext>
                </a:extLst>
              </a:tr>
              <a:tr h="370840">
                <a:tc>
                  <a:txBody>
                    <a:bodyPr/>
                    <a:lstStyle/>
                    <a:p>
                      <a:pPr algn="ctr"/>
                      <a:r>
                        <a:rPr lang="en-US" sz="2400" dirty="0"/>
                        <a:t>Associative Law</a:t>
                      </a:r>
                    </a:p>
                  </a:txBody>
                  <a:tcPr/>
                </a:tc>
                <a:tc>
                  <a:txBody>
                    <a:bodyPr/>
                    <a:lstStyle/>
                    <a:p>
                      <a:pPr algn="ctr"/>
                      <a:r>
                        <a:rPr lang="en-US" sz="2400" dirty="0"/>
                        <a:t>(</a:t>
                      </a:r>
                      <a:r>
                        <a:rPr lang="en-US" sz="2400" err="1"/>
                        <a:t>xy</a:t>
                      </a:r>
                      <a:r>
                        <a:rPr lang="en-US" sz="2400" dirty="0"/>
                        <a:t>)z = x(</a:t>
                      </a:r>
                      <a:r>
                        <a:rPr lang="en-US" sz="2400" err="1"/>
                        <a:t>yz</a:t>
                      </a:r>
                      <a:r>
                        <a:rPr lang="en-US" sz="2400" dirty="0"/>
                        <a:t>)</a:t>
                      </a:r>
                    </a:p>
                  </a:txBody>
                  <a:tcPr/>
                </a:tc>
                <a:tc>
                  <a:txBody>
                    <a:bodyPr/>
                    <a:lstStyle/>
                    <a:p>
                      <a:pPr algn="ctr"/>
                      <a:r>
                        <a:rPr lang="en-US" sz="2400" dirty="0"/>
                        <a:t>(</a:t>
                      </a:r>
                      <a:r>
                        <a:rPr lang="en-US" sz="2400" err="1"/>
                        <a:t>x+y</a:t>
                      </a:r>
                      <a:r>
                        <a:rPr lang="en-US" sz="2400" dirty="0"/>
                        <a:t>)+z = x+(</a:t>
                      </a:r>
                      <a:r>
                        <a:rPr lang="en-US" sz="2400" err="1"/>
                        <a:t>y+z</a:t>
                      </a:r>
                      <a:r>
                        <a:rPr lang="en-US" sz="2400" dirty="0"/>
                        <a:t>)</a:t>
                      </a:r>
                    </a:p>
                  </a:txBody>
                  <a:tcPr/>
                </a:tc>
                <a:extLst>
                  <a:ext uri="{0D108BD9-81ED-4DB2-BD59-A6C34878D82A}">
                    <a16:rowId xmlns:a16="http://schemas.microsoft.com/office/drawing/2014/main" val="2600521341"/>
                  </a:ext>
                </a:extLst>
              </a:tr>
              <a:tr h="370840">
                <a:tc>
                  <a:txBody>
                    <a:bodyPr/>
                    <a:lstStyle/>
                    <a:p>
                      <a:pPr algn="ctr"/>
                      <a:r>
                        <a:rPr lang="en-US" sz="2400" dirty="0"/>
                        <a:t>Distributive Law</a:t>
                      </a:r>
                    </a:p>
                  </a:txBody>
                  <a:tcPr/>
                </a:tc>
                <a:tc>
                  <a:txBody>
                    <a:bodyPr/>
                    <a:lstStyle/>
                    <a:p>
                      <a:pPr algn="ctr"/>
                      <a:r>
                        <a:rPr lang="en-US" sz="2400" err="1"/>
                        <a:t>x+yz</a:t>
                      </a:r>
                      <a:r>
                        <a:rPr lang="en-US" sz="2400" dirty="0"/>
                        <a:t> = (</a:t>
                      </a:r>
                      <a:r>
                        <a:rPr lang="en-US" sz="2400" err="1"/>
                        <a:t>x+y</a:t>
                      </a:r>
                      <a:r>
                        <a:rPr lang="en-US" sz="2400" dirty="0"/>
                        <a:t>)(</a:t>
                      </a:r>
                      <a:r>
                        <a:rPr lang="en-US" sz="2400" err="1"/>
                        <a:t>x+z</a:t>
                      </a:r>
                      <a:r>
                        <a:rPr lang="en-US" sz="2400" dirty="0"/>
                        <a:t>)</a:t>
                      </a:r>
                    </a:p>
                  </a:txBody>
                  <a:tcPr/>
                </a:tc>
                <a:tc>
                  <a:txBody>
                    <a:bodyPr/>
                    <a:lstStyle/>
                    <a:p>
                      <a:pPr algn="ctr"/>
                      <a:r>
                        <a:rPr lang="en-US" sz="2400" dirty="0"/>
                        <a:t>x(</a:t>
                      </a:r>
                      <a:r>
                        <a:rPr lang="en-US" sz="2400" err="1"/>
                        <a:t>y+z</a:t>
                      </a:r>
                      <a:r>
                        <a:rPr lang="en-US" sz="2400" dirty="0"/>
                        <a:t>) = </a:t>
                      </a:r>
                      <a:r>
                        <a:rPr lang="en-US" sz="2400" err="1"/>
                        <a:t>xy+xz</a:t>
                      </a:r>
                      <a:endParaRPr lang="en-US" sz="2400"/>
                    </a:p>
                  </a:txBody>
                  <a:tcPr/>
                </a:tc>
                <a:extLst>
                  <a:ext uri="{0D108BD9-81ED-4DB2-BD59-A6C34878D82A}">
                    <a16:rowId xmlns:a16="http://schemas.microsoft.com/office/drawing/2014/main" val="1802581302"/>
                  </a:ext>
                </a:extLst>
              </a:tr>
            </a:tbl>
          </a:graphicData>
        </a:graphic>
      </p:graphicFrame>
      <p:sp>
        <p:nvSpPr>
          <p:cNvPr id="8" name="Title 1">
            <a:extLst>
              <a:ext uri="{FF2B5EF4-FFF2-40B4-BE49-F238E27FC236}">
                <a16:creationId xmlns:a16="http://schemas.microsoft.com/office/drawing/2014/main" id="{B98B7217-18E4-BF74-B8DC-1531F0ACE53D}"/>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3560560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0E751-2197-0C4B-22F5-6089F98A58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858B66-2D74-3909-27D3-AFB9CE9AD56A}"/>
              </a:ext>
            </a:extLst>
          </p:cNvPr>
          <p:cNvSpPr>
            <a:spLocks noGrp="1"/>
          </p:cNvSpPr>
          <p:nvPr>
            <p:ph idx="1"/>
          </p:nvPr>
        </p:nvSpPr>
        <p:spPr/>
        <p:txBody>
          <a:bodyPr/>
          <a:lstStyle/>
          <a:p>
            <a:r>
              <a:rPr lang="en-US" altLang="en-US" sz="2800"/>
              <a:t>The last group of Boolean identities are perhaps the most useful.</a:t>
            </a:r>
          </a:p>
          <a:p>
            <a:r>
              <a:rPr lang="en-US" altLang="en-US" sz="2800"/>
              <a:t>These laws appear in set theory and formal logic.</a:t>
            </a:r>
          </a:p>
        </p:txBody>
      </p:sp>
      <p:graphicFrame>
        <p:nvGraphicFramePr>
          <p:cNvPr id="5" name="Table 4">
            <a:extLst>
              <a:ext uri="{FF2B5EF4-FFF2-40B4-BE49-F238E27FC236}">
                <a16:creationId xmlns:a16="http://schemas.microsoft.com/office/drawing/2014/main" id="{DE189195-A693-AC1F-7577-2B85FCE6169F}"/>
              </a:ext>
            </a:extLst>
          </p:cNvPr>
          <p:cNvGraphicFramePr>
            <a:graphicFrameLocks noGrp="1"/>
          </p:cNvGraphicFramePr>
          <p:nvPr>
            <p:extLst>
              <p:ext uri="{D42A27DB-BD31-4B8C-83A1-F6EECF244321}">
                <p14:modId xmlns:p14="http://schemas.microsoft.com/office/powerpoint/2010/main" val="536800366"/>
              </p:ext>
            </p:extLst>
          </p:nvPr>
        </p:nvGraphicFramePr>
        <p:xfrm>
          <a:off x="484542" y="3017523"/>
          <a:ext cx="11201400" cy="2194560"/>
        </p:xfrm>
        <a:graphic>
          <a:graphicData uri="http://schemas.openxmlformats.org/drawingml/2006/table">
            <a:tbl>
              <a:tblPr firstRow="1" bandRow="1">
                <a:tableStyleId>{073A0DAA-6AF3-43AB-8588-CEC1D06C72B9}</a:tableStyleId>
              </a:tblPr>
              <a:tblGrid>
                <a:gridCol w="3124200">
                  <a:extLst>
                    <a:ext uri="{9D8B030D-6E8A-4147-A177-3AD203B41FA5}">
                      <a16:colId xmlns:a16="http://schemas.microsoft.com/office/drawing/2014/main" val="2780462019"/>
                    </a:ext>
                  </a:extLst>
                </a:gridCol>
                <a:gridCol w="3810000">
                  <a:extLst>
                    <a:ext uri="{9D8B030D-6E8A-4147-A177-3AD203B41FA5}">
                      <a16:colId xmlns:a16="http://schemas.microsoft.com/office/drawing/2014/main" val="1155341415"/>
                    </a:ext>
                  </a:extLst>
                </a:gridCol>
                <a:gridCol w="4267200">
                  <a:extLst>
                    <a:ext uri="{9D8B030D-6E8A-4147-A177-3AD203B41FA5}">
                      <a16:colId xmlns:a16="http://schemas.microsoft.com/office/drawing/2014/main" val="1443851111"/>
                    </a:ext>
                  </a:extLst>
                </a:gridCol>
              </a:tblGrid>
              <a:tr h="370840">
                <a:tc>
                  <a:txBody>
                    <a:bodyPr/>
                    <a:lstStyle/>
                    <a:p>
                      <a:pPr algn="ctr"/>
                      <a:r>
                        <a:rPr lang="en-US" sz="2400" dirty="0"/>
                        <a:t>Identity Name</a:t>
                      </a:r>
                    </a:p>
                  </a:txBody>
                  <a:tcPr/>
                </a:tc>
                <a:tc>
                  <a:txBody>
                    <a:bodyPr/>
                    <a:lstStyle/>
                    <a:p>
                      <a:pPr algn="ctr"/>
                      <a:r>
                        <a:rPr lang="en-US" sz="2400" dirty="0"/>
                        <a:t>AND Form</a:t>
                      </a:r>
                    </a:p>
                  </a:txBody>
                  <a:tcPr/>
                </a:tc>
                <a:tc>
                  <a:txBody>
                    <a:bodyPr/>
                    <a:lstStyle/>
                    <a:p>
                      <a:pPr algn="ctr"/>
                      <a:r>
                        <a:rPr lang="en-US" sz="2400" dirty="0"/>
                        <a:t>OR Form</a:t>
                      </a:r>
                    </a:p>
                  </a:txBody>
                  <a:tcPr/>
                </a:tc>
                <a:extLst>
                  <a:ext uri="{0D108BD9-81ED-4DB2-BD59-A6C34878D82A}">
                    <a16:rowId xmlns:a16="http://schemas.microsoft.com/office/drawing/2014/main" val="2763696928"/>
                  </a:ext>
                </a:extLst>
              </a:tr>
              <a:tr h="370840">
                <a:tc>
                  <a:txBody>
                    <a:bodyPr/>
                    <a:lstStyle/>
                    <a:p>
                      <a:pPr algn="ctr"/>
                      <a:r>
                        <a:rPr lang="en-US" sz="2400" dirty="0"/>
                        <a:t>Absorption Law</a:t>
                      </a:r>
                    </a:p>
                  </a:txBody>
                  <a:tcPr/>
                </a:tc>
                <a:tc>
                  <a:txBody>
                    <a:bodyPr/>
                    <a:lstStyle/>
                    <a:p>
                      <a:pPr algn="ctr"/>
                      <a:r>
                        <a:rPr lang="en-US" sz="2400" dirty="0"/>
                        <a:t>x(</a:t>
                      </a:r>
                      <a:r>
                        <a:rPr lang="en-US" sz="2400" dirty="0" err="1"/>
                        <a:t>x+y</a:t>
                      </a:r>
                      <a:r>
                        <a:rPr lang="en-US" sz="2400" dirty="0"/>
                        <a:t>) = x</a:t>
                      </a:r>
                    </a:p>
                  </a:txBody>
                  <a:tcPr/>
                </a:tc>
                <a:tc>
                  <a:txBody>
                    <a:bodyPr/>
                    <a:lstStyle/>
                    <a:p>
                      <a:pPr algn="ctr"/>
                      <a:r>
                        <a:rPr lang="en-US" sz="2400" dirty="0" err="1"/>
                        <a:t>x+xy</a:t>
                      </a:r>
                      <a:r>
                        <a:rPr lang="en-US" sz="2400" dirty="0"/>
                        <a:t> = x</a:t>
                      </a:r>
                    </a:p>
                  </a:txBody>
                  <a:tcPr/>
                </a:tc>
                <a:extLst>
                  <a:ext uri="{0D108BD9-81ED-4DB2-BD59-A6C34878D82A}">
                    <a16:rowId xmlns:a16="http://schemas.microsoft.com/office/drawing/2014/main" val="1033269395"/>
                  </a:ext>
                </a:extLst>
              </a:tr>
              <a:tr h="370840">
                <a:tc>
                  <a:txBody>
                    <a:bodyPr/>
                    <a:lstStyle/>
                    <a:p>
                      <a:pPr algn="ctr"/>
                      <a:r>
                        <a:rPr lang="en-US" sz="2400" dirty="0"/>
                        <a:t>De Morgan’s Law</a:t>
                      </a:r>
                    </a:p>
                  </a:txBody>
                  <a:tcPr/>
                </a:tc>
                <a:tc>
                  <a:txBody>
                    <a:bodyPr/>
                    <a:lstStyle/>
                    <a:p>
                      <a:pPr algn="ctr"/>
                      <a:r>
                        <a:rPr lang="en-US" sz="2400" dirty="0"/>
                        <a:t>(</a:t>
                      </a:r>
                      <a:r>
                        <a:rPr lang="en-US" sz="2400" dirty="0" err="1"/>
                        <a:t>xy</a:t>
                      </a:r>
                      <a:r>
                        <a:rPr lang="en-US" sz="2400" dirty="0"/>
                        <a:t>) = </a:t>
                      </a:r>
                      <a:r>
                        <a:rPr lang="en-US" sz="2400" dirty="0" err="1"/>
                        <a:t>x’+y</a:t>
                      </a:r>
                      <a:r>
                        <a:rPr lang="en-US" sz="2400" dirty="0"/>
                        <a:t>’</a:t>
                      </a:r>
                    </a:p>
                  </a:txBody>
                  <a:tcPr/>
                </a:tc>
                <a:tc>
                  <a:txBody>
                    <a:bodyPr/>
                    <a:lstStyle/>
                    <a:p>
                      <a:pPr algn="ctr"/>
                      <a:r>
                        <a:rPr lang="en-US" sz="2400" dirty="0"/>
                        <a:t>(</a:t>
                      </a:r>
                      <a:r>
                        <a:rPr lang="en-US" sz="2400" dirty="0" err="1"/>
                        <a:t>x+y</a:t>
                      </a:r>
                      <a:r>
                        <a:rPr lang="en-US" sz="2400" dirty="0"/>
                        <a:t>)’ = </a:t>
                      </a:r>
                      <a:r>
                        <a:rPr lang="en-US" sz="2400" dirty="0" err="1"/>
                        <a:t>x’y</a:t>
                      </a:r>
                      <a:r>
                        <a:rPr lang="en-US" sz="2400" dirty="0"/>
                        <a:t>’</a:t>
                      </a:r>
                    </a:p>
                  </a:txBody>
                  <a:tcPr/>
                </a:tc>
                <a:extLst>
                  <a:ext uri="{0D108BD9-81ED-4DB2-BD59-A6C34878D82A}">
                    <a16:rowId xmlns:a16="http://schemas.microsoft.com/office/drawing/2014/main" val="2600521341"/>
                  </a:ext>
                </a:extLst>
              </a:tr>
              <a:tr h="370840">
                <a:tc>
                  <a:txBody>
                    <a:bodyPr/>
                    <a:lstStyle/>
                    <a:p>
                      <a:pPr algn="ctr"/>
                      <a:r>
                        <a:rPr lang="en-US" sz="2400" dirty="0"/>
                        <a:t>Double Complement Law</a:t>
                      </a:r>
                    </a:p>
                  </a:txBody>
                  <a:tcPr/>
                </a:tc>
                <a:tc gridSpan="2">
                  <a:txBody>
                    <a:bodyPr/>
                    <a:lstStyle/>
                    <a:p>
                      <a:pPr algn="ctr"/>
                      <a:r>
                        <a:rPr lang="en-US" sz="2400" dirty="0"/>
                        <a:t>(x)’’=x</a:t>
                      </a:r>
                    </a:p>
                  </a:txBody>
                  <a:tcPr anchor="ctr"/>
                </a:tc>
                <a:tc hMerge="1">
                  <a:txBody>
                    <a:bodyPr/>
                    <a:lstStyle/>
                    <a:p>
                      <a:pPr algn="ctr"/>
                      <a:endParaRPr lang="en-US" sz="2400" b="0">
                        <a:latin typeface="Courier New" panose="02070309020205020404" pitchFamily="49" charset="0"/>
                        <a:cs typeface="Courier New" panose="02070309020205020404" pitchFamily="49" charset="0"/>
                      </a:endParaRPr>
                    </a:p>
                  </a:txBody>
                  <a:tcPr marL="0" marR="0" marT="0" marB="0" horzOverflow="overflow"/>
                </a:tc>
                <a:extLst>
                  <a:ext uri="{0D108BD9-81ED-4DB2-BD59-A6C34878D82A}">
                    <a16:rowId xmlns:a16="http://schemas.microsoft.com/office/drawing/2014/main" val="1802581302"/>
                  </a:ext>
                </a:extLst>
              </a:tr>
            </a:tbl>
          </a:graphicData>
        </a:graphic>
      </p:graphicFrame>
      <p:sp>
        <p:nvSpPr>
          <p:cNvPr id="8" name="Title 1">
            <a:extLst>
              <a:ext uri="{FF2B5EF4-FFF2-40B4-BE49-F238E27FC236}">
                <a16:creationId xmlns:a16="http://schemas.microsoft.com/office/drawing/2014/main" id="{3491A4AE-D18D-3D5E-28D1-D5C1087EFD66}"/>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1429103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97113-549C-09BE-A144-D9D43E7354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5E99A2-BA99-4847-8954-C8CB7DDB58B9}"/>
              </a:ext>
            </a:extLst>
          </p:cNvPr>
          <p:cNvSpPr>
            <a:spLocks noGrp="1"/>
          </p:cNvSpPr>
          <p:nvPr>
            <p:ph idx="1"/>
          </p:nvPr>
        </p:nvSpPr>
        <p:spPr/>
        <p:txBody>
          <a:bodyPr lIns="91440" tIns="45720" rIns="91440" bIns="45720" anchor="t"/>
          <a:lstStyle/>
          <a:p>
            <a:r>
              <a:rPr lang="en-US" altLang="en-US" sz="2600" dirty="0"/>
              <a:t>The complement of the product of two variables equals the sum of their complements</a:t>
            </a:r>
            <a:endParaRPr lang="en-US" altLang="en-US" sz="2600" dirty="0">
              <a:ea typeface="Calibri"/>
            </a:endParaRPr>
          </a:p>
          <a:p>
            <a:pPr algn="ctr"/>
            <a:endParaRPr lang="en-US" sz="2800" b="1" dirty="0">
              <a:latin typeface="Courier New"/>
              <a:cs typeface="Courier New"/>
            </a:endParaRPr>
          </a:p>
          <a:p>
            <a:pPr algn="ctr"/>
            <a:r>
              <a:rPr lang="en-US" sz="2800" b="1" dirty="0">
                <a:latin typeface="Courier New"/>
                <a:cs typeface="Courier New"/>
              </a:rPr>
              <a:t>(</a:t>
            </a:r>
            <a:r>
              <a:rPr lang="en-US" sz="2800" b="1" dirty="0" err="1">
                <a:latin typeface="Courier New"/>
                <a:cs typeface="Courier New"/>
              </a:rPr>
              <a:t>xy</a:t>
            </a:r>
            <a:r>
              <a:rPr lang="en-US" sz="2800" b="1" dirty="0">
                <a:latin typeface="Courier New"/>
                <a:cs typeface="Courier New"/>
              </a:rPr>
              <a:t>) = </a:t>
            </a:r>
            <a:r>
              <a:rPr lang="en-US" sz="2800" b="1" dirty="0" err="1">
                <a:latin typeface="Courier New"/>
                <a:cs typeface="Courier New"/>
              </a:rPr>
              <a:t>x’+y</a:t>
            </a:r>
            <a:r>
              <a:rPr lang="en-US" sz="2800" b="1" dirty="0">
                <a:latin typeface="Courier New"/>
                <a:cs typeface="Courier New"/>
              </a:rPr>
              <a:t>’</a:t>
            </a:r>
            <a:endParaRPr lang="en-US" sz="2800" dirty="0">
              <a:latin typeface="Courier New"/>
              <a:cs typeface="Courier New"/>
            </a:endParaRPr>
          </a:p>
          <a:p>
            <a:endParaRPr lang="en-US" altLang="en-US" sz="2600" dirty="0">
              <a:latin typeface="Calibri"/>
              <a:ea typeface="Calibri"/>
            </a:endParaRPr>
          </a:p>
          <a:p>
            <a:endParaRPr lang="en-US" altLang="en-US" sz="2600" dirty="0">
              <a:latin typeface="Calibri"/>
              <a:ea typeface="Calibri"/>
            </a:endParaRPr>
          </a:p>
          <a:p>
            <a:r>
              <a:rPr lang="en-US" sz="2600" dirty="0">
                <a:latin typeface="Calibri"/>
                <a:ea typeface="Calibri"/>
                <a:cs typeface="Calibri"/>
              </a:rPr>
              <a:t>The complement of the sum of two variables equals the product of their complements</a:t>
            </a:r>
          </a:p>
          <a:p>
            <a:pPr algn="ctr"/>
            <a:endParaRPr lang="en-US" sz="2800" b="1" dirty="0">
              <a:latin typeface="Courier New"/>
              <a:ea typeface="Calibri"/>
              <a:cs typeface="Courier New"/>
            </a:endParaRPr>
          </a:p>
          <a:p>
            <a:pPr algn="ctr"/>
            <a:r>
              <a:rPr lang="en-US" sz="2800" b="1" dirty="0">
                <a:latin typeface="Courier New"/>
                <a:cs typeface="Courier New"/>
              </a:rPr>
              <a:t>(</a:t>
            </a:r>
            <a:r>
              <a:rPr lang="en-US" sz="2800" b="1" dirty="0" err="1">
                <a:latin typeface="Courier New"/>
                <a:cs typeface="Courier New"/>
              </a:rPr>
              <a:t>x+y</a:t>
            </a:r>
            <a:r>
              <a:rPr lang="en-US" sz="2800" b="1" dirty="0">
                <a:latin typeface="Courier New"/>
                <a:cs typeface="Courier New"/>
              </a:rPr>
              <a:t>)’ = </a:t>
            </a:r>
            <a:r>
              <a:rPr lang="en-US" sz="2800" b="1" dirty="0" err="1">
                <a:latin typeface="Courier New"/>
                <a:cs typeface="Courier New"/>
              </a:rPr>
              <a:t>x’y</a:t>
            </a:r>
            <a:r>
              <a:rPr lang="en-US" sz="2800" b="1" dirty="0">
                <a:latin typeface="Courier New"/>
                <a:cs typeface="Courier New"/>
              </a:rPr>
              <a:t>’</a:t>
            </a:r>
            <a:endParaRPr lang="en-US" altLang="en-US" sz="2600">
              <a:ea typeface="Calibri"/>
            </a:endParaRPr>
          </a:p>
        </p:txBody>
      </p:sp>
      <p:sp>
        <p:nvSpPr>
          <p:cNvPr id="7" name="Title 1">
            <a:extLst>
              <a:ext uri="{FF2B5EF4-FFF2-40B4-BE49-F238E27FC236}">
                <a16:creationId xmlns:a16="http://schemas.microsoft.com/office/drawing/2014/main" id="{A8675F5D-32C4-F1C0-50C2-7A0CE1FFD5F9}"/>
              </a:ext>
            </a:extLst>
          </p:cNvPr>
          <p:cNvSpPr>
            <a:spLocks noGrp="1"/>
          </p:cNvSpPr>
          <p:nvPr>
            <p:ph type="title"/>
          </p:nvPr>
        </p:nvSpPr>
        <p:spPr>
          <a:xfrm>
            <a:off x="406401" y="0"/>
            <a:ext cx="11784403" cy="861210"/>
          </a:xfrm>
        </p:spPr>
        <p:txBody>
          <a:bodyPr lIns="91440" tIns="45720" rIns="91440" bIns="45720" anchor="t"/>
          <a:lstStyle/>
          <a:p>
            <a:r>
              <a:rPr lang="en-US" dirty="0">
                <a:solidFill>
                  <a:schemeClr val="tx1"/>
                </a:solidFill>
                <a:ea typeface="+mj-lt"/>
                <a:cs typeface="+mj-lt"/>
              </a:rPr>
              <a:t>De Morgan’s Law </a:t>
            </a:r>
            <a:endParaRPr lang="en-US">
              <a:solidFill>
                <a:schemeClr val="tx1"/>
              </a:solidFill>
              <a:ea typeface="+mj-lt"/>
              <a:cs typeface="+mj-lt"/>
            </a:endParaRPr>
          </a:p>
        </p:txBody>
      </p:sp>
    </p:spTree>
    <p:extLst>
      <p:ext uri="{BB962C8B-B14F-4D97-AF65-F5344CB8AC3E}">
        <p14:creationId xmlns:p14="http://schemas.microsoft.com/office/powerpoint/2010/main" val="1379221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39A82-4718-C66C-503B-E9A7F75789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63C43F-1736-3FC3-CF89-ECCA1C929999}"/>
              </a:ext>
            </a:extLst>
          </p:cNvPr>
          <p:cNvSpPr>
            <a:spLocks noGrp="1"/>
          </p:cNvSpPr>
          <p:nvPr>
            <p:ph idx="1"/>
          </p:nvPr>
        </p:nvSpPr>
        <p:spPr/>
        <p:txBody>
          <a:bodyPr lIns="91440" tIns="45720" rIns="91440" bIns="45720" anchor="t"/>
          <a:lstStyle/>
          <a:p>
            <a:r>
              <a:rPr lang="en-US" altLang="en-US" sz="2800" dirty="0"/>
              <a:t>De Morgan’s law can be extended to any number of variables.</a:t>
            </a:r>
          </a:p>
          <a:p>
            <a:r>
              <a:rPr lang="en-US" altLang="en-US" sz="2800" b="1" dirty="0"/>
              <a:t>Replace each variable by its complement and change all ANDs to ORs and all ORs to ANDs.</a:t>
            </a:r>
            <a:endParaRPr lang="en-US" altLang="en-US" sz="2800" b="1" dirty="0">
              <a:ea typeface="Calibri"/>
            </a:endParaRPr>
          </a:p>
          <a:p>
            <a:r>
              <a:rPr lang="en-US" altLang="en-US" sz="2800" dirty="0"/>
              <a:t>Thus, we find the complement of:</a:t>
            </a:r>
            <a:endParaRPr lang="en-US" altLang="en-US" sz="2800" dirty="0">
              <a:ea typeface="Calibri"/>
            </a:endParaRPr>
          </a:p>
          <a:p>
            <a:pPr>
              <a:buFontTx/>
              <a:buNone/>
            </a:pPr>
            <a:endParaRPr lang="en-US" altLang="en-US" sz="2800"/>
          </a:p>
          <a:p>
            <a:pPr>
              <a:buFontTx/>
              <a:buNone/>
            </a:pPr>
            <a:r>
              <a:rPr lang="en-US" altLang="en-US" sz="2800" dirty="0"/>
              <a:t>	is:</a:t>
            </a:r>
            <a:endParaRPr lang="en-US" altLang="en-US" sz="2800" dirty="0">
              <a:ea typeface="Calibri"/>
            </a:endParaRPr>
          </a:p>
        </p:txBody>
      </p:sp>
      <p:pic>
        <p:nvPicPr>
          <p:cNvPr id="5" name="Picture 11">
            <a:extLst>
              <a:ext uri="{FF2B5EF4-FFF2-40B4-BE49-F238E27FC236}">
                <a16:creationId xmlns:a16="http://schemas.microsoft.com/office/drawing/2014/main" id="{DA62E4FC-108E-9346-5A44-4D35D3C40CD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3639" y="3352800"/>
            <a:ext cx="7324725" cy="447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pic>
      <p:pic>
        <p:nvPicPr>
          <p:cNvPr id="6" name="Picture 5">
            <a:extLst>
              <a:ext uri="{FF2B5EF4-FFF2-40B4-BE49-F238E27FC236}">
                <a16:creationId xmlns:a16="http://schemas.microsoft.com/office/drawing/2014/main" id="{7384EC09-F155-8816-AA89-602D0099CB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71738" y="4419601"/>
            <a:ext cx="7562850" cy="1247775"/>
          </a:xfrm>
          <a:prstGeom prst="rect">
            <a:avLst/>
          </a:prstGeom>
        </p:spPr>
      </p:pic>
      <p:sp>
        <p:nvSpPr>
          <p:cNvPr id="9" name="Title 1">
            <a:extLst>
              <a:ext uri="{FF2B5EF4-FFF2-40B4-BE49-F238E27FC236}">
                <a16:creationId xmlns:a16="http://schemas.microsoft.com/office/drawing/2014/main" id="{C743DA59-78DC-DA0F-6D47-F10E80908753}"/>
              </a:ext>
            </a:extLst>
          </p:cNvPr>
          <p:cNvSpPr>
            <a:spLocks noGrp="1"/>
          </p:cNvSpPr>
          <p:nvPr>
            <p:ph type="title"/>
          </p:nvPr>
        </p:nvSpPr>
        <p:spPr>
          <a:xfrm>
            <a:off x="406401" y="0"/>
            <a:ext cx="11784403" cy="861210"/>
          </a:xfrm>
        </p:spPr>
        <p:txBody>
          <a:bodyPr lIns="91440" tIns="45720" rIns="91440" bIns="45720" anchor="t"/>
          <a:lstStyle/>
          <a:p>
            <a:r>
              <a:rPr lang="en-US" dirty="0">
                <a:solidFill>
                  <a:schemeClr val="tx1"/>
                </a:solidFill>
                <a:cs typeface="Calibri"/>
              </a:rPr>
              <a:t>De Morgan’s Law </a:t>
            </a:r>
            <a:endParaRPr lang="en-US" b="0" dirty="0">
              <a:solidFill>
                <a:schemeClr val="tx1"/>
              </a:solidFill>
              <a:cs typeface="Calibri"/>
            </a:endParaRPr>
          </a:p>
          <a:p>
            <a:endParaRPr lang="en-US" dirty="0">
              <a:solidFill>
                <a:schemeClr val="tx1"/>
              </a:solidFill>
              <a:ea typeface="Calibri"/>
            </a:endParaRPr>
          </a:p>
        </p:txBody>
      </p:sp>
    </p:spTree>
    <p:extLst>
      <p:ext uri="{BB962C8B-B14F-4D97-AF65-F5344CB8AC3E}">
        <p14:creationId xmlns:p14="http://schemas.microsoft.com/office/powerpoint/2010/main" val="2063934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CEAA5-E40D-8EF5-012E-9E1B4F5419B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A06B353-6640-488B-33CC-014706C0BC36}"/>
              </a:ext>
            </a:extLst>
          </p:cNvPr>
          <p:cNvGraphicFramePr>
            <a:graphicFrameLocks noGrp="1"/>
          </p:cNvGraphicFramePr>
          <p:nvPr>
            <p:extLst>
              <p:ext uri="{D42A27DB-BD31-4B8C-83A1-F6EECF244321}">
                <p14:modId xmlns:p14="http://schemas.microsoft.com/office/powerpoint/2010/main" val="3211012761"/>
              </p:ext>
            </p:extLst>
          </p:nvPr>
        </p:nvGraphicFramePr>
        <p:xfrm>
          <a:off x="527367" y="1371607"/>
          <a:ext cx="11137265" cy="5029200"/>
        </p:xfrm>
        <a:graphic>
          <a:graphicData uri="http://schemas.openxmlformats.org/drawingml/2006/table">
            <a:tbl>
              <a:tblPr firstRow="1" bandRow="1">
                <a:tableStyleId>{073A0DAA-6AF3-43AB-8588-CEC1D06C72B9}</a:tableStyleId>
              </a:tblPr>
              <a:tblGrid>
                <a:gridCol w="4199255">
                  <a:extLst>
                    <a:ext uri="{9D8B030D-6E8A-4147-A177-3AD203B41FA5}">
                      <a16:colId xmlns:a16="http://schemas.microsoft.com/office/drawing/2014/main" val="2780462019"/>
                    </a:ext>
                  </a:extLst>
                </a:gridCol>
                <a:gridCol w="3469005">
                  <a:extLst>
                    <a:ext uri="{9D8B030D-6E8A-4147-A177-3AD203B41FA5}">
                      <a16:colId xmlns:a16="http://schemas.microsoft.com/office/drawing/2014/main" val="1155341415"/>
                    </a:ext>
                  </a:extLst>
                </a:gridCol>
                <a:gridCol w="3469005">
                  <a:extLst>
                    <a:ext uri="{9D8B030D-6E8A-4147-A177-3AD203B41FA5}">
                      <a16:colId xmlns:a16="http://schemas.microsoft.com/office/drawing/2014/main" val="1443851111"/>
                    </a:ext>
                  </a:extLst>
                </a:gridCol>
              </a:tblGrid>
              <a:tr h="370840">
                <a:tc>
                  <a:txBody>
                    <a:bodyPr/>
                    <a:lstStyle/>
                    <a:p>
                      <a:pPr algn="ctr"/>
                      <a:r>
                        <a:rPr lang="en-US" sz="2400" dirty="0"/>
                        <a:t>Identity Name</a:t>
                      </a:r>
                    </a:p>
                  </a:txBody>
                  <a:tcPr/>
                </a:tc>
                <a:tc>
                  <a:txBody>
                    <a:bodyPr/>
                    <a:lstStyle/>
                    <a:p>
                      <a:pPr algn="ctr"/>
                      <a:r>
                        <a:rPr lang="en-US" sz="2400" dirty="0"/>
                        <a:t>AND Form</a:t>
                      </a:r>
                    </a:p>
                  </a:txBody>
                  <a:tcPr/>
                </a:tc>
                <a:tc>
                  <a:txBody>
                    <a:bodyPr/>
                    <a:lstStyle/>
                    <a:p>
                      <a:pPr algn="ctr"/>
                      <a:r>
                        <a:rPr lang="en-US" sz="2400" dirty="0"/>
                        <a:t>OR Form</a:t>
                      </a:r>
                    </a:p>
                  </a:txBody>
                  <a:tcPr/>
                </a:tc>
                <a:extLst>
                  <a:ext uri="{0D108BD9-81ED-4DB2-BD59-A6C34878D82A}">
                    <a16:rowId xmlns:a16="http://schemas.microsoft.com/office/drawing/2014/main" val="2763696928"/>
                  </a:ext>
                </a:extLst>
              </a:tr>
              <a:tr h="370840">
                <a:tc>
                  <a:txBody>
                    <a:bodyPr/>
                    <a:lstStyle/>
                    <a:p>
                      <a:pPr algn="ctr"/>
                      <a:r>
                        <a:rPr lang="en-US" sz="2400" dirty="0"/>
                        <a:t>Identity Law</a:t>
                      </a:r>
                    </a:p>
                  </a:txBody>
                  <a:tcPr/>
                </a:tc>
                <a:tc>
                  <a:txBody>
                    <a:bodyPr/>
                    <a:lstStyle/>
                    <a:p>
                      <a:pPr algn="ctr"/>
                      <a:r>
                        <a:rPr lang="en-US" sz="2400" dirty="0"/>
                        <a:t>1x = x</a:t>
                      </a:r>
                    </a:p>
                  </a:txBody>
                  <a:tcPr/>
                </a:tc>
                <a:tc>
                  <a:txBody>
                    <a:bodyPr/>
                    <a:lstStyle/>
                    <a:p>
                      <a:pPr algn="ctr"/>
                      <a:r>
                        <a:rPr lang="en-US" sz="2400" dirty="0"/>
                        <a:t>0 + x = x</a:t>
                      </a:r>
                    </a:p>
                  </a:txBody>
                  <a:tcPr/>
                </a:tc>
                <a:extLst>
                  <a:ext uri="{0D108BD9-81ED-4DB2-BD59-A6C34878D82A}">
                    <a16:rowId xmlns:a16="http://schemas.microsoft.com/office/drawing/2014/main" val="1033269395"/>
                  </a:ext>
                </a:extLst>
              </a:tr>
              <a:tr h="370840">
                <a:tc>
                  <a:txBody>
                    <a:bodyPr/>
                    <a:lstStyle/>
                    <a:p>
                      <a:pPr algn="ctr"/>
                      <a:r>
                        <a:rPr lang="en-US" sz="2400" dirty="0"/>
                        <a:t>Null Law</a:t>
                      </a:r>
                    </a:p>
                  </a:txBody>
                  <a:tcPr/>
                </a:tc>
                <a:tc>
                  <a:txBody>
                    <a:bodyPr/>
                    <a:lstStyle/>
                    <a:p>
                      <a:pPr algn="ctr"/>
                      <a:r>
                        <a:rPr lang="en-US" sz="2400" dirty="0"/>
                        <a:t>0x = 0</a:t>
                      </a:r>
                    </a:p>
                  </a:txBody>
                  <a:tcPr/>
                </a:tc>
                <a:tc>
                  <a:txBody>
                    <a:bodyPr/>
                    <a:lstStyle/>
                    <a:p>
                      <a:pPr algn="ctr"/>
                      <a:r>
                        <a:rPr lang="en-US" sz="2400" dirty="0"/>
                        <a:t>1 + x = 1</a:t>
                      </a:r>
                    </a:p>
                  </a:txBody>
                  <a:tcPr/>
                </a:tc>
                <a:extLst>
                  <a:ext uri="{0D108BD9-81ED-4DB2-BD59-A6C34878D82A}">
                    <a16:rowId xmlns:a16="http://schemas.microsoft.com/office/drawing/2014/main" val="2600521341"/>
                  </a:ext>
                </a:extLst>
              </a:tr>
              <a:tr h="370840">
                <a:tc>
                  <a:txBody>
                    <a:bodyPr/>
                    <a:lstStyle/>
                    <a:p>
                      <a:pPr algn="ctr"/>
                      <a:r>
                        <a:rPr lang="en-US" sz="2400" dirty="0"/>
                        <a:t>Idempotent Law</a:t>
                      </a:r>
                    </a:p>
                  </a:txBody>
                  <a:tcPr/>
                </a:tc>
                <a:tc>
                  <a:txBody>
                    <a:bodyPr/>
                    <a:lstStyle/>
                    <a:p>
                      <a:pPr algn="ctr"/>
                      <a:r>
                        <a:rPr lang="en-US" sz="2400" dirty="0"/>
                        <a:t>xx = x</a:t>
                      </a:r>
                    </a:p>
                  </a:txBody>
                  <a:tcPr/>
                </a:tc>
                <a:tc>
                  <a:txBody>
                    <a:bodyPr/>
                    <a:lstStyle/>
                    <a:p>
                      <a:pPr algn="ctr"/>
                      <a:r>
                        <a:rPr lang="en-US" sz="2400" dirty="0"/>
                        <a:t>x + x = x</a:t>
                      </a:r>
                    </a:p>
                  </a:txBody>
                  <a:tcPr/>
                </a:tc>
                <a:extLst>
                  <a:ext uri="{0D108BD9-81ED-4DB2-BD59-A6C34878D82A}">
                    <a16:rowId xmlns:a16="http://schemas.microsoft.com/office/drawing/2014/main" val="1802581302"/>
                  </a:ext>
                </a:extLst>
              </a:tr>
              <a:tr h="370840">
                <a:tc>
                  <a:txBody>
                    <a:bodyPr/>
                    <a:lstStyle/>
                    <a:p>
                      <a:pPr algn="ctr"/>
                      <a:r>
                        <a:rPr lang="en-US" sz="2400" dirty="0"/>
                        <a:t>Inverse Law</a:t>
                      </a:r>
                    </a:p>
                  </a:txBody>
                  <a:tcPr/>
                </a:tc>
                <a:tc>
                  <a:txBody>
                    <a:bodyPr/>
                    <a:lstStyle/>
                    <a:p>
                      <a:pPr algn="ctr"/>
                      <a:r>
                        <a:rPr lang="en-US" sz="2400" dirty="0"/>
                        <a:t>xx’ = 0</a:t>
                      </a:r>
                    </a:p>
                  </a:txBody>
                  <a:tcPr/>
                </a:tc>
                <a:tc>
                  <a:txBody>
                    <a:bodyPr/>
                    <a:lstStyle/>
                    <a:p>
                      <a:pPr algn="ctr"/>
                      <a:r>
                        <a:rPr lang="en-US" sz="2400" dirty="0"/>
                        <a:t>x + x’ = 1</a:t>
                      </a:r>
                    </a:p>
                  </a:txBody>
                  <a:tcPr/>
                </a:tc>
                <a:extLst>
                  <a:ext uri="{0D108BD9-81ED-4DB2-BD59-A6C34878D82A}">
                    <a16:rowId xmlns:a16="http://schemas.microsoft.com/office/drawing/2014/main" val="3165771403"/>
                  </a:ext>
                </a:extLst>
              </a:tr>
              <a:tr h="370840">
                <a:tc>
                  <a:txBody>
                    <a:bodyPr/>
                    <a:lstStyle/>
                    <a:p>
                      <a:pPr algn="ctr"/>
                      <a:r>
                        <a:rPr lang="en-US" sz="2400" dirty="0"/>
                        <a:t>Commutative Law</a:t>
                      </a:r>
                    </a:p>
                  </a:txBody>
                  <a:tcPr/>
                </a:tc>
                <a:tc>
                  <a:txBody>
                    <a:bodyPr/>
                    <a:lstStyle/>
                    <a:p>
                      <a:pPr algn="ctr"/>
                      <a:r>
                        <a:rPr lang="en-US" sz="2400" dirty="0" err="1"/>
                        <a:t>xy</a:t>
                      </a:r>
                      <a:r>
                        <a:rPr lang="en-US" sz="2400" dirty="0"/>
                        <a:t> = </a:t>
                      </a:r>
                      <a:r>
                        <a:rPr lang="en-US" sz="2400" dirty="0" err="1"/>
                        <a:t>yx</a:t>
                      </a:r>
                      <a:endParaRPr lang="en-US" sz="2400" dirty="0"/>
                    </a:p>
                  </a:txBody>
                  <a:tcPr/>
                </a:tc>
                <a:tc>
                  <a:txBody>
                    <a:bodyPr/>
                    <a:lstStyle/>
                    <a:p>
                      <a:pPr algn="ctr"/>
                      <a:r>
                        <a:rPr lang="en-US" sz="2400" dirty="0" err="1"/>
                        <a:t>x+y</a:t>
                      </a:r>
                      <a:r>
                        <a:rPr lang="en-US" sz="2400" dirty="0"/>
                        <a:t> = </a:t>
                      </a:r>
                      <a:r>
                        <a:rPr lang="en-US" sz="2400" dirty="0" err="1"/>
                        <a:t>y+x</a:t>
                      </a:r>
                      <a:endParaRPr lang="en-US" sz="2400" dirty="0"/>
                    </a:p>
                  </a:txBody>
                  <a:tcPr/>
                </a:tc>
                <a:extLst>
                  <a:ext uri="{0D108BD9-81ED-4DB2-BD59-A6C34878D82A}">
                    <a16:rowId xmlns:a16="http://schemas.microsoft.com/office/drawing/2014/main" val="900491547"/>
                  </a:ext>
                </a:extLst>
              </a:tr>
              <a:tr h="370840">
                <a:tc>
                  <a:txBody>
                    <a:bodyPr/>
                    <a:lstStyle/>
                    <a:p>
                      <a:pPr algn="ctr"/>
                      <a:r>
                        <a:rPr lang="en-US" sz="2400" dirty="0"/>
                        <a:t>Associative Law</a:t>
                      </a:r>
                    </a:p>
                  </a:txBody>
                  <a:tcPr/>
                </a:tc>
                <a:tc>
                  <a:txBody>
                    <a:bodyPr/>
                    <a:lstStyle/>
                    <a:p>
                      <a:pPr algn="ctr"/>
                      <a:r>
                        <a:rPr lang="en-US" sz="2400" dirty="0"/>
                        <a:t>(</a:t>
                      </a:r>
                      <a:r>
                        <a:rPr lang="en-US" sz="2400" dirty="0" err="1"/>
                        <a:t>xy</a:t>
                      </a:r>
                      <a:r>
                        <a:rPr lang="en-US" sz="2400" dirty="0"/>
                        <a:t>)z = x(</a:t>
                      </a:r>
                      <a:r>
                        <a:rPr lang="en-US" sz="2400" dirty="0" err="1"/>
                        <a:t>yz</a:t>
                      </a:r>
                      <a:r>
                        <a:rPr lang="en-US" sz="2400" dirty="0"/>
                        <a:t>)</a:t>
                      </a:r>
                    </a:p>
                  </a:txBody>
                  <a:tcPr/>
                </a:tc>
                <a:tc>
                  <a:txBody>
                    <a:bodyPr/>
                    <a:lstStyle/>
                    <a:p>
                      <a:pPr algn="ctr"/>
                      <a:r>
                        <a:rPr lang="en-US" sz="2400" dirty="0"/>
                        <a:t>(</a:t>
                      </a:r>
                      <a:r>
                        <a:rPr lang="en-US" sz="2400" dirty="0" err="1"/>
                        <a:t>x+y</a:t>
                      </a:r>
                      <a:r>
                        <a:rPr lang="en-US" sz="2400" dirty="0"/>
                        <a:t>)+z = x+(</a:t>
                      </a:r>
                      <a:r>
                        <a:rPr lang="en-US" sz="2400" dirty="0" err="1"/>
                        <a:t>y+z</a:t>
                      </a:r>
                      <a:r>
                        <a:rPr lang="en-US" sz="2400" dirty="0"/>
                        <a:t>)</a:t>
                      </a:r>
                    </a:p>
                  </a:txBody>
                  <a:tcPr/>
                </a:tc>
                <a:extLst>
                  <a:ext uri="{0D108BD9-81ED-4DB2-BD59-A6C34878D82A}">
                    <a16:rowId xmlns:a16="http://schemas.microsoft.com/office/drawing/2014/main" val="1449551253"/>
                  </a:ext>
                </a:extLst>
              </a:tr>
              <a:tr h="370840">
                <a:tc>
                  <a:txBody>
                    <a:bodyPr/>
                    <a:lstStyle/>
                    <a:p>
                      <a:pPr algn="ctr"/>
                      <a:r>
                        <a:rPr lang="en-US" sz="2400" dirty="0"/>
                        <a:t>Distributive Law</a:t>
                      </a:r>
                    </a:p>
                  </a:txBody>
                  <a:tcPr/>
                </a:tc>
                <a:tc>
                  <a:txBody>
                    <a:bodyPr/>
                    <a:lstStyle/>
                    <a:p>
                      <a:pPr algn="ctr"/>
                      <a:r>
                        <a:rPr lang="en-US" sz="2400" dirty="0" err="1"/>
                        <a:t>x+yz</a:t>
                      </a:r>
                      <a:r>
                        <a:rPr lang="en-US" sz="2400" dirty="0"/>
                        <a:t> = (</a:t>
                      </a:r>
                      <a:r>
                        <a:rPr lang="en-US" sz="2400" dirty="0" err="1"/>
                        <a:t>x+y</a:t>
                      </a:r>
                      <a:r>
                        <a:rPr lang="en-US" sz="2400" dirty="0"/>
                        <a:t>)(</a:t>
                      </a:r>
                      <a:r>
                        <a:rPr lang="en-US" sz="2400" dirty="0" err="1"/>
                        <a:t>x+z</a:t>
                      </a:r>
                      <a:r>
                        <a:rPr lang="en-US" sz="2400" dirty="0"/>
                        <a:t>)</a:t>
                      </a:r>
                    </a:p>
                  </a:txBody>
                  <a:tcPr/>
                </a:tc>
                <a:tc>
                  <a:txBody>
                    <a:bodyPr/>
                    <a:lstStyle/>
                    <a:p>
                      <a:pPr algn="ctr"/>
                      <a:r>
                        <a:rPr lang="en-US" sz="2400" dirty="0"/>
                        <a:t>x(</a:t>
                      </a:r>
                      <a:r>
                        <a:rPr lang="en-US" sz="2400" dirty="0" err="1"/>
                        <a:t>y+z</a:t>
                      </a:r>
                      <a:r>
                        <a:rPr lang="en-US" sz="2400" dirty="0"/>
                        <a:t>) = </a:t>
                      </a:r>
                      <a:r>
                        <a:rPr lang="en-US" sz="2400" dirty="0" err="1"/>
                        <a:t>xy+xz</a:t>
                      </a:r>
                      <a:endParaRPr lang="en-US" sz="2400" dirty="0"/>
                    </a:p>
                  </a:txBody>
                  <a:tcPr/>
                </a:tc>
                <a:extLst>
                  <a:ext uri="{0D108BD9-81ED-4DB2-BD59-A6C34878D82A}">
                    <a16:rowId xmlns:a16="http://schemas.microsoft.com/office/drawing/2014/main" val="2097731015"/>
                  </a:ext>
                </a:extLst>
              </a:tr>
              <a:tr h="370840">
                <a:tc>
                  <a:txBody>
                    <a:bodyPr/>
                    <a:lstStyle/>
                    <a:p>
                      <a:pPr algn="ctr"/>
                      <a:r>
                        <a:rPr lang="en-US" sz="2400" dirty="0"/>
                        <a:t>Absorption Law</a:t>
                      </a:r>
                    </a:p>
                  </a:txBody>
                  <a:tcPr/>
                </a:tc>
                <a:tc>
                  <a:txBody>
                    <a:bodyPr/>
                    <a:lstStyle/>
                    <a:p>
                      <a:pPr algn="ctr"/>
                      <a:r>
                        <a:rPr lang="en-US" sz="2400" dirty="0"/>
                        <a:t>x(</a:t>
                      </a:r>
                      <a:r>
                        <a:rPr lang="en-US" sz="2400" dirty="0" err="1"/>
                        <a:t>x+y</a:t>
                      </a:r>
                      <a:r>
                        <a:rPr lang="en-US" sz="2400" dirty="0"/>
                        <a:t>) = x</a:t>
                      </a:r>
                    </a:p>
                  </a:txBody>
                  <a:tcPr/>
                </a:tc>
                <a:tc>
                  <a:txBody>
                    <a:bodyPr/>
                    <a:lstStyle/>
                    <a:p>
                      <a:pPr algn="ctr"/>
                      <a:r>
                        <a:rPr lang="en-US" sz="2400" dirty="0" err="1"/>
                        <a:t>x+xy</a:t>
                      </a:r>
                      <a:r>
                        <a:rPr lang="en-US" sz="2400" dirty="0"/>
                        <a:t> = x</a:t>
                      </a:r>
                    </a:p>
                  </a:txBody>
                  <a:tcPr/>
                </a:tc>
                <a:extLst>
                  <a:ext uri="{0D108BD9-81ED-4DB2-BD59-A6C34878D82A}">
                    <a16:rowId xmlns:a16="http://schemas.microsoft.com/office/drawing/2014/main" val="3189490542"/>
                  </a:ext>
                </a:extLst>
              </a:tr>
              <a:tr h="370840">
                <a:tc>
                  <a:txBody>
                    <a:bodyPr/>
                    <a:lstStyle/>
                    <a:p>
                      <a:pPr algn="ctr"/>
                      <a:r>
                        <a:rPr lang="en-US" sz="2400" dirty="0"/>
                        <a:t>De Morgan’s Law</a:t>
                      </a:r>
                    </a:p>
                  </a:txBody>
                  <a:tcPr/>
                </a:tc>
                <a:tc>
                  <a:txBody>
                    <a:bodyPr/>
                    <a:lstStyle/>
                    <a:p>
                      <a:pPr algn="ctr"/>
                      <a:r>
                        <a:rPr lang="en-US" sz="2400" dirty="0"/>
                        <a:t>(</a:t>
                      </a:r>
                      <a:r>
                        <a:rPr lang="en-US" sz="2400" dirty="0" err="1"/>
                        <a:t>xy</a:t>
                      </a:r>
                      <a:r>
                        <a:rPr lang="en-US" sz="2400" dirty="0"/>
                        <a:t>) = </a:t>
                      </a:r>
                      <a:r>
                        <a:rPr lang="en-US" sz="2400" dirty="0" err="1"/>
                        <a:t>x’+y</a:t>
                      </a:r>
                      <a:r>
                        <a:rPr lang="en-US" sz="2400" dirty="0"/>
                        <a:t>’</a:t>
                      </a:r>
                    </a:p>
                  </a:txBody>
                  <a:tcPr/>
                </a:tc>
                <a:tc>
                  <a:txBody>
                    <a:bodyPr/>
                    <a:lstStyle/>
                    <a:p>
                      <a:pPr algn="ctr"/>
                      <a:r>
                        <a:rPr lang="en-US" sz="2400" dirty="0"/>
                        <a:t>(</a:t>
                      </a:r>
                      <a:r>
                        <a:rPr lang="en-US" sz="2400" dirty="0" err="1"/>
                        <a:t>x+y</a:t>
                      </a:r>
                      <a:r>
                        <a:rPr lang="en-US" sz="2400" dirty="0"/>
                        <a:t>)’ = </a:t>
                      </a:r>
                      <a:r>
                        <a:rPr lang="en-US" sz="2400" dirty="0" err="1"/>
                        <a:t>x’y</a:t>
                      </a:r>
                      <a:r>
                        <a:rPr lang="en-US" sz="2400" dirty="0"/>
                        <a:t>’</a:t>
                      </a:r>
                    </a:p>
                  </a:txBody>
                  <a:tcPr/>
                </a:tc>
                <a:extLst>
                  <a:ext uri="{0D108BD9-81ED-4DB2-BD59-A6C34878D82A}">
                    <a16:rowId xmlns:a16="http://schemas.microsoft.com/office/drawing/2014/main" val="438798780"/>
                  </a:ext>
                </a:extLst>
              </a:tr>
              <a:tr h="370840">
                <a:tc>
                  <a:txBody>
                    <a:bodyPr/>
                    <a:lstStyle/>
                    <a:p>
                      <a:pPr algn="ctr"/>
                      <a:r>
                        <a:rPr lang="en-US" sz="2400" dirty="0"/>
                        <a:t>Double Complement Law</a:t>
                      </a:r>
                    </a:p>
                  </a:txBody>
                  <a:tcPr/>
                </a:tc>
                <a:tc gridSpan="2">
                  <a:txBody>
                    <a:bodyPr/>
                    <a:lstStyle/>
                    <a:p>
                      <a:pPr algn="ctr"/>
                      <a:r>
                        <a:rPr lang="en-US" sz="2400" dirty="0"/>
                        <a:t>(x)’’=x</a:t>
                      </a:r>
                    </a:p>
                  </a:txBody>
                  <a:tcPr anchor="ctr"/>
                </a:tc>
                <a:tc hMerge="1">
                  <a:txBody>
                    <a:bodyPr/>
                    <a:lstStyle/>
                    <a:p>
                      <a:pPr algn="ctr"/>
                      <a:endParaRPr lang="en-US" sz="2400" b="0">
                        <a:latin typeface="Courier New" panose="02070309020205020404" pitchFamily="49" charset="0"/>
                        <a:cs typeface="Courier New" panose="02070309020205020404" pitchFamily="49" charset="0"/>
                      </a:endParaRPr>
                    </a:p>
                  </a:txBody>
                  <a:tcPr marL="0" marR="0" marT="0" marB="0" horzOverflow="overflow"/>
                </a:tc>
                <a:extLst>
                  <a:ext uri="{0D108BD9-81ED-4DB2-BD59-A6C34878D82A}">
                    <a16:rowId xmlns:a16="http://schemas.microsoft.com/office/drawing/2014/main" val="984766844"/>
                  </a:ext>
                </a:extLst>
              </a:tr>
            </a:tbl>
          </a:graphicData>
        </a:graphic>
      </p:graphicFrame>
      <p:sp>
        <p:nvSpPr>
          <p:cNvPr id="7" name="Title 1">
            <a:extLst>
              <a:ext uri="{FF2B5EF4-FFF2-40B4-BE49-F238E27FC236}">
                <a16:creationId xmlns:a16="http://schemas.microsoft.com/office/drawing/2014/main" id="{0DBC3CDB-3D9D-6A21-4D2B-116AF107AA3C}"/>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4240913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F74E4-9B8B-CCB3-A65A-DA7F38A072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5E0499-B560-1FD7-2534-1D0A642F95BD}"/>
              </a:ext>
            </a:extLst>
          </p:cNvPr>
          <p:cNvSpPr>
            <a:spLocks noGrp="1"/>
          </p:cNvSpPr>
          <p:nvPr>
            <p:ph idx="1"/>
          </p:nvPr>
        </p:nvSpPr>
        <p:spPr/>
        <p:txBody>
          <a:bodyPr lIns="91440" tIns="45720" rIns="91440" bIns="45720" anchor="t"/>
          <a:lstStyle/>
          <a:p>
            <a:r>
              <a:rPr lang="en-US" altLang="en-US" sz="2800" dirty="0"/>
              <a:t>We can use Boolean identities to simplify:</a:t>
            </a:r>
          </a:p>
          <a:p>
            <a:pPr algn="ctr"/>
            <a:r>
              <a:rPr lang="en-US" altLang="en-US" sz="3200" b="1" dirty="0">
                <a:latin typeface="Courier New"/>
                <a:cs typeface="Courier New"/>
              </a:rPr>
              <a:t>x + (</a:t>
            </a:r>
            <a:r>
              <a:rPr lang="en-US" altLang="en-US" sz="3200" b="1" dirty="0" err="1">
                <a:latin typeface="Courier New"/>
                <a:cs typeface="Courier New"/>
              </a:rPr>
              <a:t>xy</a:t>
            </a:r>
            <a:r>
              <a:rPr lang="en-US" altLang="en-US" sz="3200" b="1" dirty="0">
                <a:latin typeface="Courier New"/>
                <a:cs typeface="Courier New"/>
              </a:rPr>
              <a:t>)’</a:t>
            </a:r>
          </a:p>
          <a:p>
            <a:r>
              <a:rPr lang="en-US" altLang="en-US" sz="2800" dirty="0">
                <a:latin typeface="Arial"/>
              </a:rPr>
              <a:t>	</a:t>
            </a:r>
            <a:endParaRPr lang="en-US" altLang="en-US" sz="2800" dirty="0">
              <a:latin typeface="Calibri"/>
              <a:ea typeface="Calibri"/>
            </a:endParaRPr>
          </a:p>
        </p:txBody>
      </p:sp>
      <p:sp>
        <p:nvSpPr>
          <p:cNvPr id="8" name="Title 1">
            <a:extLst>
              <a:ext uri="{FF2B5EF4-FFF2-40B4-BE49-F238E27FC236}">
                <a16:creationId xmlns:a16="http://schemas.microsoft.com/office/drawing/2014/main" id="{AC97A3BA-3FA5-08F2-FB53-AEAE9BB22833}"/>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14664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8C37E-7E56-F9A0-89B9-69441AF1AD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F5153-0BFC-245C-AF21-58546814558D}"/>
              </a:ext>
            </a:extLst>
          </p:cNvPr>
          <p:cNvSpPr>
            <a:spLocks noGrp="1"/>
          </p:cNvSpPr>
          <p:nvPr>
            <p:ph idx="1"/>
          </p:nvPr>
        </p:nvSpPr>
        <p:spPr/>
        <p:txBody>
          <a:bodyPr lIns="91440" tIns="45720" rIns="91440" bIns="45720" anchor="t"/>
          <a:lstStyle/>
          <a:p>
            <a:r>
              <a:rPr lang="en-US" altLang="en-US" sz="2800" dirty="0"/>
              <a:t>We can use Boolean identities to simplify:</a:t>
            </a:r>
          </a:p>
          <a:p>
            <a:pPr algn="ctr"/>
            <a:r>
              <a:rPr lang="en-US" altLang="en-US" sz="3200" b="1" dirty="0">
                <a:latin typeface="Courier New"/>
                <a:cs typeface="Courier New"/>
              </a:rPr>
              <a:t>x + (</a:t>
            </a:r>
            <a:r>
              <a:rPr lang="en-US" altLang="en-US" sz="3200" b="1" dirty="0" err="1">
                <a:latin typeface="Courier New"/>
                <a:cs typeface="Courier New"/>
              </a:rPr>
              <a:t>xy</a:t>
            </a:r>
            <a:r>
              <a:rPr lang="en-US" altLang="en-US" sz="3200" b="1" dirty="0">
                <a:latin typeface="Courier New"/>
                <a:cs typeface="Courier New"/>
              </a:rPr>
              <a:t>)’</a:t>
            </a:r>
          </a:p>
        </p:txBody>
      </p:sp>
      <p:graphicFrame>
        <p:nvGraphicFramePr>
          <p:cNvPr id="5" name="Table 4">
            <a:extLst>
              <a:ext uri="{FF2B5EF4-FFF2-40B4-BE49-F238E27FC236}">
                <a16:creationId xmlns:a16="http://schemas.microsoft.com/office/drawing/2014/main" id="{261BCAC0-17E7-70DF-A86C-9BD7CA865672}"/>
              </a:ext>
            </a:extLst>
          </p:cNvPr>
          <p:cNvGraphicFramePr>
            <a:graphicFrameLocks noGrp="1"/>
          </p:cNvGraphicFramePr>
          <p:nvPr>
            <p:extLst>
              <p:ext uri="{D42A27DB-BD31-4B8C-83A1-F6EECF244321}">
                <p14:modId xmlns:p14="http://schemas.microsoft.com/office/powerpoint/2010/main" val="898966968"/>
              </p:ext>
            </p:extLst>
          </p:nvPr>
        </p:nvGraphicFramePr>
        <p:xfrm>
          <a:off x="4612640" y="2123440"/>
          <a:ext cx="7379296" cy="2622973"/>
        </p:xfrm>
        <a:graphic>
          <a:graphicData uri="http://schemas.openxmlformats.org/drawingml/2006/table">
            <a:tbl>
              <a:tblPr>
                <a:tableStyleId>{5C22544A-7EE6-4342-B048-85BDC9FD1C3A}</a:tableStyleId>
              </a:tblPr>
              <a:tblGrid>
                <a:gridCol w="3689648">
                  <a:extLst>
                    <a:ext uri="{9D8B030D-6E8A-4147-A177-3AD203B41FA5}">
                      <a16:colId xmlns:a16="http://schemas.microsoft.com/office/drawing/2014/main" val="20000"/>
                    </a:ext>
                  </a:extLst>
                </a:gridCol>
                <a:gridCol w="3689648">
                  <a:extLst>
                    <a:ext uri="{9D8B030D-6E8A-4147-A177-3AD203B41FA5}">
                      <a16:colId xmlns:a16="http://schemas.microsoft.com/office/drawing/2014/main" val="20001"/>
                    </a:ext>
                  </a:extLst>
                </a:gridCol>
              </a:tblGrid>
              <a:tr h="550333">
                <a:tc>
                  <a:txBody>
                    <a:bodyPr/>
                    <a:lstStyle/>
                    <a:p>
                      <a:pPr algn="l"/>
                      <a:endParaRPr lang="en-US" sz="2800" dirty="0">
                        <a:latin typeface="Courier New"/>
                        <a:cs typeface="Courier New"/>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sz="280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algn="l"/>
                      <a:r>
                        <a:rPr lang="en-US" sz="2800" dirty="0">
                          <a:latin typeface="Courier New"/>
                          <a:cs typeface="Courier New"/>
                        </a:rPr>
                        <a:t>= x + (x’ + y’)</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2800" dirty="0"/>
                        <a:t>DeMorgan's Law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l"/>
                      <a:r>
                        <a:rPr lang="en-US" sz="2800" dirty="0">
                          <a:latin typeface="Courier New"/>
                          <a:cs typeface="Courier New"/>
                        </a:rPr>
                        <a:t>= (x + x’) + 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2800" dirty="0"/>
                        <a:t>Associative Law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algn="l"/>
                      <a:r>
                        <a:rPr lang="en-US" sz="2800" dirty="0">
                          <a:latin typeface="Courier New"/>
                          <a:cs typeface="Courier New"/>
                        </a:rPr>
                        <a:t>= 1 + 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2800" dirty="0"/>
                        <a:t>Inverse Law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l"/>
                      <a:r>
                        <a:rPr lang="en-US" sz="2800" dirty="0">
                          <a:latin typeface="Courier New"/>
                          <a:cs typeface="Courier New"/>
                        </a:rPr>
                        <a:t>= 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2800" dirty="0"/>
                        <a:t>Null Law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8" name="Title 1">
            <a:extLst>
              <a:ext uri="{FF2B5EF4-FFF2-40B4-BE49-F238E27FC236}">
                <a16:creationId xmlns:a16="http://schemas.microsoft.com/office/drawing/2014/main" id="{069DDFF3-0663-8DF8-D2A0-7DFE42F6E8D6}"/>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320478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63457-E736-05ED-9855-15543EEF598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70FC84-4E13-328E-0AC1-1BDE180C0FCD}"/>
              </a:ext>
            </a:extLst>
          </p:cNvPr>
          <p:cNvSpPr>
            <a:spLocks noGrp="1"/>
          </p:cNvSpPr>
          <p:nvPr>
            <p:ph idx="1"/>
          </p:nvPr>
        </p:nvSpPr>
        <p:spPr>
          <a:xfrm>
            <a:off x="203204" y="863607"/>
            <a:ext cx="11785597" cy="5384793"/>
          </a:xfrm>
        </p:spPr>
        <p:txBody>
          <a:bodyPr/>
          <a:lstStyle/>
          <a:p>
            <a:r>
              <a:rPr lang="en-US" altLang="en-US" sz="2800"/>
              <a:t>We can use Boolean identities to simplify:</a:t>
            </a:r>
          </a:p>
          <a:p>
            <a:pPr>
              <a:buFontTx/>
              <a:buNone/>
            </a:pPr>
            <a:r>
              <a:rPr lang="en-US" altLang="en-US" sz="2800">
                <a:latin typeface="Arial" charset="0"/>
              </a:rPr>
              <a:t>	</a:t>
            </a:r>
          </a:p>
          <a:p>
            <a:pPr>
              <a:spcBef>
                <a:spcPct val="10000"/>
              </a:spcBef>
              <a:buFontTx/>
              <a:buNone/>
            </a:pPr>
            <a:r>
              <a:rPr lang="en-US" altLang="en-US" sz="2800">
                <a:latin typeface="Arial" charset="0"/>
              </a:rPr>
              <a:t> </a:t>
            </a:r>
          </a:p>
        </p:txBody>
      </p:sp>
      <p:sp>
        <p:nvSpPr>
          <p:cNvPr id="4" name="TextBox 3">
            <a:extLst>
              <a:ext uri="{FF2B5EF4-FFF2-40B4-BE49-F238E27FC236}">
                <a16:creationId xmlns:a16="http://schemas.microsoft.com/office/drawing/2014/main" id="{F4D829E9-7DE5-B2A4-C3DE-071DC2BFF8E1}"/>
              </a:ext>
            </a:extLst>
          </p:cNvPr>
          <p:cNvSpPr txBox="1"/>
          <p:nvPr/>
        </p:nvSpPr>
        <p:spPr>
          <a:xfrm>
            <a:off x="3469477" y="1489055"/>
            <a:ext cx="5252715" cy="461665"/>
          </a:xfrm>
          <a:prstGeom prst="rect">
            <a:avLst/>
          </a:prstGeom>
          <a:noFill/>
        </p:spPr>
        <p:txBody>
          <a:bodyPr wrap="square" rtlCol="0">
            <a:spAutoFit/>
          </a:bodyPr>
          <a:lstStyle/>
          <a:p>
            <a:pPr algn="l"/>
            <a:r>
              <a:rPr lang="pl-PL" sz="2400" b="1">
                <a:latin typeface="Courier New" panose="02070309020205020404" pitchFamily="49" charset="0"/>
                <a:cs typeface="Courier New" panose="02070309020205020404" pitchFamily="49" charset="0"/>
              </a:rPr>
              <a:t>F(x,y,z) </a:t>
            </a:r>
            <a:r>
              <a:rPr lang="en-US" sz="2400" b="1">
                <a:latin typeface="Courier New" panose="02070309020205020404" pitchFamily="49" charset="0"/>
                <a:cs typeface="Courier New" panose="02070309020205020404" pitchFamily="49" charset="0"/>
              </a:rPr>
              <a:t>=</a:t>
            </a:r>
            <a:r>
              <a:rPr lang="pl-PL" sz="2400" b="1">
                <a:latin typeface="Courier New" panose="02070309020205020404" pitchFamily="49" charset="0"/>
                <a:cs typeface="Courier New" panose="02070309020205020404" pitchFamily="49" charset="0"/>
              </a:rPr>
              <a:t> xy </a:t>
            </a:r>
            <a:r>
              <a:rPr lang="en-US" sz="2400" b="1">
                <a:latin typeface="Courier New" panose="02070309020205020404" pitchFamily="49" charset="0"/>
                <a:cs typeface="Courier New" panose="02070309020205020404" pitchFamily="49" charset="0"/>
              </a:rPr>
              <a:t>+</a:t>
            </a:r>
            <a:r>
              <a:rPr lang="pl-PL" sz="2400" b="1">
                <a:latin typeface="Courier New" panose="02070309020205020404" pitchFamily="49" charset="0"/>
                <a:cs typeface="Courier New" panose="02070309020205020404" pitchFamily="49" charset="0"/>
              </a:rPr>
              <a:t> x′z </a:t>
            </a:r>
            <a:r>
              <a:rPr lang="en-US" sz="2400" b="1">
                <a:latin typeface="Courier New" panose="02070309020205020404" pitchFamily="49" charset="0"/>
                <a:cs typeface="Courier New" panose="02070309020205020404" pitchFamily="49" charset="0"/>
              </a:rPr>
              <a:t>+</a:t>
            </a:r>
            <a:r>
              <a:rPr lang="pl-PL" sz="2400" b="1">
                <a:latin typeface="Courier New" panose="02070309020205020404" pitchFamily="49" charset="0"/>
                <a:cs typeface="Courier New" panose="02070309020205020404" pitchFamily="49" charset="0"/>
              </a:rPr>
              <a:t> yz</a:t>
            </a:r>
            <a:endParaRPr lang="en-US" sz="2400" b="1">
              <a:latin typeface="Courier New" panose="02070309020205020404" pitchFamily="49" charset="0"/>
              <a:cs typeface="Courier New" panose="02070309020205020404" pitchFamily="49" charset="0"/>
            </a:endParaRPr>
          </a:p>
        </p:txBody>
      </p:sp>
      <p:pic>
        <p:nvPicPr>
          <p:cNvPr id="6" name="Picture 5">
            <a:extLst>
              <a:ext uri="{FF2B5EF4-FFF2-40B4-BE49-F238E27FC236}">
                <a16:creationId xmlns:a16="http://schemas.microsoft.com/office/drawing/2014/main" id="{474DEC50-A11A-2736-5D96-D0BB468B8A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02507" y="2373260"/>
            <a:ext cx="7962900" cy="4027540"/>
          </a:xfrm>
          <a:prstGeom prst="rect">
            <a:avLst/>
          </a:prstGeom>
        </p:spPr>
      </p:pic>
      <p:sp>
        <p:nvSpPr>
          <p:cNvPr id="9" name="Title 1">
            <a:extLst>
              <a:ext uri="{FF2B5EF4-FFF2-40B4-BE49-F238E27FC236}">
                <a16:creationId xmlns:a16="http://schemas.microsoft.com/office/drawing/2014/main" id="{9DCBA6F4-7587-4B6E-4683-64222968F195}"/>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2806732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0E81E-351B-2DF5-4CEB-44381E107F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EFB970-BD67-F7B7-57A9-7B1B55291BDA}"/>
              </a:ext>
            </a:extLst>
          </p:cNvPr>
          <p:cNvSpPr>
            <a:spLocks noGrp="1"/>
          </p:cNvSpPr>
          <p:nvPr>
            <p:ph idx="1"/>
          </p:nvPr>
        </p:nvSpPr>
        <p:spPr>
          <a:xfrm>
            <a:off x="203204" y="863607"/>
            <a:ext cx="11785597" cy="5384793"/>
          </a:xfrm>
        </p:spPr>
        <p:txBody>
          <a:bodyPr/>
          <a:lstStyle/>
          <a:p>
            <a:r>
              <a:rPr lang="en-US" altLang="en-US" sz="2800"/>
              <a:t>We can use Boolean identities to simplify:</a:t>
            </a:r>
          </a:p>
          <a:p>
            <a:pPr>
              <a:buFontTx/>
              <a:buNone/>
            </a:pPr>
            <a:r>
              <a:rPr lang="en-US" altLang="en-US" sz="2800">
                <a:latin typeface="Arial" charset="0"/>
              </a:rPr>
              <a:t>	</a:t>
            </a:r>
          </a:p>
          <a:p>
            <a:pPr>
              <a:spcBef>
                <a:spcPct val="10000"/>
              </a:spcBef>
              <a:buFontTx/>
              <a:buNone/>
            </a:pPr>
            <a:r>
              <a:rPr lang="en-US" altLang="en-US" sz="2800">
                <a:latin typeface="Arial" charset="0"/>
              </a:rPr>
              <a:t> </a:t>
            </a:r>
          </a:p>
        </p:txBody>
      </p:sp>
      <p:sp>
        <p:nvSpPr>
          <p:cNvPr id="4" name="TextBox 3">
            <a:extLst>
              <a:ext uri="{FF2B5EF4-FFF2-40B4-BE49-F238E27FC236}">
                <a16:creationId xmlns:a16="http://schemas.microsoft.com/office/drawing/2014/main" id="{3820424A-8B17-37DA-CCF8-A165797CAD14}"/>
              </a:ext>
            </a:extLst>
          </p:cNvPr>
          <p:cNvSpPr txBox="1"/>
          <p:nvPr/>
        </p:nvSpPr>
        <p:spPr>
          <a:xfrm>
            <a:off x="3469477" y="1489055"/>
            <a:ext cx="5252715" cy="461665"/>
          </a:xfrm>
          <a:prstGeom prst="rect">
            <a:avLst/>
          </a:prstGeom>
          <a:noFill/>
        </p:spPr>
        <p:txBody>
          <a:bodyPr wrap="square" rtlCol="0">
            <a:spAutoFit/>
          </a:bodyPr>
          <a:lstStyle/>
          <a:p>
            <a:pPr algn="l"/>
            <a:r>
              <a:rPr lang="pl-PL" sz="2400" b="1">
                <a:latin typeface="Courier New" panose="02070309020205020404" pitchFamily="49" charset="0"/>
                <a:cs typeface="Courier New" panose="02070309020205020404" pitchFamily="49" charset="0"/>
              </a:rPr>
              <a:t>F(x,y,z) </a:t>
            </a:r>
            <a:r>
              <a:rPr lang="en-US" sz="2400" b="1">
                <a:latin typeface="Courier New" panose="02070309020205020404" pitchFamily="49" charset="0"/>
                <a:cs typeface="Courier New" panose="02070309020205020404" pitchFamily="49" charset="0"/>
              </a:rPr>
              <a:t>=</a:t>
            </a:r>
            <a:r>
              <a:rPr lang="pl-PL" sz="2400" b="1">
                <a:latin typeface="Courier New" panose="02070309020205020404" pitchFamily="49" charset="0"/>
                <a:cs typeface="Courier New" panose="02070309020205020404" pitchFamily="49" charset="0"/>
              </a:rPr>
              <a:t> xy </a:t>
            </a:r>
            <a:r>
              <a:rPr lang="en-US" sz="2400" b="1">
                <a:latin typeface="Courier New" panose="02070309020205020404" pitchFamily="49" charset="0"/>
                <a:cs typeface="Courier New" panose="02070309020205020404" pitchFamily="49" charset="0"/>
              </a:rPr>
              <a:t>+</a:t>
            </a:r>
            <a:r>
              <a:rPr lang="pl-PL" sz="2400" b="1">
                <a:latin typeface="Courier New" panose="02070309020205020404" pitchFamily="49" charset="0"/>
                <a:cs typeface="Courier New" panose="02070309020205020404" pitchFamily="49" charset="0"/>
              </a:rPr>
              <a:t> x′z </a:t>
            </a:r>
            <a:r>
              <a:rPr lang="en-US" sz="2400" b="1">
                <a:latin typeface="Courier New" panose="02070309020205020404" pitchFamily="49" charset="0"/>
                <a:cs typeface="Courier New" panose="02070309020205020404" pitchFamily="49" charset="0"/>
              </a:rPr>
              <a:t>+</a:t>
            </a:r>
            <a:r>
              <a:rPr lang="pl-PL" sz="2400" b="1">
                <a:latin typeface="Courier New" panose="02070309020205020404" pitchFamily="49" charset="0"/>
                <a:cs typeface="Courier New" panose="02070309020205020404" pitchFamily="49" charset="0"/>
              </a:rPr>
              <a:t> yz</a:t>
            </a:r>
            <a:endParaRPr lang="en-US" sz="2400" b="1">
              <a:latin typeface="Courier New" panose="02070309020205020404" pitchFamily="49" charset="0"/>
              <a:cs typeface="Courier New" panose="02070309020205020404" pitchFamily="49" charset="0"/>
            </a:endParaRPr>
          </a:p>
        </p:txBody>
      </p:sp>
      <p:sp>
        <p:nvSpPr>
          <p:cNvPr id="9" name="Title 1">
            <a:extLst>
              <a:ext uri="{FF2B5EF4-FFF2-40B4-BE49-F238E27FC236}">
                <a16:creationId xmlns:a16="http://schemas.microsoft.com/office/drawing/2014/main" id="{CA14994A-F095-F4A0-EE29-B48314CF5346}"/>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2366241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13B15-C7B6-A143-70CC-86727D65194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310CA3-F83C-3287-4649-7ECAA1DD0E35}"/>
              </a:ext>
            </a:extLst>
          </p:cNvPr>
          <p:cNvSpPr>
            <a:spLocks noGrp="1"/>
          </p:cNvSpPr>
          <p:nvPr>
            <p:ph idx="1"/>
          </p:nvPr>
        </p:nvSpPr>
        <p:spPr>
          <a:xfrm>
            <a:off x="203204" y="853024"/>
            <a:ext cx="11785597" cy="5395376"/>
          </a:xfrm>
        </p:spPr>
        <p:txBody>
          <a:bodyPr lIns="91440" tIns="45720" rIns="91440" bIns="45720" anchor="t"/>
          <a:lstStyle/>
          <a:p>
            <a:r>
              <a:rPr lang="en-US" altLang="en-US" sz="2800" dirty="0"/>
              <a:t>We can use Boolean identities to simplify:</a:t>
            </a:r>
          </a:p>
          <a:p>
            <a:endParaRPr lang="en-US" altLang="en-US" sz="2800">
              <a:latin typeface="Arial" charset="0"/>
            </a:endParaRPr>
          </a:p>
          <a:p>
            <a:pPr>
              <a:spcBef>
                <a:spcPct val="10000"/>
              </a:spcBef>
              <a:buFontTx/>
            </a:pPr>
            <a:endParaRPr lang="en-US" altLang="en-US" sz="2800">
              <a:latin typeface="Arial" charset="0"/>
              <a:ea typeface="Calibri"/>
            </a:endParaRPr>
          </a:p>
        </p:txBody>
      </p:sp>
      <p:sp>
        <p:nvSpPr>
          <p:cNvPr id="7" name="TextBox 6">
            <a:extLst>
              <a:ext uri="{FF2B5EF4-FFF2-40B4-BE49-F238E27FC236}">
                <a16:creationId xmlns:a16="http://schemas.microsoft.com/office/drawing/2014/main" id="{9D5DB8E6-8C7B-58D8-6E2E-8D8502A94973}"/>
              </a:ext>
            </a:extLst>
          </p:cNvPr>
          <p:cNvSpPr txBox="1"/>
          <p:nvPr/>
        </p:nvSpPr>
        <p:spPr>
          <a:xfrm>
            <a:off x="3679450" y="1485668"/>
            <a:ext cx="5252715" cy="461665"/>
          </a:xfrm>
          <a:prstGeom prst="rect">
            <a:avLst/>
          </a:prstGeom>
          <a:noFill/>
        </p:spPr>
        <p:txBody>
          <a:bodyPr wrap="square" rtlCol="0">
            <a:spAutoFit/>
          </a:bodyPr>
          <a:lstStyle/>
          <a:p>
            <a:pPr algn="ctr">
              <a:buFontTx/>
              <a:buNone/>
            </a:pPr>
            <a:r>
              <a:rPr lang="en-US" altLang="en-US" sz="2400" b="1">
                <a:latin typeface="Courier New" panose="02070309020205020404" pitchFamily="49" charset="0"/>
                <a:cs typeface="Courier New" panose="02070309020205020404" pitchFamily="49" charset="0"/>
              </a:rPr>
              <a:t>(</a:t>
            </a:r>
            <a:r>
              <a:rPr lang="en-US" altLang="en-US" sz="2400" b="1" err="1">
                <a:latin typeface="Courier New" panose="02070309020205020404" pitchFamily="49" charset="0"/>
                <a:cs typeface="Courier New" panose="02070309020205020404" pitchFamily="49" charset="0"/>
              </a:rPr>
              <a:t>xy</a:t>
            </a:r>
            <a:r>
              <a:rPr lang="en-US" altLang="en-US" sz="2400" b="1">
                <a:latin typeface="Courier New" panose="02070309020205020404" pitchFamily="49" charset="0"/>
                <a:cs typeface="Courier New" panose="02070309020205020404" pitchFamily="49" charset="0"/>
              </a:rPr>
              <a:t>)’(x’ + y)(y’ + y)</a:t>
            </a:r>
          </a:p>
        </p:txBody>
      </p:sp>
      <p:sp>
        <p:nvSpPr>
          <p:cNvPr id="9" name="Title 1">
            <a:extLst>
              <a:ext uri="{FF2B5EF4-FFF2-40B4-BE49-F238E27FC236}">
                <a16:creationId xmlns:a16="http://schemas.microsoft.com/office/drawing/2014/main" id="{8C44C7E5-AF85-B880-8EC1-7B4DEBD66892}"/>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742529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F62ED-BBBD-E979-5D8D-7D5C497C09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7844A6-0F6C-56FA-83E6-8C24143E4A88}"/>
              </a:ext>
            </a:extLst>
          </p:cNvPr>
          <p:cNvSpPr>
            <a:spLocks noGrp="1"/>
          </p:cNvSpPr>
          <p:nvPr>
            <p:ph idx="1"/>
          </p:nvPr>
        </p:nvSpPr>
        <p:spPr>
          <a:xfrm>
            <a:off x="203204" y="853024"/>
            <a:ext cx="11785597" cy="5395376"/>
          </a:xfrm>
        </p:spPr>
        <p:txBody>
          <a:bodyPr lIns="91440" tIns="45720" rIns="91440" bIns="45720" anchor="t"/>
          <a:lstStyle/>
          <a:p>
            <a:r>
              <a:rPr lang="en-US" altLang="en-US" sz="2800" dirty="0"/>
              <a:t>We can use Boolean identities to simplify:</a:t>
            </a:r>
          </a:p>
          <a:p>
            <a:endParaRPr lang="en-US" altLang="en-US" sz="2800">
              <a:latin typeface="Arial" charset="0"/>
            </a:endParaRPr>
          </a:p>
          <a:p>
            <a:pPr>
              <a:spcBef>
                <a:spcPct val="10000"/>
              </a:spcBef>
              <a:buFontTx/>
            </a:pPr>
            <a:endParaRPr lang="en-US" altLang="en-US" sz="2800">
              <a:latin typeface="Arial" charset="0"/>
              <a:ea typeface="Calibri"/>
            </a:endParaRPr>
          </a:p>
        </p:txBody>
      </p:sp>
      <p:graphicFrame>
        <p:nvGraphicFramePr>
          <p:cNvPr id="5" name="Table 4">
            <a:extLst>
              <a:ext uri="{FF2B5EF4-FFF2-40B4-BE49-F238E27FC236}">
                <a16:creationId xmlns:a16="http://schemas.microsoft.com/office/drawing/2014/main" id="{5A75ED26-D354-B91A-CA27-6761FBC01345}"/>
              </a:ext>
            </a:extLst>
          </p:cNvPr>
          <p:cNvGraphicFramePr>
            <a:graphicFrameLocks noGrp="1"/>
          </p:cNvGraphicFramePr>
          <p:nvPr/>
        </p:nvGraphicFramePr>
        <p:xfrm>
          <a:off x="4167992" y="1716152"/>
          <a:ext cx="7816645" cy="4114800"/>
        </p:xfrm>
        <a:graphic>
          <a:graphicData uri="http://schemas.openxmlformats.org/drawingml/2006/table">
            <a:tbl>
              <a:tblPr>
                <a:tableStyleId>{5C22544A-7EE6-4342-B048-85BDC9FD1C3A}</a:tableStyleId>
              </a:tblPr>
              <a:tblGrid>
                <a:gridCol w="4793225">
                  <a:extLst>
                    <a:ext uri="{9D8B030D-6E8A-4147-A177-3AD203B41FA5}">
                      <a16:colId xmlns:a16="http://schemas.microsoft.com/office/drawing/2014/main" val="20000"/>
                    </a:ext>
                  </a:extLst>
                </a:gridCol>
                <a:gridCol w="3023420">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en-US" sz="2400" dirty="0">
                        <a:latin typeface="Courier New"/>
                        <a:cs typeface="Courier New"/>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US" sz="240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latin typeface="Courier New"/>
                          <a:cs typeface="Courier New"/>
                        </a:rPr>
                        <a:t>= (</a:t>
                      </a:r>
                      <a:r>
                        <a:rPr lang="en-US" altLang="en-US" sz="2400" dirty="0" err="1">
                          <a:latin typeface="Courier New"/>
                          <a:cs typeface="Courier New"/>
                        </a:rPr>
                        <a:t>xy</a:t>
                      </a:r>
                      <a:r>
                        <a:rPr lang="en-US" altLang="en-US" sz="2400" dirty="0">
                          <a:latin typeface="Courier New"/>
                          <a:cs typeface="Courier New"/>
                        </a:rPr>
                        <a:t>)’(x’</a:t>
                      </a:r>
                      <a:r>
                        <a:rPr lang="en-US" altLang="en-US" sz="2400" baseline="0" dirty="0">
                          <a:latin typeface="Courier New"/>
                          <a:cs typeface="Courier New"/>
                        </a:rPr>
                        <a:t> + y)1</a:t>
                      </a:r>
                      <a:endParaRPr lang="en-US" altLang="en-US" sz="2400" dirty="0">
                        <a:latin typeface="Courier New"/>
                        <a:cs typeface="Courier New"/>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400" dirty="0"/>
                        <a:t>Inverse law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l"/>
                      <a:r>
                        <a:rPr lang="en-US" altLang="en-US" sz="2400" dirty="0">
                          <a:latin typeface="Courier New"/>
                          <a:cs typeface="Courier New"/>
                        </a:rPr>
                        <a:t>= (</a:t>
                      </a:r>
                      <a:r>
                        <a:rPr lang="en-US" altLang="en-US" sz="2400" dirty="0" err="1">
                          <a:latin typeface="Courier New"/>
                          <a:cs typeface="Courier New"/>
                        </a:rPr>
                        <a:t>xy</a:t>
                      </a:r>
                      <a:r>
                        <a:rPr lang="en-US" altLang="en-US" sz="2400" dirty="0">
                          <a:latin typeface="Courier New"/>
                          <a:cs typeface="Courier New"/>
                        </a:rPr>
                        <a:t>)’(x’</a:t>
                      </a:r>
                      <a:r>
                        <a:rPr lang="en-US" altLang="en-US" sz="2400" baseline="0" dirty="0">
                          <a:latin typeface="Courier New"/>
                          <a:cs typeface="Courier New"/>
                        </a:rPr>
                        <a:t> + y)</a:t>
                      </a:r>
                      <a:endParaRPr lang="en-US" sz="2400" dirty="0">
                        <a:latin typeface="Courier New"/>
                        <a:cs typeface="Courier New"/>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sz="2400" dirty="0"/>
                        <a:t>Identity law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algn="l"/>
                      <a:r>
                        <a:rPr lang="en-US" sz="2400" dirty="0">
                          <a:latin typeface="Courier New"/>
                          <a:cs typeface="Courier New"/>
                        </a:rPr>
                        <a:t>= (x’ + y’)(x’ + 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400" dirty="0"/>
                        <a:t>DeMorgan's Law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65162">
                <a:tc>
                  <a:txBody>
                    <a:bodyPr/>
                    <a:lstStyle/>
                    <a:p>
                      <a:pPr algn="l"/>
                      <a:r>
                        <a:rPr lang="en-US" sz="2400" dirty="0">
                          <a:latin typeface="Courier New"/>
                          <a:cs typeface="Courier New"/>
                        </a:rPr>
                        <a:t>= </a:t>
                      </a:r>
                      <a:r>
                        <a:rPr lang="en-US" sz="2400" dirty="0" err="1">
                          <a:latin typeface="Courier New"/>
                          <a:cs typeface="Courier New"/>
                        </a:rPr>
                        <a:t>x’x</a:t>
                      </a:r>
                      <a:r>
                        <a:rPr lang="en-US" sz="2400" dirty="0">
                          <a:latin typeface="Courier New"/>
                          <a:cs typeface="Courier New"/>
                        </a:rPr>
                        <a:t>’+ </a:t>
                      </a:r>
                      <a:r>
                        <a:rPr lang="en-US" sz="2400" dirty="0" err="1">
                          <a:latin typeface="Courier New"/>
                          <a:cs typeface="Courier New"/>
                        </a:rPr>
                        <a:t>x’y</a:t>
                      </a:r>
                      <a:r>
                        <a:rPr lang="en-US" sz="2400" dirty="0">
                          <a:latin typeface="Courier New"/>
                          <a:cs typeface="Courier New"/>
                        </a:rPr>
                        <a:t> + </a:t>
                      </a:r>
                      <a:r>
                        <a:rPr lang="en-US" sz="2400" dirty="0" err="1">
                          <a:latin typeface="Courier New"/>
                          <a:cs typeface="Courier New"/>
                        </a:rPr>
                        <a:t>y’x</a:t>
                      </a:r>
                      <a:r>
                        <a:rPr lang="en-US" sz="2400" dirty="0">
                          <a:latin typeface="Courier New"/>
                          <a:cs typeface="Courier New"/>
                        </a:rPr>
                        <a:t>’ + </a:t>
                      </a:r>
                      <a:r>
                        <a:rPr lang="en-US" sz="2400" dirty="0" err="1">
                          <a:latin typeface="Courier New"/>
                          <a:cs typeface="Courier New"/>
                        </a:rPr>
                        <a:t>y’y</a:t>
                      </a:r>
                      <a:endParaRPr lang="en-US" sz="2400" dirty="0">
                        <a:latin typeface="Courier New"/>
                        <a:cs typeface="Courier New"/>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400" dirty="0"/>
                        <a:t>Distributive law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65162">
                <a:tc>
                  <a:txBody>
                    <a:bodyPr/>
                    <a:lstStyle/>
                    <a:p>
                      <a:pPr algn="l"/>
                      <a:r>
                        <a:rPr lang="en-US" sz="2400" dirty="0">
                          <a:latin typeface="Courier New"/>
                          <a:cs typeface="Courier New"/>
                        </a:rPr>
                        <a:t>= x’</a:t>
                      </a:r>
                      <a:r>
                        <a:rPr lang="en-US" sz="2400" baseline="0" dirty="0">
                          <a:latin typeface="Courier New"/>
                          <a:cs typeface="Courier New"/>
                        </a:rPr>
                        <a:t> + </a:t>
                      </a:r>
                      <a:r>
                        <a:rPr lang="en-US" sz="2400" baseline="0" dirty="0" err="1">
                          <a:latin typeface="Courier New"/>
                          <a:cs typeface="Courier New"/>
                        </a:rPr>
                        <a:t>x’y</a:t>
                      </a:r>
                      <a:r>
                        <a:rPr lang="en-US" sz="2400" baseline="0" dirty="0">
                          <a:latin typeface="Courier New"/>
                          <a:cs typeface="Courier New"/>
                        </a:rPr>
                        <a:t> + </a:t>
                      </a:r>
                      <a:r>
                        <a:rPr lang="en-US" sz="2400" baseline="0" dirty="0" err="1">
                          <a:latin typeface="Courier New"/>
                          <a:cs typeface="Courier New"/>
                        </a:rPr>
                        <a:t>y’x</a:t>
                      </a:r>
                      <a:r>
                        <a:rPr lang="en-US" sz="2400" baseline="0" dirty="0">
                          <a:latin typeface="Courier New"/>
                          <a:cs typeface="Courier New"/>
                        </a:rPr>
                        <a:t>’ + </a:t>
                      </a:r>
                      <a:r>
                        <a:rPr lang="en-US" sz="2400" baseline="0" dirty="0" err="1">
                          <a:latin typeface="Courier New"/>
                          <a:cs typeface="Courier New"/>
                        </a:rPr>
                        <a:t>y’y</a:t>
                      </a:r>
                      <a:endParaRPr lang="en-US" sz="2400" dirty="0">
                        <a:latin typeface="Courier New"/>
                        <a:cs typeface="Courier New"/>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400" dirty="0"/>
                        <a:t>Idempotent law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65162">
                <a:tc>
                  <a:txBody>
                    <a:bodyPr/>
                    <a:lstStyle/>
                    <a:p>
                      <a:pPr algn="l"/>
                      <a:r>
                        <a:rPr lang="en-US" sz="2400" dirty="0">
                          <a:latin typeface="Courier New"/>
                          <a:cs typeface="Courier New"/>
                        </a:rPr>
                        <a:t>= x’ + </a:t>
                      </a:r>
                      <a:r>
                        <a:rPr lang="en-US" sz="2400" dirty="0" err="1">
                          <a:latin typeface="Courier New"/>
                          <a:cs typeface="Courier New"/>
                        </a:rPr>
                        <a:t>y’y</a:t>
                      </a:r>
                      <a:endParaRPr lang="en-US" sz="2400" dirty="0">
                        <a:latin typeface="Courier New"/>
                        <a:cs typeface="Courier New"/>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400" dirty="0"/>
                        <a:t>Absorption law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p>
                      <a:pPr algn="l"/>
                      <a:r>
                        <a:rPr lang="en-US" sz="2400" dirty="0">
                          <a:latin typeface="Courier New"/>
                          <a:cs typeface="Courier New"/>
                        </a:rPr>
                        <a:t>= x' + 0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400" dirty="0"/>
                        <a:t>Inverse law</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70840">
                <a:tc>
                  <a:txBody>
                    <a:bodyPr/>
                    <a:lstStyle/>
                    <a:p>
                      <a:pPr algn="l"/>
                      <a:r>
                        <a:rPr lang="en-US" sz="2400" dirty="0">
                          <a:latin typeface="Courier New"/>
                          <a:cs typeface="Courier New"/>
                        </a:rPr>
                        <a:t>= x’</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400" dirty="0"/>
                        <a:t>Identity</a:t>
                      </a:r>
                      <a:r>
                        <a:rPr lang="en-US" sz="2400" baseline="0" dirty="0"/>
                        <a:t> law</a:t>
                      </a:r>
                      <a:endParaRPr lang="en-US" sz="2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7" name="TextBox 6">
            <a:extLst>
              <a:ext uri="{FF2B5EF4-FFF2-40B4-BE49-F238E27FC236}">
                <a16:creationId xmlns:a16="http://schemas.microsoft.com/office/drawing/2014/main" id="{B8A93EDA-FD3F-7E9E-2FE9-385BB54D6C4A}"/>
              </a:ext>
            </a:extLst>
          </p:cNvPr>
          <p:cNvSpPr txBox="1"/>
          <p:nvPr/>
        </p:nvSpPr>
        <p:spPr>
          <a:xfrm>
            <a:off x="3679450" y="1485668"/>
            <a:ext cx="5252715" cy="461665"/>
          </a:xfrm>
          <a:prstGeom prst="rect">
            <a:avLst/>
          </a:prstGeom>
          <a:noFill/>
        </p:spPr>
        <p:txBody>
          <a:bodyPr wrap="square" rtlCol="0">
            <a:spAutoFit/>
          </a:bodyPr>
          <a:lstStyle/>
          <a:p>
            <a:pPr algn="ctr">
              <a:buFontTx/>
              <a:buNone/>
            </a:pPr>
            <a:r>
              <a:rPr lang="en-US" altLang="en-US" sz="2400" b="1">
                <a:latin typeface="Courier New" panose="02070309020205020404" pitchFamily="49" charset="0"/>
                <a:cs typeface="Courier New" panose="02070309020205020404" pitchFamily="49" charset="0"/>
              </a:rPr>
              <a:t>(</a:t>
            </a:r>
            <a:r>
              <a:rPr lang="en-US" altLang="en-US" sz="2400" b="1" err="1">
                <a:latin typeface="Courier New" panose="02070309020205020404" pitchFamily="49" charset="0"/>
                <a:cs typeface="Courier New" panose="02070309020205020404" pitchFamily="49" charset="0"/>
              </a:rPr>
              <a:t>xy</a:t>
            </a:r>
            <a:r>
              <a:rPr lang="en-US" altLang="en-US" sz="2400" b="1">
                <a:latin typeface="Courier New" panose="02070309020205020404" pitchFamily="49" charset="0"/>
                <a:cs typeface="Courier New" panose="02070309020205020404" pitchFamily="49" charset="0"/>
              </a:rPr>
              <a:t>)’(x’ + y)(y’ + y)</a:t>
            </a:r>
          </a:p>
        </p:txBody>
      </p:sp>
      <p:sp>
        <p:nvSpPr>
          <p:cNvPr id="9" name="Title 1">
            <a:extLst>
              <a:ext uri="{FF2B5EF4-FFF2-40B4-BE49-F238E27FC236}">
                <a16:creationId xmlns:a16="http://schemas.microsoft.com/office/drawing/2014/main" id="{C7EDB695-11F4-D68F-D720-9B6C2FE32063}"/>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245129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FD298-E0D2-195D-F7D2-F1C0C159616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BA9FFF-59A3-F809-7443-BB1FDDD236CB}"/>
              </a:ext>
            </a:extLst>
          </p:cNvPr>
          <p:cNvSpPr>
            <a:spLocks noGrp="1"/>
          </p:cNvSpPr>
          <p:nvPr>
            <p:ph idx="1"/>
          </p:nvPr>
        </p:nvSpPr>
        <p:spPr/>
        <p:txBody>
          <a:bodyPr/>
          <a:lstStyle/>
          <a:p>
            <a:pPr>
              <a:spcBef>
                <a:spcPct val="40000"/>
              </a:spcBef>
            </a:pPr>
            <a:r>
              <a:rPr lang="en-US" altLang="en-US" sz="2800"/>
              <a:t>Sometimes it is more economical to build a </a:t>
            </a:r>
            <a:r>
              <a:rPr lang="en-US" altLang="en-US" sz="2800" b="1"/>
              <a:t>circuit</a:t>
            </a:r>
            <a:r>
              <a:rPr lang="en-US" altLang="en-US" sz="2800"/>
              <a:t> using the complement of a function (and complementing its result) than it is to implement the function directly.</a:t>
            </a:r>
          </a:p>
          <a:p>
            <a:pPr>
              <a:spcBef>
                <a:spcPct val="40000"/>
              </a:spcBef>
            </a:pPr>
            <a:r>
              <a:rPr lang="en-US" altLang="en-US" sz="2800" err="1"/>
              <a:t>DeMorgan’s</a:t>
            </a:r>
            <a:r>
              <a:rPr lang="en-US" altLang="en-US" sz="2800"/>
              <a:t> law provides an easy way of finding the complement of a Boolean function.</a:t>
            </a:r>
          </a:p>
          <a:p>
            <a:pPr>
              <a:spcBef>
                <a:spcPct val="40000"/>
              </a:spcBef>
            </a:pPr>
            <a:r>
              <a:rPr lang="en-US" altLang="en-US" sz="2800"/>
              <a:t>Recall </a:t>
            </a:r>
            <a:r>
              <a:rPr lang="en-US" altLang="en-US" sz="2800" err="1"/>
              <a:t>DeMorgan’s</a:t>
            </a:r>
            <a:r>
              <a:rPr lang="en-US" altLang="en-US" sz="2800"/>
              <a:t> law states:</a:t>
            </a:r>
          </a:p>
        </p:txBody>
      </p:sp>
      <p:sp>
        <p:nvSpPr>
          <p:cNvPr id="4" name="TextBox 3">
            <a:extLst>
              <a:ext uri="{FF2B5EF4-FFF2-40B4-BE49-F238E27FC236}">
                <a16:creationId xmlns:a16="http://schemas.microsoft.com/office/drawing/2014/main" id="{E05586C8-9BED-3629-63D3-06645DEAEAC0}"/>
              </a:ext>
            </a:extLst>
          </p:cNvPr>
          <p:cNvSpPr txBox="1"/>
          <p:nvPr/>
        </p:nvSpPr>
        <p:spPr>
          <a:xfrm>
            <a:off x="2590800" y="4648201"/>
            <a:ext cx="7239000" cy="584775"/>
          </a:xfrm>
          <a:prstGeom prst="rect">
            <a:avLst/>
          </a:prstGeom>
          <a:noFill/>
        </p:spPr>
        <p:txBody>
          <a:bodyPr wrap="square" rtlCol="0">
            <a:spAutoFit/>
          </a:bodyPr>
          <a:lstStyle/>
          <a:p>
            <a:pPr algn="l"/>
            <a:r>
              <a:rPr lang="pl-PL" sz="3200" b="1">
                <a:latin typeface="Courier New" panose="02070309020205020404" pitchFamily="49" charset="0"/>
                <a:cs typeface="Courier New" panose="02070309020205020404" pitchFamily="49" charset="0"/>
              </a:rPr>
              <a:t>(</a:t>
            </a:r>
            <a:r>
              <a:rPr lang="pl-PL" sz="3200" b="1" err="1">
                <a:latin typeface="Courier New" panose="02070309020205020404" pitchFamily="49" charset="0"/>
                <a:cs typeface="Courier New" panose="02070309020205020404" pitchFamily="49" charset="0"/>
              </a:rPr>
              <a:t>xy</a:t>
            </a:r>
            <a:r>
              <a:rPr lang="pl-PL" sz="3200" b="1">
                <a:latin typeface="Courier New" panose="02070309020205020404" pitchFamily="49" charset="0"/>
                <a:cs typeface="Courier New" panose="02070309020205020404" pitchFamily="49" charset="0"/>
              </a:rPr>
              <a:t>)</a:t>
            </a:r>
            <a:r>
              <a:rPr lang="en-US" sz="3200" b="1">
                <a:latin typeface="Courier New" panose="02070309020205020404" pitchFamily="49" charset="0"/>
                <a:cs typeface="Courier New" panose="02070309020205020404" pitchFamily="49" charset="0"/>
              </a:rPr>
              <a:t>’</a:t>
            </a:r>
            <a:r>
              <a:rPr lang="pl-PL" sz="1100" b="1">
                <a:latin typeface="Courier New" panose="02070309020205020404" pitchFamily="49" charset="0"/>
                <a:cs typeface="Courier New" panose="02070309020205020404" pitchFamily="49" charset="0"/>
              </a:rPr>
              <a:t> </a:t>
            </a:r>
            <a:r>
              <a:rPr lang="en-US" sz="3200" b="1">
                <a:latin typeface="Courier New" panose="02070309020205020404" pitchFamily="49" charset="0"/>
                <a:cs typeface="Courier New" panose="02070309020205020404" pitchFamily="49" charset="0"/>
              </a:rPr>
              <a:t>=</a:t>
            </a:r>
            <a:r>
              <a:rPr lang="pl-PL" sz="1100" b="1">
                <a:latin typeface="Courier New" panose="02070309020205020404" pitchFamily="49" charset="0"/>
                <a:cs typeface="Courier New" panose="02070309020205020404" pitchFamily="49" charset="0"/>
              </a:rPr>
              <a:t> </a:t>
            </a:r>
            <a:r>
              <a:rPr lang="pl-PL" sz="3200" b="1">
                <a:latin typeface="Courier New" panose="02070309020205020404" pitchFamily="49" charset="0"/>
                <a:cs typeface="Courier New" panose="02070309020205020404" pitchFamily="49" charset="0"/>
              </a:rPr>
              <a:t>x</a:t>
            </a:r>
            <a:r>
              <a:rPr lang="en-US" sz="3200" b="1">
                <a:latin typeface="Courier New" panose="02070309020205020404" pitchFamily="49" charset="0"/>
                <a:cs typeface="Courier New" panose="02070309020205020404" pitchFamily="49" charset="0"/>
              </a:rPr>
              <a:t>’+</a:t>
            </a:r>
            <a:r>
              <a:rPr lang="en-US" sz="2000" b="1">
                <a:latin typeface="Courier New" panose="02070309020205020404" pitchFamily="49" charset="0"/>
                <a:cs typeface="Courier New" panose="02070309020205020404" pitchFamily="49" charset="0"/>
              </a:rPr>
              <a:t> </a:t>
            </a:r>
            <a:r>
              <a:rPr lang="pl-PL" sz="3200" b="1">
                <a:latin typeface="Courier New" panose="02070309020205020404" pitchFamily="49" charset="0"/>
                <a:cs typeface="Courier New" panose="02070309020205020404" pitchFamily="49" charset="0"/>
              </a:rPr>
              <a:t>y</a:t>
            </a:r>
            <a:r>
              <a:rPr lang="en-US" sz="3200" b="1">
                <a:latin typeface="Courier New" panose="02070309020205020404" pitchFamily="49" charset="0"/>
                <a:cs typeface="Courier New" panose="02070309020205020404" pitchFamily="49" charset="0"/>
              </a:rPr>
              <a:t>’</a:t>
            </a:r>
            <a:r>
              <a:rPr lang="pl-PL" sz="3200" b="1">
                <a:latin typeface="Courier New" panose="02070309020205020404" pitchFamily="49" charset="0"/>
                <a:cs typeface="Courier New" panose="02070309020205020404" pitchFamily="49" charset="0"/>
              </a:rPr>
              <a:t> </a:t>
            </a:r>
            <a:r>
              <a:rPr lang="en-US" sz="2400" b="1">
                <a:latin typeface="Courier New" panose="02070309020205020404" pitchFamily="49" charset="0"/>
                <a:cs typeface="Courier New" panose="02070309020205020404" pitchFamily="49" charset="0"/>
              </a:rPr>
              <a:t>and</a:t>
            </a:r>
            <a:r>
              <a:rPr lang="pl-PL" sz="3200" b="1">
                <a:latin typeface="Courier New" panose="02070309020205020404" pitchFamily="49" charset="0"/>
                <a:cs typeface="Courier New" panose="02070309020205020404" pitchFamily="49" charset="0"/>
              </a:rPr>
              <a:t> </a:t>
            </a:r>
            <a:r>
              <a:rPr lang="en-US" sz="3200" b="1">
                <a:latin typeface="Courier New" panose="02070309020205020404" pitchFamily="49" charset="0"/>
                <a:cs typeface="Courier New" panose="02070309020205020404" pitchFamily="49" charset="0"/>
              </a:rPr>
              <a:t>(</a:t>
            </a:r>
            <a:r>
              <a:rPr lang="pl-PL" sz="3200" b="1">
                <a:latin typeface="Courier New" panose="02070309020205020404" pitchFamily="49" charset="0"/>
                <a:cs typeface="Courier New" panose="02070309020205020404" pitchFamily="49" charset="0"/>
              </a:rPr>
              <a:t>x</a:t>
            </a:r>
            <a:r>
              <a:rPr lang="en-US" sz="1200" b="1">
                <a:latin typeface="Courier New" panose="02070309020205020404" pitchFamily="49" charset="0"/>
                <a:cs typeface="Courier New" panose="02070309020205020404" pitchFamily="49" charset="0"/>
              </a:rPr>
              <a:t> </a:t>
            </a:r>
            <a:r>
              <a:rPr lang="en-US" sz="3200" b="1">
                <a:latin typeface="Courier New" panose="02070309020205020404" pitchFamily="49" charset="0"/>
                <a:cs typeface="Courier New" panose="02070309020205020404" pitchFamily="49" charset="0"/>
              </a:rPr>
              <a:t>+</a:t>
            </a:r>
            <a:r>
              <a:rPr lang="en-US" sz="1200" b="1">
                <a:latin typeface="Courier New" panose="02070309020205020404" pitchFamily="49" charset="0"/>
                <a:cs typeface="Courier New" panose="02070309020205020404" pitchFamily="49" charset="0"/>
              </a:rPr>
              <a:t> </a:t>
            </a:r>
            <a:r>
              <a:rPr lang="en-US" sz="3200" b="1">
                <a:latin typeface="Courier New" panose="02070309020205020404" pitchFamily="49" charset="0"/>
                <a:cs typeface="Courier New" panose="02070309020205020404" pitchFamily="49" charset="0"/>
              </a:rPr>
              <a:t>y)’=</a:t>
            </a:r>
            <a:r>
              <a:rPr lang="en-US" sz="1200" b="1">
                <a:latin typeface="Courier New" panose="02070309020205020404" pitchFamily="49" charset="0"/>
                <a:cs typeface="Courier New" panose="02070309020205020404" pitchFamily="49" charset="0"/>
              </a:rPr>
              <a:t> </a:t>
            </a:r>
            <a:r>
              <a:rPr lang="en-US" sz="3200" b="1">
                <a:latin typeface="Courier New" panose="02070309020205020404" pitchFamily="49" charset="0"/>
                <a:cs typeface="Courier New" panose="02070309020205020404" pitchFamily="49" charset="0"/>
              </a:rPr>
              <a:t>x’</a:t>
            </a:r>
            <a:r>
              <a:rPr lang="pl-PL" sz="3200" b="1">
                <a:latin typeface="Courier New" panose="02070309020205020404" pitchFamily="49" charset="0"/>
                <a:cs typeface="Courier New" panose="02070309020205020404" pitchFamily="49" charset="0"/>
              </a:rPr>
              <a:t>y</a:t>
            </a:r>
            <a:r>
              <a:rPr lang="en-US" sz="3200" b="1">
                <a:latin typeface="Courier New" panose="02070309020205020404" pitchFamily="49" charset="0"/>
                <a:cs typeface="Courier New" panose="02070309020205020404" pitchFamily="49" charset="0"/>
              </a:rPr>
              <a:t>’</a:t>
            </a:r>
          </a:p>
        </p:txBody>
      </p:sp>
      <p:sp>
        <p:nvSpPr>
          <p:cNvPr id="8" name="Title 1">
            <a:extLst>
              <a:ext uri="{FF2B5EF4-FFF2-40B4-BE49-F238E27FC236}">
                <a16:creationId xmlns:a16="http://schemas.microsoft.com/office/drawing/2014/main" id="{1D969092-0A3F-2388-C4DD-612597D4C535}"/>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129838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A26DA-CE13-3518-BD87-2742EB64C00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CCC207-A92F-FD5A-049C-750FCC46CF80}"/>
              </a:ext>
            </a:extLst>
          </p:cNvPr>
          <p:cNvSpPr>
            <a:spLocks noGrp="1"/>
          </p:cNvSpPr>
          <p:nvPr>
            <p:ph idx="1"/>
          </p:nvPr>
        </p:nvSpPr>
        <p:spPr/>
        <p:txBody>
          <a:bodyPr/>
          <a:lstStyle/>
          <a:p>
            <a:pPr>
              <a:spcBef>
                <a:spcPct val="10000"/>
              </a:spcBef>
            </a:pPr>
            <a:r>
              <a:rPr lang="en-US" altLang="en-US" sz="2800"/>
              <a:t>Two canonical forms for Boolean expressions: </a:t>
            </a:r>
            <a:r>
              <a:rPr lang="en-US" altLang="en-US" sz="2800" b="1"/>
              <a:t>sum-of-products</a:t>
            </a:r>
            <a:r>
              <a:rPr lang="en-US" altLang="en-US" sz="2800"/>
              <a:t> and </a:t>
            </a:r>
            <a:r>
              <a:rPr lang="en-US" altLang="en-US" sz="2800" b="1"/>
              <a:t>product-of-sums</a:t>
            </a:r>
            <a:r>
              <a:rPr lang="en-US" altLang="en-US" sz="2800"/>
              <a:t>.</a:t>
            </a:r>
          </a:p>
          <a:p>
            <a:pPr>
              <a:spcBef>
                <a:spcPct val="10000"/>
              </a:spcBef>
            </a:pPr>
            <a:endParaRPr lang="en-US" altLang="en-US" sz="2800"/>
          </a:p>
          <a:p>
            <a:pPr marL="457200" indent="-457200">
              <a:spcBef>
                <a:spcPct val="10000"/>
              </a:spcBef>
              <a:buFont typeface="Arial" panose="020B0604020202020204" pitchFamily="34" charset="0"/>
              <a:buChar char="•"/>
            </a:pPr>
            <a:r>
              <a:rPr lang="en-US" sz="2800" b="1"/>
              <a:t>SOP (Sum-of-Products):</a:t>
            </a:r>
            <a:r>
              <a:rPr lang="en-US" sz="2800"/>
              <a:t> A logical OR of ANDed terms (</a:t>
            </a:r>
            <a:r>
              <a:rPr lang="en-US" sz="2800" err="1"/>
              <a:t>minterms</a:t>
            </a:r>
            <a:r>
              <a:rPr lang="en-US" sz="2800"/>
              <a:t>). It is often used when a function is true for a few combinations of inputs.</a:t>
            </a:r>
          </a:p>
          <a:p>
            <a:pPr marL="457200" indent="-457200">
              <a:spcBef>
                <a:spcPct val="10000"/>
              </a:spcBef>
              <a:buFont typeface="Arial" panose="020B0604020202020204" pitchFamily="34" charset="0"/>
              <a:buChar char="•"/>
            </a:pPr>
            <a:endParaRPr lang="en-US" sz="2800"/>
          </a:p>
          <a:p>
            <a:pPr marL="457200" indent="-457200">
              <a:spcBef>
                <a:spcPct val="10000"/>
              </a:spcBef>
              <a:buFont typeface="Arial" panose="020B0604020202020204" pitchFamily="34" charset="0"/>
              <a:buChar char="•"/>
            </a:pPr>
            <a:r>
              <a:rPr lang="en-US" sz="2800" b="1"/>
              <a:t>POS (Product-of-Sums):</a:t>
            </a:r>
            <a:r>
              <a:rPr lang="en-US" sz="2800"/>
              <a:t> A logical AND of ORed terms (maxterms). It is useful when a function is false for only a few combinations of inputs.</a:t>
            </a:r>
            <a:endParaRPr lang="en-US" altLang="en-US" sz="2800"/>
          </a:p>
        </p:txBody>
      </p:sp>
      <p:sp>
        <p:nvSpPr>
          <p:cNvPr id="7" name="Title 1">
            <a:extLst>
              <a:ext uri="{FF2B5EF4-FFF2-40B4-BE49-F238E27FC236}">
                <a16:creationId xmlns:a16="http://schemas.microsoft.com/office/drawing/2014/main" id="{968FF645-33B8-AA21-E7BB-A0DF62F64FE4}"/>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2273060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65CF9-0857-28BE-4F79-D25CBAE971B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3EF3AD-9AB7-9FB5-4170-7A0180580911}"/>
              </a:ext>
            </a:extLst>
          </p:cNvPr>
          <p:cNvSpPr>
            <a:spLocks noGrp="1"/>
          </p:cNvSpPr>
          <p:nvPr>
            <p:ph idx="1"/>
          </p:nvPr>
        </p:nvSpPr>
        <p:spPr/>
        <p:txBody>
          <a:bodyPr/>
          <a:lstStyle/>
          <a:p>
            <a:pPr>
              <a:spcBef>
                <a:spcPct val="10000"/>
              </a:spcBef>
            </a:pPr>
            <a:r>
              <a:rPr lang="en-US" altLang="en-US" sz="2800"/>
              <a:t>Two canonical forms for Boolean expressions: </a:t>
            </a:r>
            <a:r>
              <a:rPr lang="en-US" altLang="en-US" sz="2800" b="1"/>
              <a:t>sum-of-products</a:t>
            </a:r>
            <a:r>
              <a:rPr lang="en-US" altLang="en-US" sz="2800"/>
              <a:t> and </a:t>
            </a:r>
            <a:r>
              <a:rPr lang="en-US" altLang="en-US" sz="2800" b="1"/>
              <a:t>product-of-sums</a:t>
            </a:r>
            <a:r>
              <a:rPr lang="en-US" altLang="en-US" sz="2800"/>
              <a:t>.</a:t>
            </a:r>
          </a:p>
          <a:p>
            <a:pPr lvl="1">
              <a:spcBef>
                <a:spcPct val="10000"/>
              </a:spcBef>
            </a:pPr>
            <a:r>
              <a:rPr lang="en-US" altLang="en-US" sz="2800"/>
              <a:t>Boolean product is AND; Boolean sum is OR.</a:t>
            </a:r>
          </a:p>
          <a:p>
            <a:pPr lvl="1">
              <a:spcBef>
                <a:spcPct val="10000"/>
              </a:spcBef>
            </a:pPr>
            <a:endParaRPr lang="en-US" altLang="en-US" sz="2800"/>
          </a:p>
          <a:p>
            <a:pPr>
              <a:spcBef>
                <a:spcPct val="25000"/>
              </a:spcBef>
            </a:pPr>
            <a:r>
              <a:rPr lang="en-US" altLang="en-US" sz="2800"/>
              <a:t>In the sum-of-products form, ANDed variables are </a:t>
            </a:r>
            <a:r>
              <a:rPr lang="en-US" altLang="en-US" sz="2800" err="1"/>
              <a:t>ORed</a:t>
            </a:r>
            <a:r>
              <a:rPr lang="en-US" altLang="en-US" sz="2800"/>
              <a:t> together.</a:t>
            </a:r>
          </a:p>
          <a:p>
            <a:pPr lvl="1">
              <a:spcBef>
                <a:spcPct val="10000"/>
              </a:spcBef>
            </a:pPr>
            <a:r>
              <a:rPr lang="en-US" altLang="en-US" sz="2800"/>
              <a:t>For example:</a:t>
            </a:r>
          </a:p>
          <a:p>
            <a:pPr>
              <a:spcBef>
                <a:spcPct val="40000"/>
              </a:spcBef>
            </a:pPr>
            <a:r>
              <a:rPr lang="en-US" altLang="en-US" sz="2800"/>
              <a:t>In the product-of-sums form, </a:t>
            </a:r>
            <a:r>
              <a:rPr lang="en-US" altLang="en-US" sz="2800" err="1"/>
              <a:t>ORed</a:t>
            </a:r>
            <a:r>
              <a:rPr lang="en-US" altLang="en-US" sz="2800"/>
              <a:t> variables are ANDed together:</a:t>
            </a:r>
          </a:p>
          <a:p>
            <a:pPr lvl="1">
              <a:spcBef>
                <a:spcPct val="10000"/>
              </a:spcBef>
            </a:pPr>
            <a:r>
              <a:rPr lang="en-US" altLang="en-US" sz="2800"/>
              <a:t>For example:</a:t>
            </a:r>
          </a:p>
        </p:txBody>
      </p:sp>
      <p:pic>
        <p:nvPicPr>
          <p:cNvPr id="4" name="Picture 9" descr="19-1">
            <a:extLst>
              <a:ext uri="{FF2B5EF4-FFF2-40B4-BE49-F238E27FC236}">
                <a16:creationId xmlns:a16="http://schemas.microsoft.com/office/drawing/2014/main" id="{1BA50B98-C86F-D032-8F6F-2213DC24842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8200" y="3810003"/>
            <a:ext cx="5010150" cy="5143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descr="19-2">
            <a:extLst>
              <a:ext uri="{FF2B5EF4-FFF2-40B4-BE49-F238E27FC236}">
                <a16:creationId xmlns:a16="http://schemas.microsoft.com/office/drawing/2014/main" id="{BFD0E030-9293-D828-EC83-A99753A70A8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48200" y="4962525"/>
            <a:ext cx="5562600" cy="523875"/>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CAF3BBC4-A36C-64AD-3221-50E395538C44}"/>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2776858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0C10C-5921-AEE0-7024-D329649F3C3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03879B-C0D8-EECD-7C36-B4759279DB35}"/>
              </a:ext>
            </a:extLst>
          </p:cNvPr>
          <p:cNvSpPr>
            <a:spLocks noGrp="1"/>
          </p:cNvSpPr>
          <p:nvPr>
            <p:ph idx="1"/>
          </p:nvPr>
        </p:nvSpPr>
        <p:spPr>
          <a:xfrm>
            <a:off x="203204" y="1371607"/>
            <a:ext cx="6578595" cy="4876793"/>
          </a:xfrm>
        </p:spPr>
        <p:txBody>
          <a:bodyPr/>
          <a:lstStyle/>
          <a:p>
            <a:r>
              <a:rPr lang="en-US" altLang="en-US" sz="2800"/>
              <a:t>It is easy to convert a function to sum-of-products form using its </a:t>
            </a:r>
            <a:r>
              <a:rPr lang="en-US" altLang="en-US" sz="2800" b="1"/>
              <a:t>truth table</a:t>
            </a:r>
            <a:r>
              <a:rPr lang="en-US" altLang="en-US" sz="2800"/>
              <a:t>.</a:t>
            </a:r>
          </a:p>
          <a:p>
            <a:r>
              <a:rPr lang="en-US" altLang="en-US" sz="2800"/>
              <a:t>We are interested in the values of the variables that make the function true (=1).</a:t>
            </a:r>
          </a:p>
          <a:p>
            <a:endParaRPr lang="en-US" altLang="en-US" sz="2800"/>
          </a:p>
          <a:p>
            <a:r>
              <a:rPr lang="en-US" altLang="en-US" sz="2800"/>
              <a:t>Using the truth table, we list the values of the variables that result in a true function value.</a:t>
            </a:r>
          </a:p>
          <a:p>
            <a:r>
              <a:rPr lang="en-US" altLang="en-US" sz="2800"/>
              <a:t>Each group of variables is then </a:t>
            </a:r>
            <a:r>
              <a:rPr lang="en-US" altLang="en-US" sz="2800" err="1"/>
              <a:t>ORed</a:t>
            </a:r>
            <a:r>
              <a:rPr lang="en-US" altLang="en-US" sz="2800"/>
              <a:t> together.</a:t>
            </a:r>
          </a:p>
        </p:txBody>
      </p:sp>
      <p:pic>
        <p:nvPicPr>
          <p:cNvPr id="6" name="Picture 5">
            <a:extLst>
              <a:ext uri="{FF2B5EF4-FFF2-40B4-BE49-F238E27FC236}">
                <a16:creationId xmlns:a16="http://schemas.microsoft.com/office/drawing/2014/main" id="{61BE5FA7-B7A3-C3BD-D5A5-65AD7AB4F2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10400" y="1219200"/>
            <a:ext cx="3505200" cy="4601098"/>
          </a:xfrm>
          <a:prstGeom prst="rect">
            <a:avLst/>
          </a:prstGeom>
        </p:spPr>
      </p:pic>
      <p:sp>
        <p:nvSpPr>
          <p:cNvPr id="8" name="Title 1">
            <a:extLst>
              <a:ext uri="{FF2B5EF4-FFF2-40B4-BE49-F238E27FC236}">
                <a16:creationId xmlns:a16="http://schemas.microsoft.com/office/drawing/2014/main" id="{72D60F40-0685-DE57-AC6F-B9BD8F095F36}"/>
              </a:ext>
            </a:extLst>
          </p:cNvPr>
          <p:cNvSpPr>
            <a:spLocks noGrp="1"/>
          </p:cNvSpPr>
          <p:nvPr>
            <p:ph type="title"/>
          </p:nvPr>
        </p:nvSpPr>
        <p:spPr>
          <a:xfrm>
            <a:off x="406401" y="0"/>
            <a:ext cx="11784403" cy="861210"/>
          </a:xfrm>
        </p:spPr>
        <p:txBody>
          <a:bodyPr lIns="91440" tIns="45720" rIns="91440" bIns="45720" anchor="t"/>
          <a:lstStyle/>
          <a:p>
            <a:r>
              <a:rPr lang="en-US">
                <a:solidFill>
                  <a:schemeClr val="tx1"/>
                </a:solidFill>
              </a:rPr>
              <a:t>Boolean Algebra</a:t>
            </a:r>
          </a:p>
        </p:txBody>
      </p:sp>
    </p:spTree>
    <p:extLst>
      <p:ext uri="{BB962C8B-B14F-4D97-AF65-F5344CB8AC3E}">
        <p14:creationId xmlns:p14="http://schemas.microsoft.com/office/powerpoint/2010/main" val="27990461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8FA0E-7E41-4D32-519E-8D457ACAE0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1F7DB-138C-6F38-1C34-F084F16F630F}"/>
              </a:ext>
            </a:extLst>
          </p:cNvPr>
          <p:cNvSpPr>
            <a:spLocks noGrp="1"/>
          </p:cNvSpPr>
          <p:nvPr>
            <p:ph idx="1"/>
          </p:nvPr>
        </p:nvSpPr>
        <p:spPr>
          <a:xfrm>
            <a:off x="203205" y="1371607"/>
            <a:ext cx="6502396" cy="4876793"/>
          </a:xfrm>
        </p:spPr>
        <p:txBody>
          <a:bodyPr/>
          <a:lstStyle/>
          <a:p>
            <a:r>
              <a:rPr lang="en-US" altLang="en-US" sz="2800"/>
              <a:t>The sum-of-products form for our function is:</a:t>
            </a:r>
          </a:p>
        </p:txBody>
      </p:sp>
      <p:pic>
        <p:nvPicPr>
          <p:cNvPr id="4" name="Picture 3">
            <a:extLst>
              <a:ext uri="{FF2B5EF4-FFF2-40B4-BE49-F238E27FC236}">
                <a16:creationId xmlns:a16="http://schemas.microsoft.com/office/drawing/2014/main" id="{C051345C-29B6-3AB9-3478-30BF3847C5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800" y="2286000"/>
            <a:ext cx="5181600" cy="1008352"/>
          </a:xfrm>
          <a:prstGeom prst="rect">
            <a:avLst/>
          </a:prstGeom>
        </p:spPr>
      </p:pic>
      <p:sp>
        <p:nvSpPr>
          <p:cNvPr id="5" name="Text Box 5">
            <a:extLst>
              <a:ext uri="{FF2B5EF4-FFF2-40B4-BE49-F238E27FC236}">
                <a16:creationId xmlns:a16="http://schemas.microsoft.com/office/drawing/2014/main" id="{427AA9C6-DF4F-AD45-71B9-EA044700DF7C}"/>
              </a:ext>
            </a:extLst>
          </p:cNvPr>
          <p:cNvSpPr txBox="1">
            <a:spLocks noChangeArrowheads="1"/>
          </p:cNvSpPr>
          <p:nvPr/>
        </p:nvSpPr>
        <p:spPr bwMode="auto">
          <a:xfrm>
            <a:off x="2158181" y="4086595"/>
            <a:ext cx="4500716" cy="1446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l"/>
            <a:r>
              <a:rPr lang="en-US" altLang="en-US" sz="2200">
                <a:solidFill>
                  <a:srgbClr val="CC3300"/>
                </a:solidFill>
              </a:rPr>
              <a:t>Note: this function is not in </a:t>
            </a:r>
            <a:r>
              <a:rPr lang="en-US" altLang="en-US" sz="2200" b="1">
                <a:solidFill>
                  <a:srgbClr val="CC3300"/>
                </a:solidFill>
              </a:rPr>
              <a:t>simplest</a:t>
            </a:r>
            <a:r>
              <a:rPr lang="en-US" altLang="en-US" sz="2200">
                <a:solidFill>
                  <a:srgbClr val="CC3300"/>
                </a:solidFill>
              </a:rPr>
              <a:t> terms. Our aim is only to rewrite our function in </a:t>
            </a:r>
            <a:r>
              <a:rPr lang="en-US" altLang="en-US" sz="2200" b="1">
                <a:solidFill>
                  <a:srgbClr val="CC3300"/>
                </a:solidFill>
              </a:rPr>
              <a:t>canonical</a:t>
            </a:r>
            <a:r>
              <a:rPr lang="en-US" altLang="en-US" sz="2200">
                <a:solidFill>
                  <a:srgbClr val="CC3300"/>
                </a:solidFill>
              </a:rPr>
              <a:t> sum-of-products form. </a:t>
            </a:r>
            <a:endParaRPr lang="en-US" altLang="en-US"/>
          </a:p>
        </p:txBody>
      </p:sp>
      <p:pic>
        <p:nvPicPr>
          <p:cNvPr id="9" name="Picture 8">
            <a:extLst>
              <a:ext uri="{FF2B5EF4-FFF2-40B4-BE49-F238E27FC236}">
                <a16:creationId xmlns:a16="http://schemas.microsoft.com/office/drawing/2014/main" id="{9107FAC4-1BBD-C578-ED49-A8EC1B3CFA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0400" y="1219200"/>
            <a:ext cx="3505200" cy="4601098"/>
          </a:xfrm>
          <a:prstGeom prst="rect">
            <a:avLst/>
          </a:prstGeom>
        </p:spPr>
      </p:pic>
      <p:sp>
        <p:nvSpPr>
          <p:cNvPr id="6" name="Rectangle 5">
            <a:extLst>
              <a:ext uri="{FF2B5EF4-FFF2-40B4-BE49-F238E27FC236}">
                <a16:creationId xmlns:a16="http://schemas.microsoft.com/office/drawing/2014/main" id="{FB73D3F2-EE08-FDFE-1C33-A51EE82EFAEB}"/>
              </a:ext>
            </a:extLst>
          </p:cNvPr>
          <p:cNvSpPr/>
          <p:nvPr/>
        </p:nvSpPr>
        <p:spPr>
          <a:xfrm>
            <a:off x="6858001" y="3429000"/>
            <a:ext cx="3962398" cy="1066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D514FA8-132B-F959-988C-9C57B3318C33}"/>
              </a:ext>
            </a:extLst>
          </p:cNvPr>
          <p:cNvSpPr/>
          <p:nvPr/>
        </p:nvSpPr>
        <p:spPr>
          <a:xfrm>
            <a:off x="6858001" y="4883243"/>
            <a:ext cx="3962398" cy="7555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2C5BBF7B-D2D1-6999-7861-20DCD44CCB9E}"/>
              </a:ext>
            </a:extLst>
          </p:cNvPr>
          <p:cNvSpPr>
            <a:spLocks noGrp="1"/>
          </p:cNvSpPr>
          <p:nvPr>
            <p:ph type="title"/>
          </p:nvPr>
        </p:nvSpPr>
        <p:spPr>
          <a:xfrm>
            <a:off x="406401" y="0"/>
            <a:ext cx="11784403" cy="861210"/>
          </a:xfrm>
        </p:spPr>
        <p:txBody>
          <a:bodyPr lIns="91440" tIns="45720" rIns="91440" bIns="45720" anchor="t"/>
          <a:lstStyle/>
          <a:p>
            <a:r>
              <a:rPr lang="en-US" dirty="0">
                <a:solidFill>
                  <a:schemeClr val="tx1"/>
                </a:solidFill>
              </a:rPr>
              <a:t>Sum of Products</a:t>
            </a:r>
          </a:p>
        </p:txBody>
      </p:sp>
    </p:spTree>
    <p:extLst>
      <p:ext uri="{BB962C8B-B14F-4D97-AF65-F5344CB8AC3E}">
        <p14:creationId xmlns:p14="http://schemas.microsoft.com/office/powerpoint/2010/main" val="38712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9BD9B-048D-E0CD-7DE2-998848C2FF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667267-C0C4-CF7D-E586-442BDE297E06}"/>
              </a:ext>
            </a:extLst>
          </p:cNvPr>
          <p:cNvSpPr>
            <a:spLocks noGrp="1"/>
          </p:cNvSpPr>
          <p:nvPr>
            <p:ph idx="1"/>
          </p:nvPr>
        </p:nvSpPr>
        <p:spPr>
          <a:xfrm>
            <a:off x="203205" y="1371607"/>
            <a:ext cx="6502396" cy="4876793"/>
          </a:xfrm>
        </p:spPr>
        <p:txBody>
          <a:bodyPr lIns="91440" tIns="45720" rIns="91440" bIns="45720" anchor="t"/>
          <a:lstStyle/>
          <a:p>
            <a:pPr>
              <a:buNone/>
            </a:pPr>
            <a:r>
              <a:rPr lang="en-US" sz="2400" dirty="0"/>
              <a:t>product-of-sums form takes the OR of complemented variables that make the value ‘false’ (0) then ANDs them together</a:t>
            </a:r>
          </a:p>
          <a:p>
            <a:pPr>
              <a:buNone/>
            </a:pPr>
            <a:r>
              <a:rPr lang="en-US" sz="2400" dirty="0"/>
              <a:t>Rules:</a:t>
            </a:r>
            <a:endParaRPr lang="en-US" sz="2400" dirty="0">
              <a:ea typeface="Calibri"/>
            </a:endParaRPr>
          </a:p>
          <a:p>
            <a:pPr marL="410845" lvl="1"/>
            <a:r>
              <a:rPr lang="en-US" dirty="0"/>
              <a:t>If the variable is </a:t>
            </a:r>
            <a:r>
              <a:rPr lang="en-US" b="1" dirty="0"/>
              <a:t>0</a:t>
            </a:r>
            <a:r>
              <a:rPr lang="en-US" dirty="0"/>
              <a:t> in that row, use the </a:t>
            </a:r>
            <a:r>
              <a:rPr lang="en-US" b="1" dirty="0"/>
              <a:t>uncomplemented</a:t>
            </a:r>
            <a:r>
              <a:rPr lang="en-US" dirty="0"/>
              <a:t> form of the variable (because that literal will be 0).</a:t>
            </a:r>
            <a:endParaRPr lang="en-US" dirty="0">
              <a:ea typeface="Calibri"/>
            </a:endParaRPr>
          </a:p>
          <a:p>
            <a:pPr marL="410845" lvl="1"/>
            <a:r>
              <a:rPr lang="en-US" dirty="0"/>
              <a:t>If the variable is </a:t>
            </a:r>
            <a:r>
              <a:rPr lang="en-US" b="1" dirty="0"/>
              <a:t>1</a:t>
            </a:r>
            <a:r>
              <a:rPr lang="en-US" dirty="0"/>
              <a:t> in that row, use the </a:t>
            </a:r>
            <a:r>
              <a:rPr lang="en-US" b="1" dirty="0"/>
              <a:t>complemented</a:t>
            </a:r>
            <a:r>
              <a:rPr lang="en-US" dirty="0"/>
              <a:t> form of the variable (because that literal will be 0)</a:t>
            </a:r>
            <a:endParaRPr lang="en-US" sz="3200" dirty="0">
              <a:ea typeface="Calibri"/>
            </a:endParaRPr>
          </a:p>
        </p:txBody>
      </p:sp>
      <p:pic>
        <p:nvPicPr>
          <p:cNvPr id="9" name="Picture 8">
            <a:extLst>
              <a:ext uri="{FF2B5EF4-FFF2-40B4-BE49-F238E27FC236}">
                <a16:creationId xmlns:a16="http://schemas.microsoft.com/office/drawing/2014/main" id="{9917D811-AE23-6174-7A48-0B9A221C63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0400" y="1219200"/>
            <a:ext cx="3505200" cy="4601098"/>
          </a:xfrm>
          <a:prstGeom prst="rect">
            <a:avLst/>
          </a:prstGeom>
        </p:spPr>
      </p:pic>
      <p:sp>
        <p:nvSpPr>
          <p:cNvPr id="7" name="TextBox 6">
            <a:extLst>
              <a:ext uri="{FF2B5EF4-FFF2-40B4-BE49-F238E27FC236}">
                <a16:creationId xmlns:a16="http://schemas.microsoft.com/office/drawing/2014/main" id="{D9142823-4D3B-D2B7-A188-DA3252893DAF}"/>
              </a:ext>
            </a:extLst>
          </p:cNvPr>
          <p:cNvSpPr txBox="1"/>
          <p:nvPr/>
        </p:nvSpPr>
        <p:spPr>
          <a:xfrm>
            <a:off x="351368" y="5466355"/>
            <a:ext cx="6506633" cy="400110"/>
          </a:xfrm>
          <a:prstGeom prst="rect">
            <a:avLst/>
          </a:prstGeom>
          <a:noFill/>
        </p:spPr>
        <p:txBody>
          <a:bodyPr wrap="square" lIns="91440" tIns="45720" rIns="91440" bIns="45720" anchor="t">
            <a:spAutoFit/>
          </a:bodyPr>
          <a:lstStyle/>
          <a:p>
            <a:pPr algn="ctr"/>
            <a:r>
              <a:rPr lang="en-US" sz="2000" b="1" dirty="0">
                <a:latin typeface="Courier New"/>
                <a:cs typeface="Courier New"/>
              </a:rPr>
              <a:t>F(</a:t>
            </a:r>
            <a:r>
              <a:rPr lang="en-US" sz="2000" b="1" dirty="0" err="1">
                <a:latin typeface="Courier New"/>
                <a:cs typeface="Courier New"/>
              </a:rPr>
              <a:t>x,y,z</a:t>
            </a:r>
            <a:r>
              <a:rPr lang="en-US" sz="2000" b="1" dirty="0">
                <a:latin typeface="Courier New"/>
                <a:cs typeface="Courier New"/>
              </a:rPr>
              <a:t>)= (</a:t>
            </a:r>
            <a:r>
              <a:rPr lang="en-US" sz="2000" b="1" dirty="0" err="1">
                <a:latin typeface="Courier New"/>
                <a:cs typeface="Courier New"/>
              </a:rPr>
              <a:t>x+y+z</a:t>
            </a:r>
            <a:r>
              <a:rPr lang="en-US" sz="2000" b="1" dirty="0">
                <a:latin typeface="Courier New"/>
                <a:cs typeface="Courier New"/>
              </a:rPr>
              <a:t>)(</a:t>
            </a:r>
            <a:r>
              <a:rPr lang="en-US" sz="2000" b="1" dirty="0" err="1">
                <a:latin typeface="Courier New"/>
                <a:cs typeface="Courier New"/>
              </a:rPr>
              <a:t>x+y+z</a:t>
            </a:r>
            <a:r>
              <a:rPr lang="en-US" sz="2000" b="1" dirty="0">
                <a:latin typeface="Courier New"/>
                <a:cs typeface="Courier New"/>
              </a:rPr>
              <a:t>’)(x’+</a:t>
            </a:r>
            <a:r>
              <a:rPr lang="en-US" sz="2000" b="1" dirty="0" err="1">
                <a:latin typeface="Courier New"/>
                <a:cs typeface="Courier New"/>
              </a:rPr>
              <a:t>y+z</a:t>
            </a:r>
            <a:r>
              <a:rPr lang="en-US" sz="2000" b="1" dirty="0">
                <a:latin typeface="Courier New"/>
                <a:cs typeface="Courier New"/>
              </a:rPr>
              <a:t>’)</a:t>
            </a:r>
            <a:endParaRPr lang="en-US" dirty="0"/>
          </a:p>
        </p:txBody>
      </p:sp>
      <p:sp>
        <p:nvSpPr>
          <p:cNvPr id="4" name="Rectangle 3">
            <a:extLst>
              <a:ext uri="{FF2B5EF4-FFF2-40B4-BE49-F238E27FC236}">
                <a16:creationId xmlns:a16="http://schemas.microsoft.com/office/drawing/2014/main" id="{6AACF59C-34FA-3881-76A4-B758BADA01E2}"/>
              </a:ext>
            </a:extLst>
          </p:cNvPr>
          <p:cNvSpPr/>
          <p:nvPr/>
        </p:nvSpPr>
        <p:spPr>
          <a:xfrm>
            <a:off x="6858001" y="2667000"/>
            <a:ext cx="3962398" cy="762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4AA267C-BE2D-3036-4EF7-4D7946F73F72}"/>
              </a:ext>
            </a:extLst>
          </p:cNvPr>
          <p:cNvSpPr/>
          <p:nvPr/>
        </p:nvSpPr>
        <p:spPr>
          <a:xfrm>
            <a:off x="6858001" y="4549427"/>
            <a:ext cx="3962398" cy="33992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A79570AC-3B21-7ACD-4D2D-8049AAEF4DBB}"/>
              </a:ext>
            </a:extLst>
          </p:cNvPr>
          <p:cNvSpPr>
            <a:spLocks noGrp="1"/>
          </p:cNvSpPr>
          <p:nvPr>
            <p:ph type="title"/>
          </p:nvPr>
        </p:nvSpPr>
        <p:spPr>
          <a:xfrm>
            <a:off x="406401" y="0"/>
            <a:ext cx="11784403" cy="861210"/>
          </a:xfrm>
        </p:spPr>
        <p:txBody>
          <a:bodyPr lIns="91440" tIns="45720" rIns="91440" bIns="45720" anchor="t"/>
          <a:lstStyle/>
          <a:p>
            <a:r>
              <a:rPr lang="en-US" dirty="0">
                <a:solidFill>
                  <a:schemeClr val="tx1"/>
                </a:solidFill>
              </a:rPr>
              <a:t>Product of Sums</a:t>
            </a:r>
            <a:endParaRPr lang="en-US" dirty="0"/>
          </a:p>
        </p:txBody>
      </p:sp>
    </p:spTree>
    <p:extLst>
      <p:ext uri="{BB962C8B-B14F-4D97-AF65-F5344CB8AC3E}">
        <p14:creationId xmlns:p14="http://schemas.microsoft.com/office/powerpoint/2010/main" val="3783149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animBg="1"/>
      <p:bldP spid="5" grpId="0" animBg="1"/>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GW General">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33</Slides>
  <Notes>11</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GW General</vt:lpstr>
      <vt:lpstr>CS 2160 Introduction to Assembly Programming and Computer Organization  Lecture 08: Boolean Logic</vt:lpstr>
      <vt:lpstr>Today’s Agenda.</vt:lpstr>
      <vt:lpstr>Boolean</vt:lpstr>
      <vt:lpstr>Boolean</vt:lpstr>
      <vt:lpstr>Boolean</vt:lpstr>
      <vt:lpstr>Logic Gates</vt:lpstr>
      <vt:lpstr>Logic Gate Symbols</vt:lpstr>
      <vt:lpstr>Boolean Algebra</vt:lpstr>
      <vt:lpstr>Boolean Algebra</vt:lpstr>
      <vt:lpstr>Boolean Algebra</vt:lpstr>
      <vt:lpstr>Boolean Algebra</vt:lpstr>
      <vt:lpstr>Boolean Algebra</vt:lpstr>
      <vt:lpstr>Boolean Algebra</vt:lpstr>
      <vt:lpstr>Boolean Algebra</vt:lpstr>
      <vt:lpstr>Boolean Algebra</vt:lpstr>
      <vt:lpstr>Boolean Algebra</vt:lpstr>
      <vt:lpstr>Boolean Algebra</vt:lpstr>
      <vt:lpstr>Boolean Algebra</vt:lpstr>
      <vt:lpstr>De Morgan’s Law </vt:lpstr>
      <vt:lpstr>De Morgan’s Law  </vt:lpstr>
      <vt:lpstr>Boolean Algebra</vt:lpstr>
      <vt:lpstr>Boolean Algebra</vt:lpstr>
      <vt:lpstr>Boolean Algebra</vt:lpstr>
      <vt:lpstr>Boolean Algebra</vt:lpstr>
      <vt:lpstr>Boolean Algebra</vt:lpstr>
      <vt:lpstr>Boolean Algebra</vt:lpstr>
      <vt:lpstr>Boolean Algebra</vt:lpstr>
      <vt:lpstr>Boolean Algebra</vt:lpstr>
      <vt:lpstr>Boolean Algebra</vt:lpstr>
      <vt:lpstr>Boolean Algebra</vt:lpstr>
      <vt:lpstr>Boolean Algebra</vt:lpstr>
      <vt:lpstr>Sum of Products</vt:lpstr>
      <vt:lpstr>Product of Sums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CS4200: Computer Architecture Introduction to Computer Architecture</dc:title>
  <dc:creator>Gedare Bloom</dc:creator>
  <cp:revision>120</cp:revision>
  <dcterms:created xsi:type="dcterms:W3CDTF">2020-08-23T20:53:13Z</dcterms:created>
  <dcterms:modified xsi:type="dcterms:W3CDTF">2026-10-05T22:30:28Z</dcterms:modified>
</cp:coreProperties>
</file>