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7" r:id="rId1"/>
  </p:sldMasterIdLst>
  <p:notesMasterIdLst>
    <p:notesMasterId r:id="rId25"/>
  </p:notesMasterIdLst>
  <p:sldIdLst>
    <p:sldId id="256" r:id="rId2"/>
    <p:sldId id="257" r:id="rId3"/>
    <p:sldId id="766" r:id="rId4"/>
    <p:sldId id="767" r:id="rId5"/>
    <p:sldId id="768" r:id="rId6"/>
    <p:sldId id="769" r:id="rId7"/>
    <p:sldId id="770" r:id="rId8"/>
    <p:sldId id="772" r:id="rId9"/>
    <p:sldId id="771" r:id="rId10"/>
    <p:sldId id="773" r:id="rId11"/>
    <p:sldId id="774" r:id="rId12"/>
    <p:sldId id="775" r:id="rId13"/>
    <p:sldId id="776" r:id="rId14"/>
    <p:sldId id="777" r:id="rId15"/>
    <p:sldId id="778" r:id="rId16"/>
    <p:sldId id="789" r:id="rId17"/>
    <p:sldId id="779" r:id="rId18"/>
    <p:sldId id="780" r:id="rId19"/>
    <p:sldId id="781" r:id="rId20"/>
    <p:sldId id="782" r:id="rId21"/>
    <p:sldId id="784" r:id="rId22"/>
    <p:sldId id="785" r:id="rId23"/>
    <p:sldId id="79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DDF8"/>
    <a:srgbClr val="009639"/>
    <a:srgbClr val="00D657"/>
    <a:srgbClr val="00A840"/>
    <a:srgbClr val="71FF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7" dt="2026-09-24T21:26:20.306"/>
    <p1510:client id="{0B7240AB-D494-1105-2F2B-5A0C881AF76E}" v="347" dt="2026-09-24T22:04:14.9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09" autoAdjust="0"/>
    <p:restoredTop sz="80084" autoAdjust="0"/>
  </p:normalViewPr>
  <p:slideViewPr>
    <p:cSldViewPr>
      <p:cViewPr varScale="1">
        <p:scale>
          <a:sx n="152" d="100"/>
          <a:sy n="152" d="100"/>
        </p:scale>
        <p:origin x="200" y="536"/>
      </p:cViewPr>
      <p:guideLst>
        <p:guide orient="horz" pos="2160"/>
        <p:guide pos="3840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C8BA7-AD7A-4562-9101-3AAD26BB578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E34500-BB8F-47C6-8EB6-733711EA6A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869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6F284-C32C-324D-AD43-FA9612759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9B67E-176A-ECA7-D66A-644562EEFA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47BC7-27B2-F5B3-F937-F9DC8ABFF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B2478-54D7-52E6-C32A-AB804890DD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18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3682B-1C5E-4B3A-F793-671513C89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35EBC7-BE75-182A-91BE-9C4126934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51459F-5875-DCF0-EA89-9420CC30D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94FA2-8622-8F28-7982-D0C5A3388F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13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E8446-492E-C048-F025-5F9BEDF88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2284FA-ED9E-9AA8-9E2D-92214E221A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5F6171-3CAC-7206-CB60-17041D4F2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00FF7-743D-8447-AD69-0B5986A918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185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25535-94D6-59B7-C051-DA3C93931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17DB4-1FD5-5E23-520A-AC09EBF65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A60851-06E2-ACDE-787E-4B7C98108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E2815-A465-CA39-CE8F-47E657AFD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757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359B2-80D5-4293-006E-68802E258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710B1E-1AD3-7ABA-5A1D-A525332067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BAC996-0B24-BE11-77FE-71B2E94C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291A8-2A89-D494-8F55-D794BB70CB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774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41036-575E-B551-FA83-47B69EB6F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E8D545-644F-358D-9384-7210AC890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36C394-3F14-FD55-2F7D-BD73EA532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A2F9C-522C-FA3C-EDB2-2EAC57A00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937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77023-54CF-9362-9048-2A1BBDF23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05680E-E6B6-48DE-921F-D995874AB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C6599F-1E7C-5C90-5D11-D73AB5C54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80D4D-66ED-1FC9-DE2C-C6A8767C47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2367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6B70C-8EE7-DD10-6253-FAE242DE0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2244D8-0BF3-768D-54E9-BE4858AD04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F053D7-7EC8-B7BD-F7FA-E34899741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5CDEA-DBD6-2583-3A1B-253790B0C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3036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DD0B3-34CE-1949-8E74-4CA4544F8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8CC0FB-5A3D-FA1A-DF33-BECB63DDA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4AD528-8840-4853-5F60-2D5B2A5B2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A6BCC-4100-1E94-A970-C5FCA5679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01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7714E-2A02-A9DF-9EF3-9513CC8E7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2AB215-4121-459B-8628-5CF5F0AFD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3C4C67-0701-227C-7F71-5229D729F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2800C-8967-C5BF-D636-ECAF68B3E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8020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5F98E-AFFF-16D0-EEF0-02EB9544C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13D56F-B851-FE38-4601-F0D216996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522D5-37B3-79EA-E197-EF9959356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6C521-C2AF-60AC-D8BD-82357A53B2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4290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F65B9-C1FC-1C06-46D5-E913844D6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E2A753-56CE-3D6E-11AC-E776160BF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80705-C8B9-4B4E-3461-9D6E1FD40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01313-A535-E32E-7750-ECAF66B20F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536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9BE96-6CEF-C7B1-4AC1-C4FBA484C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7BBB15-8B0A-B438-8207-783F96BC6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29C76E-C373-5247-C892-80C39E6CE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CF0C1-2A0E-D1F2-172B-16EB52CBE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6191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8F999-E5F9-4717-D829-9AAFE38E5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9A575C-BBFA-19C4-377C-5CA4985CF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A31993-0BB5-81D9-C780-A07FA4196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5EDD9-1685-4D05-94D2-6E47D531FD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7930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71296-21FC-693C-F756-A071AB3A3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C30BBE-463F-744F-0AB2-80BA53159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C51816-0FA8-E767-9E39-BA0E7F80E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1D388-26D2-D2D4-B4AE-5ADD9E4B7A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789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DB910-0D96-D19F-6241-BAFAEF350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9854C-EF59-4BFD-FC2D-FD7751D16A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73CE6A-2DB6-6EF1-187C-BFAF12526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8D0FD-88E1-0167-047A-E35F743811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088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99F45-5C25-9E8C-74C8-172790E45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6A96C0-4E9A-51F9-A62D-CD4456B32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F06866-D089-6562-128B-FEE0A4D61A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4615B-B877-934A-35E8-3F414D49E7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3487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353B1-86D0-47C8-CE43-DD6FEAA9C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F88E4-C035-7E78-5B0E-1527833B9F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0159C2-79C9-2547-69F6-51FD5763F6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EFE52-CD80-7F8F-EE41-F686E17AE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502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78DE6-5E40-2704-EFDA-A18DA2487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4CBDDB-7C4F-B3B9-1A32-D57F90060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D0076A-A9C3-BD82-59BC-21418C835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31131-9779-8141-B317-A762ABE583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2628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9B852-508A-8693-2379-B6DD1E0A5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F36784-86AC-6877-B526-5A686BA517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CDF9C7-023F-1A9C-74C7-7F97D81D3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9927A-4A49-D080-5D65-EC07ABB3A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232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96E4E-3630-B77A-D7D7-2BFBC18BF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910275-D34B-7420-CA26-D9709E8A3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D9F3AD-C821-E295-E6D5-ACB6738392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you have this program compiled in the simulator, hit play once. You’ll notice that the program has stopped execution at the first </a:t>
            </a:r>
            <a:r>
              <a:rPr lang="en-US" dirty="0" err="1"/>
              <a:t>ecall</a:t>
            </a:r>
            <a:r>
              <a:rPr lang="en-US" dirty="0"/>
              <a:t> (the write). Open up the terminal window and you will see the prompt has been written. Now, type in a message into the input line. Then, hit play again. You’ll see the program has eaten up your input from the input line, and the execution has stopped at the second </a:t>
            </a:r>
            <a:r>
              <a:rPr lang="en-US" dirty="0" err="1"/>
              <a:t>ecall</a:t>
            </a:r>
            <a:r>
              <a:rPr lang="en-US" dirty="0"/>
              <a:t>. If you open up the Registers window at this point, you will also notice that the </a:t>
            </a:r>
            <a:r>
              <a:rPr lang="en-US" dirty="0" err="1"/>
              <a:t>ecall</a:t>
            </a:r>
            <a:r>
              <a:rPr lang="en-US" dirty="0"/>
              <a:t> has returned the length of your input string into the a0 register. </a:t>
            </a:r>
          </a:p>
          <a:p>
            <a:endParaRPr lang="en-US" dirty="0"/>
          </a:p>
          <a:p>
            <a:r>
              <a:rPr lang="en-US" dirty="0"/>
              <a:t>Press play again. You’ll see it has now just written the user’s input message back into the terminal. We used the return value from the read </a:t>
            </a:r>
            <a:r>
              <a:rPr lang="en-US" dirty="0" err="1"/>
              <a:t>ecall</a:t>
            </a:r>
            <a:r>
              <a:rPr lang="en-US" dirty="0"/>
              <a:t> to specify the length of the string into the a2 register. Now, execution has stopped at the third </a:t>
            </a:r>
            <a:r>
              <a:rPr lang="en-US" dirty="0" err="1"/>
              <a:t>ecall</a:t>
            </a:r>
            <a:r>
              <a:rPr lang="en-US" dirty="0"/>
              <a:t>. Pressing play again will terminate the program.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E9EEE-F58D-7C7C-0990-56126F4AAC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15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4" y="1371607"/>
            <a:ext cx="11785597" cy="4876793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+mn-lt"/>
                <a:cs typeface="Arial"/>
              </a:defRPr>
            </a:lvl1pPr>
            <a:lvl2pPr>
              <a:defRPr sz="2400">
                <a:latin typeface="+mn-lt"/>
                <a:cs typeface="Arial"/>
              </a:defRPr>
            </a:lvl2pPr>
            <a:lvl3pPr>
              <a:defRPr sz="2200">
                <a:latin typeface="+mn-lt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03201" y="152400"/>
            <a:ext cx="11764083" cy="1054250"/>
          </a:xfrm>
          <a:prstGeom prst="rect">
            <a:avLst/>
          </a:prstGeom>
        </p:spPr>
        <p:txBody>
          <a:bodyPr/>
          <a:lstStyle>
            <a:lvl1pPr algn="l">
              <a:defRPr sz="4400" b="1">
                <a:solidFill>
                  <a:schemeClr val="tx2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203200" y="1371600"/>
            <a:ext cx="4638421" cy="5029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+mn-lt"/>
                <a:cs typeface="Arial"/>
              </a:defRPr>
            </a:lvl1pPr>
            <a:lvl2pPr>
              <a:defRPr sz="24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953000" y="1371600"/>
            <a:ext cx="4648200" cy="5029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+mn-lt"/>
                <a:cs typeface="Arial"/>
              </a:defRPr>
            </a:lvl1pPr>
            <a:lvl2pPr>
              <a:defRPr sz="24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03201" y="152400"/>
            <a:ext cx="11764083" cy="1054250"/>
          </a:xfrm>
          <a:prstGeom prst="rect">
            <a:avLst/>
          </a:prstGeom>
        </p:spPr>
        <p:txBody>
          <a:bodyPr/>
          <a:lstStyle>
            <a:lvl1pPr algn="l">
              <a:defRPr sz="4400" b="1">
                <a:solidFill>
                  <a:schemeClr val="tx2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838" y="1447800"/>
            <a:ext cx="4788622" cy="65836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 b="1">
                <a:solidFill>
                  <a:schemeClr val="tx1"/>
                </a:solidFill>
                <a:latin typeface="+mn-lt"/>
                <a:cs typeface="Arial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3206" y="2209801"/>
            <a:ext cx="4788624" cy="42704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+mn-lt"/>
                <a:cs typeface="Arial"/>
              </a:defRPr>
            </a:lvl1pPr>
            <a:lvl2pPr>
              <a:defRPr sz="2400">
                <a:latin typeface="+mn-lt"/>
                <a:cs typeface="Arial"/>
              </a:defRPr>
            </a:lvl2pPr>
            <a:lvl3pPr>
              <a:defRPr sz="2000">
                <a:latin typeface="Arial"/>
                <a:cs typeface="Arial"/>
              </a:defRPr>
            </a:lvl3pPr>
            <a:lvl4pPr>
              <a:defRPr sz="2000">
                <a:latin typeface="Arial"/>
                <a:cs typeface="Arial"/>
              </a:defRPr>
            </a:lvl4pPr>
            <a:lvl5pPr>
              <a:defRPr sz="2000">
                <a:latin typeface="Arial"/>
                <a:cs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5029" y="1447800"/>
            <a:ext cx="4826607" cy="65836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 b="1">
                <a:solidFill>
                  <a:schemeClr val="tx1"/>
                </a:solidFill>
                <a:latin typeface="+mn-lt"/>
                <a:cs typeface="Arial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5400" y="2206574"/>
            <a:ext cx="4820229" cy="42704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+mn-lt"/>
                <a:cs typeface="Arial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03201" y="152400"/>
            <a:ext cx="11764083" cy="1054250"/>
          </a:xfrm>
          <a:prstGeom prst="rect">
            <a:avLst/>
          </a:prstGeom>
        </p:spPr>
        <p:txBody>
          <a:bodyPr/>
          <a:lstStyle>
            <a:lvl1pPr algn="l">
              <a:defRPr sz="4400" b="1">
                <a:solidFill>
                  <a:schemeClr val="tx2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529433" y="2887580"/>
            <a:ext cx="11436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5400" dirty="0">
              <a:solidFill>
                <a:schemeClr val="tx2">
                  <a:lumMod val="60000"/>
                  <a:lumOff val="40000"/>
                </a:schemeClr>
              </a:solidFill>
              <a:latin typeface="Wingdings" pitchFamily="2" charset="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058" y="1204857"/>
            <a:ext cx="10339617" cy="1910716"/>
          </a:xfrm>
          <a:prstGeom prst="rect">
            <a:avLst/>
          </a:prstGeom>
        </p:spPr>
        <p:txBody>
          <a:bodyPr anchor="b"/>
          <a:lstStyle>
            <a:lvl1pPr algn="ctr">
              <a:defRPr sz="4400" b="1" cap="none" baseline="0">
                <a:solidFill>
                  <a:schemeClr val="tx2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2331" y="3324435"/>
            <a:ext cx="10312996" cy="1500187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400">
                <a:solidFill>
                  <a:srgbClr val="595959"/>
                </a:solidFill>
                <a:latin typeface="+mn-lt"/>
                <a:cs typeface="Arial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0901" y="1362075"/>
            <a:ext cx="5162551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651" y="1362075"/>
            <a:ext cx="5162549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728615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017" y="445070"/>
            <a:ext cx="101219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0784737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8813A-9329-426C-8047-01C1395FFE36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9380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F9B38D-0C2C-467B-B327-8E5937302185}"/>
              </a:ext>
            </a:extLst>
          </p:cNvPr>
          <p:cNvSpPr txBox="1"/>
          <p:nvPr userDrawn="1"/>
        </p:nvSpPr>
        <p:spPr>
          <a:xfrm>
            <a:off x="11277600" y="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B1F5BA-E7B0-4ADC-8E3A-0FABFF1CB3B9}" type="slidenum">
              <a:rPr lang="en-US" sz="1800" smtClean="0">
                <a:solidFill>
                  <a:schemeClr val="tx2"/>
                </a:solidFill>
              </a:rPr>
              <a:pPr algn="r"/>
              <a:t>‹#›</a:t>
            </a:fld>
            <a:endParaRPr lang="en-US" sz="1800" dirty="0">
              <a:solidFill>
                <a:schemeClr val="tx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1" r:id="rId2"/>
    <p:sldLayoutId id="2147483682" r:id="rId3"/>
    <p:sldLayoutId id="2147483680" r:id="rId4"/>
    <p:sldLayoutId id="2147483678" r:id="rId5"/>
    <p:sldLayoutId id="2147483683" r:id="rId6"/>
    <p:sldLayoutId id="2147483684" r:id="rId7"/>
    <p:sldLayoutId id="2147483685" r:id="rId8"/>
  </p:sldLayoutIdLst>
  <p:hf sldNum="0" hdr="0" ftr="0" dt="0"/>
  <p:txStyles>
    <p:titleStyle>
      <a:lvl1pPr algn="ctr" defTabSz="914377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914377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None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11470" indent="0" algn="l" defTabSz="914377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None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21" indent="0" algn="l" defTabSz="914377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None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188690" indent="0" algn="l" defTabSz="914377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None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508722" indent="0" algn="l" defTabSz="914377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None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786" indent="-274313" algn="l" defTabSz="914377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indent="-274313" algn="l" defTabSz="914377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850" indent="-274313" algn="l" defTabSz="914377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882" indent="-274313" algn="l" defTabSz="914377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thakur@uccs.edu" TargetMode="Externa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vut/qtrvsi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omparch.edu.cvut.cz/qtrvsim/app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494"/>
            <a:ext cx="12197675" cy="34314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  <a:ea typeface="+mj-lt"/>
                <a:cs typeface="+mj-lt"/>
              </a:rPr>
              <a:t>CS 2160</a:t>
            </a:r>
            <a:br>
              <a:rPr lang="en-US" sz="3600" b="1" dirty="0">
                <a:solidFill>
                  <a:schemeClr val="tx1"/>
                </a:solidFill>
                <a:ea typeface="+mj-lt"/>
                <a:cs typeface="+mj-lt"/>
              </a:rPr>
            </a:br>
            <a:r>
              <a:rPr lang="en-US" sz="3600" dirty="0">
                <a:solidFill>
                  <a:schemeClr val="tx1"/>
                </a:solidFill>
              </a:rPr>
              <a:t>Introduction to Assembly Programming and</a:t>
            </a:r>
            <a:br>
              <a:rPr lang="en-US" sz="3600" dirty="0">
                <a:solidFill>
                  <a:schemeClr val="tx1"/>
                </a:solidFill>
              </a:rPr>
            </a:br>
            <a:r>
              <a:rPr lang="en-US" sz="3600" dirty="0">
                <a:solidFill>
                  <a:schemeClr val="tx1"/>
                </a:solidFill>
              </a:rPr>
              <a:t>Computer Organization</a:t>
            </a:r>
            <a:br>
              <a:rPr lang="en-US" sz="3600" dirty="0">
                <a:solidFill>
                  <a:schemeClr val="tx1"/>
                </a:solidFill>
              </a:rPr>
            </a:br>
            <a:br>
              <a:rPr lang="en-US" sz="3600" dirty="0">
                <a:solidFill>
                  <a:schemeClr val="tx1"/>
                </a:solidFill>
                <a:ea typeface="+mj-lt"/>
                <a:cs typeface="+mj-lt"/>
              </a:rPr>
            </a:br>
            <a:r>
              <a:rPr lang="en-US" sz="3200" b="1" dirty="0">
                <a:solidFill>
                  <a:schemeClr val="tx1"/>
                </a:solidFill>
                <a:ea typeface="+mj-lt"/>
                <a:cs typeface="+mj-lt"/>
              </a:rPr>
              <a:t>Lecture 06</a:t>
            </a:r>
            <a:r>
              <a:rPr lang="en-US" sz="3200" dirty="0">
                <a:solidFill>
                  <a:schemeClr val="tx1"/>
                </a:solidFill>
                <a:ea typeface="+mj-lt"/>
                <a:cs typeface="+mj-lt"/>
              </a:rPr>
              <a:t>: Into to QT RV Simulator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40" y="3424813"/>
            <a:ext cx="12175382" cy="29816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latin typeface="Aptos"/>
                <a:ea typeface="Calibri"/>
                <a:cs typeface="Calibri"/>
              </a:rPr>
              <a:t>Fall 2026</a:t>
            </a:r>
            <a:endParaRPr lang="en-US">
              <a:latin typeface="Aptos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 b="1">
                <a:latin typeface="Calibri"/>
                <a:ea typeface="Calibri"/>
                <a:cs typeface="Calibri"/>
              </a:rPr>
              <a:t>Instructor</a:t>
            </a:r>
            <a:r>
              <a:rPr lang="en-US">
                <a:latin typeface="Calibri"/>
                <a:ea typeface="Calibri"/>
                <a:cs typeface="Calibri"/>
              </a:rPr>
              <a:t>: Himon Thakur</a:t>
            </a:r>
            <a:endParaRPr lang="en-US"/>
          </a:p>
          <a:p>
            <a:pPr>
              <a:spcBef>
                <a:spcPts val="0"/>
              </a:spcBef>
            </a:pPr>
            <a:r>
              <a:rPr lang="en-US" b="1">
                <a:latin typeface="Calibri"/>
                <a:ea typeface="Calibri"/>
                <a:cs typeface="Calibri"/>
              </a:rPr>
              <a:t>TA: </a:t>
            </a:r>
            <a:r>
              <a:rPr lang="en-US">
                <a:latin typeface="Calibri"/>
                <a:ea typeface="Calibri"/>
                <a:cs typeface="Calibri"/>
              </a:rPr>
              <a:t>Hassan Shakil</a:t>
            </a: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/>
              <a:t>University of Colorado </a:t>
            </a:r>
            <a:r>
              <a:rPr lang="en-US" err="1"/>
              <a:t>Colorado</a:t>
            </a:r>
            <a:r>
              <a:rPr lang="en-US"/>
              <a:t> Springs (UCCS)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23017D99-3D2A-E0CE-054E-E32FE8E968E6}"/>
              </a:ext>
            </a:extLst>
          </p:cNvPr>
          <p:cNvSpPr txBox="1"/>
          <p:nvPr/>
        </p:nvSpPr>
        <p:spPr>
          <a:xfrm>
            <a:off x="20320" y="6407876"/>
            <a:ext cx="12181838" cy="43858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latin typeface="Aptos Display"/>
                <a:ea typeface="Calibri"/>
                <a:cs typeface="Calibri"/>
              </a:rPr>
              <a:t>Himon Thakur</a:t>
            </a:r>
            <a:r>
              <a:rPr lang="en-US" sz="1200" dirty="0">
                <a:latin typeface="Aptos Display"/>
                <a:ea typeface="Calibri"/>
                <a:cs typeface="Calibri"/>
              </a:rPr>
              <a:t> (</a:t>
            </a:r>
            <a:r>
              <a:rPr lang="en-US" sz="1200" dirty="0">
                <a:latin typeface="Aptos Display"/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hthakur@uccs.edu</a:t>
            </a:r>
            <a:r>
              <a:rPr lang="en-US" sz="1200" i="1" dirty="0">
                <a:latin typeface="Aptos Display"/>
                <a:ea typeface="Calibri"/>
                <a:cs typeface="Calibri"/>
              </a:rPr>
              <a:t>); </a:t>
            </a:r>
            <a:r>
              <a:rPr lang="en-US" sz="1200" b="1" dirty="0">
                <a:latin typeface="Aptos Display"/>
                <a:ea typeface="Calibri"/>
                <a:cs typeface="Calibri"/>
              </a:rPr>
              <a:t>CC BY-NC-SA 4.0;</a:t>
            </a:r>
            <a:endParaRPr lang="en-US" sz="1200">
              <a:latin typeface="Aptos Display"/>
              <a:ea typeface="Calibri"/>
              <a:cs typeface="Calibri"/>
            </a:endParaRPr>
          </a:p>
          <a:p>
            <a:pPr algn="ctr"/>
            <a:r>
              <a:rPr lang="en-US" sz="1050" i="1" dirty="0">
                <a:latin typeface="Aptos Display"/>
                <a:ea typeface="Calibri"/>
                <a:cs typeface="Calibri"/>
              </a:rPr>
              <a:t>Special Thanks to Dr. Keith Paarpong and Dr. Xi Tan.</a:t>
            </a:r>
            <a:endParaRPr lang="en-US" sz="1050">
              <a:latin typeface="Aptos Display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786A-DB79-C2E9-C26B-F79D3B665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500" b="1" dirty="0">
                <a:solidFill>
                  <a:schemeClr val="tx1"/>
                </a:solidFill>
                <a:ea typeface="Calibri"/>
                <a:cs typeface="Calibri"/>
              </a:rPr>
              <a:t>Today’s Agenda.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2DD545-B3A4-BBE9-77EB-C7F4C36452AF}"/>
              </a:ext>
            </a:extLst>
          </p:cNvPr>
          <p:cNvSpPr txBox="1"/>
          <p:nvPr/>
        </p:nvSpPr>
        <p:spPr>
          <a:xfrm>
            <a:off x="846030" y="1294312"/>
            <a:ext cx="10504655" cy="50623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457200" indent="-457200">
              <a:spcBef>
                <a:spcPct val="20000"/>
              </a:spcBef>
              <a:buFont typeface="Arial"/>
              <a:buChar char="•"/>
            </a:pPr>
            <a:r>
              <a:rPr lang="en-US" sz="2800" dirty="0">
                <a:latin typeface="Aptos"/>
                <a:ea typeface="Calibri"/>
                <a:cs typeface="Calibri"/>
              </a:rPr>
              <a:t>Understand the QT RV Simulation Software</a:t>
            </a:r>
            <a:endParaRPr lang="en-US" sz="2800" dirty="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Integer &amp; Floating point arithmetic</a:t>
            </a:r>
            <a:endParaRPr lang="en-US" dirty="0" err="1">
              <a:ea typeface="+mn-lt"/>
              <a:cs typeface="+mn-lt"/>
            </a:endParaRPr>
          </a:p>
          <a:p>
            <a:pPr marL="914400" lvl="1" indent="-457200">
              <a:buFont typeface="Courier New"/>
              <a:buChar char="o"/>
            </a:pPr>
            <a:r>
              <a:rPr lang="en-US" sz="2800" dirty="0"/>
              <a:t>Addition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800" dirty="0"/>
              <a:t>Multiplication</a:t>
            </a:r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35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D77F2-CD64-F807-E2CD-DCDF4E189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6AD7CC-A41C-B32A-70D3-2B8489C1D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In this course, we will use the RISC-V simulator:</a:t>
            </a:r>
          </a:p>
          <a:p>
            <a:pPr marL="457200" indent="-457200">
              <a:buFont typeface="Calibri" pitchFamily="2" charset="2"/>
              <a:buChar char="-"/>
            </a:pPr>
            <a:r>
              <a:rPr lang="en-US" dirty="0"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https://github.com/cvut/qtrvsim</a:t>
            </a:r>
            <a:r>
              <a:rPr lang="en-US" dirty="0">
                <a:ea typeface="+mn-lt"/>
              </a:rPr>
              <a:t> (</a:t>
            </a:r>
            <a:r>
              <a:rPr lang="en-US" b="1" dirty="0">
                <a:ea typeface="+mn-lt"/>
              </a:rPr>
              <a:t>local</a:t>
            </a:r>
            <a:r>
              <a:rPr lang="en-US" dirty="0">
                <a:ea typeface="+mn-lt"/>
              </a:rPr>
              <a:t>)</a:t>
            </a:r>
          </a:p>
          <a:p>
            <a:pPr marL="457200" indent="-457200">
              <a:buFont typeface="Calibri" pitchFamily="2" charset="2"/>
              <a:buChar char="-"/>
            </a:pPr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https://comparch.edu.cvut.cz/qtrvsim/app/</a:t>
            </a:r>
            <a:r>
              <a:rPr lang="en-US" dirty="0"/>
              <a:t> (</a:t>
            </a:r>
            <a:r>
              <a:rPr lang="en-US" b="1" dirty="0"/>
              <a:t>browser</a:t>
            </a:r>
            <a:r>
              <a:rPr lang="en-US" dirty="0"/>
              <a:t>)</a:t>
            </a:r>
            <a:endParaRPr lang="en-US" dirty="0">
              <a:ea typeface="Calibri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C499DD-1A2D-CFC0-5E33-63BFC1ACC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>
                <a:solidFill>
                  <a:schemeClr val="tx1"/>
                </a:solidFill>
              </a:rPr>
              <a:t>The QT RV Simulator</a:t>
            </a:r>
            <a:endParaRPr lang="en-US" dirty="0">
              <a:solidFill>
                <a:schemeClr val="tx1"/>
              </a:solidFill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1662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637C0-09CD-47AC-6866-131E4674A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8F760A-A86A-6C2B-C466-65C8ECF27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4" y="1371607"/>
            <a:ext cx="5871026" cy="4876793"/>
          </a:xfrm>
        </p:spPr>
        <p:txBody>
          <a:bodyPr lIns="91440" tIns="45720" rIns="91440" bIns="45720" anchor="t"/>
          <a:lstStyle/>
          <a:p>
            <a:r>
              <a:rPr lang="en-US" sz="2800" dirty="0"/>
              <a:t>Check </a:t>
            </a:r>
            <a:r>
              <a:rPr lang="en-US" sz="2800" b="1" i="1" dirty="0"/>
              <a:t>No pipeline no cache</a:t>
            </a:r>
            <a:r>
              <a:rPr lang="en-US" sz="2800" dirty="0"/>
              <a:t> and press the </a:t>
            </a:r>
            <a:r>
              <a:rPr lang="en-US" sz="2800" b="1" i="1" dirty="0"/>
              <a:t>Start empty</a:t>
            </a:r>
            <a:r>
              <a:rPr lang="en-US" sz="2800" dirty="0"/>
              <a:t> button on the bottom of the window. </a:t>
            </a:r>
            <a:endParaRPr lang="en-US" sz="2800">
              <a:ea typeface="Calibri"/>
            </a:endParaRPr>
          </a:p>
          <a:p>
            <a:endParaRPr lang="en-US" sz="2800" dirty="0">
              <a:ea typeface="Calibri"/>
            </a:endParaRPr>
          </a:p>
          <a:p>
            <a:r>
              <a:rPr lang="en-US" sz="2800" dirty="0"/>
              <a:t>Under the </a:t>
            </a:r>
            <a:r>
              <a:rPr lang="en-US" sz="2800" b="1" i="1" dirty="0"/>
              <a:t>File</a:t>
            </a:r>
            <a:r>
              <a:rPr lang="en-US" sz="2800" dirty="0"/>
              <a:t> drop-down, you can select </a:t>
            </a:r>
            <a:r>
              <a:rPr lang="en-US" sz="2800" b="1" i="1" dirty="0"/>
              <a:t>New Source</a:t>
            </a:r>
            <a:r>
              <a:rPr lang="en-US" sz="2800" dirty="0"/>
              <a:t> to open up a blank program in the editor window. </a:t>
            </a:r>
            <a:endParaRPr lang="en-US" sz="2800">
              <a:ea typeface="Calibri"/>
            </a:endParaRPr>
          </a:p>
          <a:p>
            <a:endParaRPr lang="en-US" sz="2800" dirty="0">
              <a:ea typeface="Calibri"/>
            </a:endParaRPr>
          </a:p>
          <a:p>
            <a:r>
              <a:rPr lang="en-US" sz="2800" dirty="0"/>
              <a:t>Or, you can select </a:t>
            </a:r>
            <a:r>
              <a:rPr lang="en-US" sz="2800" b="1" i="1" dirty="0"/>
              <a:t>Open Source</a:t>
            </a:r>
            <a:r>
              <a:rPr lang="en-US" sz="2800" dirty="0"/>
              <a:t> and search for an existing source code. </a:t>
            </a:r>
            <a:endParaRPr lang="en-US" sz="2800" dirty="0">
              <a:ea typeface="Calibri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8346743-E068-A590-6F4D-532AB4A68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>
                <a:solidFill>
                  <a:schemeClr val="tx1"/>
                </a:solidFill>
              </a:rPr>
              <a:t>The QT RV Simulator</a:t>
            </a:r>
            <a:endParaRPr lang="en-US" dirty="0">
              <a:solidFill>
                <a:schemeClr val="tx1"/>
              </a:solidFill>
              <a:ea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598FD0-C425-6C09-8A5D-2DC8FF885D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" r="-128" b="-192"/>
          <a:stretch>
            <a:fillRect/>
          </a:stretch>
        </p:blipFill>
        <p:spPr>
          <a:xfrm>
            <a:off x="6093559" y="1849807"/>
            <a:ext cx="5878740" cy="391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610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32C0B-043B-C49F-FBE4-710EDF2A6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8875CB-4789-EE44-1E64-0A7512929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0400" y="990603"/>
            <a:ext cx="4956884" cy="5562597"/>
          </a:xfrm>
        </p:spPr>
        <p:txBody>
          <a:bodyPr lIns="91440" tIns="45720" rIns="91440" bIns="45720" anchor="t"/>
          <a:lstStyle/>
          <a:p>
            <a:r>
              <a:rPr lang="en-US" sz="2400" dirty="0"/>
              <a:t>The start of the instruction section is indicated by the </a:t>
            </a:r>
            <a:r>
              <a:rPr lang="en-US" sz="2400" b="1" dirty="0"/>
              <a:t>.text</a:t>
            </a:r>
            <a:r>
              <a:rPr lang="en-US" sz="2400" dirty="0"/>
              <a:t> directive. This is how the computer knows where to start the program. </a:t>
            </a:r>
            <a:endParaRPr lang="en-US" sz="2400" dirty="0">
              <a:ea typeface="Calibri"/>
            </a:endParaRPr>
          </a:p>
          <a:p>
            <a:endParaRPr lang="en-US" sz="2400" dirty="0"/>
          </a:p>
          <a:p>
            <a:r>
              <a:rPr lang="en-US" sz="2400" dirty="0"/>
              <a:t>Following the instructions section is the data section. Here, values like integers, strings, and  characters are placed.</a:t>
            </a:r>
            <a:endParaRPr lang="en-US" sz="2400" dirty="0">
              <a:ea typeface="Calibri"/>
            </a:endParaRPr>
          </a:p>
          <a:p>
            <a:endParaRPr lang="en-US" sz="2400" dirty="0">
              <a:ea typeface="Calibri"/>
            </a:endParaRPr>
          </a:p>
          <a:p>
            <a:r>
              <a:rPr lang="en-US" sz="2400" dirty="0"/>
              <a:t>The start of the data section is indicated by the </a:t>
            </a:r>
            <a:r>
              <a:rPr lang="en-US" sz="2400" b="1" dirty="0"/>
              <a:t>.data</a:t>
            </a:r>
            <a:r>
              <a:rPr lang="en-US" sz="2400" dirty="0"/>
              <a:t> directive.</a:t>
            </a:r>
            <a:endParaRPr lang="en-US" sz="2400" dirty="0">
              <a:ea typeface="Calibri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084E23-10D9-FDEC-51F5-29451E1D0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>
                <a:solidFill>
                  <a:schemeClr val="tx1"/>
                </a:solidFill>
              </a:rPr>
              <a:t>Create New Source</a:t>
            </a:r>
            <a:endParaRPr lang="en-US" dirty="0">
              <a:solidFill>
                <a:schemeClr val="tx1"/>
              </a:solidFill>
              <a:ea typeface="Calibri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B83C3BD-C329-F3B7-3B93-D10FDE525DB2}"/>
              </a:ext>
            </a:extLst>
          </p:cNvPr>
          <p:cNvSpPr txBox="1">
            <a:spLocks/>
          </p:cNvSpPr>
          <p:nvPr/>
        </p:nvSpPr>
        <p:spPr>
          <a:xfrm>
            <a:off x="224716" y="990603"/>
            <a:ext cx="6480884" cy="5562597"/>
          </a:xfrm>
          <a:prstGeom prst="rect">
            <a:avLst/>
          </a:prstGeom>
        </p:spPr>
        <p:txBody>
          <a:bodyPr anchor="ctr"/>
          <a:lstStyle>
            <a:lvl1pPr marL="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41147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777221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118869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508722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148786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18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850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882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</a:pPr>
            <a: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Preamble: </a:t>
            </a:r>
            <a:r>
              <a:rPr lang="en-US" sz="20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define</a:t>
            </a:r>
            <a: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some constants here</a:t>
            </a:r>
          </a:p>
          <a:p>
            <a:pPr>
              <a:lnSpc>
                <a:spcPts val="1800"/>
              </a:lnSpc>
            </a:pPr>
            <a:b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Start of Instructions </a:t>
            </a:r>
            <a:r>
              <a:rPr lang="en-US" sz="20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section</a:t>
            </a:r>
            <a:b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.text</a:t>
            </a:r>
          </a:p>
          <a:p>
            <a:pPr>
              <a:lnSpc>
                <a:spcPts val="1800"/>
              </a:lnSpc>
            </a:pPr>
            <a:b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main:</a:t>
            </a:r>
          </a:p>
          <a:p>
            <a:pPr>
              <a:lnSpc>
                <a:spcPts val="1800"/>
              </a:lnSpc>
            </a:pPr>
            <a: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some instructions</a:t>
            </a:r>
            <a:b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Collection of procedures</a:t>
            </a:r>
          </a:p>
          <a:p>
            <a:pPr>
              <a:lnSpc>
                <a:spcPts val="1800"/>
              </a:lnSpc>
            </a:pPr>
            <a:b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 err="1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000" b="1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lnSpc>
                <a:spcPts val="1800"/>
              </a:lnSpc>
            </a:pPr>
            <a: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some instructions</a:t>
            </a:r>
          </a:p>
          <a:p>
            <a:pPr>
              <a:lnSpc>
                <a:spcPts val="1800"/>
              </a:lnSpc>
            </a:pPr>
            <a:b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func2:</a:t>
            </a:r>
          </a:p>
          <a:p>
            <a:pPr>
              <a:lnSpc>
                <a:spcPts val="1800"/>
              </a:lnSpc>
            </a:pPr>
            <a: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some instructions</a:t>
            </a:r>
          </a:p>
          <a:p>
            <a:pPr>
              <a:lnSpc>
                <a:spcPts val="1800"/>
              </a:lnSpc>
            </a:pPr>
            <a:b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End of Instructions </a:t>
            </a:r>
            <a:r>
              <a:rPr lang="en-US" sz="20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start of Data </a:t>
            </a:r>
            <a:r>
              <a:rPr lang="en-US" sz="20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section</a:t>
            </a:r>
            <a:endParaRPr lang="en-US" sz="20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</a:pPr>
            <a:b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.data</a:t>
            </a:r>
            <a:b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Place some values here</a:t>
            </a:r>
          </a:p>
        </p:txBody>
      </p:sp>
    </p:spTree>
    <p:extLst>
      <p:ext uri="{BB962C8B-B14F-4D97-AF65-F5344CB8AC3E}">
        <p14:creationId xmlns:p14="http://schemas.microsoft.com/office/powerpoint/2010/main" val="2671283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EE277-DEB9-B0C4-7F95-E7A477998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0E0F3A-4C00-7D11-7F3F-BBA949CA0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0" y="1371607"/>
            <a:ext cx="6442784" cy="4876793"/>
          </a:xfrm>
        </p:spPr>
        <p:txBody>
          <a:bodyPr anchor="ctr"/>
          <a:lstStyle/>
          <a:p>
            <a:r>
              <a:rPr lang="en-US" sz="2800" dirty="0"/>
              <a:t>What is this program doing?</a:t>
            </a:r>
          </a:p>
          <a:p>
            <a:endParaRPr lang="en-US" sz="2800" dirty="0"/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x = 2;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y = 3;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c = x + 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E6BA4A-8C6E-7A9C-7756-DD9611B3B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>
                <a:solidFill>
                  <a:schemeClr val="tx1"/>
                </a:solidFill>
              </a:rPr>
              <a:t>Example Code 1</a:t>
            </a:r>
            <a:endParaRPr lang="en-US" dirty="0">
              <a:solidFill>
                <a:schemeClr val="tx1"/>
              </a:solidFill>
              <a:ea typeface="Calibri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88D55362-5BDB-5390-3BC3-1899F95C147C}"/>
              </a:ext>
            </a:extLst>
          </p:cNvPr>
          <p:cNvSpPr txBox="1">
            <a:spLocks/>
          </p:cNvSpPr>
          <p:nvPr/>
        </p:nvSpPr>
        <p:spPr>
          <a:xfrm>
            <a:off x="224716" y="1358907"/>
            <a:ext cx="6442784" cy="4876793"/>
          </a:xfrm>
          <a:prstGeom prst="rect">
            <a:avLst/>
          </a:prstGeom>
        </p:spPr>
        <p:txBody>
          <a:bodyPr anchor="ctr"/>
          <a:lstStyle>
            <a:lvl1pPr marL="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41147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777221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118869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508722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148786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18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850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882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</a:pPr>
            <a: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.text</a:t>
            </a:r>
          </a:p>
          <a:p>
            <a:pPr>
              <a:lnSpc>
                <a:spcPts val="1800"/>
              </a:lnSpc>
            </a:pPr>
            <a:b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la t0 , x</a:t>
            </a:r>
          </a:p>
          <a:p>
            <a:pPr>
              <a:lnSpc>
                <a:spcPts val="1800"/>
              </a:lnSpc>
            </a:pPr>
            <a: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lw t0 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(t0)</a:t>
            </a:r>
          </a:p>
          <a:p>
            <a:pPr>
              <a:lnSpc>
                <a:spcPts val="1800"/>
              </a:lnSpc>
            </a:pPr>
            <a: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la t1 , y</a:t>
            </a:r>
          </a:p>
          <a:p>
            <a:pPr>
              <a:lnSpc>
                <a:spcPts val="1800"/>
              </a:lnSpc>
            </a:pPr>
            <a: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lw t1 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(t1)</a:t>
            </a:r>
          </a:p>
          <a:p>
            <a:pPr>
              <a:lnSpc>
                <a:spcPts val="1800"/>
              </a:lnSpc>
            </a:pPr>
            <a:r>
              <a:rPr lang="en-US" sz="20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t0 , t0 , t1</a:t>
            </a:r>
          </a:p>
          <a:p>
            <a:pPr>
              <a:lnSpc>
                <a:spcPts val="1800"/>
              </a:lnSpc>
            </a:pPr>
            <a:r>
              <a:rPr lang="en-US" sz="2000" b="0" dirty="0" err="1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ebreak</a:t>
            </a:r>
            <a:endParaRPr lang="en-US" sz="20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</a:pPr>
            <a:b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.data</a:t>
            </a:r>
          </a:p>
          <a:p>
            <a:pPr>
              <a:lnSpc>
                <a:spcPts val="1800"/>
              </a:lnSpc>
            </a:pPr>
            <a:b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x: .word </a:t>
            </a:r>
            <a:r>
              <a:rPr lang="en-US" sz="2000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sz="20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</a:pPr>
            <a:r>
              <a:rPr lang="en-US" sz="20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y: .word </a:t>
            </a:r>
            <a:r>
              <a:rPr lang="en-US" sz="2000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sz="20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96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6D709-1B85-2707-CFDC-555F865EF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D7C496-4B9D-DC6B-5CB1-3BDB19056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>
                <a:solidFill>
                  <a:schemeClr val="tx1"/>
                </a:solidFill>
              </a:rPr>
              <a:t>Compile and Run the Assembly Code</a:t>
            </a:r>
            <a:endParaRPr lang="en-US" dirty="0">
              <a:solidFill>
                <a:schemeClr val="tx1"/>
              </a:solidFill>
              <a:ea typeface="Calibri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8AE07E-35F0-BB64-3E66-30E607CDA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4" y="1371607"/>
            <a:ext cx="11758383" cy="2055579"/>
          </a:xfrm>
        </p:spPr>
        <p:txBody>
          <a:bodyPr lIns="91440" tIns="45720" rIns="91440" bIns="45720" anchor="t"/>
          <a:lstStyle/>
          <a:p>
            <a:r>
              <a:rPr lang="en-US" dirty="0"/>
              <a:t>Find </a:t>
            </a:r>
            <a:r>
              <a:rPr lang="en-US" b="1" dirty="0"/>
              <a:t>Compiler Source</a:t>
            </a:r>
            <a:r>
              <a:rPr lang="en-US" dirty="0"/>
              <a:t> by going to the machine drop-down menu</a:t>
            </a:r>
          </a:p>
          <a:p>
            <a:endParaRPr lang="en-US" dirty="0"/>
          </a:p>
          <a:p>
            <a:r>
              <a:rPr lang="en-US" dirty="0"/>
              <a:t>or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36483B9-BDBB-B85C-7416-A573F47C66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57600"/>
            <a:ext cx="12192000" cy="148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652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B4903-6C2C-91FF-1E90-381955630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A7EF17-6C85-6F98-FD69-C594DEAC1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>
                <a:solidFill>
                  <a:schemeClr val="tx1"/>
                </a:solidFill>
              </a:rPr>
              <a:t>You may face…</a:t>
            </a:r>
            <a:endParaRPr lang="en-US" dirty="0">
              <a:solidFill>
                <a:schemeClr val="tx1"/>
              </a:solidFill>
              <a:ea typeface="Calibri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D40596-E6E3-268B-A44B-59B2C5981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4" y="2895606"/>
            <a:ext cx="11758383" cy="3352794"/>
          </a:xfrm>
        </p:spPr>
        <p:txBody>
          <a:bodyPr lIns="91440" tIns="45720" rIns="91440" bIns="45720" anchor="t"/>
          <a:lstStyle/>
          <a:p>
            <a:r>
              <a:rPr lang="en-US" sz="2800" dirty="0"/>
              <a:t>What happened here is that the program execution went to the next memory address after the instructions section, and</a:t>
            </a:r>
            <a:r>
              <a:rPr lang="en-US" sz="2800" b="1" dirty="0"/>
              <a:t> treated the first word in the data section as an instruction</a:t>
            </a:r>
            <a:r>
              <a:rPr lang="en-US" sz="2800" dirty="0"/>
              <a:t>. </a:t>
            </a:r>
            <a:endParaRPr lang="en-US" sz="2800" dirty="0">
              <a:ea typeface="Calibri"/>
            </a:endParaRPr>
          </a:p>
          <a:p>
            <a:r>
              <a:rPr lang="en-US" sz="2800" dirty="0"/>
              <a:t>In particular, this is the value </a:t>
            </a:r>
            <a:r>
              <a:rPr lang="en-US" sz="2800" b="1" i="1" dirty="0"/>
              <a:t>0x00000002</a:t>
            </a:r>
            <a:r>
              <a:rPr lang="en-US" sz="2800" dirty="0"/>
              <a:t>. </a:t>
            </a:r>
            <a:endParaRPr lang="en-US" sz="2800" dirty="0">
              <a:ea typeface="Calibri"/>
            </a:endParaRPr>
          </a:p>
          <a:p>
            <a:r>
              <a:rPr lang="en-US" sz="2800" dirty="0"/>
              <a:t>However, the value </a:t>
            </a:r>
            <a:r>
              <a:rPr lang="en-US" sz="2800" i="1" dirty="0"/>
              <a:t>0x00000002</a:t>
            </a:r>
            <a:r>
              <a:rPr lang="en-US" sz="2800" dirty="0"/>
              <a:t> does not correspond to any recognized RISC-V instruction, and thus the error.</a:t>
            </a:r>
            <a:endParaRPr lang="en-US" sz="2800" dirty="0">
              <a:ea typeface="Calibri"/>
            </a:endParaRPr>
          </a:p>
          <a:p>
            <a:endParaRPr lang="en-US" sz="2800" dirty="0">
              <a:ea typeface="Calibri"/>
            </a:endParaRPr>
          </a:p>
          <a:p>
            <a:endParaRPr lang="en-US" sz="2800" dirty="0">
              <a:ea typeface="Calibri"/>
            </a:endParaRPr>
          </a:p>
          <a:p>
            <a:endParaRPr lang="en-US" sz="2800" dirty="0">
              <a:ea typeface="Calibri"/>
            </a:endParaRPr>
          </a:p>
          <a:p>
            <a:endParaRPr lang="en-US" sz="2800" dirty="0">
              <a:ea typeface="Calibri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C564453-25D6-1D64-96D9-E5E435BC3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8963" y="816579"/>
            <a:ext cx="6792558" cy="1785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0447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5F950-F04F-0028-AFE0-D08EF650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D5F72E-40F4-27A4-6487-8F544BF00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7471" y="1204686"/>
            <a:ext cx="5718884" cy="5197924"/>
          </a:xfrm>
        </p:spPr>
        <p:txBody>
          <a:bodyPr lIns="91440" tIns="45720" rIns="91440" bIns="45720" anchor="t"/>
          <a:lstStyle/>
          <a:p>
            <a:r>
              <a:rPr lang="en-US" sz="2800" b="1" dirty="0"/>
              <a:t>Terminate a program</a:t>
            </a:r>
            <a:r>
              <a:rPr lang="en-US" sz="2800" dirty="0"/>
              <a:t>: use </a:t>
            </a:r>
            <a:r>
              <a:rPr lang="en-US" sz="2800" b="1" i="1" dirty="0"/>
              <a:t>ebreak</a:t>
            </a:r>
            <a:r>
              <a:rPr lang="en-US" sz="2800" dirty="0"/>
              <a:t> in conjunction with a </a:t>
            </a:r>
            <a:r>
              <a:rPr lang="en-US" sz="2800" b="1" i="1" dirty="0"/>
              <a:t>halt</a:t>
            </a:r>
            <a:r>
              <a:rPr lang="en-US" sz="2800" dirty="0"/>
              <a:t> procedure</a:t>
            </a:r>
          </a:p>
          <a:p>
            <a:endParaRPr lang="en-US" sz="2800" dirty="0"/>
          </a:p>
          <a:p>
            <a:r>
              <a:rPr lang="en-US" sz="2800" dirty="0"/>
              <a:t>Here, the instruction </a:t>
            </a:r>
            <a:r>
              <a:rPr lang="en-US" sz="2800" b="1" dirty="0">
                <a:latin typeface="Consolas"/>
                <a:cs typeface="Courier New"/>
              </a:rPr>
              <a:t>j halt</a:t>
            </a:r>
            <a:r>
              <a:rPr lang="en-US" sz="2800" dirty="0">
                <a:latin typeface="Courier New"/>
                <a:cs typeface="Courier New"/>
              </a:rPr>
              <a:t> </a:t>
            </a:r>
            <a:r>
              <a:rPr lang="en-US" sz="2800" dirty="0"/>
              <a:t>is actually just an unconditional branch instruction, i.e. </a:t>
            </a:r>
            <a:r>
              <a:rPr lang="en-US" sz="2800" i="1" dirty="0"/>
              <a:t>go to halt</a:t>
            </a:r>
            <a:r>
              <a:rPr lang="en-US" sz="2800" dirty="0"/>
              <a:t>.</a:t>
            </a:r>
            <a:endParaRPr lang="en-US" sz="2800" dirty="0">
              <a:latin typeface="Courier New"/>
              <a:cs typeface="Courier New"/>
            </a:endParaRPr>
          </a:p>
          <a:p>
            <a:endParaRPr lang="en-US" sz="2800" dirty="0"/>
          </a:p>
          <a:p>
            <a:r>
              <a:rPr lang="en-US" sz="2800" dirty="0"/>
              <a:t>It is equivalent to </a:t>
            </a:r>
            <a:r>
              <a:rPr lang="en-US" sz="2400" b="1" dirty="0">
                <a:latin typeface="Consolas"/>
                <a:cs typeface="Courier New"/>
              </a:rPr>
              <a:t>beq x0, x0, halt</a:t>
            </a:r>
            <a:r>
              <a:rPr lang="en-US" sz="2400" dirty="0">
                <a:latin typeface="Courier New"/>
                <a:cs typeface="Courier New"/>
              </a:rPr>
              <a:t>.</a:t>
            </a:r>
            <a:endParaRPr lang="en-US" sz="2800">
              <a:latin typeface="Courier New"/>
              <a:cs typeface="Courier New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00BE09F-CD95-B52E-4A4D-6331CEA39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>
                <a:solidFill>
                  <a:schemeClr val="tx1"/>
                </a:solidFill>
              </a:rPr>
              <a:t>Example Code 2</a:t>
            </a:r>
            <a:endParaRPr lang="en-US" dirty="0">
              <a:solidFill>
                <a:schemeClr val="tx1"/>
              </a:solidFill>
              <a:ea typeface="Calibri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2A0B8A5A-6ECA-F146-4955-FB40F30A8236}"/>
              </a:ext>
            </a:extLst>
          </p:cNvPr>
          <p:cNvSpPr txBox="1">
            <a:spLocks/>
          </p:cNvSpPr>
          <p:nvPr/>
        </p:nvSpPr>
        <p:spPr>
          <a:xfrm>
            <a:off x="212016" y="1206650"/>
            <a:ext cx="6036384" cy="5194293"/>
          </a:xfrm>
          <a:prstGeom prst="rect">
            <a:avLst/>
          </a:prstGeom>
        </p:spPr>
        <p:txBody>
          <a:bodyPr anchor="ctr"/>
          <a:lstStyle>
            <a:lvl1pPr marL="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41147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777221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118869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508722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148786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18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850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882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.text</a:t>
            </a:r>
          </a:p>
          <a:p>
            <a:pPr>
              <a:lnSpc>
                <a:spcPts val="1800"/>
              </a:lnSpc>
            </a:pP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la t0 , x</a:t>
            </a:r>
          </a:p>
          <a:p>
            <a:pPr>
              <a:lnSpc>
                <a:spcPts val="1800"/>
              </a:lnSpc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lw t0 , 0(t0)</a:t>
            </a:r>
          </a:p>
          <a:p>
            <a:pPr>
              <a:lnSpc>
                <a:spcPts val="1800"/>
              </a:lnSpc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la t1 , y</a:t>
            </a:r>
          </a:p>
          <a:p>
            <a:pPr>
              <a:lnSpc>
                <a:spcPts val="1800"/>
              </a:lnSpc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lw t1 , 0(t1)</a:t>
            </a:r>
          </a:p>
          <a:p>
            <a:pPr>
              <a:lnSpc>
                <a:spcPts val="1800"/>
              </a:lnSpc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add t0 , t0 , t1</a:t>
            </a:r>
          </a:p>
          <a:p>
            <a:pPr>
              <a:lnSpc>
                <a:spcPts val="1800"/>
              </a:lnSpc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j halt</a:t>
            </a:r>
          </a:p>
          <a:p>
            <a:pPr>
              <a:lnSpc>
                <a:spcPts val="1800"/>
              </a:lnSpc>
            </a:pP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halt:</a:t>
            </a:r>
          </a:p>
          <a:p>
            <a:pPr>
              <a:lnSpc>
                <a:spcPts val="1800"/>
              </a:lnSpc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ebreak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j halt</a:t>
            </a:r>
          </a:p>
          <a:p>
            <a:pPr>
              <a:lnSpc>
                <a:spcPts val="1800"/>
              </a:lnSpc>
            </a:pP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.data</a:t>
            </a:r>
          </a:p>
          <a:p>
            <a:pPr>
              <a:lnSpc>
                <a:spcPts val="1800"/>
              </a:lnSpc>
            </a:pP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x: .word 2</a:t>
            </a:r>
          </a:p>
          <a:p>
            <a:pPr>
              <a:lnSpc>
                <a:spcPts val="1800"/>
              </a:lnSpc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y: .word 3</a:t>
            </a:r>
          </a:p>
        </p:txBody>
      </p:sp>
    </p:spTree>
    <p:extLst>
      <p:ext uri="{BB962C8B-B14F-4D97-AF65-F5344CB8AC3E}">
        <p14:creationId xmlns:p14="http://schemas.microsoft.com/office/powerpoint/2010/main" val="3747466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9455B-D61B-15F1-4B39-07F64AF48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950AF0-9CFE-D4BE-AD80-30E93AD5D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>
                <a:solidFill>
                  <a:schemeClr val="tx1"/>
                </a:solidFill>
              </a:rPr>
              <a:t>Storing Data Types Into the Data Section</a:t>
            </a:r>
            <a:endParaRPr lang="en-US" dirty="0">
              <a:solidFill>
                <a:schemeClr val="tx1"/>
              </a:solidFill>
              <a:ea typeface="Calibri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796437-A118-BA45-1FFA-0F99BA06D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4" y="1371607"/>
            <a:ext cx="11764079" cy="4876793"/>
          </a:xfrm>
        </p:spPr>
        <p:txBody>
          <a:bodyPr lIns="91440" tIns="45720" rIns="91440" bIns="45720" anchor="t"/>
          <a:lstStyle/>
          <a:p>
            <a:r>
              <a:rPr lang="en-US" dirty="0"/>
              <a:t>There are many ways to store data In the data section. For 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i="1" dirty="0">
                <a:latin typeface="Courier New"/>
                <a:cs typeface="Courier New"/>
              </a:rPr>
              <a:t>x:</a:t>
            </a:r>
            <a:r>
              <a:rPr lang="en-US" dirty="0"/>
              <a:t> label makes space in memory for five consecutive words (so, </a:t>
            </a:r>
            <a:r>
              <a:rPr lang="en-US" b="1" dirty="0"/>
              <a:t>20 bytes</a:t>
            </a:r>
            <a:r>
              <a:rPr lang="en-US" dirty="0"/>
              <a:t>). The fourth item is the address of the </a:t>
            </a:r>
            <a:r>
              <a:rPr lang="en-US" b="1" dirty="0"/>
              <a:t>label </a:t>
            </a:r>
            <a:r>
              <a:rPr lang="en-US" b="1" dirty="0">
                <a:latin typeface="Courier New"/>
                <a:cs typeface="Courier New"/>
              </a:rPr>
              <a:t>y:</a:t>
            </a:r>
            <a:r>
              <a:rPr lang="en-US" dirty="0"/>
              <a:t>.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0D16EC5-F252-44D1-F9B6-CCB4EB0536B9}"/>
              </a:ext>
            </a:extLst>
          </p:cNvPr>
          <p:cNvSpPr txBox="1">
            <a:spLocks/>
          </p:cNvSpPr>
          <p:nvPr/>
        </p:nvSpPr>
        <p:spPr>
          <a:xfrm>
            <a:off x="2512786" y="2398486"/>
            <a:ext cx="7162800" cy="2063749"/>
          </a:xfrm>
          <a:prstGeom prst="rect">
            <a:avLst/>
          </a:prstGeom>
        </p:spPr>
        <p:txBody>
          <a:bodyPr anchor="ctr"/>
          <a:lstStyle>
            <a:lvl1pPr marL="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41147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777221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118869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508722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148786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18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850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882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</a:pPr>
            <a:r>
              <a:rPr lang="en-US" sz="24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.data</a:t>
            </a:r>
          </a:p>
          <a:p>
            <a:pPr>
              <a:lnSpc>
                <a:spcPts val="1800"/>
              </a:lnSpc>
            </a:pPr>
            <a:r>
              <a:rPr lang="en-US" sz="2400" dirty="0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x: .word 2, 3, 7, y, 0x1A5</a:t>
            </a:r>
          </a:p>
          <a:p>
            <a:pPr>
              <a:lnSpc>
                <a:spcPts val="1800"/>
              </a:lnSpc>
            </a:pPr>
            <a:r>
              <a:rPr lang="en-US" sz="24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y: .word 3</a:t>
            </a:r>
          </a:p>
        </p:txBody>
      </p:sp>
    </p:spTree>
    <p:extLst>
      <p:ext uri="{BB962C8B-B14F-4D97-AF65-F5344CB8AC3E}">
        <p14:creationId xmlns:p14="http://schemas.microsoft.com/office/powerpoint/2010/main" val="1189043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EA85D-6040-7A95-FC91-82F2D312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BEF4E4-BC0E-8322-7B07-3B7381165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>
                <a:solidFill>
                  <a:schemeClr val="tx1"/>
                </a:solidFill>
              </a:rPr>
              <a:t>Storing Data Types Into the Data Section</a:t>
            </a:r>
            <a:endParaRPr lang="en-US" dirty="0">
              <a:solidFill>
                <a:schemeClr val="tx1"/>
              </a:solidFill>
              <a:ea typeface="Calibri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96D0E-B2FF-E89F-5183-B5F9849D2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4" y="1371607"/>
            <a:ext cx="5587995" cy="4876793"/>
          </a:xfrm>
        </p:spPr>
        <p:txBody>
          <a:bodyPr lIns="91440" tIns="45720" rIns="91440" bIns="45720" anchor="ctr"/>
          <a:lstStyle/>
          <a:p>
            <a:pPr algn="just"/>
            <a:r>
              <a:rPr lang="en-US" sz="2800" dirty="0"/>
              <a:t>And indeed, if we open up the </a:t>
            </a:r>
            <a:r>
              <a:rPr lang="en-US" sz="2800" b="1" dirty="0"/>
              <a:t>Memory</a:t>
            </a:r>
            <a:r>
              <a:rPr lang="en-US" sz="2800" dirty="0"/>
              <a:t> window in the simulator, we can see their values indexed at the addresses:</a:t>
            </a:r>
            <a:endParaRPr lang="en-US" sz="2800" dirty="0">
              <a:ea typeface="Calibri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F6A71E0F-8761-DB79-F5C5-F0CCDBB56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316700"/>
            <a:ext cx="5410200" cy="538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9987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FA1DC-8F64-98C0-2C08-A7B0853AD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8C9992-9046-BC83-FF79-C5EC6318A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>
                <a:solidFill>
                  <a:schemeClr val="tx1"/>
                </a:solidFill>
              </a:rPr>
              <a:t>Storing Data Types Into the Data Section</a:t>
            </a:r>
            <a:endParaRPr lang="en-US" dirty="0">
              <a:solidFill>
                <a:schemeClr val="tx1"/>
              </a:solidFill>
              <a:ea typeface="Calibri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9CE4A9-EB18-D171-B62B-57221AE75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4" y="1371607"/>
            <a:ext cx="11764079" cy="4876793"/>
          </a:xfrm>
        </p:spPr>
        <p:txBody>
          <a:bodyPr lIns="91440" tIns="45720" rIns="91440" bIns="45720" anchor="t"/>
          <a:lstStyle/>
          <a:p>
            <a:r>
              <a:rPr lang="en-US" dirty="0"/>
              <a:t>You can also store pre-defined strings into the data section.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Recall that a string is a sequence of chars, and a single char is one byte of data. They also follow ASCII encoding, so that the character </a:t>
            </a:r>
            <a:r>
              <a:rPr lang="en-US" b="1" i="1" dirty="0"/>
              <a:t>H</a:t>
            </a:r>
            <a:r>
              <a:rPr lang="en-US" dirty="0"/>
              <a:t> is actually </a:t>
            </a:r>
            <a:r>
              <a:rPr lang="en-US" b="1" dirty="0"/>
              <a:t>72</a:t>
            </a:r>
            <a:r>
              <a:rPr lang="en-US" dirty="0"/>
              <a:t> in decimal, or </a:t>
            </a:r>
            <a:r>
              <a:rPr lang="en-US" b="1" dirty="0"/>
              <a:t>0x48</a:t>
            </a:r>
            <a:r>
              <a:rPr lang="en-US" dirty="0"/>
              <a:t> in </a:t>
            </a:r>
            <a:r>
              <a:rPr lang="en-US" i="1" dirty="0"/>
              <a:t>hex</a:t>
            </a:r>
            <a:r>
              <a:rPr lang="en-US" dirty="0"/>
              <a:t>.</a:t>
            </a:r>
            <a:endParaRPr lang="en-US" dirty="0">
              <a:ea typeface="Calibri"/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E65B12C-3F63-6084-3417-747E16DC9F2D}"/>
              </a:ext>
            </a:extLst>
          </p:cNvPr>
          <p:cNvSpPr txBox="1">
            <a:spLocks/>
          </p:cNvSpPr>
          <p:nvPr/>
        </p:nvSpPr>
        <p:spPr>
          <a:xfrm>
            <a:off x="2512786" y="2053772"/>
            <a:ext cx="7162800" cy="1752600"/>
          </a:xfrm>
          <a:prstGeom prst="rect">
            <a:avLst/>
          </a:prstGeom>
        </p:spPr>
        <p:txBody>
          <a:bodyPr anchor="ctr"/>
          <a:lstStyle>
            <a:lvl1pPr marL="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41147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777221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118869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508722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148786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18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850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882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</a:pPr>
            <a:r>
              <a:rPr lang="en-US" sz="24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.data</a:t>
            </a:r>
          </a:p>
          <a:p>
            <a:pPr>
              <a:lnSpc>
                <a:spcPts val="1800"/>
              </a:lnSpc>
            </a:pPr>
            <a:r>
              <a:rPr lang="en-US" sz="2400" dirty="0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str: .ascii “Hello World!\n”</a:t>
            </a:r>
            <a:endParaRPr lang="en-US" sz="24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06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A4FA6-1468-F7BC-0147-86112DA17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909C44-15F6-5A08-8DBE-6AF1EE075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>
                <a:solidFill>
                  <a:schemeClr val="tx1"/>
                </a:solidFill>
              </a:rPr>
              <a:t>Storing Data Types Into the Data Section</a:t>
            </a:r>
            <a:endParaRPr lang="en-US" dirty="0">
              <a:solidFill>
                <a:schemeClr val="tx1"/>
              </a:solidFill>
              <a:ea typeface="Calibri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F2625E-9B8D-3BE9-5980-E43FDCB41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4" y="1371607"/>
            <a:ext cx="11764079" cy="4876793"/>
          </a:xfrm>
        </p:spPr>
        <p:txBody>
          <a:bodyPr/>
          <a:lstStyle/>
          <a:p>
            <a:r>
              <a:rPr lang="en-US" dirty="0"/>
              <a:t>Another useful technique is to allocate a pre-defined amount of memory. This comes in handy when we need a place in memory to store an array. For example,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35BC3CF2-284F-A0DF-663C-4620514DEFB9}"/>
              </a:ext>
            </a:extLst>
          </p:cNvPr>
          <p:cNvSpPr txBox="1">
            <a:spLocks/>
          </p:cNvSpPr>
          <p:nvPr/>
        </p:nvSpPr>
        <p:spPr>
          <a:xfrm>
            <a:off x="2512786" y="3430814"/>
            <a:ext cx="7162800" cy="1295400"/>
          </a:xfrm>
          <a:prstGeom prst="rect">
            <a:avLst/>
          </a:prstGeom>
        </p:spPr>
        <p:txBody>
          <a:bodyPr anchor="ctr"/>
          <a:lstStyle>
            <a:lvl1pPr marL="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41147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777221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118869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508722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148786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18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850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882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</a:pPr>
            <a:r>
              <a:rPr lang="en-US" sz="24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.data</a:t>
            </a:r>
          </a:p>
          <a:p>
            <a:pPr>
              <a:lnSpc>
                <a:spcPts val="1800"/>
              </a:lnSpc>
            </a:pPr>
            <a:r>
              <a:rPr lang="en-US" sz="2400" b="0" dirty="0" err="1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sz="24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.space 100, 5</a:t>
            </a:r>
          </a:p>
          <a:p>
            <a:pPr>
              <a:lnSpc>
                <a:spcPts val="1800"/>
              </a:lnSpc>
            </a:pPr>
            <a:r>
              <a:rPr lang="en-US" sz="2400" dirty="0" err="1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buf_end</a:t>
            </a:r>
            <a:r>
              <a:rPr lang="en-US" sz="2400" dirty="0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en-US" sz="24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89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7D85D-51B7-0C89-C682-15CC788F5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7DF311-6DDA-2D10-1B52-91AEC0F37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>
                <a:solidFill>
                  <a:schemeClr val="tx1"/>
                </a:solidFill>
              </a:rPr>
              <a:t>Storing Data Types Into the Data Section</a:t>
            </a:r>
            <a:endParaRPr lang="en-US" dirty="0">
              <a:solidFill>
                <a:schemeClr val="tx1"/>
              </a:solidFill>
              <a:ea typeface="Calibri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2C48F4-3B4E-F093-803C-B396CFEF0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472" y="2251535"/>
            <a:ext cx="11433882" cy="3996865"/>
          </a:xfrm>
        </p:spPr>
        <p:txBody>
          <a:bodyPr lIns="91440" tIns="45720" rIns="91440" bIns="45720" anchor="t"/>
          <a:lstStyle/>
          <a:p>
            <a:r>
              <a:rPr lang="en-US" sz="2400" dirty="0"/>
              <a:t>This piece of code assigns the label </a:t>
            </a:r>
            <a:r>
              <a:rPr lang="en-US" sz="2400" b="1" dirty="0">
                <a:latin typeface="Courier New"/>
                <a:cs typeface="Courier New"/>
              </a:rPr>
              <a:t>buf:</a:t>
            </a:r>
            <a:r>
              <a:rPr lang="en-US" sz="2400" dirty="0"/>
              <a:t> to the start of a </a:t>
            </a:r>
            <a:r>
              <a:rPr lang="en-US" sz="2400" b="1" dirty="0"/>
              <a:t>100 byte</a:t>
            </a:r>
            <a:r>
              <a:rPr lang="en-US" sz="2400" dirty="0"/>
              <a:t> space in memory, where all of these bytes are initialized to the value </a:t>
            </a:r>
            <a:r>
              <a:rPr lang="en-US" sz="2400" b="1" dirty="0"/>
              <a:t>0x05</a:t>
            </a:r>
            <a:r>
              <a:rPr lang="en-US" sz="2400" dirty="0"/>
              <a:t>. </a:t>
            </a:r>
            <a:endParaRPr lang="en-US" sz="2400" dirty="0">
              <a:ea typeface="Calibri"/>
            </a:endParaRPr>
          </a:p>
          <a:p>
            <a:r>
              <a:rPr lang="en-US" sz="2400" dirty="0"/>
              <a:t>To make it all initialized to </a:t>
            </a:r>
            <a:r>
              <a:rPr lang="en-US" sz="2400" b="1" i="1" dirty="0"/>
              <a:t>zero</a:t>
            </a:r>
            <a:r>
              <a:rPr lang="en-US" sz="2400" dirty="0"/>
              <a:t> values, we simply omit the second argument of the </a:t>
            </a:r>
            <a:r>
              <a:rPr lang="en-US" sz="2400" b="1" i="1" dirty="0"/>
              <a:t>.space</a:t>
            </a:r>
            <a:r>
              <a:rPr lang="en-US" sz="2400" dirty="0"/>
              <a:t> directive, or replace the </a:t>
            </a:r>
            <a:r>
              <a:rPr lang="en-US" sz="2400" b="1" dirty="0"/>
              <a:t>5</a:t>
            </a:r>
            <a:r>
              <a:rPr lang="en-US" sz="2400" dirty="0"/>
              <a:t> with a </a:t>
            </a:r>
            <a:r>
              <a:rPr lang="en-US" sz="2400" b="1" dirty="0"/>
              <a:t>0</a:t>
            </a:r>
            <a:r>
              <a:rPr lang="en-US" sz="2400" dirty="0"/>
              <a:t>.</a:t>
            </a:r>
            <a:endParaRPr lang="en-US" sz="2400" dirty="0">
              <a:ea typeface="Calibri"/>
            </a:endParaRPr>
          </a:p>
          <a:p>
            <a:pPr marL="410845" lvl="1"/>
            <a:endParaRPr lang="en-US" sz="1800" dirty="0">
              <a:ea typeface="Calibri"/>
            </a:endParaRPr>
          </a:p>
          <a:p>
            <a:pPr marL="410845" lvl="1"/>
            <a:r>
              <a:rPr lang="en-US" sz="1800" dirty="0"/>
              <a:t>e.g.,: </a:t>
            </a:r>
            <a:r>
              <a:rPr lang="en-US" sz="1800" dirty="0" err="1">
                <a:solidFill>
                  <a:srgbClr val="3B3B3B"/>
                </a:solidFill>
                <a:latin typeface="Courier New"/>
                <a:cs typeface="Courier New"/>
              </a:rPr>
              <a:t>buf</a:t>
            </a:r>
            <a:r>
              <a:rPr lang="en-US" sz="1800" dirty="0">
                <a:solidFill>
                  <a:srgbClr val="3B3B3B"/>
                </a:solidFill>
                <a:latin typeface="Courier New"/>
                <a:cs typeface="Courier New"/>
              </a:rPr>
              <a:t>: .space 100, 0</a:t>
            </a:r>
            <a:endParaRPr lang="en-US" sz="1800">
              <a:latin typeface="Courier New"/>
              <a:ea typeface="Calibri"/>
              <a:cs typeface="Courier New"/>
            </a:endParaRPr>
          </a:p>
          <a:p>
            <a:endParaRPr lang="en-US" sz="2400" dirty="0">
              <a:ea typeface="Calibri"/>
            </a:endParaRPr>
          </a:p>
          <a:p>
            <a:r>
              <a:rPr lang="en-US" sz="2400" dirty="0"/>
              <a:t>The label </a:t>
            </a:r>
            <a:r>
              <a:rPr lang="en-US" sz="2400" b="1" dirty="0">
                <a:latin typeface="Courier New"/>
                <a:cs typeface="Courier New"/>
              </a:rPr>
              <a:t>buf_end:</a:t>
            </a:r>
            <a:r>
              <a:rPr lang="en-US" sz="2400" dirty="0"/>
              <a:t> is the label corresponding the the byte address immediately following the end of this </a:t>
            </a:r>
            <a:r>
              <a:rPr lang="en-US" sz="2400" b="1" dirty="0"/>
              <a:t>100</a:t>
            </a:r>
            <a:r>
              <a:rPr lang="en-US" sz="2400" dirty="0"/>
              <a:t> byte space.</a:t>
            </a:r>
            <a:endParaRPr lang="en-US" sz="2400" dirty="0">
              <a:ea typeface="Calibri"/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A7E4C9E3-6980-88ED-FF3E-A6737A69685B}"/>
              </a:ext>
            </a:extLst>
          </p:cNvPr>
          <p:cNvSpPr txBox="1">
            <a:spLocks/>
          </p:cNvSpPr>
          <p:nvPr/>
        </p:nvSpPr>
        <p:spPr>
          <a:xfrm>
            <a:off x="2676072" y="954314"/>
            <a:ext cx="7162800" cy="1295400"/>
          </a:xfrm>
          <a:prstGeom prst="rect">
            <a:avLst/>
          </a:prstGeom>
        </p:spPr>
        <p:txBody>
          <a:bodyPr anchor="ctr"/>
          <a:lstStyle>
            <a:lvl1pPr marL="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41147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777221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118869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508722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148786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18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850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882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</a:pPr>
            <a:r>
              <a:rPr lang="en-US" sz="24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.data</a:t>
            </a:r>
          </a:p>
          <a:p>
            <a:pPr>
              <a:lnSpc>
                <a:spcPts val="1800"/>
              </a:lnSpc>
            </a:pPr>
            <a:r>
              <a:rPr lang="en-US" sz="2400" b="0" dirty="0" err="1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sz="24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.space 100, 5</a:t>
            </a:r>
          </a:p>
          <a:p>
            <a:pPr>
              <a:lnSpc>
                <a:spcPts val="1800"/>
              </a:lnSpc>
            </a:pPr>
            <a:r>
              <a:rPr lang="en-US" sz="2400" dirty="0" err="1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buf_end</a:t>
            </a:r>
            <a:r>
              <a:rPr lang="en-US" sz="2400" dirty="0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en-US" sz="24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62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0B98B-95F1-223C-F5D7-2E2E232AB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EC8026-B638-44AB-176E-D1152BBFF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>
                <a:solidFill>
                  <a:schemeClr val="tx1"/>
                </a:solidFill>
              </a:rPr>
              <a:t>Hello World in RISC-V</a:t>
            </a:r>
            <a:endParaRPr lang="en-US" dirty="0">
              <a:solidFill>
                <a:schemeClr val="tx1"/>
              </a:solidFill>
              <a:ea typeface="Calibri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9F0FBA-6B05-DC2B-043D-F0A37E0FE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r>
              <a:rPr lang="en-US" sz="2800" dirty="0"/>
              <a:t>We clearly would need a way to print characters to an output terminal. In C, this was simply </a:t>
            </a:r>
            <a:r>
              <a:rPr lang="en-US" sz="2800" b="1" dirty="0" err="1">
                <a:latin typeface="Consolas"/>
                <a:cs typeface="Courier New"/>
              </a:rPr>
              <a:t>printf</a:t>
            </a:r>
            <a:r>
              <a:rPr lang="en-US" sz="2800" dirty="0"/>
              <a:t>. RISC-V does not have a single instruction that does this.</a:t>
            </a:r>
            <a:endParaRPr lang="en-US" sz="2800" dirty="0">
              <a:ea typeface="Calibri"/>
            </a:endParaRPr>
          </a:p>
          <a:p>
            <a:endParaRPr lang="en-US" sz="2800" dirty="0">
              <a:ea typeface="Calibri"/>
            </a:endParaRPr>
          </a:p>
          <a:p>
            <a:r>
              <a:rPr lang="en-US" sz="2800" dirty="0"/>
              <a:t>We will need our program to be able to access the output terminal of the simulator’s environment (essentially, its operating system).</a:t>
            </a:r>
            <a:endParaRPr lang="en-US" sz="2800" dirty="0">
              <a:ea typeface="Calibri"/>
            </a:endParaRPr>
          </a:p>
          <a:p>
            <a:endParaRPr lang="en-US" sz="2800" dirty="0">
              <a:ea typeface="Calibri"/>
            </a:endParaRPr>
          </a:p>
          <a:p>
            <a:r>
              <a:rPr lang="en-US" sz="2800" dirty="0"/>
              <a:t>The way this is done is through the </a:t>
            </a:r>
            <a:r>
              <a:rPr lang="en-US" sz="2800" b="1" dirty="0" err="1">
                <a:latin typeface="Consolas"/>
              </a:rPr>
              <a:t>ecall</a:t>
            </a:r>
            <a:r>
              <a:rPr lang="en-US" sz="2800" b="1" dirty="0">
                <a:latin typeface="Consolas"/>
              </a:rPr>
              <a:t> </a:t>
            </a:r>
            <a:r>
              <a:rPr lang="en-US" sz="2800" dirty="0"/>
              <a:t>functionality.</a:t>
            </a:r>
            <a:endParaRPr lang="en-US" sz="2800" dirty="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9213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8E72D-9F34-E9CB-48A9-0A6AAA936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DFA89B-204F-4B9A-2B14-C011025CB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>
                <a:solidFill>
                  <a:schemeClr val="tx1"/>
                </a:solidFill>
              </a:rPr>
              <a:t>Hello World in RISC-V</a:t>
            </a:r>
            <a:endParaRPr lang="en-US" dirty="0">
              <a:solidFill>
                <a:schemeClr val="tx1"/>
              </a:solidFill>
              <a:ea typeface="Calibri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AF797B-E651-C6D7-F77F-458AE7CB3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0" y="1054108"/>
            <a:ext cx="5727954" cy="5194292"/>
          </a:xfrm>
        </p:spPr>
        <p:txBody>
          <a:bodyPr lIns="91440" tIns="45720" rIns="91440" bIns="45720" anchor="t"/>
          <a:lstStyle/>
          <a:p>
            <a:r>
              <a:rPr lang="en-US" sz="2800" dirty="0"/>
              <a:t>In order to access the system’s standard output (</a:t>
            </a:r>
            <a:r>
              <a:rPr lang="en-US" sz="2800" b="1" dirty="0">
                <a:latin typeface="Courier New"/>
                <a:cs typeface="Courier New"/>
              </a:rPr>
              <a:t>STDOUT</a:t>
            </a:r>
            <a:r>
              <a:rPr lang="en-US" sz="2800" dirty="0"/>
              <a:t>), we need to place corresponding codes into specific registers. </a:t>
            </a:r>
            <a:endParaRPr lang="en-US" sz="2800" dirty="0">
              <a:ea typeface="Calibri"/>
            </a:endParaRPr>
          </a:p>
          <a:p>
            <a:endParaRPr lang="en-US" sz="2800" dirty="0">
              <a:ea typeface="Calibri"/>
            </a:endParaRPr>
          </a:p>
          <a:p>
            <a:r>
              <a:rPr lang="en-US" sz="2800" dirty="0"/>
              <a:t>Observe that to write to Terminal, we need to specify some values into the </a:t>
            </a:r>
            <a:r>
              <a:rPr lang="en-US" sz="2800" b="1" dirty="0">
                <a:latin typeface="Courier New"/>
                <a:cs typeface="Courier New"/>
              </a:rPr>
              <a:t>a0</a:t>
            </a:r>
            <a:r>
              <a:rPr lang="en-US" sz="2800" b="1" dirty="0"/>
              <a:t>, </a:t>
            </a:r>
            <a:r>
              <a:rPr lang="en-US" sz="2800" b="1" dirty="0">
                <a:latin typeface="Courier New"/>
                <a:cs typeface="Courier New"/>
              </a:rPr>
              <a:t>a1</a:t>
            </a:r>
            <a:r>
              <a:rPr lang="en-US" sz="2800" b="1" dirty="0"/>
              <a:t>, </a:t>
            </a:r>
            <a:r>
              <a:rPr lang="en-US" sz="2800" b="1" dirty="0">
                <a:latin typeface="Courier New"/>
                <a:cs typeface="Courier New"/>
              </a:rPr>
              <a:t>a2</a:t>
            </a:r>
            <a:r>
              <a:rPr lang="en-US" sz="2800" dirty="0"/>
              <a:t>, and </a:t>
            </a:r>
            <a:r>
              <a:rPr lang="en-US" sz="2800" b="1" dirty="0">
                <a:latin typeface="Courier New"/>
                <a:cs typeface="Courier New"/>
              </a:rPr>
              <a:t>a7</a:t>
            </a:r>
            <a:r>
              <a:rPr lang="en-US" sz="2800" b="1" dirty="0"/>
              <a:t> </a:t>
            </a:r>
            <a:r>
              <a:rPr lang="en-US" sz="2800" dirty="0"/>
              <a:t>registers.</a:t>
            </a:r>
            <a:endParaRPr lang="en-US" sz="2800" dirty="0">
              <a:ea typeface="Calibri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C8A8DA9D-F522-258E-8AAD-BB2D1AC4680C}"/>
              </a:ext>
            </a:extLst>
          </p:cNvPr>
          <p:cNvSpPr txBox="1">
            <a:spLocks/>
          </p:cNvSpPr>
          <p:nvPr/>
        </p:nvSpPr>
        <p:spPr>
          <a:xfrm>
            <a:off x="212016" y="1206650"/>
            <a:ext cx="6442784" cy="5194293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41147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777221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118869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508722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148786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18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850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882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.equ STDOUT, 1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.equ __NR_WRITE, 64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.equ __NR_EXIT, 93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1600" dirty="0">
              <a:latin typeface="Consolas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.text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main: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1600" dirty="0">
              <a:latin typeface="Consolas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# write the prompt to the terminal (stdout)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  li a0, STDOUT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  la a1, prompt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  addi a2, zero, prompt_end – prompt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  li a7, __NR_WRITE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  ecall // write to Terminal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1600" dirty="0">
              <a:latin typeface="Consolas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  j halt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1600" dirty="0">
              <a:latin typeface="Consolas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halt: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  ebreak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  j halt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1600" dirty="0">
              <a:latin typeface="Consolas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.data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prompt: .ascii “Hello World!\n”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prompt_end;</a:t>
            </a:r>
          </a:p>
        </p:txBody>
      </p:sp>
    </p:spTree>
    <p:extLst>
      <p:ext uri="{BB962C8B-B14F-4D97-AF65-F5344CB8AC3E}">
        <p14:creationId xmlns:p14="http://schemas.microsoft.com/office/powerpoint/2010/main" val="695864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C6510-B661-53B1-A8FA-BA0C029ED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16E319-A314-E4EB-DD5D-C12A7058A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>
                <a:solidFill>
                  <a:schemeClr val="tx1"/>
                </a:solidFill>
              </a:rPr>
              <a:t>Hello World in RISC-V</a:t>
            </a:r>
            <a:endParaRPr lang="en-US" dirty="0">
              <a:solidFill>
                <a:schemeClr val="tx1"/>
              </a:solidFill>
              <a:ea typeface="Calibri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7C07E9-9ABF-94C3-BE45-5D56CD01B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615" y="1054109"/>
            <a:ext cx="6462739" cy="5348506"/>
          </a:xfrm>
        </p:spPr>
        <p:txBody>
          <a:bodyPr lIns="91440" tIns="45720" rIns="91440" bIns="45720" anchor="t"/>
          <a:lstStyle/>
          <a:p>
            <a:r>
              <a:rPr lang="en-US" sz="2400" dirty="0"/>
              <a:t>The code for </a:t>
            </a:r>
            <a:r>
              <a:rPr lang="en-US" sz="2400" b="1" dirty="0">
                <a:latin typeface="Courier New"/>
                <a:cs typeface="Courier New"/>
              </a:rPr>
              <a:t>STDOUT</a:t>
            </a:r>
            <a:r>
              <a:rPr lang="en-US" sz="2400" b="1" dirty="0"/>
              <a:t> </a:t>
            </a:r>
            <a:r>
              <a:rPr lang="en-US" sz="2400" dirty="0"/>
              <a:t>is the value </a:t>
            </a:r>
            <a:r>
              <a:rPr lang="en-US" sz="2400" b="1" dirty="0">
                <a:latin typeface="Courier New"/>
                <a:cs typeface="Courier New"/>
              </a:rPr>
              <a:t>1</a:t>
            </a:r>
            <a:r>
              <a:rPr lang="en-US" sz="2400" dirty="0"/>
              <a:t>. We place this value into the </a:t>
            </a:r>
            <a:r>
              <a:rPr lang="en-US" sz="2400" b="1" dirty="0">
                <a:latin typeface="Courier New"/>
                <a:cs typeface="Courier New"/>
              </a:rPr>
              <a:t>a0</a:t>
            </a:r>
            <a:r>
              <a:rPr lang="en-US" sz="2400" dirty="0"/>
              <a:t> register.</a:t>
            </a:r>
            <a:endParaRPr lang="en-US" sz="2400" dirty="0">
              <a:ea typeface="Calibri"/>
            </a:endParaRPr>
          </a:p>
          <a:p>
            <a:endParaRPr lang="en-US" sz="2400" dirty="0"/>
          </a:p>
          <a:p>
            <a:r>
              <a:rPr lang="en-US" sz="2400" dirty="0"/>
              <a:t>In the </a:t>
            </a:r>
            <a:r>
              <a:rPr lang="en-US" sz="2400" b="1" dirty="0">
                <a:latin typeface="Courier New"/>
                <a:cs typeface="Courier New"/>
              </a:rPr>
              <a:t>a1</a:t>
            </a:r>
            <a:r>
              <a:rPr lang="en-US" sz="2400" dirty="0"/>
              <a:t> register, we place the starting address of the string we would like to print out.</a:t>
            </a:r>
            <a:endParaRPr lang="en-US" sz="2400" dirty="0">
              <a:ea typeface="Calibri"/>
            </a:endParaRPr>
          </a:p>
          <a:p>
            <a:endParaRPr lang="en-US" sz="2400" dirty="0"/>
          </a:p>
          <a:p>
            <a:r>
              <a:rPr lang="en-US" sz="2400" dirty="0"/>
              <a:t>In the </a:t>
            </a:r>
            <a:r>
              <a:rPr lang="en-US" sz="2400" b="1" dirty="0">
                <a:latin typeface="Courier New"/>
                <a:cs typeface="Courier New"/>
              </a:rPr>
              <a:t>a2</a:t>
            </a:r>
            <a:r>
              <a:rPr lang="en-US" sz="2400" dirty="0"/>
              <a:t> register, we specify the length, in </a:t>
            </a:r>
            <a:r>
              <a:rPr lang="en-US" sz="2400" b="1" dirty="0"/>
              <a:t>bytes</a:t>
            </a:r>
            <a:r>
              <a:rPr lang="en-US" sz="2400" dirty="0"/>
              <a:t>, of the string to print out.</a:t>
            </a:r>
            <a:endParaRPr lang="en-US" sz="2400">
              <a:ea typeface="Calibri"/>
            </a:endParaRPr>
          </a:p>
          <a:p>
            <a:endParaRPr lang="en-US" sz="2400" dirty="0"/>
          </a:p>
          <a:p>
            <a:r>
              <a:rPr lang="en-US" sz="2400" dirty="0"/>
              <a:t>In the </a:t>
            </a:r>
            <a:r>
              <a:rPr lang="en-US" sz="2400" b="1" dirty="0">
                <a:latin typeface="Courier New"/>
                <a:cs typeface="Courier New"/>
              </a:rPr>
              <a:t>a7</a:t>
            </a:r>
            <a:r>
              <a:rPr lang="en-US" sz="2400" dirty="0"/>
              <a:t> register, we place the system call number for </a:t>
            </a:r>
            <a:r>
              <a:rPr lang="en-US" sz="2400" b="1" dirty="0">
                <a:latin typeface="Courier New"/>
                <a:cs typeface="Courier New"/>
              </a:rPr>
              <a:t>write</a:t>
            </a:r>
            <a:r>
              <a:rPr lang="en-US" sz="2400" dirty="0"/>
              <a:t>. This happens to be </a:t>
            </a:r>
            <a:r>
              <a:rPr lang="en-US" sz="2400" b="1" dirty="0">
                <a:latin typeface="Courier New"/>
                <a:cs typeface="Courier New"/>
              </a:rPr>
              <a:t>64</a:t>
            </a:r>
            <a:r>
              <a:rPr lang="en-US" sz="2400" dirty="0"/>
              <a:t>.</a:t>
            </a:r>
            <a:endParaRPr lang="en-US" sz="2400">
              <a:ea typeface="Calibri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5C545A0-15F4-4759-19EE-420F50F6B4E7}"/>
              </a:ext>
            </a:extLst>
          </p:cNvPr>
          <p:cNvSpPr txBox="1">
            <a:spLocks/>
          </p:cNvSpPr>
          <p:nvPr/>
        </p:nvSpPr>
        <p:spPr>
          <a:xfrm>
            <a:off x="202945" y="1052436"/>
            <a:ext cx="6451855" cy="5348507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41147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777221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118869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508722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148786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18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850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882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.equ STDOUT, 1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.equ __NR_WRITE, 64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.equ __NR_EXIT, 93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1600" dirty="0">
              <a:latin typeface="Consolas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.text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main: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1600" dirty="0">
              <a:latin typeface="Consolas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# write the prompt to the terminal (stdout)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  li a0, STDOUT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  la a1, prompt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  addi a2, zero, prompt_end – prompt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  li a7, __NR_WRITE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  ecall // write to Terminal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1600" dirty="0">
              <a:latin typeface="Consolas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  j halt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1600" dirty="0">
              <a:latin typeface="Consolas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halt: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  ebreak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  j halt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1600" dirty="0">
              <a:latin typeface="Consolas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.data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prompt: .ascii “Hello World!\n”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prompt_end;</a:t>
            </a:r>
          </a:p>
        </p:txBody>
      </p:sp>
    </p:spTree>
    <p:extLst>
      <p:ext uri="{BB962C8B-B14F-4D97-AF65-F5344CB8AC3E}">
        <p14:creationId xmlns:p14="http://schemas.microsoft.com/office/powerpoint/2010/main" val="4083851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6" dur="indefinite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0" dur="indefinite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00087-B732-FBF0-F090-27EFA37F5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87B484-82A5-C194-7877-C576879B4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>
                <a:solidFill>
                  <a:schemeClr val="tx1"/>
                </a:solidFill>
              </a:rPr>
              <a:t>Hello World in RISC-V</a:t>
            </a:r>
            <a:endParaRPr lang="en-US" dirty="0">
              <a:solidFill>
                <a:schemeClr val="tx1"/>
              </a:solidFill>
              <a:ea typeface="Calibri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3821AB-42B3-C3E0-4818-82CD5F845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615" y="1054109"/>
            <a:ext cx="6462739" cy="5348506"/>
          </a:xfrm>
        </p:spPr>
        <p:txBody>
          <a:bodyPr lIns="91440" tIns="45720" rIns="91440" bIns="45720" anchor="t"/>
          <a:lstStyle/>
          <a:p>
            <a:r>
              <a:rPr lang="en-US" sz="2400" dirty="0"/>
              <a:t>Note that we don’t need to (and generally shouldn’t) hard code the actual number of bytes in the Hello World string. </a:t>
            </a:r>
            <a:endParaRPr lang="en-US" sz="2400" dirty="0">
              <a:ea typeface="Calibri"/>
            </a:endParaRPr>
          </a:p>
          <a:p>
            <a:endParaRPr lang="en-US" sz="2400" dirty="0"/>
          </a:p>
          <a:p>
            <a:r>
              <a:rPr lang="en-US" sz="2400" dirty="0"/>
              <a:t>This is because we used the labels prompt and prompt end to index addresses in memory. </a:t>
            </a:r>
            <a:endParaRPr lang="en-US" sz="2400">
              <a:ea typeface="Calibri"/>
            </a:endParaRPr>
          </a:p>
          <a:p>
            <a:endParaRPr lang="en-US" sz="2400" dirty="0"/>
          </a:p>
          <a:p>
            <a:r>
              <a:rPr lang="en-US" sz="2400" dirty="0"/>
              <a:t>So, the length of the string is just the difference of their addresses.</a:t>
            </a:r>
            <a:endParaRPr lang="en-US" sz="2400">
              <a:ea typeface="Calibri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3D987183-5646-6C94-84C6-6B73CBF198A3}"/>
              </a:ext>
            </a:extLst>
          </p:cNvPr>
          <p:cNvSpPr txBox="1">
            <a:spLocks/>
          </p:cNvSpPr>
          <p:nvPr/>
        </p:nvSpPr>
        <p:spPr>
          <a:xfrm>
            <a:off x="202945" y="1052436"/>
            <a:ext cx="6451855" cy="5348507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41147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777221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118869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508722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148786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18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850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882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.equ STDOUT, 1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.equ __NR_WRITE, 64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.equ __NR_EXIT, 93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1600" dirty="0">
              <a:latin typeface="Consolas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.text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main: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1600" dirty="0">
              <a:latin typeface="Consolas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# write the prompt to the terminal (stdout)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  li a0, STDOUT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  la a1, prompt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  </a:t>
            </a:r>
            <a:r>
              <a:rPr lang="en-US" sz="1600" b="1" dirty="0">
                <a:latin typeface="Consolas"/>
                <a:cs typeface="Courier New"/>
              </a:rPr>
              <a:t>addi a2, zero, prompt_end – prompt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  li a7, __NR_WRITE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  ecall // write to Terminal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1600" dirty="0">
              <a:latin typeface="Consolas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  j halt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1600" dirty="0">
              <a:latin typeface="Consolas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halt: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  ebreak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  j halt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1600" dirty="0">
              <a:latin typeface="Consolas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nsolas"/>
                <a:cs typeface="Courier New"/>
              </a:rPr>
              <a:t>.data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b="1" dirty="0">
                <a:latin typeface="Consolas"/>
                <a:cs typeface="Courier New"/>
              </a:rPr>
              <a:t>prompt: .ascii “Hello World!\n”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b="1" dirty="0">
                <a:latin typeface="Consolas"/>
                <a:cs typeface="Courier New"/>
              </a:rPr>
              <a:t>prompt_end;</a:t>
            </a:r>
          </a:p>
        </p:txBody>
      </p:sp>
    </p:spTree>
    <p:extLst>
      <p:ext uri="{BB962C8B-B14F-4D97-AF65-F5344CB8AC3E}">
        <p14:creationId xmlns:p14="http://schemas.microsoft.com/office/powerpoint/2010/main" val="2649253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21963-1D3F-FF7E-0BCA-D5C6D6659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068258-7DF1-7BDC-25CD-297F6A285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>
                <a:solidFill>
                  <a:schemeClr val="tx1"/>
                </a:solidFill>
              </a:rPr>
              <a:t>Hello World in RISC-V</a:t>
            </a:r>
            <a:endParaRPr lang="en-US" dirty="0">
              <a:solidFill>
                <a:schemeClr val="tx1"/>
              </a:solidFill>
              <a:ea typeface="Calibri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4873D5-CE8D-B8FC-336D-6C8AF240B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186" y="1054109"/>
            <a:ext cx="5882168" cy="5194292"/>
          </a:xfrm>
        </p:spPr>
        <p:txBody>
          <a:bodyPr lIns="91440" tIns="45720" rIns="91440" bIns="45720" anchor="t"/>
          <a:lstStyle/>
          <a:p>
            <a:r>
              <a:rPr lang="en-US" sz="2400" dirty="0"/>
              <a:t>After executing this program, open up the </a:t>
            </a:r>
            <a:r>
              <a:rPr lang="en-US" sz="2400" b="1" dirty="0"/>
              <a:t>Registers </a:t>
            </a:r>
            <a:r>
              <a:rPr lang="en-US" sz="2400" dirty="0"/>
              <a:t>window. You’ll notice that the </a:t>
            </a:r>
            <a:r>
              <a:rPr lang="en-US" sz="2400" b="1" dirty="0">
                <a:latin typeface="Courier New"/>
                <a:cs typeface="Courier New"/>
              </a:rPr>
              <a:t>a0</a:t>
            </a:r>
            <a:r>
              <a:rPr lang="en-US" sz="2400" b="1" dirty="0"/>
              <a:t> </a:t>
            </a:r>
            <a:r>
              <a:rPr lang="en-US" sz="2400" dirty="0"/>
              <a:t>register will now hold the value </a:t>
            </a:r>
            <a:r>
              <a:rPr lang="en-US" sz="2400" b="1" dirty="0">
                <a:latin typeface="Courier New"/>
                <a:cs typeface="Courier New"/>
              </a:rPr>
              <a:t>0xd</a:t>
            </a:r>
            <a:r>
              <a:rPr lang="en-US" sz="2400" dirty="0"/>
              <a:t>. </a:t>
            </a:r>
            <a:endParaRPr lang="en-US" sz="2400" dirty="0">
              <a:ea typeface="Calibri"/>
            </a:endParaRPr>
          </a:p>
          <a:p>
            <a:r>
              <a:rPr lang="en-US" sz="2400" dirty="0"/>
              <a:t>What happened here? </a:t>
            </a:r>
            <a:endParaRPr lang="en-US" sz="2400" dirty="0">
              <a:ea typeface="Calibri"/>
            </a:endParaRPr>
          </a:p>
          <a:p>
            <a:endParaRPr lang="en-US" sz="2400" dirty="0"/>
          </a:p>
          <a:p>
            <a:r>
              <a:rPr lang="en-US" sz="2400" dirty="0"/>
              <a:t>Didn’t we just put in the value </a:t>
            </a:r>
            <a:r>
              <a:rPr lang="en-US" sz="2400" b="1" dirty="0">
                <a:latin typeface="Courier New"/>
                <a:cs typeface="Courier New"/>
              </a:rPr>
              <a:t>1</a:t>
            </a:r>
            <a:r>
              <a:rPr lang="en-US" sz="2400" dirty="0"/>
              <a:t>? </a:t>
            </a:r>
            <a:endParaRPr lang="en-US" sz="2400" dirty="0">
              <a:ea typeface="Calibri"/>
            </a:endParaRPr>
          </a:p>
          <a:p>
            <a:endParaRPr lang="en-US" sz="2400" dirty="0"/>
          </a:p>
          <a:p>
            <a:r>
              <a:rPr lang="en-US" sz="2400" dirty="0"/>
              <a:t>Here, the write </a:t>
            </a:r>
            <a:r>
              <a:rPr lang="en-US" sz="2400" b="1" dirty="0" err="1">
                <a:latin typeface="Courier New"/>
                <a:cs typeface="Courier New"/>
              </a:rPr>
              <a:t>ecall</a:t>
            </a:r>
            <a:r>
              <a:rPr lang="en-US" sz="2400" b="1" dirty="0"/>
              <a:t> </a:t>
            </a:r>
            <a:r>
              <a:rPr lang="en-US" sz="2400" dirty="0"/>
              <a:t>had returned the length of the string that was printed to the terminal. </a:t>
            </a:r>
            <a:endParaRPr lang="en-US" sz="2400">
              <a:ea typeface="Calibri"/>
            </a:endParaRPr>
          </a:p>
          <a:p>
            <a:endParaRPr lang="en-US" sz="2400" dirty="0"/>
          </a:p>
          <a:p>
            <a:r>
              <a:rPr lang="en-US" sz="2400" dirty="0"/>
              <a:t>The value </a:t>
            </a:r>
            <a:r>
              <a:rPr lang="en-US" sz="2400" b="1" dirty="0">
                <a:latin typeface="Courier New"/>
                <a:cs typeface="Courier New"/>
              </a:rPr>
              <a:t>0xd</a:t>
            </a:r>
            <a:r>
              <a:rPr lang="en-US" sz="2400" dirty="0"/>
              <a:t> in hex is </a:t>
            </a:r>
            <a:r>
              <a:rPr lang="en-US" sz="2400" b="1" dirty="0">
                <a:latin typeface="Courier New"/>
                <a:cs typeface="Courier New"/>
              </a:rPr>
              <a:t>14</a:t>
            </a:r>
            <a:r>
              <a:rPr lang="en-US" sz="2400" b="1" dirty="0"/>
              <a:t> </a:t>
            </a:r>
            <a:r>
              <a:rPr lang="en-US" sz="2400" dirty="0"/>
              <a:t>in decimal.</a:t>
            </a:r>
            <a:endParaRPr lang="en-US" sz="2400" dirty="0">
              <a:ea typeface="Calibri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2492A3A8-62DD-40DD-D244-9FF782E6E1FE}"/>
              </a:ext>
            </a:extLst>
          </p:cNvPr>
          <p:cNvSpPr txBox="1">
            <a:spLocks/>
          </p:cNvSpPr>
          <p:nvPr/>
        </p:nvSpPr>
        <p:spPr>
          <a:xfrm>
            <a:off x="202945" y="1052436"/>
            <a:ext cx="6451855" cy="5348507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41147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777221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118869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508722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148786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18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850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882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urier New"/>
                <a:cs typeface="Courier New"/>
              </a:rPr>
              <a:t>.equ STDOUT, 1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urier New"/>
                <a:cs typeface="Courier New"/>
              </a:rPr>
              <a:t>.equ __NR_WRITE, 64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urier New"/>
                <a:cs typeface="Courier New"/>
              </a:rPr>
              <a:t>.equ __NR_EXIT, 93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urier New"/>
                <a:cs typeface="Courier New"/>
              </a:rPr>
              <a:t>.text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urier New"/>
                <a:cs typeface="Courier New"/>
              </a:rPr>
              <a:t>main: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urier New"/>
                <a:cs typeface="Courier New"/>
              </a:rPr>
              <a:t># write the prompt to the terminal (stdout)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urier New"/>
                <a:cs typeface="Courier New"/>
              </a:rPr>
              <a:t>  li a0, STDOUT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urier New"/>
                <a:cs typeface="Courier New"/>
              </a:rPr>
              <a:t>  la a1, prompt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urier New"/>
                <a:cs typeface="Courier New"/>
              </a:rPr>
              <a:t>  addi a2, zero, prompt_end – prompt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urier New"/>
                <a:cs typeface="Courier New"/>
              </a:rPr>
              <a:t>  li a7, __NR_WRITE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urier New"/>
                <a:cs typeface="Courier New"/>
              </a:rPr>
              <a:t>  ecall // write to Terminal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urier New"/>
                <a:cs typeface="Courier New"/>
              </a:rPr>
              <a:t>  j halt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urier New"/>
                <a:cs typeface="Courier New"/>
              </a:rPr>
              <a:t>halt: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urier New"/>
                <a:cs typeface="Courier New"/>
              </a:rPr>
              <a:t>  ebreak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urier New"/>
                <a:cs typeface="Courier New"/>
              </a:rPr>
              <a:t>  j halt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urier New"/>
                <a:cs typeface="Courier New"/>
              </a:rPr>
              <a:t>.data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urier New"/>
                <a:cs typeface="Courier New"/>
              </a:rPr>
              <a:t>prompt: .ascii “Hello World!\n”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1600" dirty="0">
                <a:latin typeface="Courier New"/>
                <a:cs typeface="Courier New"/>
              </a:rPr>
              <a:t>prompt_end;</a:t>
            </a:r>
          </a:p>
        </p:txBody>
      </p:sp>
    </p:spTree>
    <p:extLst>
      <p:ext uri="{BB962C8B-B14F-4D97-AF65-F5344CB8AC3E}">
        <p14:creationId xmlns:p14="http://schemas.microsoft.com/office/powerpoint/2010/main" val="956311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67763-0CCC-6F79-3873-53E65133E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EA6611-6F5D-058A-D333-CDE242A8A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>
                <a:solidFill>
                  <a:schemeClr val="tx1"/>
                </a:solidFill>
              </a:rPr>
              <a:t>Reading User Input</a:t>
            </a:r>
            <a:endParaRPr lang="en-US" dirty="0">
              <a:solidFill>
                <a:schemeClr val="tx1"/>
              </a:solidFill>
              <a:ea typeface="Calibri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5C007E-4CF1-BBD7-2A61-83892D91A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r>
              <a:rPr lang="en-US" sz="2800" dirty="0"/>
              <a:t>Let’s say we want to prompt the user to enter a string, and store that string into a place in memory. </a:t>
            </a:r>
            <a:endParaRPr lang="en-US" sz="2800" dirty="0">
              <a:ea typeface="Calibri"/>
            </a:endParaRPr>
          </a:p>
          <a:p>
            <a:endParaRPr lang="en-US" sz="2800" dirty="0">
              <a:ea typeface="Calibri"/>
            </a:endParaRPr>
          </a:p>
          <a:p>
            <a:r>
              <a:rPr lang="en-US" sz="2800" dirty="0"/>
              <a:t>For this functionality, we need to access the system’s standard input (</a:t>
            </a:r>
            <a:r>
              <a:rPr lang="en-US" sz="2800" b="1" dirty="0">
                <a:latin typeface="Courier New"/>
                <a:cs typeface="Courier New"/>
              </a:rPr>
              <a:t>STDIN</a:t>
            </a:r>
            <a:r>
              <a:rPr lang="en-US" sz="2800" dirty="0"/>
              <a:t>), and use an </a:t>
            </a:r>
            <a:r>
              <a:rPr lang="en-US" sz="2800" b="1" dirty="0" err="1"/>
              <a:t>ecall</a:t>
            </a:r>
            <a:r>
              <a:rPr lang="en-US" sz="2800" b="1" dirty="0"/>
              <a:t> </a:t>
            </a:r>
            <a:r>
              <a:rPr lang="en-US" sz="2800" dirty="0"/>
              <a:t>that corresponds to </a:t>
            </a:r>
            <a:r>
              <a:rPr lang="en-US" sz="2800" b="1" i="1" dirty="0"/>
              <a:t>read</a:t>
            </a:r>
            <a:r>
              <a:rPr lang="en-US" sz="2800" dirty="0"/>
              <a:t>. </a:t>
            </a:r>
            <a:endParaRPr lang="en-US" sz="2800">
              <a:ea typeface="Calibri"/>
            </a:endParaRPr>
          </a:p>
          <a:p>
            <a:endParaRPr lang="en-US" sz="2800" dirty="0">
              <a:ea typeface="Calibri"/>
            </a:endParaRPr>
          </a:p>
          <a:p>
            <a:r>
              <a:rPr lang="en-US" sz="2800" dirty="0"/>
              <a:t>Moreover, we also need to make sure we have indexed a place in memory to place the input string.</a:t>
            </a:r>
            <a:endParaRPr lang="en-US" sz="2800" dirty="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629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C87E7-A10A-24FD-10E8-F10155214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AB6675-8CE5-E0AF-8FC7-27E6AD558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>
                <a:solidFill>
                  <a:schemeClr val="tx1"/>
                </a:solidFill>
              </a:rPr>
              <a:t>Reading User Input</a:t>
            </a:r>
            <a:endParaRPr lang="en-US" dirty="0">
              <a:solidFill>
                <a:schemeClr val="tx1"/>
              </a:solidFill>
              <a:ea typeface="Calibri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CF72D95D-5E90-52BE-1728-A5278FF9A082}"/>
              </a:ext>
            </a:extLst>
          </p:cNvPr>
          <p:cNvSpPr txBox="1">
            <a:spLocks/>
          </p:cNvSpPr>
          <p:nvPr/>
        </p:nvSpPr>
        <p:spPr>
          <a:xfrm>
            <a:off x="212016" y="1206650"/>
            <a:ext cx="11370384" cy="5194293"/>
          </a:xfrm>
          <a:prstGeom prst="rect">
            <a:avLst/>
          </a:prstGeom>
        </p:spPr>
        <p:txBody>
          <a:bodyPr anchor="ctr"/>
          <a:lstStyle>
            <a:lvl1pPr marL="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41147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777221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118869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508722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148786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18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850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882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equ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STDOUT, 1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equ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STDIN, 0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equ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__NR_READ, 63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equ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__NR_WRITE, 64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equ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__NR_EXIT, 93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.text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main: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# main() prologue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addi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-100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# main() body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# write the prompt to the terminal 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li a0, STDOUT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la a1, prompt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addi a2, zero,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prompt_end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– prompt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li a7, __NR_WRITE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ecall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B9B96A-143B-E1C2-F879-0A26908B1D10}"/>
              </a:ext>
            </a:extLst>
          </p:cNvPr>
          <p:cNvSpPr txBox="1"/>
          <p:nvPr/>
        </p:nvSpPr>
        <p:spPr>
          <a:xfrm>
            <a:off x="4419600" y="2074119"/>
            <a:ext cx="4800600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dirty="0"/>
              <a:t>In the prolog of main, we are preparing the stack to store the user input string, and we are allocating </a:t>
            </a:r>
            <a:r>
              <a:rPr lang="en-US" sz="2000" b="1" dirty="0"/>
              <a:t>100 </a:t>
            </a:r>
            <a:r>
              <a:rPr lang="en-US" sz="2000" dirty="0"/>
              <a:t>bytes for this.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ED88CF-E070-FF1B-C291-D6D56CBB824D}"/>
              </a:ext>
            </a:extLst>
          </p:cNvPr>
          <p:cNvSpPr txBox="1"/>
          <p:nvPr/>
        </p:nvSpPr>
        <p:spPr>
          <a:xfrm>
            <a:off x="8077200" y="3886200"/>
            <a:ext cx="40424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 the first block in the main body, we are simply writing to Terminal a prompt for the user. It says “Enter a message: ”. Note that this string was stored in the data section under the label prompt.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5CA4353-3495-A85C-1985-99F93A7B8555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352800" y="2581951"/>
            <a:ext cx="1066800" cy="110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759AEA2-E8D5-EE98-DC16-D7530E58DB90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7239000" y="4855696"/>
            <a:ext cx="838200" cy="173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66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8BA1E-9EA7-4110-A740-78D5E3BB6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46A20B-A37A-9734-EC0C-58029E4A1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>
                <a:solidFill>
                  <a:schemeClr val="tx1"/>
                </a:solidFill>
              </a:rPr>
              <a:t>Reading User Input</a:t>
            </a:r>
            <a:endParaRPr lang="en-US" dirty="0">
              <a:solidFill>
                <a:schemeClr val="tx1"/>
              </a:solidFill>
              <a:ea typeface="Calibri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BE78548E-D3F0-5FE0-AF4A-72DEB73CB5DF}"/>
              </a:ext>
            </a:extLst>
          </p:cNvPr>
          <p:cNvSpPr txBox="1">
            <a:spLocks/>
          </p:cNvSpPr>
          <p:nvPr/>
        </p:nvSpPr>
        <p:spPr>
          <a:xfrm>
            <a:off x="202945" y="1206650"/>
            <a:ext cx="11379455" cy="251822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41147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777221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118869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508722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148786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18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850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882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400" dirty="0">
                <a:latin typeface="Consolas"/>
                <a:cs typeface="Courier New"/>
              </a:rPr>
              <a:t>  # read up to 100 characters from the terminal (stdin)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400" dirty="0">
                <a:latin typeface="Consolas"/>
                <a:cs typeface="Courier New"/>
              </a:rPr>
              <a:t>  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400" dirty="0">
                <a:latin typeface="Consolas"/>
                <a:cs typeface="Courier New"/>
              </a:rPr>
              <a:t>li a0, STDIN         // STDIN code</a:t>
            </a:r>
            <a:endParaRPr lang="en-US">
              <a:latin typeface="Consolas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400" dirty="0">
                <a:latin typeface="Consolas"/>
                <a:cs typeface="Courier New"/>
              </a:rPr>
              <a:t>  mv a1, sp           // memory addr to store the read-in data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400" dirty="0">
                <a:latin typeface="Consolas"/>
                <a:cs typeface="Courier New"/>
              </a:rPr>
              <a:t>  addi a2, zero, 100   // # of bytes to be read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400" dirty="0">
                <a:latin typeface="Consolas"/>
                <a:cs typeface="Courier New"/>
              </a:rPr>
              <a:t>  li a7, __NR_READ     // NR_READ code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400" dirty="0">
                <a:latin typeface="Consolas"/>
                <a:cs typeface="Courier New"/>
              </a:rPr>
              <a:t>  ecall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2400" dirty="0">
              <a:latin typeface="Consolas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DAB7C9-924E-4FCD-9F4D-F683589E32B0}"/>
              </a:ext>
            </a:extLst>
          </p:cNvPr>
          <p:cNvSpPr txBox="1"/>
          <p:nvPr/>
        </p:nvSpPr>
        <p:spPr>
          <a:xfrm>
            <a:off x="417158" y="3724727"/>
            <a:ext cx="11357684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dirty="0"/>
              <a:t>The second block in the main body is how we read in user input.</a:t>
            </a:r>
          </a:p>
          <a:p>
            <a:endParaRPr lang="en-US" sz="2400" dirty="0"/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We place the value of the </a:t>
            </a:r>
            <a:r>
              <a:rPr lang="en-US" sz="2400" b="1" dirty="0">
                <a:latin typeface="Courier New"/>
                <a:cs typeface="Courier New"/>
              </a:rPr>
              <a:t>STDIN</a:t>
            </a:r>
            <a:r>
              <a:rPr lang="en-US" sz="2400" b="1" dirty="0"/>
              <a:t> </a:t>
            </a:r>
            <a:r>
              <a:rPr lang="en-US" sz="2400" dirty="0"/>
              <a:t>code (it happens to be </a:t>
            </a:r>
            <a:r>
              <a:rPr lang="en-US" sz="2400" b="1" dirty="0">
                <a:latin typeface="Courier New"/>
                <a:cs typeface="Courier New"/>
              </a:rPr>
              <a:t>0</a:t>
            </a:r>
            <a:r>
              <a:rPr lang="en-US" sz="2400" dirty="0"/>
              <a:t>) into register </a:t>
            </a:r>
            <a:r>
              <a:rPr lang="en-US" sz="2400" b="1" dirty="0">
                <a:latin typeface="Courier New"/>
                <a:cs typeface="Courier New"/>
              </a:rPr>
              <a:t>a0</a:t>
            </a:r>
            <a:r>
              <a:rPr lang="en-US" sz="2400" dirty="0"/>
              <a:t>.</a:t>
            </a: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We place the memory address where we would like to store the user input into register </a:t>
            </a:r>
            <a:r>
              <a:rPr lang="en-US" sz="2400" b="1" dirty="0">
                <a:latin typeface="Courier New"/>
                <a:cs typeface="Courier New"/>
              </a:rPr>
              <a:t>a1</a:t>
            </a:r>
            <a:r>
              <a:rPr lang="en-US" sz="2400" dirty="0"/>
              <a:t>. In this example, we are using the current address of the stack pointer.</a:t>
            </a: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In </a:t>
            </a:r>
            <a:r>
              <a:rPr lang="en-US" sz="2400" b="1" dirty="0">
                <a:latin typeface="Courier New"/>
                <a:cs typeface="Courier New"/>
              </a:rPr>
              <a:t>a2</a:t>
            </a:r>
            <a:r>
              <a:rPr lang="en-US" sz="2400" dirty="0"/>
              <a:t>, we place the number of bytes we would like to be read-in.</a:t>
            </a: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In </a:t>
            </a:r>
            <a:r>
              <a:rPr lang="en-US" sz="2400" b="1" dirty="0">
                <a:latin typeface="Courier New"/>
                <a:cs typeface="Courier New"/>
              </a:rPr>
              <a:t>a7</a:t>
            </a:r>
            <a:r>
              <a:rPr lang="en-US" sz="2400" b="1" dirty="0"/>
              <a:t> </a:t>
            </a:r>
            <a:r>
              <a:rPr lang="en-US" sz="2400" dirty="0"/>
              <a:t>we place the system call number for </a:t>
            </a:r>
            <a:r>
              <a:rPr lang="en-US" sz="2400" b="1" dirty="0">
                <a:latin typeface="Courier New"/>
                <a:cs typeface="Courier New"/>
              </a:rPr>
              <a:t>read</a:t>
            </a:r>
            <a:r>
              <a:rPr lang="en-US" sz="2400" dirty="0"/>
              <a:t>. This happens to be </a:t>
            </a:r>
            <a:r>
              <a:rPr lang="en-US" sz="2400" b="1" dirty="0">
                <a:latin typeface="Courier New"/>
                <a:cs typeface="Courier New"/>
              </a:rPr>
              <a:t>63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45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2F37B-2119-FC6A-3DAB-D3223BFEA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36E5AA-6A0E-30C9-3966-429210DA7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>
                <a:solidFill>
                  <a:schemeClr val="tx1"/>
                </a:solidFill>
              </a:rPr>
              <a:t>Reading User Input</a:t>
            </a:r>
            <a:endParaRPr lang="en-US" dirty="0">
              <a:solidFill>
                <a:schemeClr val="tx1"/>
              </a:solidFill>
              <a:ea typeface="Calibri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E9259C0E-6CD8-281E-EFFD-61BF3877BEA8}"/>
              </a:ext>
            </a:extLst>
          </p:cNvPr>
          <p:cNvSpPr txBox="1">
            <a:spLocks/>
          </p:cNvSpPr>
          <p:nvPr/>
        </p:nvSpPr>
        <p:spPr>
          <a:xfrm>
            <a:off x="212016" y="1206650"/>
            <a:ext cx="11370384" cy="5194293"/>
          </a:xfrm>
          <a:prstGeom prst="rect">
            <a:avLst/>
          </a:prstGeom>
        </p:spPr>
        <p:txBody>
          <a:bodyPr anchor="t"/>
          <a:lstStyle>
            <a:lvl1pPr marL="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41147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777221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118869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508722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148786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18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850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882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# write the just read characters to the terminal 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li a0, STDOUT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la a1,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addi a2, 0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li a7, __NR_WRITE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ecall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# main() epilogue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addi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100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j halt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halt: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ebreak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j halt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.data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prompt: .ascii “Enter a message: ”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prompt_end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264383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W General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11226</TotalTime>
  <Words>2302</Words>
  <Application>Microsoft Office PowerPoint</Application>
  <PresentationFormat>Widescreen</PresentationFormat>
  <Paragraphs>320</Paragraphs>
  <Slides>23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GW General</vt:lpstr>
      <vt:lpstr>CS 2160 Introduction to Assembly Programming and Computer Organization  Lecture 06: Into to QT RV Simulator</vt:lpstr>
      <vt:lpstr>Today’s Agenda.</vt:lpstr>
      <vt:lpstr>The QT RV Simulator</vt:lpstr>
      <vt:lpstr>The QT RV Simulator</vt:lpstr>
      <vt:lpstr>Create New Source</vt:lpstr>
      <vt:lpstr>Example Code 1</vt:lpstr>
      <vt:lpstr>Compile and Run the Assembly Code</vt:lpstr>
      <vt:lpstr>You may face…</vt:lpstr>
      <vt:lpstr>Example Code 2</vt:lpstr>
      <vt:lpstr>Storing Data Types Into the Data Section</vt:lpstr>
      <vt:lpstr>Storing Data Types Into the Data Section</vt:lpstr>
      <vt:lpstr>Storing Data Types Into the Data Section</vt:lpstr>
      <vt:lpstr>Storing Data Types Into the Data Section</vt:lpstr>
      <vt:lpstr>Storing Data Types Into the Data Section</vt:lpstr>
      <vt:lpstr>Hello World in RISC-V</vt:lpstr>
      <vt:lpstr>Hello World in RISC-V</vt:lpstr>
      <vt:lpstr>Hello World in RISC-V</vt:lpstr>
      <vt:lpstr>Hello World in RISC-V</vt:lpstr>
      <vt:lpstr>Hello World in RISC-V</vt:lpstr>
      <vt:lpstr>Reading User Input</vt:lpstr>
      <vt:lpstr>Reading User Input</vt:lpstr>
      <vt:lpstr>Reading User Input</vt:lpstr>
      <vt:lpstr>Reading User Input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CS4200: Computer Architecture Introduction to Computer Architecture</dc:title>
  <dc:creator>Gedare Bloom</dc:creator>
  <cp:lastModifiedBy>Xi Tan</cp:lastModifiedBy>
  <cp:revision>744</cp:revision>
  <dcterms:created xsi:type="dcterms:W3CDTF">2020-08-23T20:53:13Z</dcterms:created>
  <dcterms:modified xsi:type="dcterms:W3CDTF">2026-09-24T22:04:36Z</dcterms:modified>
</cp:coreProperties>
</file>