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50"/>
  </p:notesMasterIdLst>
  <p:sldIdLst>
    <p:sldId id="256" r:id="rId5"/>
    <p:sldId id="257" r:id="rId6"/>
    <p:sldId id="765" r:id="rId7"/>
    <p:sldId id="767" r:id="rId8"/>
    <p:sldId id="261" r:id="rId9"/>
    <p:sldId id="262" r:id="rId10"/>
    <p:sldId id="263" r:id="rId11"/>
    <p:sldId id="264" r:id="rId12"/>
    <p:sldId id="265" r:id="rId13"/>
    <p:sldId id="769" r:id="rId14"/>
    <p:sldId id="770" r:id="rId15"/>
    <p:sldId id="268" r:id="rId16"/>
    <p:sldId id="771" r:id="rId17"/>
    <p:sldId id="271" r:id="rId18"/>
    <p:sldId id="772" r:id="rId19"/>
    <p:sldId id="774" r:id="rId20"/>
    <p:sldId id="775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764" r:id="rId48"/>
    <p:sldId id="270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125B78-E3E3-C782-C4D6-CB1AD5CE70E5}" v="139" dt="2026-09-09T22:40:37.047"/>
    <p1510:client id="{3E21C6BA-5CF3-7ACC-92F3-BF79777175C3}" v="646" dt="2026-09-10T22:11:11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6E351-5889-4606-851F-9CE32354911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9A697-E2F0-4093-9634-3E22EDA0B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1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6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8813A-9329-426C-8047-01C1395FFE36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98ED8-9146-4BE6-B540-8347B7D3438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3B9B1-624C-4443-9E49-4AE5E8C13226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804C-B05D-4C85-95DC-ACD6E58FC5CF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878C0-F05B-4E10-BEA1-D8C122382F74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E8022-ABBB-4C19-AC05-69F05BDFBB5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303E2-840D-4389-90AF-4B66070F5592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37C5A-9E50-49CC-95CE-AA003F394609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9019-D333-4149-8780-C872D9CA9A8F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8753-E8D8-4E4B-8EC0-E06A258A09C0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AC97C-B3CE-4D72-BCA1-C99A1B0D10C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838" y="1447800"/>
            <a:ext cx="4788622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cs typeface="Arial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3206" y="2209801"/>
            <a:ext cx="4788624" cy="42704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>
                <a:latin typeface="+mn-lt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2000">
                <a:latin typeface="Arial"/>
                <a:cs typeface="Arial"/>
              </a:defRPr>
            </a:lvl4pPr>
            <a:lvl5pPr>
              <a:defRPr sz="20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5029" y="1447800"/>
            <a:ext cx="4826607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cs typeface="Arial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5400" y="2206574"/>
            <a:ext cx="4820229" cy="42704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/>
          <a:lstStyle>
            <a:lvl1pPr algn="l">
              <a:defRPr sz="4400" b="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3223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203200" y="1371600"/>
            <a:ext cx="4638421" cy="5029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953000" y="1371600"/>
            <a:ext cx="4648200" cy="5029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/>
          <a:lstStyle>
            <a:lvl1pPr algn="l">
              <a:defRPr sz="4400" b="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5996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895D1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39787" y="1148493"/>
            <a:ext cx="2597785" cy="3529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895D1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2663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E7E88-3F9E-4598-A06E-B6F43CDC37BA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thakur@ucc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2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24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494"/>
            <a:ext cx="12197675" cy="34314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CS 2160</a:t>
            </a:r>
            <a:br>
              <a:rPr lang="en-US" sz="3600" b="1" dirty="0">
                <a:ea typeface="+mj-lt"/>
                <a:cs typeface="+mj-lt"/>
              </a:rPr>
            </a:br>
            <a:r>
              <a:rPr lang="en-US" sz="3600" dirty="0"/>
              <a:t>Introduction to Assembly Programming and</a:t>
            </a:r>
            <a:br>
              <a:rPr lang="en-US" sz="3600" dirty="0"/>
            </a:br>
            <a:r>
              <a:rPr lang="en-US" sz="3600" dirty="0"/>
              <a:t>Computer Organization</a:t>
            </a:r>
            <a:br>
              <a:rPr lang="en-US" sz="3600" dirty="0"/>
            </a:br>
            <a:br>
              <a:rPr lang="en-US" sz="3600" dirty="0">
                <a:ea typeface="+mj-lt"/>
                <a:cs typeface="+mj-lt"/>
              </a:rPr>
            </a:br>
            <a:r>
              <a:rPr lang="en-US" sz="3200" b="1" dirty="0">
                <a:ea typeface="+mj-lt"/>
                <a:cs typeface="+mj-lt"/>
              </a:rPr>
              <a:t>Lecture 03</a:t>
            </a:r>
            <a:r>
              <a:rPr lang="en-US" sz="3200" dirty="0">
                <a:ea typeface="+mj-lt"/>
                <a:cs typeface="+mj-lt"/>
              </a:rPr>
              <a:t>: Branching, Procedures, and  Loops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40" y="3424813"/>
            <a:ext cx="12175382" cy="29816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Aptos"/>
                <a:ea typeface="Calibri"/>
                <a:cs typeface="Calibri"/>
              </a:rPr>
              <a:t>Fall 2026</a:t>
            </a:r>
            <a:endParaRPr lang="en-US">
              <a:latin typeface="Aptos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b="1">
                <a:latin typeface="Calibri"/>
                <a:ea typeface="Calibri"/>
                <a:cs typeface="Calibri"/>
              </a:rPr>
              <a:t>Instructor</a:t>
            </a:r>
            <a:r>
              <a:rPr lang="en-US">
                <a:latin typeface="Calibri"/>
                <a:ea typeface="Calibri"/>
                <a:cs typeface="Calibri"/>
              </a:rPr>
              <a:t>: Himon Thakur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b="1">
                <a:latin typeface="Calibri"/>
                <a:ea typeface="Calibri"/>
                <a:cs typeface="Calibri"/>
              </a:rPr>
              <a:t>TA: </a:t>
            </a:r>
            <a:r>
              <a:rPr lang="en-US">
                <a:latin typeface="Calibri"/>
                <a:ea typeface="Calibri"/>
                <a:cs typeface="Calibri"/>
              </a:rPr>
              <a:t>Hassan Shakil</a:t>
            </a: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/>
              <a:t>University of Colorado </a:t>
            </a:r>
            <a:r>
              <a:rPr lang="en-US" err="1"/>
              <a:t>Colorado</a:t>
            </a:r>
            <a:r>
              <a:rPr lang="en-US"/>
              <a:t> Springs (UCCS)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3017D99-3D2A-E0CE-054E-E32FE8E968E6}"/>
              </a:ext>
            </a:extLst>
          </p:cNvPr>
          <p:cNvSpPr txBox="1"/>
          <p:nvPr/>
        </p:nvSpPr>
        <p:spPr>
          <a:xfrm>
            <a:off x="20320" y="6407876"/>
            <a:ext cx="12181838" cy="43858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Himon Thakur</a:t>
            </a:r>
            <a:r>
              <a:rPr lang="en-US" sz="1200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 (</a:t>
            </a:r>
            <a:r>
              <a:rPr lang="en-US" sz="1200">
                <a:solidFill>
                  <a:srgbClr val="767676"/>
                </a:solidFill>
                <a:latin typeface="Aptos Display"/>
                <a:ea typeface="Calibri"/>
                <a:cs typeface="Calibri"/>
                <a:hlinkClick r:id="rId2"/>
              </a:rPr>
              <a:t>hthakur@uccs.edu</a:t>
            </a:r>
            <a:r>
              <a:rPr lang="en-US" sz="1200" i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); </a:t>
            </a:r>
            <a:r>
              <a:rPr lang="en-US" sz="1200" b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CC BY-NC-SA 4.0;</a:t>
            </a:r>
            <a:endParaRPr lang="en-US" sz="1200">
              <a:solidFill>
                <a:srgbClr val="000000"/>
              </a:solidFill>
              <a:latin typeface="Aptos Display"/>
              <a:ea typeface="Calibri"/>
              <a:cs typeface="Calibri"/>
            </a:endParaRPr>
          </a:p>
          <a:p>
            <a:pPr algn="ctr"/>
            <a:r>
              <a:rPr lang="en-US" sz="1050" i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Special Thanks to Dr. Keith Paarpong and Dr. Xi Tan.</a:t>
            </a:r>
            <a:endParaRPr lang="en-US" sz="1050">
              <a:latin typeface="Aptos Display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786A-DB79-C2E9-C26B-F79D3B66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Today’s Agenda.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D16EA-AC3F-5FE5-C0A6-85FAB868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2DD545-B3A4-BBE9-77EB-C7F4C36452AF}"/>
              </a:ext>
            </a:extLst>
          </p:cNvPr>
          <p:cNvSpPr txBox="1"/>
          <p:nvPr/>
        </p:nvSpPr>
        <p:spPr>
          <a:xfrm>
            <a:off x="846030" y="1294312"/>
            <a:ext cx="10504655" cy="5062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57200" indent="-457200">
              <a:spcBef>
                <a:spcPct val="20000"/>
              </a:spcBef>
              <a:buFont typeface="Arial"/>
              <a:buChar char="•"/>
            </a:pPr>
            <a:r>
              <a:rPr lang="en-US" sz="2800" dirty="0">
                <a:latin typeface="Aptos"/>
                <a:ea typeface="Calibri"/>
                <a:cs typeface="Calibri"/>
              </a:rPr>
              <a:t>Understand RISC-V basic assembly control flow  and conditional statements.</a:t>
            </a:r>
            <a:endParaRPr lang="en-US" sz="2800" dirty="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Instructions for making decisions </a:t>
            </a:r>
            <a:endParaRPr lang="en-US" dirty="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Conditional statements</a:t>
            </a:r>
            <a:r>
              <a:rPr lang="en-US" sz="2800" dirty="0">
                <a:ea typeface="+mn-lt"/>
                <a:cs typeface="+mn-lt"/>
              </a:rPr>
              <a:t>: If, else structures </a:t>
            </a: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Loops</a:t>
            </a:r>
            <a:r>
              <a:rPr lang="en-US" sz="2800" dirty="0">
                <a:ea typeface="+mn-lt"/>
                <a:cs typeface="+mn-lt"/>
              </a:rPr>
              <a:t>: while, do while, for 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3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99389-0572-FCC5-5D84-67867C393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C4B0-EB8F-CF7E-98A8-FA061E29D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+mj-lt"/>
                <a:cs typeface="+mj-lt"/>
              </a:rPr>
              <a:t>Instructions for Making Decisions (§2.7) 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E027D-E29F-316F-5C7A-8EA3AC93A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62BC6C-AD81-AC57-EC27-C57D7831FF7B}"/>
              </a:ext>
            </a:extLst>
          </p:cNvPr>
          <p:cNvSpPr txBox="1"/>
          <p:nvPr/>
        </p:nvSpPr>
        <p:spPr>
          <a:xfrm>
            <a:off x="846030" y="1294312"/>
            <a:ext cx="10504655" cy="5062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3600" dirty="0">
                <a:latin typeface="Aptos"/>
                <a:ea typeface="Calibri"/>
                <a:cs typeface="Calibri"/>
              </a:rPr>
              <a:t>Decisions are important for:</a:t>
            </a:r>
          </a:p>
          <a:p>
            <a:pPr marL="457200" indent="-457200">
              <a:lnSpc>
                <a:spcPct val="8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3200" dirty="0">
                <a:latin typeface="Aptos"/>
                <a:ea typeface="Calibri"/>
                <a:cs typeface="Calibri"/>
              </a:rPr>
              <a:t>choosing between alternatives (found in </a:t>
            </a:r>
            <a:r>
              <a:rPr lang="en-US" sz="3200" b="1" dirty="0">
                <a:latin typeface="Aptos"/>
                <a:ea typeface="Calibri"/>
                <a:cs typeface="Calibri"/>
              </a:rPr>
              <a:t>conditional </a:t>
            </a:r>
            <a:r>
              <a:rPr lang="en-US" sz="3200" dirty="0">
                <a:latin typeface="Aptos"/>
                <a:ea typeface="Calibri"/>
                <a:cs typeface="Calibri"/>
              </a:rPr>
              <a:t>statements)</a:t>
            </a:r>
          </a:p>
          <a:p>
            <a:pPr marL="457200" indent="-457200">
              <a:lnSpc>
                <a:spcPct val="8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3200" dirty="0">
                <a:latin typeface="Aptos"/>
                <a:ea typeface="Calibri"/>
                <a:cs typeface="Calibri"/>
              </a:rPr>
              <a:t>iterating a computation (found in </a:t>
            </a:r>
            <a:r>
              <a:rPr lang="en-US" sz="3200" b="1" dirty="0">
                <a:latin typeface="Aptos"/>
                <a:ea typeface="Calibri"/>
                <a:cs typeface="Calibri"/>
              </a:rPr>
              <a:t>loops</a:t>
            </a:r>
            <a:r>
              <a:rPr lang="en-US" sz="3200" dirty="0">
                <a:latin typeface="Aptos"/>
                <a:ea typeface="Calibri"/>
                <a:cs typeface="Calibri"/>
              </a:rPr>
              <a:t>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2800" dirty="0">
              <a:latin typeface="Aptos"/>
              <a:ea typeface="Calibri"/>
              <a:cs typeface="Calibri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2800" dirty="0">
              <a:latin typeface="Aptos"/>
              <a:ea typeface="Calibri"/>
              <a:cs typeface="Calibri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3600" dirty="0">
                <a:latin typeface="Aptos"/>
                <a:ea typeface="Calibri"/>
                <a:cs typeface="Calibri"/>
              </a:rPr>
              <a:t>The same assembly instructions are the building blocks for both cases</a:t>
            </a:r>
            <a:endParaRPr lang="en-US" sz="36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endParaRPr lang="en-US" sz="3200" dirty="0">
              <a:latin typeface="Apto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68866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EDCAF-841A-FAA2-E235-C5225F1C1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D2DD-36B1-7A1E-A9D4-F1A1B2E78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+mj-lt"/>
                <a:cs typeface="+mj-lt"/>
              </a:rPr>
              <a:t>Instructions for Making Decisions (§2.7) 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D0562-E1D1-3657-6737-EEC7C264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0BA598-1B2A-5715-3B7D-5881AFE62C2C}"/>
              </a:ext>
            </a:extLst>
          </p:cNvPr>
          <p:cNvSpPr txBox="1"/>
          <p:nvPr/>
        </p:nvSpPr>
        <p:spPr>
          <a:xfrm>
            <a:off x="846030" y="1294312"/>
            <a:ext cx="11367296" cy="52493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200" b="1" dirty="0">
                <a:ea typeface="+mn-lt"/>
                <a:cs typeface="+mn-lt"/>
              </a:rPr>
              <a:t>Branch instructions</a:t>
            </a:r>
            <a:r>
              <a:rPr lang="en-US" sz="2200" dirty="0">
                <a:ea typeface="+mn-lt"/>
                <a:cs typeface="+mn-lt"/>
              </a:rPr>
              <a:t> </a:t>
            </a:r>
            <a:endParaRPr lang="en-US" sz="2200"/>
          </a:p>
          <a:p>
            <a:r>
              <a:rPr lang="en-US" sz="2200" dirty="0">
                <a:ea typeface="+mn-lt"/>
                <a:cs typeface="+mn-lt"/>
              </a:rPr>
              <a:t>Commonly represented by an if statement, combined with go to statement </a:t>
            </a:r>
            <a:endParaRPr lang="en-US" sz="2200"/>
          </a:p>
          <a:p>
            <a:endParaRPr lang="en-US" sz="2200" dirty="0">
              <a:latin typeface="Aptos"/>
              <a:ea typeface="+mn-lt"/>
              <a:cs typeface="+mn-lt"/>
            </a:endParaRPr>
          </a:p>
          <a:p>
            <a:r>
              <a:rPr lang="en-US" sz="2200" b="1" dirty="0">
                <a:latin typeface="Consolas"/>
                <a:ea typeface="+mn-lt"/>
                <a:cs typeface="+mn-lt"/>
              </a:rPr>
              <a:t>&gt; </a:t>
            </a:r>
            <a:r>
              <a:rPr lang="en-US" sz="2200" b="1" dirty="0" err="1">
                <a:latin typeface="Consolas"/>
                <a:ea typeface="+mn-lt"/>
                <a:cs typeface="+mn-lt"/>
              </a:rPr>
              <a:t>beq</a:t>
            </a:r>
            <a:r>
              <a:rPr lang="en-US" sz="2200" b="1" dirty="0">
                <a:latin typeface="Consolas"/>
                <a:ea typeface="+mn-lt"/>
                <a:cs typeface="+mn-lt"/>
              </a:rPr>
              <a:t> rs1, rs2, Label</a:t>
            </a:r>
            <a:r>
              <a:rPr lang="en-US" sz="2200" dirty="0">
                <a:ea typeface="+mn-lt"/>
                <a:cs typeface="+mn-lt"/>
              </a:rPr>
              <a:t> </a:t>
            </a:r>
            <a:endParaRPr lang="en-US" sz="2200"/>
          </a:p>
          <a:p>
            <a:r>
              <a:rPr lang="en-US" sz="2200" dirty="0">
                <a:ea typeface="+mn-lt"/>
                <a:cs typeface="+mn-lt"/>
              </a:rPr>
              <a:t>Go to statement </a:t>
            </a:r>
            <a:r>
              <a:rPr lang="en-US" sz="2200" b="1" dirty="0">
                <a:ea typeface="+mn-lt"/>
                <a:cs typeface="+mn-lt"/>
              </a:rPr>
              <a:t>Label </a:t>
            </a:r>
            <a:r>
              <a:rPr lang="en-US" sz="2200" dirty="0">
                <a:ea typeface="+mn-lt"/>
                <a:cs typeface="+mn-lt"/>
              </a:rPr>
              <a:t>if the value in register </a:t>
            </a:r>
            <a:r>
              <a:rPr lang="en-US" sz="2200" b="1" dirty="0">
                <a:ea typeface="+mn-lt"/>
                <a:cs typeface="+mn-lt"/>
              </a:rPr>
              <a:t>rs1 </a:t>
            </a:r>
            <a:r>
              <a:rPr lang="en-US" sz="2200" i="1" u="sng" dirty="0">
                <a:ea typeface="+mn-lt"/>
                <a:cs typeface="+mn-lt"/>
              </a:rPr>
              <a:t>equals </a:t>
            </a:r>
            <a:r>
              <a:rPr lang="en-US" sz="2200" dirty="0">
                <a:ea typeface="+mn-lt"/>
                <a:cs typeface="+mn-lt"/>
              </a:rPr>
              <a:t>value in register </a:t>
            </a:r>
            <a:r>
              <a:rPr lang="en-US" sz="2200" b="1" dirty="0">
                <a:ea typeface="+mn-lt"/>
                <a:cs typeface="+mn-lt"/>
              </a:rPr>
              <a:t>rs2</a:t>
            </a:r>
            <a:r>
              <a:rPr lang="en-US" sz="2200" dirty="0">
                <a:ea typeface="+mn-lt"/>
                <a:cs typeface="+mn-lt"/>
              </a:rPr>
              <a:t>. </a:t>
            </a:r>
            <a:endParaRPr lang="en-US" sz="2200"/>
          </a:p>
          <a:p>
            <a:endParaRPr lang="en-US" sz="2200" dirty="0">
              <a:latin typeface="Aptos"/>
              <a:ea typeface="+mn-lt"/>
              <a:cs typeface="+mn-lt"/>
            </a:endParaRPr>
          </a:p>
          <a:p>
            <a:r>
              <a:rPr lang="en-US" sz="2200" b="1" dirty="0">
                <a:latin typeface="Consolas"/>
                <a:ea typeface="+mn-lt"/>
                <a:cs typeface="+mn-lt"/>
              </a:rPr>
              <a:t>&gt; </a:t>
            </a:r>
            <a:r>
              <a:rPr lang="en-US" sz="2200" b="1" dirty="0" err="1">
                <a:latin typeface="Consolas"/>
                <a:ea typeface="+mn-lt"/>
                <a:cs typeface="+mn-lt"/>
              </a:rPr>
              <a:t>bne</a:t>
            </a:r>
            <a:r>
              <a:rPr lang="en-US" sz="2200" b="1" dirty="0">
                <a:latin typeface="Consolas"/>
                <a:ea typeface="+mn-lt"/>
                <a:cs typeface="+mn-lt"/>
              </a:rPr>
              <a:t> rs1, rs2, Label</a:t>
            </a:r>
            <a:endParaRPr lang="en-US" sz="2200" b="1">
              <a:latin typeface="Consolas"/>
            </a:endParaRPr>
          </a:p>
          <a:p>
            <a:r>
              <a:rPr lang="en-US" sz="2200" dirty="0">
                <a:ea typeface="+mn-lt"/>
                <a:cs typeface="+mn-lt"/>
              </a:rPr>
              <a:t>Go to statement </a:t>
            </a:r>
            <a:r>
              <a:rPr lang="en-US" sz="2200" b="1" dirty="0">
                <a:ea typeface="+mn-lt"/>
                <a:cs typeface="+mn-lt"/>
              </a:rPr>
              <a:t>Label </a:t>
            </a:r>
            <a:r>
              <a:rPr lang="en-US" sz="2200" dirty="0">
                <a:ea typeface="+mn-lt"/>
                <a:cs typeface="+mn-lt"/>
              </a:rPr>
              <a:t>if the value in register </a:t>
            </a:r>
            <a:r>
              <a:rPr lang="en-US" sz="2200" b="1" dirty="0">
                <a:ea typeface="+mn-lt"/>
                <a:cs typeface="+mn-lt"/>
              </a:rPr>
              <a:t>rs1 </a:t>
            </a:r>
            <a:r>
              <a:rPr lang="en-US" sz="2200" dirty="0">
                <a:ea typeface="+mn-lt"/>
                <a:cs typeface="+mn-lt"/>
              </a:rPr>
              <a:t>is</a:t>
            </a:r>
            <a:r>
              <a:rPr lang="en-US" sz="2200" b="1" dirty="0">
                <a:ea typeface="+mn-lt"/>
                <a:cs typeface="+mn-lt"/>
              </a:rPr>
              <a:t> </a:t>
            </a:r>
            <a:r>
              <a:rPr lang="en-US" sz="2200" i="1" u="sng" dirty="0">
                <a:ea typeface="+mn-lt"/>
                <a:cs typeface="+mn-lt"/>
              </a:rPr>
              <a:t>not equal</a:t>
            </a:r>
            <a:r>
              <a:rPr lang="en-US" sz="2200" dirty="0">
                <a:ea typeface="+mn-lt"/>
                <a:cs typeface="+mn-lt"/>
              </a:rPr>
              <a:t> value in register </a:t>
            </a:r>
            <a:r>
              <a:rPr lang="en-US" sz="2200" b="1" dirty="0">
                <a:ea typeface="+mn-lt"/>
                <a:cs typeface="+mn-lt"/>
              </a:rPr>
              <a:t>rs2</a:t>
            </a:r>
            <a:r>
              <a:rPr lang="en-US" sz="2200" dirty="0">
                <a:ea typeface="+mn-lt"/>
                <a:cs typeface="+mn-lt"/>
              </a:rPr>
              <a:t>. </a:t>
            </a:r>
            <a:endParaRPr lang="en-US" sz="2200"/>
          </a:p>
          <a:p>
            <a:endParaRPr lang="en-US" sz="2200" dirty="0">
              <a:latin typeface="Aptos"/>
              <a:ea typeface="+mn-lt"/>
              <a:cs typeface="+mn-lt"/>
            </a:endParaRPr>
          </a:p>
          <a:p>
            <a:r>
              <a:rPr lang="en-US" sz="2200" b="1" dirty="0">
                <a:latin typeface="Consolas"/>
                <a:ea typeface="+mn-lt"/>
                <a:cs typeface="+mn-lt"/>
              </a:rPr>
              <a:t>&gt; </a:t>
            </a:r>
            <a:r>
              <a:rPr lang="en-US" sz="2200" b="1" dirty="0" err="1">
                <a:latin typeface="Consolas"/>
                <a:ea typeface="+mn-lt"/>
                <a:cs typeface="+mn-lt"/>
              </a:rPr>
              <a:t>blt</a:t>
            </a:r>
            <a:r>
              <a:rPr lang="en-US" sz="2200" b="1" dirty="0">
                <a:latin typeface="Consolas"/>
                <a:ea typeface="+mn-lt"/>
                <a:cs typeface="+mn-lt"/>
              </a:rPr>
              <a:t> rs1, rs2, Label</a:t>
            </a:r>
            <a:endParaRPr lang="en-US" sz="2200" b="1">
              <a:latin typeface="Consolas"/>
            </a:endParaRPr>
          </a:p>
          <a:p>
            <a:r>
              <a:rPr lang="en-US" sz="2200" dirty="0">
                <a:ea typeface="+mn-lt"/>
                <a:cs typeface="+mn-lt"/>
              </a:rPr>
              <a:t>Go to statement Label if the value in register </a:t>
            </a:r>
            <a:r>
              <a:rPr lang="en-US" sz="2200" b="1" dirty="0">
                <a:ea typeface="+mn-lt"/>
                <a:cs typeface="+mn-lt"/>
              </a:rPr>
              <a:t>s1 </a:t>
            </a:r>
            <a:r>
              <a:rPr lang="en-US" sz="2200" dirty="0">
                <a:ea typeface="+mn-lt"/>
                <a:cs typeface="+mn-lt"/>
              </a:rPr>
              <a:t>is</a:t>
            </a:r>
            <a:r>
              <a:rPr lang="en-US" sz="2200" b="1" dirty="0">
                <a:ea typeface="+mn-lt"/>
                <a:cs typeface="+mn-lt"/>
              </a:rPr>
              <a:t> </a:t>
            </a:r>
            <a:r>
              <a:rPr lang="en-US" sz="2200" i="1" u="sng" dirty="0">
                <a:ea typeface="+mn-lt"/>
                <a:cs typeface="+mn-lt"/>
              </a:rPr>
              <a:t>less than</a:t>
            </a:r>
            <a:r>
              <a:rPr lang="en-US" sz="2200" dirty="0">
                <a:ea typeface="+mn-lt"/>
                <a:cs typeface="+mn-lt"/>
              </a:rPr>
              <a:t> value in register </a:t>
            </a:r>
            <a:r>
              <a:rPr lang="en-US" sz="2200" b="1" dirty="0">
                <a:ea typeface="+mn-lt"/>
                <a:cs typeface="+mn-lt"/>
              </a:rPr>
              <a:t>s2</a:t>
            </a:r>
            <a:r>
              <a:rPr lang="en-US" sz="2200" dirty="0">
                <a:ea typeface="+mn-lt"/>
                <a:cs typeface="+mn-lt"/>
              </a:rPr>
              <a:t>. </a:t>
            </a:r>
            <a:endParaRPr lang="en-US" sz="2200"/>
          </a:p>
          <a:p>
            <a:endParaRPr lang="en-US" sz="2200" dirty="0">
              <a:latin typeface="Aptos"/>
              <a:ea typeface="+mn-lt"/>
              <a:cs typeface="+mn-lt"/>
            </a:endParaRPr>
          </a:p>
          <a:p>
            <a:r>
              <a:rPr lang="en-US" sz="2200" b="1" dirty="0">
                <a:latin typeface="Consolas"/>
                <a:ea typeface="+mn-lt"/>
                <a:cs typeface="+mn-lt"/>
              </a:rPr>
              <a:t>&gt; </a:t>
            </a:r>
            <a:r>
              <a:rPr lang="en-US" sz="2200" b="1" dirty="0" err="1">
                <a:latin typeface="Consolas"/>
                <a:ea typeface="+mn-lt"/>
                <a:cs typeface="+mn-lt"/>
              </a:rPr>
              <a:t>bge</a:t>
            </a:r>
            <a:r>
              <a:rPr lang="en-US" sz="2200" b="1" dirty="0">
                <a:latin typeface="Consolas"/>
                <a:ea typeface="+mn-lt"/>
                <a:cs typeface="+mn-lt"/>
              </a:rPr>
              <a:t> rs1, rs2, Label</a:t>
            </a:r>
            <a:endParaRPr lang="en-US" sz="2200" b="1">
              <a:latin typeface="Consolas"/>
            </a:endParaRPr>
          </a:p>
          <a:p>
            <a:r>
              <a:rPr lang="en-US" sz="2200" dirty="0">
                <a:ea typeface="+mn-lt"/>
                <a:cs typeface="+mn-lt"/>
              </a:rPr>
              <a:t>Go to statement called </a:t>
            </a:r>
            <a:r>
              <a:rPr lang="en-US" sz="2200" b="1" dirty="0">
                <a:ea typeface="+mn-lt"/>
                <a:cs typeface="+mn-lt"/>
              </a:rPr>
              <a:t>Label </a:t>
            </a:r>
            <a:r>
              <a:rPr lang="en-US" sz="2200" dirty="0">
                <a:ea typeface="+mn-lt"/>
                <a:cs typeface="+mn-lt"/>
              </a:rPr>
              <a:t>if the value in register </a:t>
            </a:r>
            <a:r>
              <a:rPr lang="en-US" sz="2200" b="1" dirty="0">
                <a:ea typeface="+mn-lt"/>
                <a:cs typeface="+mn-lt"/>
              </a:rPr>
              <a:t>s1 </a:t>
            </a:r>
            <a:r>
              <a:rPr lang="en-US" sz="2200" dirty="0">
                <a:ea typeface="+mn-lt"/>
                <a:cs typeface="+mn-lt"/>
              </a:rPr>
              <a:t>is</a:t>
            </a:r>
            <a:r>
              <a:rPr lang="en-US" sz="2200" b="1" dirty="0">
                <a:ea typeface="+mn-lt"/>
                <a:cs typeface="+mn-lt"/>
              </a:rPr>
              <a:t> </a:t>
            </a:r>
            <a:r>
              <a:rPr lang="en-US" sz="2200" i="1" u="sng" dirty="0">
                <a:ea typeface="+mn-lt"/>
                <a:cs typeface="+mn-lt"/>
              </a:rPr>
              <a:t>greater or equal than</a:t>
            </a:r>
            <a:r>
              <a:rPr lang="en-US" sz="2200" dirty="0">
                <a:ea typeface="+mn-lt"/>
                <a:cs typeface="+mn-lt"/>
              </a:rPr>
              <a:t> value in register </a:t>
            </a:r>
            <a:r>
              <a:rPr lang="en-US" sz="2200" b="1" dirty="0">
                <a:ea typeface="+mn-lt"/>
                <a:cs typeface="+mn-lt"/>
              </a:rPr>
              <a:t>s2</a:t>
            </a:r>
            <a:r>
              <a:rPr lang="en-US" sz="2200" dirty="0">
                <a:ea typeface="+mn-lt"/>
                <a:cs typeface="+mn-lt"/>
              </a:rPr>
              <a:t>. 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187689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764849" y="5274111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653338"/>
              </p:ext>
            </p:extLst>
          </p:nvPr>
        </p:nvGraphicFramePr>
        <p:xfrm>
          <a:off x="4066349" y="5261411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t2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h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764849" y="4766111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268580"/>
              </p:ext>
            </p:extLst>
          </p:nvPr>
        </p:nvGraphicFramePr>
        <p:xfrm>
          <a:off x="4066349" y="4753411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g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764849" y="5782111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634918"/>
              </p:ext>
            </p:extLst>
          </p:nvPr>
        </p:nvGraphicFramePr>
        <p:xfrm>
          <a:off x="4066349" y="5769411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t3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i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764849" y="6290111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055504"/>
              </p:ext>
            </p:extLst>
          </p:nvPr>
        </p:nvGraphicFramePr>
        <p:xfrm>
          <a:off x="4066349" y="6277411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t4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j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159224" y="3722259"/>
            <a:ext cx="1132205" cy="3911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Registers</a:t>
            </a:r>
            <a:endParaRPr lang="en-US" sz="2400" b="1">
              <a:latin typeface="Calibri"/>
              <a:ea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64849" y="4258111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349034"/>
              </p:ext>
            </p:extLst>
          </p:nvPr>
        </p:nvGraphicFramePr>
        <p:xfrm>
          <a:off x="4066349" y="4245411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f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502" y="2519243"/>
            <a:ext cx="6656154" cy="399138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34649" y="1293185"/>
            <a:ext cx="1043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3278" y="1764030"/>
            <a:ext cx="3048635" cy="2159000"/>
          </a:xfrm>
          <a:prstGeom prst="rect">
            <a:avLst/>
          </a:prstGeom>
          <a:solidFill>
            <a:srgbClr val="D5F1CF"/>
          </a:solidFill>
          <a:ln w="12700">
            <a:solidFill>
              <a:srgbClr val="97A17C"/>
            </a:solidFill>
          </a:ln>
        </p:spPr>
        <p:txBody>
          <a:bodyPr vert="horz" wrap="square" lIns="0" tIns="27939" rIns="0" bIns="0" rtlCol="0" anchor="t">
            <a:spAutoFit/>
          </a:bodyPr>
          <a:lstStyle/>
          <a:p>
            <a:pPr marL="508000" marR="703580" indent="-457200">
              <a:lnSpc>
                <a:spcPts val="2700"/>
              </a:lnSpc>
              <a:spcBef>
                <a:spcPts val="219"/>
              </a:spcBef>
              <a:tabLst>
                <a:tab pos="873760" algn="l"/>
                <a:tab pos="965200" algn="l"/>
                <a:tab pos="1239520" algn="l"/>
                <a:tab pos="1513840" algn="l"/>
                <a:tab pos="1605280" algn="l"/>
                <a:tab pos="1971039" algn="l"/>
              </a:tabLst>
            </a:pPr>
            <a:r>
              <a:rPr sz="2400" spc="-20" dirty="0">
                <a:latin typeface="Courier New"/>
                <a:cs typeface="Courier New"/>
              </a:rPr>
              <a:t>if(i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25" dirty="0">
                <a:latin typeface="Courier New"/>
                <a:cs typeface="Courier New"/>
              </a:rPr>
              <a:t>==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j){ </a:t>
            </a:r>
            <a:r>
              <a:rPr sz="2400" spc="-50" dirty="0">
                <a:latin typeface="Courier New"/>
                <a:cs typeface="Courier New"/>
              </a:rPr>
              <a:t>f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g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50" dirty="0">
                <a:latin typeface="Courier New"/>
                <a:cs typeface="Courier New"/>
              </a:rPr>
              <a:t>+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h;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550"/>
              </a:lnSpc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700"/>
              </a:lnSpc>
            </a:pPr>
            <a:r>
              <a:rPr sz="2400" spc="-10" dirty="0">
                <a:latin typeface="Courier New"/>
                <a:cs typeface="Courier New"/>
              </a:rPr>
              <a:t>else{</a:t>
            </a:r>
            <a:endParaRPr sz="2400">
              <a:latin typeface="Courier New"/>
              <a:cs typeface="Courier New"/>
            </a:endParaRPr>
          </a:p>
          <a:p>
            <a:pPr marL="508000">
              <a:lnSpc>
                <a:spcPts val="2700"/>
              </a:lnSpc>
              <a:tabLst>
                <a:tab pos="873760" algn="l"/>
                <a:tab pos="1239520" algn="l"/>
                <a:tab pos="1605280" algn="l"/>
                <a:tab pos="1971039" algn="l"/>
              </a:tabLst>
            </a:pPr>
            <a:r>
              <a:rPr sz="2400" spc="-50" dirty="0">
                <a:latin typeface="Courier New"/>
                <a:cs typeface="Courier New"/>
              </a:rPr>
              <a:t>f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g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-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h;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790"/>
              </a:lnSpc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1680A60-3594-10C3-A583-AF0BFF6C738C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+mj-lt"/>
                <a:cs typeface="+mj-lt"/>
              </a:rPr>
              <a:t>Example: if else conditional branching. </a:t>
            </a:r>
            <a:endParaRPr lang="en-US" b="1" dirty="0">
              <a:ea typeface="+mj-lt"/>
              <a:cs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521668" y="1959754"/>
            <a:ext cx="5081270" cy="181610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27939" rIns="0" bIns="0" rtlCol="0">
            <a:spAutoFit/>
          </a:bodyPr>
          <a:lstStyle/>
          <a:p>
            <a:pPr marL="50800" marR="1363980">
              <a:lnSpc>
                <a:spcPts val="2700"/>
              </a:lnSpc>
              <a:spcBef>
                <a:spcPts val="219"/>
              </a:spcBef>
              <a:tabLst>
                <a:tab pos="416559" algn="l"/>
                <a:tab pos="599440" algn="l"/>
                <a:tab pos="782320" algn="l"/>
                <a:tab pos="1148080" algn="l"/>
                <a:tab pos="1513840" algn="l"/>
                <a:tab pos="1879600" algn="l"/>
                <a:tab pos="2794000" algn="l"/>
              </a:tabLst>
            </a:pPr>
            <a:r>
              <a:rPr sz="2400" spc="-25" dirty="0">
                <a:latin typeface="Courier New"/>
                <a:cs typeface="Courier New"/>
              </a:rPr>
              <a:t>if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10" dirty="0">
                <a:latin typeface="Courier New"/>
                <a:cs typeface="Courier New"/>
              </a:rPr>
              <a:t>(i==j)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goto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Then; </a:t>
            </a:r>
            <a:r>
              <a:rPr sz="2400" spc="-50" dirty="0">
                <a:latin typeface="Courier New"/>
                <a:cs typeface="Courier New"/>
              </a:rPr>
              <a:t>f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=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50" dirty="0">
                <a:latin typeface="Courier New"/>
                <a:cs typeface="Courier New"/>
              </a:rPr>
              <a:t>g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-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h;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550"/>
              </a:lnSpc>
            </a:pPr>
            <a:r>
              <a:rPr sz="2400" spc="-10" dirty="0">
                <a:latin typeface="Courier New"/>
                <a:cs typeface="Courier New"/>
              </a:rPr>
              <a:t>Then:</a:t>
            </a:r>
            <a:endParaRPr sz="2400">
              <a:latin typeface="Courier New"/>
              <a:cs typeface="Courier New"/>
            </a:endParaRPr>
          </a:p>
          <a:p>
            <a:pPr marL="50800" marR="2736215" indent="457200">
              <a:lnSpc>
                <a:spcPts val="2700"/>
              </a:lnSpc>
              <a:spcBef>
                <a:spcPts val="150"/>
              </a:spcBef>
              <a:tabLst>
                <a:tab pos="873760" algn="l"/>
                <a:tab pos="1239520" algn="l"/>
                <a:tab pos="1605280" algn="l"/>
                <a:tab pos="1971039" algn="l"/>
              </a:tabLst>
            </a:pPr>
            <a:r>
              <a:rPr sz="2400" spc="-50" dirty="0">
                <a:latin typeface="Courier New"/>
                <a:cs typeface="Courier New"/>
              </a:rPr>
              <a:t>f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g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+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h; </a:t>
            </a:r>
            <a:r>
              <a:rPr sz="2400" spc="-10" dirty="0">
                <a:latin typeface="Courier New"/>
                <a:cs typeface="Courier New"/>
              </a:rPr>
              <a:t>Exit: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1668" y="4509677"/>
            <a:ext cx="5081270" cy="181610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27939" rIns="0" bIns="0" rtlCol="0">
            <a:spAutoFit/>
          </a:bodyPr>
          <a:lstStyle/>
          <a:p>
            <a:pPr marL="50800" marR="1363980">
              <a:lnSpc>
                <a:spcPts val="2700"/>
              </a:lnSpc>
              <a:spcBef>
                <a:spcPts val="219"/>
              </a:spcBef>
              <a:tabLst>
                <a:tab pos="416559" algn="l"/>
                <a:tab pos="599440" algn="l"/>
                <a:tab pos="782320" algn="l"/>
                <a:tab pos="1148080" algn="l"/>
                <a:tab pos="1513840" algn="l"/>
                <a:tab pos="1879600" algn="l"/>
                <a:tab pos="2794000" algn="l"/>
              </a:tabLst>
            </a:pPr>
            <a:r>
              <a:rPr sz="2400" spc="-25" dirty="0">
                <a:latin typeface="Courier New"/>
                <a:cs typeface="Courier New"/>
              </a:rPr>
              <a:t>if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10" dirty="0">
                <a:latin typeface="Courier New"/>
                <a:cs typeface="Courier New"/>
              </a:rPr>
              <a:t>(i!=j)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goto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Else; </a:t>
            </a:r>
            <a:r>
              <a:rPr sz="2400" spc="-50" dirty="0">
                <a:latin typeface="Courier New"/>
                <a:cs typeface="Courier New"/>
              </a:rPr>
              <a:t>f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=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50" dirty="0">
                <a:latin typeface="Courier New"/>
                <a:cs typeface="Courier New"/>
              </a:rPr>
              <a:t>g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+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h;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550"/>
              </a:lnSpc>
            </a:pPr>
            <a:r>
              <a:rPr sz="2400" spc="-10" dirty="0">
                <a:latin typeface="Courier New"/>
                <a:cs typeface="Courier New"/>
              </a:rPr>
              <a:t>Else:</a:t>
            </a:r>
            <a:endParaRPr sz="2400">
              <a:latin typeface="Courier New"/>
              <a:cs typeface="Courier New"/>
            </a:endParaRPr>
          </a:p>
          <a:p>
            <a:pPr marL="50800" marR="2736215" indent="457200">
              <a:lnSpc>
                <a:spcPts val="2700"/>
              </a:lnSpc>
              <a:spcBef>
                <a:spcPts val="150"/>
              </a:spcBef>
              <a:tabLst>
                <a:tab pos="873760" algn="l"/>
                <a:tab pos="1239520" algn="l"/>
                <a:tab pos="1605280" algn="l"/>
                <a:tab pos="1971039" algn="l"/>
              </a:tabLst>
            </a:pPr>
            <a:r>
              <a:rPr sz="2400" spc="-50" dirty="0">
                <a:latin typeface="Courier New"/>
                <a:cs typeface="Courier New"/>
              </a:rPr>
              <a:t>f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g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-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h; </a:t>
            </a:r>
            <a:r>
              <a:rPr sz="2400" spc="-10" dirty="0">
                <a:latin typeface="Courier New"/>
                <a:cs typeface="Courier New"/>
              </a:rPr>
              <a:t>Exit: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15467" y="4044346"/>
            <a:ext cx="3308350" cy="4521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Code: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goto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version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6760" y="1959753"/>
            <a:ext cx="3048635" cy="2159000"/>
          </a:xfrm>
          <a:prstGeom prst="rect">
            <a:avLst/>
          </a:prstGeom>
          <a:solidFill>
            <a:srgbClr val="D5F1CF"/>
          </a:solidFill>
          <a:ln w="12700">
            <a:solidFill>
              <a:srgbClr val="97A17C"/>
            </a:solidFill>
          </a:ln>
        </p:spPr>
        <p:txBody>
          <a:bodyPr vert="horz" wrap="square" lIns="0" tIns="27939" rIns="0" bIns="0" rtlCol="0" anchor="t">
            <a:spAutoFit/>
          </a:bodyPr>
          <a:lstStyle/>
          <a:p>
            <a:pPr marL="508000" marR="703580" indent="-457200">
              <a:lnSpc>
                <a:spcPts val="2700"/>
              </a:lnSpc>
              <a:spcBef>
                <a:spcPts val="219"/>
              </a:spcBef>
              <a:tabLst>
                <a:tab pos="873760" algn="l"/>
                <a:tab pos="965200" algn="l"/>
                <a:tab pos="1239520" algn="l"/>
                <a:tab pos="1513840" algn="l"/>
                <a:tab pos="1605280" algn="l"/>
                <a:tab pos="1971039" algn="l"/>
              </a:tabLst>
            </a:pPr>
            <a:r>
              <a:rPr sz="2400" spc="-20" dirty="0">
                <a:latin typeface="Courier New"/>
                <a:cs typeface="Courier New"/>
              </a:rPr>
              <a:t>if(i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25" dirty="0">
                <a:latin typeface="Courier New"/>
                <a:cs typeface="Courier New"/>
              </a:rPr>
              <a:t>==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j){ </a:t>
            </a:r>
            <a:r>
              <a:rPr sz="2400" spc="-50" dirty="0">
                <a:latin typeface="Courier New"/>
                <a:cs typeface="Courier New"/>
              </a:rPr>
              <a:t>f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g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50" dirty="0">
                <a:latin typeface="Courier New"/>
                <a:cs typeface="Courier New"/>
              </a:rPr>
              <a:t>+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h;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550"/>
              </a:lnSpc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700"/>
              </a:lnSpc>
            </a:pPr>
            <a:r>
              <a:rPr sz="2400" spc="-10" dirty="0">
                <a:latin typeface="Courier New"/>
                <a:cs typeface="Courier New"/>
              </a:rPr>
              <a:t>else{</a:t>
            </a:r>
            <a:endParaRPr sz="2400">
              <a:latin typeface="Courier New"/>
              <a:cs typeface="Courier New"/>
            </a:endParaRPr>
          </a:p>
          <a:p>
            <a:pPr marL="508000">
              <a:lnSpc>
                <a:spcPts val="2700"/>
              </a:lnSpc>
              <a:tabLst>
                <a:tab pos="873760" algn="l"/>
                <a:tab pos="1239520" algn="l"/>
                <a:tab pos="1605280" algn="l"/>
                <a:tab pos="1971039" algn="l"/>
              </a:tabLst>
            </a:pPr>
            <a:r>
              <a:rPr sz="2400" spc="-50" dirty="0">
                <a:latin typeface="Courier New"/>
                <a:cs typeface="Courier New"/>
              </a:rPr>
              <a:t>f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g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-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h;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790"/>
              </a:lnSpc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B41D1C2-A85A-7016-0102-6B38ABB22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+mj-lt"/>
                <a:cs typeface="+mj-lt"/>
              </a:rPr>
              <a:t>Example: if else conditional branching. 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F70A6E4-8E14-23BF-7526-3F61207006E6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+mj-lt"/>
                <a:cs typeface="+mj-lt"/>
              </a:rPr>
              <a:t>Example: if else conditional branching. 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7E3DC4E-BAE4-4DA1-557D-E296A6F98E9B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+mj-lt"/>
                <a:cs typeface="+mj-lt"/>
              </a:rPr>
              <a:t>Example: if else conditional branching. 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C0601A7C-4986-DBE6-1F9F-5F84C6BABE6C}"/>
              </a:ext>
            </a:extLst>
          </p:cNvPr>
          <p:cNvSpPr txBox="1"/>
          <p:nvPr/>
        </p:nvSpPr>
        <p:spPr>
          <a:xfrm>
            <a:off x="6515466" y="1499553"/>
            <a:ext cx="3308350" cy="4521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Code: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i="1" dirty="0" err="1">
                <a:latin typeface="Calibri"/>
                <a:cs typeface="Calibri"/>
              </a:rPr>
              <a:t>goto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version</a:t>
            </a:r>
            <a:r>
              <a:rPr lang="en-US" sz="2800" b="1" spc="-60" dirty="0">
                <a:latin typeface="Calibri"/>
                <a:cs typeface="Calibri"/>
              </a:rPr>
              <a:t> 1</a:t>
            </a:r>
            <a:endParaRPr lang="en-US" sz="2800" b="1" spc="-5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A7C77C87-9846-E3EA-B8E5-A2E81C769C0A}"/>
              </a:ext>
            </a:extLst>
          </p:cNvPr>
          <p:cNvSpPr txBox="1"/>
          <p:nvPr/>
        </p:nvSpPr>
        <p:spPr>
          <a:xfrm>
            <a:off x="836410" y="1499553"/>
            <a:ext cx="3308350" cy="4521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Code</a:t>
            </a:r>
            <a:endParaRPr lang="en-US" sz="2800" b="1" spc="-5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6760" y="1930998"/>
            <a:ext cx="3048635" cy="2159000"/>
          </a:xfrm>
          <a:prstGeom prst="rect">
            <a:avLst/>
          </a:prstGeom>
          <a:solidFill>
            <a:srgbClr val="D5F1CF"/>
          </a:solidFill>
          <a:ln w="12700">
            <a:solidFill>
              <a:srgbClr val="97A17C"/>
            </a:solidFill>
          </a:ln>
        </p:spPr>
        <p:txBody>
          <a:bodyPr vert="horz" wrap="square" lIns="0" tIns="27939" rIns="0" bIns="0" rtlCol="0" anchor="t">
            <a:spAutoFit/>
          </a:bodyPr>
          <a:lstStyle/>
          <a:p>
            <a:pPr marL="508000" marR="703580" indent="-457200">
              <a:lnSpc>
                <a:spcPts val="2700"/>
              </a:lnSpc>
              <a:spcBef>
                <a:spcPts val="219"/>
              </a:spcBef>
              <a:tabLst>
                <a:tab pos="873760" algn="l"/>
                <a:tab pos="965200" algn="l"/>
                <a:tab pos="1239520" algn="l"/>
                <a:tab pos="1513840" algn="l"/>
                <a:tab pos="1605280" algn="l"/>
                <a:tab pos="1971039" algn="l"/>
              </a:tabLst>
            </a:pPr>
            <a:r>
              <a:rPr sz="2400" spc="-20" dirty="0">
                <a:latin typeface="Courier New"/>
                <a:cs typeface="Courier New"/>
              </a:rPr>
              <a:t>if(i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25" dirty="0">
                <a:latin typeface="Courier New"/>
                <a:cs typeface="Courier New"/>
              </a:rPr>
              <a:t>==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j){ </a:t>
            </a:r>
            <a:r>
              <a:rPr sz="2400" spc="-50" dirty="0">
                <a:latin typeface="Courier New"/>
                <a:cs typeface="Courier New"/>
              </a:rPr>
              <a:t>f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g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50" dirty="0">
                <a:latin typeface="Courier New"/>
                <a:cs typeface="Courier New"/>
              </a:rPr>
              <a:t>+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h;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550"/>
              </a:lnSpc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700"/>
              </a:lnSpc>
            </a:pPr>
            <a:r>
              <a:rPr sz="2400" spc="-10" dirty="0">
                <a:latin typeface="Courier New"/>
                <a:cs typeface="Courier New"/>
              </a:rPr>
              <a:t>else{</a:t>
            </a:r>
            <a:endParaRPr sz="2400">
              <a:latin typeface="Courier New"/>
              <a:cs typeface="Courier New"/>
            </a:endParaRPr>
          </a:p>
          <a:p>
            <a:pPr marL="508000">
              <a:lnSpc>
                <a:spcPts val="2700"/>
              </a:lnSpc>
              <a:tabLst>
                <a:tab pos="873760" algn="l"/>
                <a:tab pos="1239520" algn="l"/>
                <a:tab pos="1605280" algn="l"/>
                <a:tab pos="1971039" algn="l"/>
              </a:tabLst>
            </a:pPr>
            <a:r>
              <a:rPr sz="2400" spc="-50" dirty="0">
                <a:latin typeface="Courier New"/>
                <a:cs typeface="Courier New"/>
              </a:rPr>
              <a:t>f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g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-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h;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790"/>
              </a:lnSpc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4615" y="5105072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60433"/>
              </p:ext>
            </p:extLst>
          </p:nvPr>
        </p:nvGraphicFramePr>
        <p:xfrm>
          <a:off x="4516115" y="5092372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t2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h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214615" y="4597072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153910"/>
              </p:ext>
            </p:extLst>
          </p:nvPr>
        </p:nvGraphicFramePr>
        <p:xfrm>
          <a:off x="4516115" y="4584372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g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5214615" y="5613072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0999"/>
                </a:lnTo>
                <a:lnTo>
                  <a:pt x="700721" y="380999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23319"/>
              </p:ext>
            </p:extLst>
          </p:nvPr>
        </p:nvGraphicFramePr>
        <p:xfrm>
          <a:off x="4516115" y="5600372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t3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i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5214615" y="6121072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0999"/>
                </a:lnTo>
                <a:lnTo>
                  <a:pt x="700721" y="380999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47739"/>
              </p:ext>
            </p:extLst>
          </p:nvPr>
        </p:nvGraphicFramePr>
        <p:xfrm>
          <a:off x="4516115" y="6108372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t4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j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4608990" y="3553220"/>
            <a:ext cx="1132205" cy="3911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Registers</a:t>
            </a:r>
            <a:endParaRPr lang="en-US" sz="2400" b="1">
              <a:latin typeface="Calibri"/>
              <a:ea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14615" y="4089072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95238"/>
              </p:ext>
            </p:extLst>
          </p:nvPr>
        </p:nvGraphicFramePr>
        <p:xfrm>
          <a:off x="4516115" y="4076372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f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6511985" y="4212087"/>
            <a:ext cx="5081270" cy="215900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27939" rIns="0" bIns="0" rtlCol="0">
            <a:spAutoFit/>
          </a:bodyPr>
          <a:lstStyle/>
          <a:p>
            <a:pPr marL="50800" marR="2096135">
              <a:lnSpc>
                <a:spcPts val="2700"/>
              </a:lnSpc>
              <a:spcBef>
                <a:spcPts val="219"/>
              </a:spcBef>
              <a:tabLst>
                <a:tab pos="782320" algn="l"/>
                <a:tab pos="1513840" algn="l"/>
                <a:tab pos="2245360" algn="l"/>
              </a:tabLst>
            </a:pPr>
            <a:r>
              <a:rPr sz="2400" spc="-25" dirty="0">
                <a:latin typeface="Courier New"/>
                <a:cs typeface="Courier New"/>
              </a:rPr>
              <a:t>bne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t3,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t4,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Else </a:t>
            </a:r>
            <a:r>
              <a:rPr sz="2400" spc="-25" dirty="0">
                <a:latin typeface="Courier New"/>
                <a:cs typeface="Courier New"/>
              </a:rPr>
              <a:t>add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t1,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t2 beq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x0,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x0,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Exit </a:t>
            </a:r>
            <a:r>
              <a:rPr sz="2400" spc="-10" dirty="0">
                <a:latin typeface="Courier New"/>
                <a:cs typeface="Courier New"/>
              </a:rPr>
              <a:t>Else:</a:t>
            </a:r>
            <a:endParaRPr sz="2400">
              <a:latin typeface="Courier New"/>
              <a:cs typeface="Courier New"/>
            </a:endParaRPr>
          </a:p>
          <a:p>
            <a:pPr marL="50800" marR="2004695" indent="457200">
              <a:lnSpc>
                <a:spcPts val="2700"/>
              </a:lnSpc>
              <a:tabLst>
                <a:tab pos="1239520" algn="l"/>
                <a:tab pos="1971039" algn="l"/>
                <a:tab pos="2702560" algn="l"/>
              </a:tabLst>
            </a:pPr>
            <a:r>
              <a:rPr sz="2400" spc="-25" dirty="0">
                <a:latin typeface="Courier New"/>
                <a:cs typeface="Courier New"/>
              </a:rPr>
              <a:t>sub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t1,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t2 </a:t>
            </a:r>
            <a:r>
              <a:rPr sz="2400" spc="-10" dirty="0">
                <a:latin typeface="Courier New"/>
                <a:cs typeface="Courier New"/>
              </a:rPr>
              <a:t>Exit: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11985" y="1536461"/>
            <a:ext cx="5081270" cy="215900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27939" rIns="0" bIns="0" rtlCol="0">
            <a:spAutoFit/>
          </a:bodyPr>
          <a:lstStyle/>
          <a:p>
            <a:pPr marL="50800" marR="2096135">
              <a:lnSpc>
                <a:spcPts val="2700"/>
              </a:lnSpc>
              <a:spcBef>
                <a:spcPts val="219"/>
              </a:spcBef>
              <a:tabLst>
                <a:tab pos="782320" algn="l"/>
                <a:tab pos="1513840" algn="l"/>
                <a:tab pos="2245360" algn="l"/>
              </a:tabLst>
            </a:pPr>
            <a:r>
              <a:rPr sz="2400" spc="-25" dirty="0">
                <a:latin typeface="Courier New"/>
                <a:cs typeface="Courier New"/>
              </a:rPr>
              <a:t>beq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t3,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t4,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Then </a:t>
            </a:r>
            <a:r>
              <a:rPr sz="2400" spc="-25" dirty="0">
                <a:latin typeface="Courier New"/>
                <a:cs typeface="Courier New"/>
              </a:rPr>
              <a:t>sub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t1,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t2 beq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x0,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x0,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Exit </a:t>
            </a:r>
            <a:r>
              <a:rPr sz="2400" spc="-10" dirty="0">
                <a:latin typeface="Courier New"/>
                <a:cs typeface="Courier New"/>
              </a:rPr>
              <a:t>Then:</a:t>
            </a:r>
            <a:endParaRPr sz="2400">
              <a:latin typeface="Courier New"/>
              <a:cs typeface="Courier New"/>
            </a:endParaRPr>
          </a:p>
          <a:p>
            <a:pPr marL="50800" marR="2004695" indent="457200">
              <a:lnSpc>
                <a:spcPts val="2700"/>
              </a:lnSpc>
              <a:tabLst>
                <a:tab pos="1239520" algn="l"/>
                <a:tab pos="1971039" algn="l"/>
                <a:tab pos="2702560" algn="l"/>
              </a:tabLst>
            </a:pPr>
            <a:r>
              <a:rPr sz="2400" spc="-25" dirty="0">
                <a:latin typeface="Courier New"/>
                <a:cs typeface="Courier New"/>
              </a:rPr>
              <a:t>add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t1,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t2 </a:t>
            </a:r>
            <a:r>
              <a:rPr sz="2400" spc="-10" dirty="0">
                <a:latin typeface="Courier New"/>
                <a:cs typeface="Courier New"/>
              </a:rPr>
              <a:t>Exit: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21565" y="1061805"/>
            <a:ext cx="4718554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66335" algn="l"/>
              </a:tabLst>
            </a:pPr>
            <a:r>
              <a:rPr sz="2800" b="1" dirty="0">
                <a:latin typeface="Aptos"/>
                <a:cs typeface="Calibri"/>
              </a:rPr>
              <a:t>Assembly</a:t>
            </a:r>
            <a:r>
              <a:rPr sz="2800" b="1" spc="-65" dirty="0">
                <a:latin typeface="Aptos"/>
                <a:cs typeface="Calibri"/>
              </a:rPr>
              <a:t> </a:t>
            </a:r>
            <a:r>
              <a:rPr sz="2800" b="1" dirty="0">
                <a:latin typeface="Aptos"/>
                <a:cs typeface="Calibri"/>
              </a:rPr>
              <a:t>code</a:t>
            </a:r>
            <a:r>
              <a:rPr sz="2800" b="1" spc="-65" dirty="0">
                <a:latin typeface="Aptos"/>
                <a:cs typeface="Calibri"/>
              </a:rPr>
              <a:t> </a:t>
            </a:r>
            <a:r>
              <a:rPr sz="2800" b="1" dirty="0">
                <a:latin typeface="Aptos"/>
                <a:cs typeface="Calibri"/>
              </a:rPr>
              <a:t>version</a:t>
            </a:r>
            <a:r>
              <a:rPr sz="2800" b="1" spc="-65" dirty="0">
                <a:latin typeface="Aptos"/>
                <a:cs typeface="Calibri"/>
              </a:rPr>
              <a:t> </a:t>
            </a:r>
            <a:r>
              <a:rPr sz="2800" b="1" spc="-50" dirty="0">
                <a:latin typeface="Aptos"/>
                <a:cs typeface="Calibri"/>
              </a:rPr>
              <a:t>1</a:t>
            </a:r>
            <a:endParaRPr lang="en-US" sz="2800">
              <a:latin typeface="Aptos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15467" y="3771176"/>
            <a:ext cx="5070162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ptos"/>
                <a:cs typeface="Calibri"/>
              </a:rPr>
              <a:t>Assembly</a:t>
            </a:r>
            <a:r>
              <a:rPr sz="2800" b="1" spc="-65" dirty="0">
                <a:latin typeface="Aptos"/>
                <a:cs typeface="Calibri"/>
              </a:rPr>
              <a:t> </a:t>
            </a:r>
            <a:r>
              <a:rPr sz="2800" b="1" dirty="0">
                <a:latin typeface="Aptos"/>
                <a:cs typeface="Calibri"/>
              </a:rPr>
              <a:t>code</a:t>
            </a:r>
            <a:r>
              <a:rPr sz="2800" b="1" spc="-65" dirty="0">
                <a:latin typeface="Aptos"/>
                <a:cs typeface="Calibri"/>
              </a:rPr>
              <a:t> </a:t>
            </a:r>
            <a:r>
              <a:rPr sz="2800" b="1" dirty="0">
                <a:latin typeface="Aptos"/>
                <a:cs typeface="Calibri"/>
              </a:rPr>
              <a:t>version</a:t>
            </a:r>
            <a:r>
              <a:rPr sz="2800" b="1" spc="-65" dirty="0">
                <a:latin typeface="Aptos"/>
                <a:cs typeface="Calibri"/>
              </a:rPr>
              <a:t> </a:t>
            </a:r>
            <a:r>
              <a:rPr sz="2800" b="1" spc="-50" dirty="0">
                <a:latin typeface="Aptos"/>
                <a:cs typeface="Calibri"/>
              </a:rPr>
              <a:t>2</a:t>
            </a:r>
            <a:endParaRPr lang="en-US" sz="2800">
              <a:latin typeface="Aptos"/>
              <a:cs typeface="Calibri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B2ABEA-CF30-3B46-4CA2-8966C922A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/>
              <a:t>Example: if else conditional branching. </a:t>
            </a:r>
            <a:endParaRPr lang="en-US" b="1"/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0739F581-B6B4-FF71-B0BE-19AD3506929A}"/>
              </a:ext>
            </a:extLst>
          </p:cNvPr>
          <p:cNvSpPr txBox="1"/>
          <p:nvPr/>
        </p:nvSpPr>
        <p:spPr>
          <a:xfrm>
            <a:off x="836410" y="1456421"/>
            <a:ext cx="1683709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Code</a:t>
            </a:r>
            <a:endParaRPr lang="en-US" sz="2800" b="1" spc="-5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6760" y="1514055"/>
            <a:ext cx="3048635" cy="2159000"/>
          </a:xfrm>
          <a:prstGeom prst="rect">
            <a:avLst/>
          </a:prstGeom>
          <a:solidFill>
            <a:srgbClr val="D5F1CF"/>
          </a:solidFill>
          <a:ln w="12700">
            <a:solidFill>
              <a:srgbClr val="97A17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800">
              <a:lnSpc>
                <a:spcPts val="2770"/>
              </a:lnSpc>
            </a:pPr>
            <a:r>
              <a:rPr sz="2400" spc="-10" dirty="0">
                <a:latin typeface="Courier New"/>
                <a:cs typeface="Courier New"/>
              </a:rPr>
              <a:t>if(cond){</a:t>
            </a:r>
            <a:endParaRPr sz="2400">
              <a:latin typeface="Courier New"/>
              <a:cs typeface="Courier New"/>
            </a:endParaRPr>
          </a:p>
          <a:p>
            <a:pPr marL="508000">
              <a:lnSpc>
                <a:spcPts val="2700"/>
              </a:lnSpc>
            </a:pPr>
            <a:r>
              <a:rPr sz="2400" b="1" spc="-10" dirty="0">
                <a:latin typeface="Courier New"/>
                <a:cs typeface="Courier New"/>
              </a:rPr>
              <a:t>body_if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700"/>
              </a:lnSpc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700"/>
              </a:lnSpc>
            </a:pPr>
            <a:r>
              <a:rPr sz="2400" spc="-10" dirty="0">
                <a:latin typeface="Courier New"/>
                <a:cs typeface="Courier New"/>
              </a:rPr>
              <a:t>else{</a:t>
            </a:r>
            <a:endParaRPr sz="2400">
              <a:latin typeface="Courier New"/>
              <a:cs typeface="Courier New"/>
            </a:endParaRPr>
          </a:p>
          <a:p>
            <a:pPr marL="508000">
              <a:lnSpc>
                <a:spcPts val="2700"/>
              </a:lnSpc>
            </a:pPr>
            <a:r>
              <a:rPr sz="2400" b="1" spc="-10" dirty="0">
                <a:latin typeface="Courier New"/>
                <a:cs typeface="Courier New"/>
              </a:rPr>
              <a:t>body_else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790"/>
              </a:lnSpc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0460" y="4269596"/>
            <a:ext cx="5081270" cy="215900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8000">
              <a:lnSpc>
                <a:spcPts val="2770"/>
              </a:lnSpc>
              <a:tabLst>
                <a:tab pos="3068320" algn="l"/>
              </a:tabLst>
            </a:pPr>
            <a:r>
              <a:rPr sz="2400" spc="-10" dirty="0">
                <a:latin typeface="Courier New"/>
                <a:cs typeface="Courier New"/>
              </a:rPr>
              <a:t>if(!cond)goto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Else</a:t>
            </a:r>
            <a:endParaRPr sz="2400">
              <a:latin typeface="Courier New"/>
              <a:cs typeface="Courier New"/>
            </a:endParaRPr>
          </a:p>
          <a:p>
            <a:pPr marL="508000">
              <a:lnSpc>
                <a:spcPts val="2700"/>
              </a:lnSpc>
            </a:pPr>
            <a:r>
              <a:rPr sz="2400" b="1" spc="-10" dirty="0">
                <a:latin typeface="Courier New"/>
                <a:cs typeface="Courier New"/>
              </a:rPr>
              <a:t>body_if</a:t>
            </a:r>
            <a:endParaRPr sz="2400">
              <a:latin typeface="Courier New"/>
              <a:cs typeface="Courier New"/>
            </a:endParaRPr>
          </a:p>
          <a:p>
            <a:pPr marL="50800" marR="2919095" indent="457200">
              <a:lnSpc>
                <a:spcPts val="2700"/>
              </a:lnSpc>
              <a:spcBef>
                <a:spcPts val="150"/>
              </a:spcBef>
              <a:tabLst>
                <a:tab pos="1422400" algn="l"/>
              </a:tabLst>
            </a:pPr>
            <a:r>
              <a:rPr sz="2400" spc="-20" dirty="0">
                <a:latin typeface="Courier New"/>
                <a:cs typeface="Courier New"/>
              </a:rPr>
              <a:t>goto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Exit </a:t>
            </a:r>
            <a:r>
              <a:rPr sz="2400" spc="-10" dirty="0">
                <a:latin typeface="Courier New"/>
                <a:cs typeface="Courier New"/>
              </a:rPr>
              <a:t>Else:</a:t>
            </a:r>
            <a:endParaRPr sz="2400">
              <a:latin typeface="Courier New"/>
              <a:cs typeface="Courier New"/>
            </a:endParaRPr>
          </a:p>
          <a:p>
            <a:pPr marL="508000">
              <a:lnSpc>
                <a:spcPts val="2550"/>
              </a:lnSpc>
            </a:pPr>
            <a:r>
              <a:rPr sz="2400" b="1" spc="-10" dirty="0">
                <a:latin typeface="Courier New"/>
                <a:cs typeface="Courier New"/>
              </a:rPr>
              <a:t>body_else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790"/>
              </a:lnSpc>
            </a:pPr>
            <a:r>
              <a:rPr sz="2400" spc="-10" dirty="0">
                <a:latin typeface="Courier New"/>
                <a:cs typeface="Courier New"/>
              </a:rPr>
              <a:t>Exit: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2040" y="4661201"/>
            <a:ext cx="2494915" cy="1762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90"/>
              </a:lnSpc>
              <a:spcBef>
                <a:spcPts val="100"/>
              </a:spcBef>
              <a:tabLst>
                <a:tab pos="1109980" algn="l"/>
              </a:tabLst>
            </a:pPr>
            <a:r>
              <a:rPr sz="2400" b="1" spc="-10" dirty="0">
                <a:latin typeface="Courier New"/>
                <a:cs typeface="Courier New"/>
              </a:rPr>
              <a:t>body: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469265" marR="5080">
              <a:lnSpc>
                <a:spcPts val="2700"/>
              </a:lnSpc>
              <a:spcBef>
                <a:spcPts val="150"/>
              </a:spcBef>
            </a:pPr>
            <a:r>
              <a:rPr sz="2400" b="1" spc="-10" dirty="0">
                <a:latin typeface="Courier New"/>
                <a:cs typeface="Courier New"/>
              </a:rPr>
              <a:t>statement1; statement2;</a:t>
            </a:r>
            <a:endParaRPr sz="2400">
              <a:latin typeface="Courier New"/>
              <a:cs typeface="Courier New"/>
            </a:endParaRPr>
          </a:p>
          <a:p>
            <a:pPr marL="469265">
              <a:lnSpc>
                <a:spcPts val="2550"/>
              </a:lnSpc>
            </a:pPr>
            <a:r>
              <a:rPr sz="2400" b="1" spc="-50" dirty="0">
                <a:latin typeface="Courier New"/>
                <a:cs typeface="Courier New"/>
              </a:rPr>
              <a:t>…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79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0461" y="1507706"/>
            <a:ext cx="5081270" cy="215900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8000">
              <a:lnSpc>
                <a:spcPts val="2770"/>
              </a:lnSpc>
              <a:tabLst>
                <a:tab pos="2885440" algn="l"/>
              </a:tabLst>
            </a:pPr>
            <a:r>
              <a:rPr sz="2400" spc="-10" dirty="0">
                <a:latin typeface="Courier New"/>
                <a:cs typeface="Courier New"/>
              </a:rPr>
              <a:t>if(cond)goto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If</a:t>
            </a:r>
            <a:endParaRPr sz="2400">
              <a:latin typeface="Courier New"/>
              <a:cs typeface="Courier New"/>
            </a:endParaRPr>
          </a:p>
          <a:p>
            <a:pPr marL="508000">
              <a:lnSpc>
                <a:spcPts val="2700"/>
              </a:lnSpc>
            </a:pPr>
            <a:r>
              <a:rPr sz="2400" b="1" spc="-10" dirty="0">
                <a:latin typeface="Courier New"/>
                <a:cs typeface="Courier New"/>
              </a:rPr>
              <a:t>body_else</a:t>
            </a:r>
            <a:endParaRPr sz="2400">
              <a:latin typeface="Courier New"/>
              <a:cs typeface="Courier New"/>
            </a:endParaRPr>
          </a:p>
          <a:p>
            <a:pPr marL="50800" marR="2919095" indent="457200">
              <a:lnSpc>
                <a:spcPts val="2700"/>
              </a:lnSpc>
              <a:spcBef>
                <a:spcPts val="150"/>
              </a:spcBef>
              <a:tabLst>
                <a:tab pos="1422400" algn="l"/>
              </a:tabLst>
            </a:pPr>
            <a:r>
              <a:rPr sz="2400" spc="-20" dirty="0">
                <a:latin typeface="Courier New"/>
                <a:cs typeface="Courier New"/>
              </a:rPr>
              <a:t>goto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Exit </a:t>
            </a:r>
            <a:r>
              <a:rPr sz="2400" spc="-25" dirty="0">
                <a:latin typeface="Courier New"/>
                <a:cs typeface="Courier New"/>
              </a:rPr>
              <a:t>If:</a:t>
            </a:r>
            <a:endParaRPr sz="2400">
              <a:latin typeface="Courier New"/>
              <a:cs typeface="Courier New"/>
            </a:endParaRPr>
          </a:p>
          <a:p>
            <a:pPr marL="508000">
              <a:lnSpc>
                <a:spcPts val="2550"/>
              </a:lnSpc>
            </a:pPr>
            <a:r>
              <a:rPr sz="2400" b="1" spc="-10" dirty="0">
                <a:latin typeface="Courier New"/>
                <a:cs typeface="Courier New"/>
              </a:rPr>
              <a:t>body_if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790"/>
              </a:lnSpc>
            </a:pPr>
            <a:r>
              <a:rPr sz="2400" spc="-10" dirty="0">
                <a:latin typeface="Courier New"/>
                <a:cs typeface="Courier New"/>
              </a:rPr>
              <a:t>Exit: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0357" y="1061805"/>
            <a:ext cx="3941829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66335" algn="l"/>
              </a:tabLst>
            </a:pPr>
            <a:r>
              <a:rPr sz="2800" b="1" dirty="0">
                <a:latin typeface="Calibri"/>
                <a:cs typeface="Calibri"/>
              </a:rPr>
              <a:t>Assembly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code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template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74260" y="3814309"/>
            <a:ext cx="39046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Assembly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code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template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3C54549-B8AC-E1D6-B3B4-62F087C0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/>
              <a:t>If else conditional branching template. </a:t>
            </a:r>
            <a:endParaRPr lang="en-US" b="1" dirty="0"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6A3FE515-2EA9-EACE-C1ED-0E0E13FAA3C9}"/>
              </a:ext>
            </a:extLst>
          </p:cNvPr>
          <p:cNvSpPr txBox="1"/>
          <p:nvPr/>
        </p:nvSpPr>
        <p:spPr>
          <a:xfrm>
            <a:off x="842508" y="1061805"/>
            <a:ext cx="1727716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  <a:tabLst>
                <a:tab pos="4966335" algn="l"/>
              </a:tabLst>
            </a:pPr>
            <a:r>
              <a:rPr lang="en-US" sz="2800" b="1" dirty="0">
                <a:latin typeface="Calibri"/>
                <a:cs typeface="Calibri"/>
              </a:rPr>
              <a:t>C Code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01854" y="-11083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95D1D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1517" y="1295730"/>
            <a:ext cx="1043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209" y="1778680"/>
            <a:ext cx="2980055" cy="3298190"/>
          </a:xfrm>
          <a:prstGeom prst="rect">
            <a:avLst/>
          </a:prstGeom>
          <a:solidFill>
            <a:srgbClr val="D5F1D0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2715"/>
              </a:lnSpc>
              <a:tabLst>
                <a:tab pos="775335" algn="l"/>
                <a:tab pos="2238375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abs(int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v)</a:t>
            </a:r>
            <a:endParaRPr sz="2400">
              <a:latin typeface="Courier New"/>
              <a:cs typeface="Courier New"/>
            </a:endParaRPr>
          </a:p>
          <a:p>
            <a:pPr marL="43815">
              <a:lnSpc>
                <a:spcPts val="2700"/>
              </a:lnSpc>
            </a:pP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775335">
              <a:lnSpc>
                <a:spcPts val="2700"/>
              </a:lnSpc>
              <a:tabLst>
                <a:tab pos="1506855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r;</a:t>
            </a:r>
            <a:endParaRPr sz="2400">
              <a:latin typeface="Courier New"/>
              <a:cs typeface="Courier New"/>
            </a:endParaRPr>
          </a:p>
          <a:p>
            <a:pPr marL="775335">
              <a:lnSpc>
                <a:spcPts val="2700"/>
              </a:lnSpc>
              <a:tabLst>
                <a:tab pos="1323975" algn="l"/>
                <a:tab pos="1872614" algn="l"/>
                <a:tab pos="2238375" algn="l"/>
              </a:tabLst>
            </a:pPr>
            <a:r>
              <a:rPr sz="2400" b="1" spc="-25" dirty="0">
                <a:latin typeface="Courier New"/>
                <a:cs typeface="Courier New"/>
              </a:rPr>
              <a:t>if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(v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&lt;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0)</a:t>
            </a:r>
            <a:endParaRPr sz="2400">
              <a:latin typeface="Courier New"/>
              <a:cs typeface="Courier New"/>
            </a:endParaRPr>
          </a:p>
          <a:p>
            <a:pPr marL="1506855">
              <a:lnSpc>
                <a:spcPts val="2700"/>
              </a:lnSpc>
              <a:tabLst>
                <a:tab pos="1872614" algn="l"/>
                <a:tab pos="2238375" algn="l"/>
              </a:tabLst>
            </a:pPr>
            <a:r>
              <a:rPr sz="2400" b="1" spc="-50" dirty="0">
                <a:solidFill>
                  <a:srgbClr val="0070C0"/>
                </a:solidFill>
                <a:latin typeface="Courier New"/>
                <a:cs typeface="Courier New"/>
              </a:rPr>
              <a:t>r</a:t>
            </a:r>
            <a:r>
              <a:rPr sz="2400" b="1" dirty="0">
                <a:solidFill>
                  <a:srgbClr val="0070C0"/>
                </a:solidFill>
                <a:latin typeface="Courier New"/>
                <a:cs typeface="Courier New"/>
              </a:rPr>
              <a:t>	</a:t>
            </a:r>
            <a:r>
              <a:rPr sz="2400" b="1" spc="-50" dirty="0">
                <a:solidFill>
                  <a:srgbClr val="0070C0"/>
                </a:solidFill>
                <a:latin typeface="Courier New"/>
                <a:cs typeface="Courier New"/>
              </a:rPr>
              <a:t>=</a:t>
            </a:r>
            <a:r>
              <a:rPr sz="2400" b="1" dirty="0">
                <a:solidFill>
                  <a:srgbClr val="0070C0"/>
                </a:solidFill>
                <a:latin typeface="Courier New"/>
                <a:cs typeface="Courier New"/>
              </a:rPr>
              <a:t>	-</a:t>
            </a:r>
            <a:r>
              <a:rPr sz="2400" b="1" spc="-25" dirty="0">
                <a:solidFill>
                  <a:srgbClr val="0070C0"/>
                </a:solidFill>
                <a:latin typeface="Courier New"/>
                <a:cs typeface="Courier New"/>
              </a:rPr>
              <a:t>v;</a:t>
            </a:r>
            <a:endParaRPr sz="2400">
              <a:latin typeface="Courier New"/>
              <a:cs typeface="Courier New"/>
            </a:endParaRPr>
          </a:p>
          <a:p>
            <a:pPr marL="775335">
              <a:lnSpc>
                <a:spcPts val="2700"/>
              </a:lnSpc>
            </a:pPr>
            <a:r>
              <a:rPr sz="2400" b="1" spc="-20" dirty="0">
                <a:latin typeface="Courier New"/>
                <a:cs typeface="Courier New"/>
              </a:rPr>
              <a:t>else</a:t>
            </a:r>
            <a:endParaRPr sz="2400">
              <a:latin typeface="Courier New"/>
              <a:cs typeface="Courier New"/>
            </a:endParaRPr>
          </a:p>
          <a:p>
            <a:pPr marL="775335" marR="367030" indent="731520">
              <a:lnSpc>
                <a:spcPts val="2700"/>
              </a:lnSpc>
              <a:spcBef>
                <a:spcPts val="150"/>
              </a:spcBef>
              <a:tabLst>
                <a:tab pos="1872614" algn="l"/>
                <a:tab pos="2055495" algn="l"/>
                <a:tab pos="2238375" algn="l"/>
              </a:tabLst>
            </a:pPr>
            <a:r>
              <a:rPr sz="2400" b="1" spc="-50" dirty="0">
                <a:solidFill>
                  <a:srgbClr val="CC0000"/>
                </a:solidFill>
                <a:latin typeface="Courier New"/>
                <a:cs typeface="Courier New"/>
              </a:rPr>
              <a:t>r</a:t>
            </a:r>
            <a:r>
              <a:rPr sz="2400" b="1" dirty="0">
                <a:solidFill>
                  <a:srgbClr val="CC0000"/>
                </a:solidFill>
                <a:latin typeface="Courier New"/>
                <a:cs typeface="Courier New"/>
              </a:rPr>
              <a:t>	</a:t>
            </a:r>
            <a:r>
              <a:rPr sz="2400" b="1" spc="-50" dirty="0">
                <a:solidFill>
                  <a:srgbClr val="CC0000"/>
                </a:solidFill>
                <a:latin typeface="Courier New"/>
                <a:cs typeface="Courier New"/>
              </a:rPr>
              <a:t>=</a:t>
            </a:r>
            <a:r>
              <a:rPr sz="2400" b="1" dirty="0">
                <a:solidFill>
                  <a:srgbClr val="CC0000"/>
                </a:solidFill>
                <a:latin typeface="Courier New"/>
                <a:cs typeface="Courier New"/>
              </a:rPr>
              <a:t>		</a:t>
            </a:r>
            <a:r>
              <a:rPr sz="2400" b="1" spc="-25" dirty="0">
                <a:solidFill>
                  <a:srgbClr val="CC0000"/>
                </a:solidFill>
                <a:latin typeface="Courier New"/>
                <a:cs typeface="Courier New"/>
              </a:rPr>
              <a:t>v; </a:t>
            </a:r>
            <a:r>
              <a:rPr sz="2400" b="1" spc="-10" dirty="0">
                <a:latin typeface="Courier New"/>
                <a:cs typeface="Courier New"/>
              </a:rPr>
              <a:t>return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25" dirty="0">
                <a:latin typeface="Courier New"/>
                <a:cs typeface="Courier New"/>
              </a:rPr>
              <a:t>r;</a:t>
            </a:r>
            <a:endParaRPr sz="2400">
              <a:latin typeface="Courier New"/>
              <a:cs typeface="Courier New"/>
            </a:endParaRPr>
          </a:p>
          <a:p>
            <a:pPr marL="43815">
              <a:lnSpc>
                <a:spcPts val="264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D35CF8F-C16E-38E8-7472-5D0C3316E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/>
              <a:t>Example: if else.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F50BCEF-6A6F-EC11-276D-79E34B3C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5BB812-8F04-3138-09C3-873E53FD7E9A}"/>
              </a:ext>
            </a:extLst>
          </p:cNvPr>
          <p:cNvSpPr txBox="1"/>
          <p:nvPr/>
        </p:nvSpPr>
        <p:spPr>
          <a:xfrm>
            <a:off x="11901854" y="-11083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95D1D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BD47F3C-A6D3-0BFA-C4AA-6575F1FCC605}"/>
              </a:ext>
            </a:extLst>
          </p:cNvPr>
          <p:cNvSpPr txBox="1"/>
          <p:nvPr/>
        </p:nvSpPr>
        <p:spPr>
          <a:xfrm>
            <a:off x="191517" y="1295730"/>
            <a:ext cx="1043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D13D611-641F-498E-00B5-7F02E54E06A8}"/>
              </a:ext>
            </a:extLst>
          </p:cNvPr>
          <p:cNvSpPr txBox="1"/>
          <p:nvPr/>
        </p:nvSpPr>
        <p:spPr>
          <a:xfrm>
            <a:off x="197209" y="1778680"/>
            <a:ext cx="2980055" cy="3298190"/>
          </a:xfrm>
          <a:prstGeom prst="rect">
            <a:avLst/>
          </a:prstGeom>
          <a:solidFill>
            <a:srgbClr val="D5F1D0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2715"/>
              </a:lnSpc>
              <a:tabLst>
                <a:tab pos="775335" algn="l"/>
                <a:tab pos="2238375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abs(int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v)</a:t>
            </a:r>
            <a:endParaRPr sz="2400">
              <a:latin typeface="Courier New"/>
              <a:cs typeface="Courier New"/>
            </a:endParaRPr>
          </a:p>
          <a:p>
            <a:pPr marL="43815">
              <a:lnSpc>
                <a:spcPts val="2700"/>
              </a:lnSpc>
            </a:pP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775335">
              <a:lnSpc>
                <a:spcPts val="2700"/>
              </a:lnSpc>
              <a:tabLst>
                <a:tab pos="1506855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r;</a:t>
            </a:r>
            <a:endParaRPr sz="2400">
              <a:latin typeface="Courier New"/>
              <a:cs typeface="Courier New"/>
            </a:endParaRPr>
          </a:p>
          <a:p>
            <a:pPr marL="775335">
              <a:lnSpc>
                <a:spcPts val="2700"/>
              </a:lnSpc>
              <a:tabLst>
                <a:tab pos="1323975" algn="l"/>
                <a:tab pos="1872614" algn="l"/>
                <a:tab pos="2238375" algn="l"/>
              </a:tabLst>
            </a:pPr>
            <a:r>
              <a:rPr sz="2400" b="1" spc="-25" dirty="0">
                <a:latin typeface="Courier New"/>
                <a:cs typeface="Courier New"/>
              </a:rPr>
              <a:t>if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(v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&lt;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0)</a:t>
            </a:r>
            <a:endParaRPr sz="2400">
              <a:latin typeface="Courier New"/>
              <a:cs typeface="Courier New"/>
            </a:endParaRPr>
          </a:p>
          <a:p>
            <a:pPr marL="1506855">
              <a:lnSpc>
                <a:spcPts val="2700"/>
              </a:lnSpc>
              <a:tabLst>
                <a:tab pos="1872614" algn="l"/>
                <a:tab pos="2238375" algn="l"/>
              </a:tabLst>
            </a:pPr>
            <a:r>
              <a:rPr sz="2400" b="1" spc="-50" dirty="0">
                <a:solidFill>
                  <a:srgbClr val="0070C0"/>
                </a:solidFill>
                <a:latin typeface="Courier New"/>
                <a:cs typeface="Courier New"/>
              </a:rPr>
              <a:t>r</a:t>
            </a:r>
            <a:r>
              <a:rPr sz="2400" b="1" dirty="0">
                <a:solidFill>
                  <a:srgbClr val="0070C0"/>
                </a:solidFill>
                <a:latin typeface="Courier New"/>
                <a:cs typeface="Courier New"/>
              </a:rPr>
              <a:t>	</a:t>
            </a:r>
            <a:r>
              <a:rPr sz="2400" b="1" spc="-50" dirty="0">
                <a:solidFill>
                  <a:srgbClr val="0070C0"/>
                </a:solidFill>
                <a:latin typeface="Courier New"/>
                <a:cs typeface="Courier New"/>
              </a:rPr>
              <a:t>=</a:t>
            </a:r>
            <a:r>
              <a:rPr sz="2400" b="1" dirty="0">
                <a:solidFill>
                  <a:srgbClr val="0070C0"/>
                </a:solidFill>
                <a:latin typeface="Courier New"/>
                <a:cs typeface="Courier New"/>
              </a:rPr>
              <a:t>	-</a:t>
            </a:r>
            <a:r>
              <a:rPr sz="2400" b="1" spc="-25" dirty="0">
                <a:solidFill>
                  <a:srgbClr val="0070C0"/>
                </a:solidFill>
                <a:latin typeface="Courier New"/>
                <a:cs typeface="Courier New"/>
              </a:rPr>
              <a:t>v;</a:t>
            </a:r>
            <a:endParaRPr sz="2400">
              <a:latin typeface="Courier New"/>
              <a:cs typeface="Courier New"/>
            </a:endParaRPr>
          </a:p>
          <a:p>
            <a:pPr marL="775335">
              <a:lnSpc>
                <a:spcPts val="2700"/>
              </a:lnSpc>
            </a:pPr>
            <a:r>
              <a:rPr sz="2400" b="1" spc="-20" dirty="0">
                <a:latin typeface="Courier New"/>
                <a:cs typeface="Courier New"/>
              </a:rPr>
              <a:t>else</a:t>
            </a:r>
            <a:endParaRPr sz="2400">
              <a:latin typeface="Courier New"/>
              <a:cs typeface="Courier New"/>
            </a:endParaRPr>
          </a:p>
          <a:p>
            <a:pPr marL="775335" marR="367030" indent="731520">
              <a:lnSpc>
                <a:spcPts val="2700"/>
              </a:lnSpc>
              <a:spcBef>
                <a:spcPts val="150"/>
              </a:spcBef>
              <a:tabLst>
                <a:tab pos="1872614" algn="l"/>
                <a:tab pos="2055495" algn="l"/>
                <a:tab pos="2238375" algn="l"/>
              </a:tabLst>
            </a:pPr>
            <a:r>
              <a:rPr sz="2400" b="1" spc="-50" dirty="0">
                <a:solidFill>
                  <a:srgbClr val="CC0000"/>
                </a:solidFill>
                <a:latin typeface="Courier New"/>
                <a:cs typeface="Courier New"/>
              </a:rPr>
              <a:t>r</a:t>
            </a:r>
            <a:r>
              <a:rPr sz="2400" b="1" dirty="0">
                <a:solidFill>
                  <a:srgbClr val="CC0000"/>
                </a:solidFill>
                <a:latin typeface="Courier New"/>
                <a:cs typeface="Courier New"/>
              </a:rPr>
              <a:t>	</a:t>
            </a:r>
            <a:r>
              <a:rPr sz="2400" b="1" spc="-50" dirty="0">
                <a:solidFill>
                  <a:srgbClr val="CC0000"/>
                </a:solidFill>
                <a:latin typeface="Courier New"/>
                <a:cs typeface="Courier New"/>
              </a:rPr>
              <a:t>=</a:t>
            </a:r>
            <a:r>
              <a:rPr sz="2400" b="1" dirty="0">
                <a:solidFill>
                  <a:srgbClr val="CC0000"/>
                </a:solidFill>
                <a:latin typeface="Courier New"/>
                <a:cs typeface="Courier New"/>
              </a:rPr>
              <a:t>		</a:t>
            </a:r>
            <a:r>
              <a:rPr sz="2400" b="1" spc="-25" dirty="0">
                <a:solidFill>
                  <a:srgbClr val="CC0000"/>
                </a:solidFill>
                <a:latin typeface="Courier New"/>
                <a:cs typeface="Courier New"/>
              </a:rPr>
              <a:t>v; </a:t>
            </a:r>
            <a:r>
              <a:rPr sz="2400" b="1" spc="-10" dirty="0">
                <a:latin typeface="Courier New"/>
                <a:cs typeface="Courier New"/>
              </a:rPr>
              <a:t>return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25" dirty="0">
                <a:latin typeface="Courier New"/>
                <a:cs typeface="Courier New"/>
              </a:rPr>
              <a:t>r;</a:t>
            </a:r>
            <a:endParaRPr sz="2400">
              <a:latin typeface="Courier New"/>
              <a:cs typeface="Courier New"/>
            </a:endParaRPr>
          </a:p>
          <a:p>
            <a:pPr marL="43815">
              <a:lnSpc>
                <a:spcPts val="264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76C39AE-B64A-B556-7AFA-35EF1BDE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/>
              <a:t>Example: if else.</a:t>
            </a:r>
            <a:endParaRPr lang="en-US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46104E3B-CC5E-E25D-1E8E-666F8BE07D83}"/>
              </a:ext>
            </a:extLst>
          </p:cNvPr>
          <p:cNvSpPr txBox="1"/>
          <p:nvPr/>
        </p:nvSpPr>
        <p:spPr>
          <a:xfrm>
            <a:off x="3513200" y="1773866"/>
            <a:ext cx="4450080" cy="430403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2715"/>
              </a:lnSpc>
              <a:tabLst>
                <a:tab pos="775335" algn="l"/>
                <a:tab pos="2239010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abs(int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v)</a:t>
            </a:r>
            <a:endParaRPr sz="2400">
              <a:latin typeface="Courier New"/>
              <a:cs typeface="Courier New"/>
            </a:endParaRPr>
          </a:p>
          <a:p>
            <a:pPr marL="43815">
              <a:lnSpc>
                <a:spcPts val="2700"/>
              </a:lnSpc>
            </a:pP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501015">
              <a:lnSpc>
                <a:spcPts val="2700"/>
              </a:lnSpc>
              <a:tabLst>
                <a:tab pos="1232535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r;</a:t>
            </a:r>
            <a:endParaRPr sz="2400">
              <a:latin typeface="Courier New"/>
              <a:cs typeface="Courier New"/>
            </a:endParaRPr>
          </a:p>
          <a:p>
            <a:pPr marL="501015">
              <a:lnSpc>
                <a:spcPts val="2700"/>
              </a:lnSpc>
              <a:tabLst>
                <a:tab pos="1232535" algn="l"/>
                <a:tab pos="2146935" algn="l"/>
                <a:tab pos="2513330" algn="l"/>
                <a:tab pos="2879090" algn="l"/>
                <a:tab pos="3244850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0" dirty="0">
                <a:latin typeface="Courier New"/>
                <a:cs typeface="Courier New"/>
              </a:rPr>
              <a:t>cond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v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&lt;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  <a:p>
            <a:pPr marL="501015" marR="282575">
              <a:lnSpc>
                <a:spcPts val="2700"/>
              </a:lnSpc>
              <a:spcBef>
                <a:spcPts val="150"/>
              </a:spcBef>
              <a:tabLst>
                <a:tab pos="866775" algn="l"/>
                <a:tab pos="1049655" algn="l"/>
                <a:tab pos="1232535" algn="l"/>
                <a:tab pos="2329815" algn="l"/>
                <a:tab pos="3244850" algn="l"/>
              </a:tabLst>
            </a:pPr>
            <a:r>
              <a:rPr sz="2400" b="1" spc="-25" dirty="0">
                <a:latin typeface="Courier New"/>
                <a:cs typeface="Courier New"/>
              </a:rPr>
              <a:t>if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10" dirty="0">
                <a:latin typeface="Courier New"/>
                <a:cs typeface="Courier New"/>
              </a:rPr>
              <a:t>(cond)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0" dirty="0">
                <a:latin typeface="Courier New"/>
                <a:cs typeface="Courier New"/>
              </a:rPr>
              <a:t>goto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Then; </a:t>
            </a:r>
            <a:r>
              <a:rPr sz="2400" b="1" spc="-50" dirty="0">
                <a:solidFill>
                  <a:srgbClr val="CC0000"/>
                </a:solidFill>
                <a:latin typeface="Courier New"/>
                <a:cs typeface="Courier New"/>
              </a:rPr>
              <a:t>r</a:t>
            </a:r>
            <a:r>
              <a:rPr sz="2400" b="1" dirty="0">
                <a:solidFill>
                  <a:srgbClr val="CC0000"/>
                </a:solidFill>
                <a:latin typeface="Courier New"/>
                <a:cs typeface="Courier New"/>
              </a:rPr>
              <a:t>	</a:t>
            </a:r>
            <a:r>
              <a:rPr sz="2400" b="1" spc="-50" dirty="0">
                <a:solidFill>
                  <a:srgbClr val="CC0000"/>
                </a:solidFill>
                <a:latin typeface="Courier New"/>
                <a:cs typeface="Courier New"/>
              </a:rPr>
              <a:t>=</a:t>
            </a:r>
            <a:r>
              <a:rPr sz="2400" b="1" dirty="0">
                <a:solidFill>
                  <a:srgbClr val="CC0000"/>
                </a:solidFill>
                <a:latin typeface="Courier New"/>
                <a:cs typeface="Courier New"/>
              </a:rPr>
              <a:t>		</a:t>
            </a:r>
            <a:r>
              <a:rPr sz="2400" b="1" spc="-25" dirty="0">
                <a:solidFill>
                  <a:srgbClr val="CC0000"/>
                </a:solidFill>
                <a:latin typeface="Courier New"/>
                <a:cs typeface="Courier New"/>
              </a:rPr>
              <a:t>v;</a:t>
            </a:r>
            <a:endParaRPr sz="2400">
              <a:latin typeface="Courier New"/>
              <a:cs typeface="Courier New"/>
            </a:endParaRPr>
          </a:p>
          <a:p>
            <a:pPr marL="501015" marR="2111375">
              <a:lnSpc>
                <a:spcPts val="2700"/>
              </a:lnSpc>
              <a:tabLst>
                <a:tab pos="1415415" algn="l"/>
              </a:tabLst>
            </a:pPr>
            <a:r>
              <a:rPr sz="2400" b="1" spc="-20" dirty="0">
                <a:latin typeface="Courier New"/>
                <a:cs typeface="Courier New"/>
              </a:rPr>
              <a:t>goto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Done; Then:</a:t>
            </a:r>
            <a:endParaRPr sz="2400">
              <a:latin typeface="Courier New"/>
              <a:cs typeface="Courier New"/>
            </a:endParaRPr>
          </a:p>
          <a:p>
            <a:pPr marL="501015" marR="2385695" indent="274320">
              <a:lnSpc>
                <a:spcPts val="2700"/>
              </a:lnSpc>
              <a:tabLst>
                <a:tab pos="1141095" algn="l"/>
                <a:tab pos="1506855" algn="l"/>
              </a:tabLst>
            </a:pPr>
            <a:r>
              <a:rPr sz="2400" b="1" spc="-50" dirty="0">
                <a:solidFill>
                  <a:srgbClr val="0070C0"/>
                </a:solidFill>
                <a:latin typeface="Courier New"/>
                <a:cs typeface="Courier New"/>
              </a:rPr>
              <a:t>r</a:t>
            </a:r>
            <a:r>
              <a:rPr sz="2400" b="1" dirty="0">
                <a:solidFill>
                  <a:srgbClr val="0070C0"/>
                </a:solidFill>
                <a:latin typeface="Courier New"/>
                <a:cs typeface="Courier New"/>
              </a:rPr>
              <a:t>	</a:t>
            </a:r>
            <a:r>
              <a:rPr sz="2400" b="1" spc="-50" dirty="0">
                <a:solidFill>
                  <a:srgbClr val="0070C0"/>
                </a:solidFill>
                <a:latin typeface="Courier New"/>
                <a:cs typeface="Courier New"/>
              </a:rPr>
              <a:t>=</a:t>
            </a:r>
            <a:r>
              <a:rPr sz="2400" b="1" dirty="0">
                <a:solidFill>
                  <a:srgbClr val="0070C0"/>
                </a:solidFill>
                <a:latin typeface="Courier New"/>
                <a:cs typeface="Courier New"/>
              </a:rPr>
              <a:t>	-</a:t>
            </a:r>
            <a:r>
              <a:rPr sz="2400" b="1" spc="-25" dirty="0">
                <a:solidFill>
                  <a:srgbClr val="0070C0"/>
                </a:solidFill>
                <a:latin typeface="Courier New"/>
                <a:cs typeface="Courier New"/>
              </a:rPr>
              <a:t>v; </a:t>
            </a:r>
            <a:r>
              <a:rPr sz="2400" b="1" spc="-10" dirty="0">
                <a:latin typeface="Courier New"/>
                <a:cs typeface="Courier New"/>
              </a:rPr>
              <a:t>Done:</a:t>
            </a:r>
            <a:endParaRPr sz="2400">
              <a:latin typeface="Courier New"/>
              <a:cs typeface="Courier New"/>
            </a:endParaRPr>
          </a:p>
          <a:p>
            <a:pPr marL="775335">
              <a:lnSpc>
                <a:spcPts val="2550"/>
              </a:lnSpc>
              <a:tabLst>
                <a:tab pos="2056130" algn="l"/>
              </a:tabLst>
            </a:pPr>
            <a:r>
              <a:rPr sz="2400" b="1" spc="-10" dirty="0">
                <a:latin typeface="Courier New"/>
                <a:cs typeface="Courier New"/>
              </a:rPr>
              <a:t>return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r;</a:t>
            </a:r>
            <a:endParaRPr sz="2400">
              <a:latin typeface="Courier New"/>
              <a:cs typeface="Courier New"/>
            </a:endParaRPr>
          </a:p>
          <a:p>
            <a:pPr marL="43815">
              <a:lnSpc>
                <a:spcPts val="279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E391BEDB-18A2-6408-34D6-249317C9E23A}"/>
              </a:ext>
            </a:extLst>
          </p:cNvPr>
          <p:cNvSpPr txBox="1"/>
          <p:nvPr/>
        </p:nvSpPr>
        <p:spPr>
          <a:xfrm>
            <a:off x="3513837" y="1316049"/>
            <a:ext cx="4437380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lang="en-US" sz="2800" b="1" spc="-20" dirty="0">
                <a:latin typeface="Calibri"/>
                <a:cs typeface="Calibri"/>
              </a:rPr>
              <a:t>Code: : </a:t>
            </a:r>
            <a:r>
              <a:rPr lang="en-US" sz="2800" b="1" i="1" spc="-20" dirty="0" err="1">
                <a:latin typeface="Calibri"/>
                <a:cs typeface="Calibri"/>
              </a:rPr>
              <a:t>goto</a:t>
            </a:r>
            <a:r>
              <a:rPr lang="en-US" sz="2800" b="1" i="1" spc="-20" dirty="0">
                <a:latin typeface="Calibri"/>
                <a:cs typeface="Calibri"/>
              </a:rPr>
              <a:t> </a:t>
            </a:r>
            <a:r>
              <a:rPr lang="en-US" sz="2800" b="1" spc="-20" dirty="0">
                <a:latin typeface="Calibri"/>
                <a:cs typeface="Calibri"/>
              </a:rPr>
              <a:t>version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5652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6AB4E3-8F69-B0E7-7A09-55575F977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8FCB199-D2A8-C5DF-E6A4-2EADDBE9B413}"/>
              </a:ext>
            </a:extLst>
          </p:cNvPr>
          <p:cNvSpPr txBox="1"/>
          <p:nvPr/>
        </p:nvSpPr>
        <p:spPr>
          <a:xfrm>
            <a:off x="11901854" y="-11083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95D1D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CC05442-DAF1-8A16-1C9F-173419EE3247}"/>
              </a:ext>
            </a:extLst>
          </p:cNvPr>
          <p:cNvSpPr txBox="1"/>
          <p:nvPr/>
        </p:nvSpPr>
        <p:spPr>
          <a:xfrm>
            <a:off x="191517" y="1295730"/>
            <a:ext cx="1043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990DA93-A8FE-43F6-46C6-B0AEF770BC0B}"/>
              </a:ext>
            </a:extLst>
          </p:cNvPr>
          <p:cNvSpPr txBox="1"/>
          <p:nvPr/>
        </p:nvSpPr>
        <p:spPr>
          <a:xfrm>
            <a:off x="197209" y="1778680"/>
            <a:ext cx="2980055" cy="3298190"/>
          </a:xfrm>
          <a:prstGeom prst="rect">
            <a:avLst/>
          </a:prstGeom>
          <a:solidFill>
            <a:srgbClr val="D5F1D0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2715"/>
              </a:lnSpc>
              <a:tabLst>
                <a:tab pos="775335" algn="l"/>
                <a:tab pos="2238375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abs(int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v)</a:t>
            </a:r>
            <a:endParaRPr sz="2400">
              <a:latin typeface="Courier New"/>
              <a:cs typeface="Courier New"/>
            </a:endParaRPr>
          </a:p>
          <a:p>
            <a:pPr marL="43815">
              <a:lnSpc>
                <a:spcPts val="2700"/>
              </a:lnSpc>
            </a:pP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775335">
              <a:lnSpc>
                <a:spcPts val="2700"/>
              </a:lnSpc>
              <a:tabLst>
                <a:tab pos="1506855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r;</a:t>
            </a:r>
            <a:endParaRPr sz="2400">
              <a:latin typeface="Courier New"/>
              <a:cs typeface="Courier New"/>
            </a:endParaRPr>
          </a:p>
          <a:p>
            <a:pPr marL="775335">
              <a:lnSpc>
                <a:spcPts val="2700"/>
              </a:lnSpc>
              <a:tabLst>
                <a:tab pos="1323975" algn="l"/>
                <a:tab pos="1872614" algn="l"/>
                <a:tab pos="2238375" algn="l"/>
              </a:tabLst>
            </a:pPr>
            <a:r>
              <a:rPr sz="2400" b="1" spc="-25" dirty="0">
                <a:latin typeface="Courier New"/>
                <a:cs typeface="Courier New"/>
              </a:rPr>
              <a:t>if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(v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&lt;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0)</a:t>
            </a:r>
            <a:endParaRPr sz="2400">
              <a:latin typeface="Courier New"/>
              <a:cs typeface="Courier New"/>
            </a:endParaRPr>
          </a:p>
          <a:p>
            <a:pPr marL="1506855">
              <a:lnSpc>
                <a:spcPts val="2700"/>
              </a:lnSpc>
              <a:tabLst>
                <a:tab pos="1872614" algn="l"/>
                <a:tab pos="2238375" algn="l"/>
              </a:tabLst>
            </a:pPr>
            <a:r>
              <a:rPr sz="2400" b="1" spc="-50" dirty="0">
                <a:solidFill>
                  <a:srgbClr val="0070C0"/>
                </a:solidFill>
                <a:latin typeface="Courier New"/>
                <a:cs typeface="Courier New"/>
              </a:rPr>
              <a:t>r</a:t>
            </a:r>
            <a:r>
              <a:rPr sz="2400" b="1" dirty="0">
                <a:solidFill>
                  <a:srgbClr val="0070C0"/>
                </a:solidFill>
                <a:latin typeface="Courier New"/>
                <a:cs typeface="Courier New"/>
              </a:rPr>
              <a:t>	</a:t>
            </a:r>
            <a:r>
              <a:rPr sz="2400" b="1" spc="-50" dirty="0">
                <a:solidFill>
                  <a:srgbClr val="0070C0"/>
                </a:solidFill>
                <a:latin typeface="Courier New"/>
                <a:cs typeface="Courier New"/>
              </a:rPr>
              <a:t>=</a:t>
            </a:r>
            <a:r>
              <a:rPr sz="2400" b="1" dirty="0">
                <a:solidFill>
                  <a:srgbClr val="0070C0"/>
                </a:solidFill>
                <a:latin typeface="Courier New"/>
                <a:cs typeface="Courier New"/>
              </a:rPr>
              <a:t>	-</a:t>
            </a:r>
            <a:r>
              <a:rPr sz="2400" b="1" spc="-25" dirty="0">
                <a:solidFill>
                  <a:srgbClr val="0070C0"/>
                </a:solidFill>
                <a:latin typeface="Courier New"/>
                <a:cs typeface="Courier New"/>
              </a:rPr>
              <a:t>v;</a:t>
            </a:r>
            <a:endParaRPr sz="2400">
              <a:latin typeface="Courier New"/>
              <a:cs typeface="Courier New"/>
            </a:endParaRPr>
          </a:p>
          <a:p>
            <a:pPr marL="775335">
              <a:lnSpc>
                <a:spcPts val="2700"/>
              </a:lnSpc>
            </a:pPr>
            <a:r>
              <a:rPr sz="2400" b="1" spc="-20" dirty="0">
                <a:latin typeface="Courier New"/>
                <a:cs typeface="Courier New"/>
              </a:rPr>
              <a:t>else</a:t>
            </a:r>
            <a:endParaRPr sz="2400">
              <a:latin typeface="Courier New"/>
              <a:cs typeface="Courier New"/>
            </a:endParaRPr>
          </a:p>
          <a:p>
            <a:pPr marL="775335" marR="367030" indent="731520">
              <a:lnSpc>
                <a:spcPts val="2700"/>
              </a:lnSpc>
              <a:spcBef>
                <a:spcPts val="150"/>
              </a:spcBef>
              <a:tabLst>
                <a:tab pos="1872614" algn="l"/>
                <a:tab pos="2055495" algn="l"/>
                <a:tab pos="2238375" algn="l"/>
              </a:tabLst>
            </a:pPr>
            <a:r>
              <a:rPr sz="2400" b="1" spc="-50" dirty="0">
                <a:solidFill>
                  <a:srgbClr val="CC0000"/>
                </a:solidFill>
                <a:latin typeface="Courier New"/>
                <a:cs typeface="Courier New"/>
              </a:rPr>
              <a:t>r</a:t>
            </a:r>
            <a:r>
              <a:rPr sz="2400" b="1" dirty="0">
                <a:solidFill>
                  <a:srgbClr val="CC0000"/>
                </a:solidFill>
                <a:latin typeface="Courier New"/>
                <a:cs typeface="Courier New"/>
              </a:rPr>
              <a:t>	</a:t>
            </a:r>
            <a:r>
              <a:rPr sz="2400" b="1" spc="-50" dirty="0">
                <a:solidFill>
                  <a:srgbClr val="CC0000"/>
                </a:solidFill>
                <a:latin typeface="Courier New"/>
                <a:cs typeface="Courier New"/>
              </a:rPr>
              <a:t>=</a:t>
            </a:r>
            <a:r>
              <a:rPr sz="2400" b="1" dirty="0">
                <a:solidFill>
                  <a:srgbClr val="CC0000"/>
                </a:solidFill>
                <a:latin typeface="Courier New"/>
                <a:cs typeface="Courier New"/>
              </a:rPr>
              <a:t>		</a:t>
            </a:r>
            <a:r>
              <a:rPr sz="2400" b="1" spc="-25" dirty="0">
                <a:solidFill>
                  <a:srgbClr val="CC0000"/>
                </a:solidFill>
                <a:latin typeface="Courier New"/>
                <a:cs typeface="Courier New"/>
              </a:rPr>
              <a:t>v; </a:t>
            </a:r>
            <a:r>
              <a:rPr sz="2400" b="1" spc="-10" dirty="0">
                <a:latin typeface="Courier New"/>
                <a:cs typeface="Courier New"/>
              </a:rPr>
              <a:t>return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25" dirty="0">
                <a:latin typeface="Courier New"/>
                <a:cs typeface="Courier New"/>
              </a:rPr>
              <a:t>r;</a:t>
            </a:r>
            <a:endParaRPr sz="2400">
              <a:latin typeface="Courier New"/>
              <a:cs typeface="Courier New"/>
            </a:endParaRPr>
          </a:p>
          <a:p>
            <a:pPr marL="43815">
              <a:lnSpc>
                <a:spcPts val="264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ECA202-056A-74C9-E7A7-53E88D2A5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/>
              <a:t>Example: if else.</a:t>
            </a:r>
            <a:endParaRPr lang="en-US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EA1BA414-8F56-FEF4-563A-5F9B8A8DC024}"/>
              </a:ext>
            </a:extLst>
          </p:cNvPr>
          <p:cNvSpPr txBox="1"/>
          <p:nvPr/>
        </p:nvSpPr>
        <p:spPr>
          <a:xfrm>
            <a:off x="3513200" y="1773866"/>
            <a:ext cx="4450080" cy="430403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2715"/>
              </a:lnSpc>
              <a:tabLst>
                <a:tab pos="775335" algn="l"/>
                <a:tab pos="2239010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abs(int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v)</a:t>
            </a:r>
            <a:endParaRPr sz="2400">
              <a:latin typeface="Courier New"/>
              <a:cs typeface="Courier New"/>
            </a:endParaRPr>
          </a:p>
          <a:p>
            <a:pPr marL="43815">
              <a:lnSpc>
                <a:spcPts val="2700"/>
              </a:lnSpc>
            </a:pP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501015">
              <a:lnSpc>
                <a:spcPts val="2700"/>
              </a:lnSpc>
              <a:tabLst>
                <a:tab pos="1232535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r;</a:t>
            </a:r>
            <a:endParaRPr sz="2400">
              <a:latin typeface="Courier New"/>
              <a:cs typeface="Courier New"/>
            </a:endParaRPr>
          </a:p>
          <a:p>
            <a:pPr marL="501015">
              <a:lnSpc>
                <a:spcPts val="2700"/>
              </a:lnSpc>
              <a:tabLst>
                <a:tab pos="1232535" algn="l"/>
                <a:tab pos="2146935" algn="l"/>
                <a:tab pos="2513330" algn="l"/>
                <a:tab pos="2879090" algn="l"/>
                <a:tab pos="3244850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0" dirty="0">
                <a:latin typeface="Courier New"/>
                <a:cs typeface="Courier New"/>
              </a:rPr>
              <a:t>cond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v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&lt;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  <a:p>
            <a:pPr marL="501015" marR="282575">
              <a:lnSpc>
                <a:spcPts val="2700"/>
              </a:lnSpc>
              <a:spcBef>
                <a:spcPts val="150"/>
              </a:spcBef>
              <a:tabLst>
                <a:tab pos="866775" algn="l"/>
                <a:tab pos="1049655" algn="l"/>
                <a:tab pos="1232535" algn="l"/>
                <a:tab pos="2329815" algn="l"/>
                <a:tab pos="3244850" algn="l"/>
              </a:tabLst>
            </a:pPr>
            <a:r>
              <a:rPr sz="2400" b="1" spc="-25" dirty="0">
                <a:latin typeface="Courier New"/>
                <a:cs typeface="Courier New"/>
              </a:rPr>
              <a:t>if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10" dirty="0">
                <a:latin typeface="Courier New"/>
                <a:cs typeface="Courier New"/>
              </a:rPr>
              <a:t>(cond)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0" dirty="0">
                <a:latin typeface="Courier New"/>
                <a:cs typeface="Courier New"/>
              </a:rPr>
              <a:t>goto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Then; </a:t>
            </a:r>
            <a:r>
              <a:rPr sz="2400" b="1" spc="-50" dirty="0">
                <a:solidFill>
                  <a:srgbClr val="CC0000"/>
                </a:solidFill>
                <a:latin typeface="Courier New"/>
                <a:cs typeface="Courier New"/>
              </a:rPr>
              <a:t>r</a:t>
            </a:r>
            <a:r>
              <a:rPr sz="2400" b="1" dirty="0">
                <a:solidFill>
                  <a:srgbClr val="CC0000"/>
                </a:solidFill>
                <a:latin typeface="Courier New"/>
                <a:cs typeface="Courier New"/>
              </a:rPr>
              <a:t>	</a:t>
            </a:r>
            <a:r>
              <a:rPr sz="2400" b="1" spc="-50" dirty="0">
                <a:solidFill>
                  <a:srgbClr val="CC0000"/>
                </a:solidFill>
                <a:latin typeface="Courier New"/>
                <a:cs typeface="Courier New"/>
              </a:rPr>
              <a:t>=</a:t>
            </a:r>
            <a:r>
              <a:rPr sz="2400" b="1" dirty="0">
                <a:solidFill>
                  <a:srgbClr val="CC0000"/>
                </a:solidFill>
                <a:latin typeface="Courier New"/>
                <a:cs typeface="Courier New"/>
              </a:rPr>
              <a:t>		</a:t>
            </a:r>
            <a:r>
              <a:rPr sz="2400" b="1" spc="-25" dirty="0">
                <a:solidFill>
                  <a:srgbClr val="CC0000"/>
                </a:solidFill>
                <a:latin typeface="Courier New"/>
                <a:cs typeface="Courier New"/>
              </a:rPr>
              <a:t>v;</a:t>
            </a:r>
            <a:endParaRPr sz="2400">
              <a:latin typeface="Courier New"/>
              <a:cs typeface="Courier New"/>
            </a:endParaRPr>
          </a:p>
          <a:p>
            <a:pPr marL="501015" marR="2111375">
              <a:lnSpc>
                <a:spcPts val="2700"/>
              </a:lnSpc>
              <a:tabLst>
                <a:tab pos="1415415" algn="l"/>
              </a:tabLst>
            </a:pPr>
            <a:r>
              <a:rPr sz="2400" b="1" spc="-20" dirty="0">
                <a:latin typeface="Courier New"/>
                <a:cs typeface="Courier New"/>
              </a:rPr>
              <a:t>goto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Done; Then:</a:t>
            </a:r>
            <a:endParaRPr sz="2400">
              <a:latin typeface="Courier New"/>
              <a:cs typeface="Courier New"/>
            </a:endParaRPr>
          </a:p>
          <a:p>
            <a:pPr marL="501015" marR="2385695" indent="274320">
              <a:lnSpc>
                <a:spcPts val="2700"/>
              </a:lnSpc>
              <a:tabLst>
                <a:tab pos="1141095" algn="l"/>
                <a:tab pos="1506855" algn="l"/>
              </a:tabLst>
            </a:pPr>
            <a:r>
              <a:rPr sz="2400" b="1" spc="-50" dirty="0">
                <a:solidFill>
                  <a:srgbClr val="0070C0"/>
                </a:solidFill>
                <a:latin typeface="Courier New"/>
                <a:cs typeface="Courier New"/>
              </a:rPr>
              <a:t>r</a:t>
            </a:r>
            <a:r>
              <a:rPr sz="2400" b="1" dirty="0">
                <a:solidFill>
                  <a:srgbClr val="0070C0"/>
                </a:solidFill>
                <a:latin typeface="Courier New"/>
                <a:cs typeface="Courier New"/>
              </a:rPr>
              <a:t>	</a:t>
            </a:r>
            <a:r>
              <a:rPr sz="2400" b="1" spc="-50" dirty="0">
                <a:solidFill>
                  <a:srgbClr val="0070C0"/>
                </a:solidFill>
                <a:latin typeface="Courier New"/>
                <a:cs typeface="Courier New"/>
              </a:rPr>
              <a:t>=</a:t>
            </a:r>
            <a:r>
              <a:rPr sz="2400" b="1" dirty="0">
                <a:solidFill>
                  <a:srgbClr val="0070C0"/>
                </a:solidFill>
                <a:latin typeface="Courier New"/>
                <a:cs typeface="Courier New"/>
              </a:rPr>
              <a:t>	-</a:t>
            </a:r>
            <a:r>
              <a:rPr sz="2400" b="1" spc="-25" dirty="0">
                <a:solidFill>
                  <a:srgbClr val="0070C0"/>
                </a:solidFill>
                <a:latin typeface="Courier New"/>
                <a:cs typeface="Courier New"/>
              </a:rPr>
              <a:t>v; </a:t>
            </a:r>
            <a:r>
              <a:rPr sz="2400" b="1" spc="-10" dirty="0">
                <a:latin typeface="Courier New"/>
                <a:cs typeface="Courier New"/>
              </a:rPr>
              <a:t>Done:</a:t>
            </a:r>
            <a:endParaRPr sz="2400">
              <a:latin typeface="Courier New"/>
              <a:cs typeface="Courier New"/>
            </a:endParaRPr>
          </a:p>
          <a:p>
            <a:pPr marL="775335">
              <a:lnSpc>
                <a:spcPts val="2550"/>
              </a:lnSpc>
              <a:tabLst>
                <a:tab pos="2056130" algn="l"/>
              </a:tabLst>
            </a:pPr>
            <a:r>
              <a:rPr sz="2400" b="1" spc="-10" dirty="0">
                <a:latin typeface="Courier New"/>
                <a:cs typeface="Courier New"/>
              </a:rPr>
              <a:t>return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r;</a:t>
            </a:r>
            <a:endParaRPr sz="2400">
              <a:latin typeface="Courier New"/>
              <a:cs typeface="Courier New"/>
            </a:endParaRPr>
          </a:p>
          <a:p>
            <a:pPr marL="43815">
              <a:lnSpc>
                <a:spcPts val="279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6CF7CEA6-A3BE-8FAF-70C5-D331BC8457C5}"/>
              </a:ext>
            </a:extLst>
          </p:cNvPr>
          <p:cNvSpPr txBox="1"/>
          <p:nvPr/>
        </p:nvSpPr>
        <p:spPr>
          <a:xfrm>
            <a:off x="3513837" y="1316049"/>
            <a:ext cx="4437380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lang="en-US" sz="2800" b="1" spc="-20" dirty="0">
                <a:latin typeface="Calibri"/>
                <a:cs typeface="Calibri"/>
              </a:rPr>
              <a:t>Code: : </a:t>
            </a:r>
            <a:r>
              <a:rPr lang="en-US" sz="2800" b="1" i="1" spc="-20" dirty="0" err="1">
                <a:latin typeface="Calibri"/>
                <a:cs typeface="Calibri"/>
              </a:rPr>
              <a:t>goto</a:t>
            </a:r>
            <a:r>
              <a:rPr lang="en-US" sz="2800" b="1" i="1" spc="-20" dirty="0">
                <a:latin typeface="Calibri"/>
                <a:cs typeface="Calibri"/>
              </a:rPr>
              <a:t> </a:t>
            </a:r>
            <a:r>
              <a:rPr lang="en-US" sz="2800" b="1" spc="-20" dirty="0">
                <a:latin typeface="Calibri"/>
                <a:cs typeface="Calibri"/>
              </a:rPr>
              <a:t>version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0FBF1733-CE23-7CC7-5942-B2B931E8D6A6}"/>
              </a:ext>
            </a:extLst>
          </p:cNvPr>
          <p:cNvSpPr txBox="1"/>
          <p:nvPr/>
        </p:nvSpPr>
        <p:spPr>
          <a:xfrm>
            <a:off x="8233507" y="1778130"/>
            <a:ext cx="3661410" cy="35561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>
              <a:latin typeface="Times New Roman"/>
              <a:cs typeface="Times New Roman"/>
            </a:endParaRPr>
          </a:p>
          <a:p>
            <a:pPr marL="69215">
              <a:lnSpc>
                <a:spcPts val="2790"/>
              </a:lnSpc>
            </a:pPr>
            <a:r>
              <a:rPr sz="2400" b="1" spc="-20" dirty="0">
                <a:solidFill>
                  <a:srgbClr val="262626"/>
                </a:solidFill>
                <a:latin typeface="Courier New"/>
                <a:cs typeface="Courier New"/>
              </a:rPr>
              <a:t>abs:</a:t>
            </a:r>
            <a:endParaRPr sz="2400">
              <a:latin typeface="Courier New"/>
              <a:cs typeface="Courier New"/>
            </a:endParaRPr>
          </a:p>
          <a:p>
            <a:pPr marL="526415" marR="200025">
              <a:lnSpc>
                <a:spcPts val="2700"/>
              </a:lnSpc>
              <a:spcBef>
                <a:spcPts val="150"/>
              </a:spcBef>
              <a:tabLst>
                <a:tab pos="892175" algn="l"/>
                <a:tab pos="1257935" algn="l"/>
                <a:tab pos="1990089" algn="l"/>
                <a:tab pos="2721610" algn="l"/>
              </a:tabLst>
            </a:pPr>
            <a:r>
              <a:rPr sz="2400" b="1" spc="-25" dirty="0">
                <a:solidFill>
                  <a:srgbClr val="262626"/>
                </a:solidFill>
                <a:latin typeface="Courier New"/>
                <a:cs typeface="Courier New"/>
              </a:rPr>
              <a:t>slt</a:t>
            </a:r>
            <a:r>
              <a:rPr sz="2400" b="1" dirty="0">
                <a:solidFill>
                  <a:srgbClr val="262626"/>
                </a:solidFill>
                <a:latin typeface="Courier New"/>
                <a:cs typeface="Courier New"/>
              </a:rPr>
              <a:t>	</a:t>
            </a:r>
            <a:r>
              <a:rPr sz="2400" b="1" spc="-25" dirty="0">
                <a:solidFill>
                  <a:srgbClr val="262626"/>
                </a:solidFill>
                <a:latin typeface="Courier New"/>
                <a:cs typeface="Courier New"/>
              </a:rPr>
              <a:t>t0,</a:t>
            </a:r>
            <a:r>
              <a:rPr sz="2400" b="1" dirty="0">
                <a:solidFill>
                  <a:srgbClr val="262626"/>
                </a:solidFill>
                <a:latin typeface="Courier New"/>
                <a:cs typeface="Courier New"/>
              </a:rPr>
              <a:t>	</a:t>
            </a:r>
            <a:r>
              <a:rPr sz="2400" b="1" spc="-25" dirty="0">
                <a:solidFill>
                  <a:srgbClr val="262626"/>
                </a:solidFill>
                <a:latin typeface="Courier New"/>
                <a:cs typeface="Courier New"/>
              </a:rPr>
              <a:t>a0,</a:t>
            </a:r>
            <a:r>
              <a:rPr sz="2400" b="1" dirty="0">
                <a:solidFill>
                  <a:srgbClr val="262626"/>
                </a:solidFill>
                <a:latin typeface="Courier New"/>
                <a:cs typeface="Courier New"/>
              </a:rPr>
              <a:t>	</a:t>
            </a:r>
            <a:r>
              <a:rPr sz="2400" b="1" spc="-25" dirty="0">
                <a:solidFill>
                  <a:srgbClr val="262626"/>
                </a:solidFill>
                <a:latin typeface="Courier New"/>
                <a:cs typeface="Courier New"/>
              </a:rPr>
              <a:t>x0 bne</a:t>
            </a:r>
            <a:r>
              <a:rPr sz="2400" b="1" dirty="0">
                <a:solidFill>
                  <a:srgbClr val="262626"/>
                </a:solidFill>
                <a:latin typeface="Courier New"/>
                <a:cs typeface="Courier New"/>
              </a:rPr>
              <a:t>	</a:t>
            </a:r>
            <a:r>
              <a:rPr sz="2400" b="1" spc="-25" dirty="0">
                <a:solidFill>
                  <a:srgbClr val="262626"/>
                </a:solidFill>
                <a:latin typeface="Courier New"/>
                <a:cs typeface="Courier New"/>
              </a:rPr>
              <a:t>t0,</a:t>
            </a:r>
            <a:r>
              <a:rPr sz="2400" b="1" dirty="0">
                <a:solidFill>
                  <a:srgbClr val="262626"/>
                </a:solidFill>
                <a:latin typeface="Courier New"/>
                <a:cs typeface="Courier New"/>
              </a:rPr>
              <a:t>	</a:t>
            </a:r>
            <a:r>
              <a:rPr sz="2400" b="1" spc="-25" dirty="0">
                <a:solidFill>
                  <a:srgbClr val="262626"/>
                </a:solidFill>
                <a:latin typeface="Courier New"/>
                <a:cs typeface="Courier New"/>
              </a:rPr>
              <a:t>x0,</a:t>
            </a:r>
            <a:r>
              <a:rPr sz="2400" b="1" dirty="0">
                <a:solidFill>
                  <a:srgbClr val="262626"/>
                </a:solidFill>
                <a:latin typeface="Courier New"/>
                <a:cs typeface="Courier New"/>
              </a:rPr>
              <a:t>	</a:t>
            </a:r>
            <a:r>
              <a:rPr sz="2400" b="1" spc="-20" dirty="0">
                <a:solidFill>
                  <a:srgbClr val="262626"/>
                </a:solidFill>
                <a:latin typeface="Courier New"/>
                <a:cs typeface="Courier New"/>
              </a:rPr>
              <a:t>Then </a:t>
            </a:r>
            <a:r>
              <a:rPr sz="2400" b="1" spc="-50" dirty="0">
                <a:solidFill>
                  <a:srgbClr val="262626"/>
                </a:solidFill>
                <a:latin typeface="Courier New"/>
                <a:cs typeface="Courier New"/>
              </a:rPr>
              <a:t>j</a:t>
            </a:r>
            <a:r>
              <a:rPr sz="2400" b="1" dirty="0">
                <a:solidFill>
                  <a:srgbClr val="262626"/>
                </a:solidFill>
                <a:latin typeface="Courier New"/>
                <a:cs typeface="Courier New"/>
              </a:rPr>
              <a:t>	</a:t>
            </a:r>
            <a:r>
              <a:rPr sz="2400" b="1" spc="-20" dirty="0">
                <a:solidFill>
                  <a:srgbClr val="262626"/>
                </a:solidFill>
                <a:latin typeface="Courier New"/>
                <a:cs typeface="Courier New"/>
              </a:rPr>
              <a:t>Exit</a:t>
            </a:r>
            <a:endParaRPr sz="2400">
              <a:latin typeface="Courier New"/>
              <a:cs typeface="Courier New"/>
            </a:endParaRPr>
          </a:p>
          <a:p>
            <a:pPr marL="526415">
              <a:lnSpc>
                <a:spcPts val="2550"/>
              </a:lnSpc>
            </a:pPr>
            <a:r>
              <a:rPr sz="2400" b="1" spc="-10" dirty="0">
                <a:solidFill>
                  <a:srgbClr val="262626"/>
                </a:solidFill>
                <a:latin typeface="Courier New"/>
                <a:cs typeface="Courier New"/>
              </a:rPr>
              <a:t>Then:</a:t>
            </a:r>
            <a:endParaRPr sz="2400">
              <a:latin typeface="Courier New"/>
              <a:cs typeface="Courier New"/>
            </a:endParaRPr>
          </a:p>
          <a:p>
            <a:pPr marL="526415" marR="108585" indent="457200">
              <a:lnSpc>
                <a:spcPts val="2700"/>
              </a:lnSpc>
              <a:spcBef>
                <a:spcPts val="150"/>
              </a:spcBef>
              <a:tabLst>
                <a:tab pos="1715135" algn="l"/>
                <a:tab pos="2447290" algn="l"/>
                <a:tab pos="3178810" algn="l"/>
              </a:tabLst>
            </a:pPr>
            <a:r>
              <a:rPr sz="2400" b="1" spc="-25" dirty="0">
                <a:solidFill>
                  <a:srgbClr val="0070C0"/>
                </a:solidFill>
                <a:latin typeface="Courier New"/>
                <a:cs typeface="Courier New"/>
              </a:rPr>
              <a:t>sub</a:t>
            </a:r>
            <a:r>
              <a:rPr sz="2400" b="1" dirty="0">
                <a:solidFill>
                  <a:srgbClr val="0070C0"/>
                </a:solidFill>
                <a:latin typeface="Courier New"/>
                <a:cs typeface="Courier New"/>
              </a:rPr>
              <a:t>	</a:t>
            </a:r>
            <a:r>
              <a:rPr sz="2400" b="1" spc="-25" dirty="0">
                <a:solidFill>
                  <a:srgbClr val="0070C0"/>
                </a:solidFill>
                <a:latin typeface="Courier New"/>
                <a:cs typeface="Courier New"/>
              </a:rPr>
              <a:t>a0,</a:t>
            </a:r>
            <a:r>
              <a:rPr sz="2400" b="1" dirty="0">
                <a:solidFill>
                  <a:srgbClr val="0070C0"/>
                </a:solidFill>
                <a:latin typeface="Courier New"/>
                <a:cs typeface="Courier New"/>
              </a:rPr>
              <a:t>	</a:t>
            </a:r>
            <a:r>
              <a:rPr sz="2400" b="1" spc="-25" dirty="0">
                <a:solidFill>
                  <a:srgbClr val="0070C0"/>
                </a:solidFill>
                <a:latin typeface="Courier New"/>
                <a:cs typeface="Courier New"/>
              </a:rPr>
              <a:t>x0,</a:t>
            </a:r>
            <a:r>
              <a:rPr sz="2400" b="1" dirty="0">
                <a:solidFill>
                  <a:srgbClr val="0070C0"/>
                </a:solidFill>
                <a:latin typeface="Courier New"/>
                <a:cs typeface="Courier New"/>
              </a:rPr>
              <a:t>	</a:t>
            </a:r>
            <a:r>
              <a:rPr sz="2400" b="1" spc="-25" dirty="0">
                <a:solidFill>
                  <a:srgbClr val="0070C0"/>
                </a:solidFill>
                <a:latin typeface="Courier New"/>
                <a:cs typeface="Courier New"/>
              </a:rPr>
              <a:t>a0 </a:t>
            </a:r>
            <a:r>
              <a:rPr sz="2400" b="1" spc="-10" dirty="0">
                <a:solidFill>
                  <a:srgbClr val="262626"/>
                </a:solidFill>
                <a:latin typeface="Courier New"/>
                <a:cs typeface="Courier New"/>
              </a:rPr>
              <a:t>Exit:</a:t>
            </a:r>
            <a:endParaRPr sz="2400">
              <a:latin typeface="Courier New"/>
              <a:cs typeface="Courier New"/>
            </a:endParaRPr>
          </a:p>
          <a:p>
            <a:pPr marL="526415">
              <a:lnSpc>
                <a:spcPts val="2640"/>
              </a:lnSpc>
            </a:pPr>
            <a:r>
              <a:rPr sz="2400" b="1" spc="-25" dirty="0">
                <a:solidFill>
                  <a:srgbClr val="262626"/>
                </a:solidFill>
                <a:latin typeface="Courier New"/>
                <a:cs typeface="Courier New"/>
              </a:rPr>
              <a:t>ret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EB4191A-B122-5D2D-374B-F350205F00AD}"/>
              </a:ext>
            </a:extLst>
          </p:cNvPr>
          <p:cNvSpPr txBox="1"/>
          <p:nvPr/>
        </p:nvSpPr>
        <p:spPr>
          <a:xfrm>
            <a:off x="8238237" y="1346528"/>
            <a:ext cx="3644900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z="2800" b="1" dirty="0">
                <a:latin typeface="Calibri"/>
                <a:cs typeface="Calibri"/>
              </a:rPr>
              <a:t>Assembly Code</a:t>
            </a:r>
          </a:p>
        </p:txBody>
      </p:sp>
    </p:spTree>
    <p:extLst>
      <p:ext uri="{BB962C8B-B14F-4D97-AF65-F5344CB8AC3E}">
        <p14:creationId xmlns:p14="http://schemas.microsoft.com/office/powerpoint/2010/main" val="3136861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0012" y="1517650"/>
            <a:ext cx="3541395" cy="1063111"/>
          </a:xfrm>
          <a:prstGeom prst="rect">
            <a:avLst/>
          </a:prstGeom>
          <a:solidFill>
            <a:srgbClr val="D5F1CF"/>
          </a:solidFill>
          <a:ln w="12700">
            <a:solidFill>
              <a:srgbClr val="97A17C"/>
            </a:solidFill>
          </a:ln>
        </p:spPr>
        <p:txBody>
          <a:bodyPr vert="horz" wrap="square" lIns="0" tIns="27939" rIns="0" bIns="0" rtlCol="0" anchor="t">
            <a:spAutoFit/>
          </a:bodyPr>
          <a:lstStyle/>
          <a:p>
            <a:pPr marL="508000" marR="372745" indent="-457200">
              <a:lnSpc>
                <a:spcPts val="2700"/>
              </a:lnSpc>
              <a:spcBef>
                <a:spcPts val="219"/>
              </a:spcBef>
              <a:tabLst>
                <a:tab pos="873760" algn="l"/>
                <a:tab pos="1422400" algn="l"/>
                <a:tab pos="2062480" algn="l"/>
                <a:tab pos="2611120" algn="l"/>
              </a:tabLst>
            </a:pPr>
            <a:r>
              <a:rPr sz="2400" spc="-10" dirty="0">
                <a:latin typeface="Courier New"/>
                <a:cs typeface="Courier New"/>
              </a:rPr>
              <a:t>while(A[i]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==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k){ </a:t>
            </a:r>
            <a:r>
              <a:rPr sz="2400" spc="-5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+=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1;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640"/>
              </a:lnSpc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55592" y="5120622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732979"/>
              </p:ext>
            </p:extLst>
          </p:nvPr>
        </p:nvGraphicFramePr>
        <p:xfrm>
          <a:off x="757092" y="5107922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a2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500" spc="-10" dirty="0">
                          <a:latin typeface="Courier New"/>
                          <a:cs typeface="Courier New"/>
                        </a:rPr>
                        <a:t>&amp;A[0]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89212" y="3539472"/>
            <a:ext cx="1132205" cy="3911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Registers</a:t>
            </a:r>
            <a:endParaRPr lang="en-US" sz="2400" b="1">
              <a:latin typeface="Calibri"/>
              <a:ea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55592" y="4104622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821277"/>
              </p:ext>
            </p:extLst>
          </p:nvPr>
        </p:nvGraphicFramePr>
        <p:xfrm>
          <a:off x="757092" y="4091922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0" dirty="0">
                          <a:latin typeface="Courier New"/>
                          <a:cs typeface="Courier New"/>
                        </a:rPr>
                        <a:t>i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1455592" y="4612622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256497"/>
              </p:ext>
            </p:extLst>
          </p:nvPr>
        </p:nvGraphicFramePr>
        <p:xfrm>
          <a:off x="757092" y="4599922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0" dirty="0">
                          <a:latin typeface="Courier New"/>
                          <a:cs typeface="Courier New"/>
                        </a:rPr>
                        <a:t>k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1451776" y="5775245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164595"/>
              </p:ext>
            </p:extLst>
          </p:nvPr>
        </p:nvGraphicFramePr>
        <p:xfrm>
          <a:off x="753276" y="5762545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840455" y="1063859"/>
            <a:ext cx="1043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6CCDEE1-07B0-5BB6-98A3-01E92A4BD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/>
              <a:t>Example: while.</a:t>
            </a:r>
            <a:endParaRPr lang="en-US" dirty="0"/>
          </a:p>
        </p:txBody>
      </p:sp>
      <p:sp>
        <p:nvSpPr>
          <p:cNvPr id="52" name="object 15">
            <a:extLst>
              <a:ext uri="{FF2B5EF4-FFF2-40B4-BE49-F238E27FC236}">
                <a16:creationId xmlns:a16="http://schemas.microsoft.com/office/drawing/2014/main" id="{CE00311B-23D2-1B3C-75F6-C8B35BECF9E8}"/>
              </a:ext>
            </a:extLst>
          </p:cNvPr>
          <p:cNvSpPr txBox="1"/>
          <p:nvPr/>
        </p:nvSpPr>
        <p:spPr>
          <a:xfrm>
            <a:off x="5168615" y="1063858"/>
            <a:ext cx="6835140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b="1" dirty="0">
                <a:latin typeface="Calibri"/>
                <a:cs typeface="Calibri"/>
              </a:rPr>
              <a:t>Exercise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84AC0F4-E577-9E26-46D2-623CA7AD1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243F56D1-9AD7-F269-014D-7E65D80CD409}"/>
              </a:ext>
            </a:extLst>
          </p:cNvPr>
          <p:cNvSpPr txBox="1"/>
          <p:nvPr/>
        </p:nvSpPr>
        <p:spPr>
          <a:xfrm>
            <a:off x="840012" y="1517650"/>
            <a:ext cx="3541395" cy="1063111"/>
          </a:xfrm>
          <a:prstGeom prst="rect">
            <a:avLst/>
          </a:prstGeom>
          <a:solidFill>
            <a:srgbClr val="D5F1CF"/>
          </a:solidFill>
          <a:ln w="12700">
            <a:solidFill>
              <a:srgbClr val="97A17C"/>
            </a:solidFill>
          </a:ln>
        </p:spPr>
        <p:txBody>
          <a:bodyPr vert="horz" wrap="square" lIns="0" tIns="27939" rIns="0" bIns="0" rtlCol="0" anchor="t">
            <a:spAutoFit/>
          </a:bodyPr>
          <a:lstStyle/>
          <a:p>
            <a:pPr marL="508000" marR="372745" indent="-457200">
              <a:lnSpc>
                <a:spcPts val="2700"/>
              </a:lnSpc>
              <a:spcBef>
                <a:spcPts val="219"/>
              </a:spcBef>
              <a:tabLst>
                <a:tab pos="873760" algn="l"/>
                <a:tab pos="1422400" algn="l"/>
                <a:tab pos="2062480" algn="l"/>
                <a:tab pos="2611120" algn="l"/>
              </a:tabLst>
            </a:pPr>
            <a:r>
              <a:rPr sz="2400" spc="-10" dirty="0">
                <a:latin typeface="Courier New"/>
                <a:cs typeface="Courier New"/>
              </a:rPr>
              <a:t>while(A[i]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==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k){ </a:t>
            </a:r>
            <a:r>
              <a:rPr sz="2400" spc="-5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+=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1;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640"/>
              </a:lnSpc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32C45E0-DD37-6E9D-363D-FA1F1AB65C08}"/>
              </a:ext>
            </a:extLst>
          </p:cNvPr>
          <p:cNvSpPr/>
          <p:nvPr/>
        </p:nvSpPr>
        <p:spPr>
          <a:xfrm>
            <a:off x="1455592" y="5120622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7ECE8ECC-6E0F-11BD-33A9-E715945E1C21}"/>
              </a:ext>
            </a:extLst>
          </p:cNvPr>
          <p:cNvGraphicFramePr>
            <a:graphicFrameLocks noGrp="1"/>
          </p:cNvGraphicFramePr>
          <p:nvPr/>
        </p:nvGraphicFramePr>
        <p:xfrm>
          <a:off x="757092" y="5107922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a2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500" spc="-10" dirty="0">
                          <a:latin typeface="Courier New"/>
                          <a:cs typeface="Courier New"/>
                        </a:rPr>
                        <a:t>&amp;A[0]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>
            <a:extLst>
              <a:ext uri="{FF2B5EF4-FFF2-40B4-BE49-F238E27FC236}">
                <a16:creationId xmlns:a16="http://schemas.microsoft.com/office/drawing/2014/main" id="{E2774256-30B9-993B-5751-B3B07AC75164}"/>
              </a:ext>
            </a:extLst>
          </p:cNvPr>
          <p:cNvSpPr txBox="1"/>
          <p:nvPr/>
        </p:nvSpPr>
        <p:spPr>
          <a:xfrm>
            <a:off x="889212" y="3539472"/>
            <a:ext cx="1132205" cy="3911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Registers</a:t>
            </a:r>
            <a:endParaRPr lang="en-US" sz="2400" b="1">
              <a:latin typeface="Calibri"/>
              <a:ea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062C4B6-B038-EDDA-8C42-FF156F32EF4A}"/>
              </a:ext>
            </a:extLst>
          </p:cNvPr>
          <p:cNvSpPr/>
          <p:nvPr/>
        </p:nvSpPr>
        <p:spPr>
          <a:xfrm>
            <a:off x="1455592" y="4104622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1548318D-6ABF-B2FA-9DEF-616E68550F4B}"/>
              </a:ext>
            </a:extLst>
          </p:cNvPr>
          <p:cNvGraphicFramePr>
            <a:graphicFrameLocks noGrp="1"/>
          </p:cNvGraphicFramePr>
          <p:nvPr/>
        </p:nvGraphicFramePr>
        <p:xfrm>
          <a:off x="757092" y="4091922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0" dirty="0">
                          <a:latin typeface="Courier New"/>
                          <a:cs typeface="Courier New"/>
                        </a:rPr>
                        <a:t>i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>
            <a:extLst>
              <a:ext uri="{FF2B5EF4-FFF2-40B4-BE49-F238E27FC236}">
                <a16:creationId xmlns:a16="http://schemas.microsoft.com/office/drawing/2014/main" id="{1BF47F01-1269-D493-8734-6389C832A073}"/>
              </a:ext>
            </a:extLst>
          </p:cNvPr>
          <p:cNvSpPr/>
          <p:nvPr/>
        </p:nvSpPr>
        <p:spPr>
          <a:xfrm>
            <a:off x="1455592" y="4612622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3B53CB49-76F7-7F1F-23FE-ECA77D441FC2}"/>
              </a:ext>
            </a:extLst>
          </p:cNvPr>
          <p:cNvGraphicFramePr>
            <a:graphicFrameLocks noGrp="1"/>
          </p:cNvGraphicFramePr>
          <p:nvPr/>
        </p:nvGraphicFramePr>
        <p:xfrm>
          <a:off x="757092" y="4599922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0" dirty="0">
                          <a:latin typeface="Courier New"/>
                          <a:cs typeface="Courier New"/>
                        </a:rPr>
                        <a:t>k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>
            <a:extLst>
              <a:ext uri="{FF2B5EF4-FFF2-40B4-BE49-F238E27FC236}">
                <a16:creationId xmlns:a16="http://schemas.microsoft.com/office/drawing/2014/main" id="{400DF86E-6A2E-9722-0172-E9416E75CE46}"/>
              </a:ext>
            </a:extLst>
          </p:cNvPr>
          <p:cNvSpPr/>
          <p:nvPr/>
        </p:nvSpPr>
        <p:spPr>
          <a:xfrm>
            <a:off x="1451776" y="5775245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701039" h="381000">
                <a:moveTo>
                  <a:pt x="700721" y="0"/>
                </a:moveTo>
                <a:lnTo>
                  <a:pt x="0" y="0"/>
                </a:lnTo>
                <a:lnTo>
                  <a:pt x="0" y="381000"/>
                </a:lnTo>
                <a:lnTo>
                  <a:pt x="700721" y="381000"/>
                </a:lnTo>
                <a:lnTo>
                  <a:pt x="70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2A61E06D-4CDE-3273-1979-013F424103E5}"/>
              </a:ext>
            </a:extLst>
          </p:cNvPr>
          <p:cNvGraphicFramePr>
            <a:graphicFrameLocks noGrp="1"/>
          </p:cNvGraphicFramePr>
          <p:nvPr/>
        </p:nvGraphicFramePr>
        <p:xfrm>
          <a:off x="753276" y="5762545"/>
          <a:ext cx="138620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15">
            <a:extLst>
              <a:ext uri="{FF2B5EF4-FFF2-40B4-BE49-F238E27FC236}">
                <a16:creationId xmlns:a16="http://schemas.microsoft.com/office/drawing/2014/main" id="{10DE88AB-5403-D507-6138-85E93CF5FFE0}"/>
              </a:ext>
            </a:extLst>
          </p:cNvPr>
          <p:cNvSpPr txBox="1"/>
          <p:nvPr/>
        </p:nvSpPr>
        <p:spPr>
          <a:xfrm>
            <a:off x="840455" y="1063859"/>
            <a:ext cx="1043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95F387E-0EE0-5633-60F1-713351277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/>
              <a:t>Example solution: while.</a:t>
            </a:r>
            <a:endParaRPr lang="en-US" dirty="0"/>
          </a:p>
        </p:txBody>
      </p:sp>
      <p:grpSp>
        <p:nvGrpSpPr>
          <p:cNvPr id="35" name="object 10">
            <a:extLst>
              <a:ext uri="{FF2B5EF4-FFF2-40B4-BE49-F238E27FC236}">
                <a16:creationId xmlns:a16="http://schemas.microsoft.com/office/drawing/2014/main" id="{D55B608C-C1F5-ACF9-1AC1-B81EA3507658}"/>
              </a:ext>
            </a:extLst>
          </p:cNvPr>
          <p:cNvGrpSpPr/>
          <p:nvPr/>
        </p:nvGrpSpPr>
        <p:grpSpPr>
          <a:xfrm>
            <a:off x="5166746" y="1479550"/>
            <a:ext cx="6830059" cy="2804160"/>
            <a:chOff x="4973706" y="1327150"/>
            <a:chExt cx="6677659" cy="2844800"/>
          </a:xfrm>
        </p:grpSpPr>
        <p:sp>
          <p:nvSpPr>
            <p:cNvPr id="33" name="object 11">
              <a:extLst>
                <a:ext uri="{FF2B5EF4-FFF2-40B4-BE49-F238E27FC236}">
                  <a16:creationId xmlns:a16="http://schemas.microsoft.com/office/drawing/2014/main" id="{8D5C750B-4EF6-7C4C-375D-A686736B0B57}"/>
                </a:ext>
              </a:extLst>
            </p:cNvPr>
            <p:cNvSpPr/>
            <p:nvPr/>
          </p:nvSpPr>
          <p:spPr>
            <a:xfrm>
              <a:off x="4973706" y="1327150"/>
              <a:ext cx="6677659" cy="2844800"/>
            </a:xfrm>
            <a:custGeom>
              <a:avLst/>
              <a:gdLst/>
              <a:ahLst/>
              <a:cxnLst/>
              <a:rect l="l" t="t" r="r" b="b"/>
              <a:pathLst>
                <a:path w="6677659" h="2844800">
                  <a:moveTo>
                    <a:pt x="6677102" y="0"/>
                  </a:moveTo>
                  <a:lnTo>
                    <a:pt x="0" y="0"/>
                  </a:lnTo>
                  <a:lnTo>
                    <a:pt x="0" y="2844800"/>
                  </a:lnTo>
                  <a:lnTo>
                    <a:pt x="6677102" y="2844800"/>
                  </a:lnTo>
                  <a:lnTo>
                    <a:pt x="6677102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2">
              <a:extLst>
                <a:ext uri="{FF2B5EF4-FFF2-40B4-BE49-F238E27FC236}">
                  <a16:creationId xmlns:a16="http://schemas.microsoft.com/office/drawing/2014/main" id="{55F922E3-301D-4649-243F-E9C1B9573BC9}"/>
                </a:ext>
              </a:extLst>
            </p:cNvPr>
            <p:cNvSpPr/>
            <p:nvPr/>
          </p:nvSpPr>
          <p:spPr>
            <a:xfrm>
              <a:off x="4973706" y="1327150"/>
              <a:ext cx="6677659" cy="2844800"/>
            </a:xfrm>
            <a:custGeom>
              <a:avLst/>
              <a:gdLst/>
              <a:ahLst/>
              <a:cxnLst/>
              <a:rect l="l" t="t" r="r" b="b"/>
              <a:pathLst>
                <a:path w="6677659" h="2844800">
                  <a:moveTo>
                    <a:pt x="0" y="0"/>
                  </a:moveTo>
                  <a:lnTo>
                    <a:pt x="6677102" y="0"/>
                  </a:lnTo>
                  <a:lnTo>
                    <a:pt x="6677102" y="2844800"/>
                  </a:lnTo>
                  <a:lnTo>
                    <a:pt x="0" y="2844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13">
            <a:extLst>
              <a:ext uri="{FF2B5EF4-FFF2-40B4-BE49-F238E27FC236}">
                <a16:creationId xmlns:a16="http://schemas.microsoft.com/office/drawing/2014/main" id="{BDC7BBAE-891C-E948-D89C-EBCEADE226B8}"/>
              </a:ext>
            </a:extLst>
          </p:cNvPr>
          <p:cNvSpPr txBox="1"/>
          <p:nvPr/>
        </p:nvSpPr>
        <p:spPr>
          <a:xfrm>
            <a:off x="5245486" y="1474381"/>
            <a:ext cx="940435" cy="3206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ourier New"/>
                <a:cs typeface="Courier New"/>
              </a:rPr>
              <a:t>Loop:</a:t>
            </a:r>
            <a:endParaRPr lang="en-US" sz="2000">
              <a:latin typeface="Courier New"/>
              <a:cs typeface="Courier New"/>
            </a:endParaRPr>
          </a:p>
        </p:txBody>
      </p:sp>
      <p:graphicFrame>
        <p:nvGraphicFramePr>
          <p:cNvPr id="39" name="object 14">
            <a:extLst>
              <a:ext uri="{FF2B5EF4-FFF2-40B4-BE49-F238E27FC236}">
                <a16:creationId xmlns:a16="http://schemas.microsoft.com/office/drawing/2014/main" id="{B6ACD60D-9A09-BF8A-E9AC-EC48FA12FE3F}"/>
              </a:ext>
            </a:extLst>
          </p:cNvPr>
          <p:cNvGraphicFramePr>
            <a:graphicFrameLocks noGrp="1"/>
          </p:cNvGraphicFramePr>
          <p:nvPr/>
        </p:nvGraphicFramePr>
        <p:xfrm>
          <a:off x="5567680" y="1798320"/>
          <a:ext cx="6323873" cy="20580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8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344">
                  <a:extLst>
                    <a:ext uri="{9D8B030D-6E8A-4147-A177-3AD203B41FA5}">
                      <a16:colId xmlns:a16="http://schemas.microsoft.com/office/drawing/2014/main" val="1910843907"/>
                    </a:ext>
                  </a:extLst>
                </a:gridCol>
                <a:gridCol w="683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32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24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16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91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4805">
                <a:tc>
                  <a:txBody>
                    <a:bodyPr/>
                    <a:lstStyle/>
                    <a:p>
                      <a:pPr marL="31750">
                        <a:lnSpc>
                          <a:spcPts val="2480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slli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31750" lvl="0">
                        <a:lnSpc>
                          <a:spcPts val="2480"/>
                        </a:lnSpc>
                        <a:buNone/>
                      </a:pPr>
                      <a:endParaRPr sz="2000" spc="-2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t0,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a0,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4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t0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i*4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29">
                <a:tc gridSpan="5">
                  <a:txBody>
                    <a:bodyPr/>
                    <a:lstStyle/>
                    <a:p>
                      <a:pPr marL="31750">
                        <a:lnSpc>
                          <a:spcPts val="2480"/>
                        </a:lnSpc>
                        <a:tabLst>
                          <a:tab pos="763270" algn="l"/>
                          <a:tab pos="1494790" algn="l"/>
                          <a:tab pos="2226310" algn="l"/>
                        </a:tabLst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add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t0,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t0,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a2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4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t0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&amp;A[i]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470"/>
                        </a:lnSpc>
                        <a:tabLst>
                          <a:tab pos="580390" algn="l"/>
                          <a:tab pos="1311910" algn="l"/>
                        </a:tabLst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lw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t1,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0(t0)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47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7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t1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7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70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A[i]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529">
                <a:tc gridSpan="5">
                  <a:txBody>
                    <a:bodyPr/>
                    <a:lstStyle/>
                    <a:p>
                      <a:pPr marL="31750">
                        <a:lnSpc>
                          <a:spcPts val="2370"/>
                        </a:lnSpc>
                        <a:tabLst>
                          <a:tab pos="763270" algn="l"/>
                          <a:tab pos="1494790" algn="l"/>
                          <a:tab pos="2226310" algn="l"/>
                        </a:tabLst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bne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t1,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a1,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Exit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ts val="2790"/>
                        </a:lnSpc>
                        <a:tabLst>
                          <a:tab pos="946150" algn="l"/>
                          <a:tab pos="1677670" algn="l"/>
                          <a:tab pos="2409190" algn="l"/>
                        </a:tabLst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addi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a0,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a0,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237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274320">
                        <a:lnSpc>
                          <a:spcPts val="279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1440">
                        <a:lnSpc>
                          <a:spcPts val="2370"/>
                        </a:lnSpc>
                        <a:tabLst>
                          <a:tab pos="1005840" algn="l"/>
                          <a:tab pos="1554480" algn="l"/>
                        </a:tabLst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A[i]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!=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k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ts val="2790"/>
                        </a:lnSpc>
                        <a:tabLst>
                          <a:tab pos="457200" algn="l"/>
                          <a:tab pos="822960" algn="l"/>
                          <a:tab pos="1188720" algn="l"/>
                          <a:tab pos="1554480" algn="l"/>
                        </a:tabLst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 gridSpan="5">
                  <a:txBody>
                    <a:bodyPr/>
                    <a:lstStyle/>
                    <a:p>
                      <a:pPr marL="31750">
                        <a:lnSpc>
                          <a:spcPts val="2470"/>
                        </a:lnSpc>
                        <a:tabLst>
                          <a:tab pos="763270" algn="l"/>
                          <a:tab pos="1494790" algn="l"/>
                          <a:tab pos="2226310" algn="l"/>
                        </a:tabLst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beq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x0,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x0,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Loop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47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1440">
                        <a:lnSpc>
                          <a:spcPts val="2470"/>
                        </a:lnSpc>
                        <a:tabLst>
                          <a:tab pos="640080" algn="l"/>
                          <a:tab pos="1188720" algn="l"/>
                        </a:tabLst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go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Loop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object 15">
            <a:extLst>
              <a:ext uri="{FF2B5EF4-FFF2-40B4-BE49-F238E27FC236}">
                <a16:creationId xmlns:a16="http://schemas.microsoft.com/office/drawing/2014/main" id="{E65DB0FB-150C-9626-804E-485E4C1AECC6}"/>
              </a:ext>
            </a:extLst>
          </p:cNvPr>
          <p:cNvSpPr txBox="1"/>
          <p:nvPr/>
        </p:nvSpPr>
        <p:spPr>
          <a:xfrm>
            <a:off x="5245486" y="3874681"/>
            <a:ext cx="940435" cy="3206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ourier New"/>
                <a:cs typeface="Courier New"/>
              </a:rPr>
              <a:t>Exit:</a:t>
            </a:r>
            <a:endParaRPr lang="en-US" sz="2000">
              <a:latin typeface="Courier New"/>
              <a:cs typeface="Courier New"/>
            </a:endParaRPr>
          </a:p>
        </p:txBody>
      </p:sp>
      <p:sp>
        <p:nvSpPr>
          <p:cNvPr id="52" name="object 15">
            <a:extLst>
              <a:ext uri="{FF2B5EF4-FFF2-40B4-BE49-F238E27FC236}">
                <a16:creationId xmlns:a16="http://schemas.microsoft.com/office/drawing/2014/main" id="{15D074E8-7E6F-1640-93BC-C425D859A00B}"/>
              </a:ext>
            </a:extLst>
          </p:cNvPr>
          <p:cNvSpPr txBox="1"/>
          <p:nvPr/>
        </p:nvSpPr>
        <p:spPr>
          <a:xfrm>
            <a:off x="5168615" y="1063858"/>
            <a:ext cx="6835140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b="1" dirty="0">
                <a:latin typeface="Calibri"/>
                <a:cs typeface="Calibri"/>
              </a:rPr>
              <a:t>Assembly Code (Example 2.6 in book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08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3758" y="1099731"/>
            <a:ext cx="898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850" y="3036348"/>
            <a:ext cx="1590040" cy="3911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goto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version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9449" y="3426119"/>
            <a:ext cx="4578714" cy="1993494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 anchor="t">
            <a:spAutoFit/>
          </a:bodyPr>
          <a:lstStyle/>
          <a:p>
            <a:pPr marL="46990">
              <a:lnSpc>
                <a:spcPts val="3030"/>
              </a:lnSpc>
            </a:pPr>
            <a:r>
              <a:rPr sz="2400" spc="-10" dirty="0">
                <a:latin typeface="Consolas"/>
                <a:cs typeface="Courier New"/>
              </a:rPr>
              <a:t>Loop:</a:t>
            </a:r>
            <a:endParaRPr lang="en-US" sz="2400">
              <a:latin typeface="Consolas"/>
              <a:cs typeface="Courier New"/>
            </a:endParaRPr>
          </a:p>
          <a:p>
            <a:pPr marL="473075">
              <a:lnSpc>
                <a:spcPts val="3100"/>
              </a:lnSpc>
              <a:tabLst>
                <a:tab pos="1113790" algn="l"/>
                <a:tab pos="3674745" algn="l"/>
              </a:tabLst>
            </a:pPr>
            <a:r>
              <a:rPr sz="2400" spc="-25" dirty="0">
                <a:latin typeface="Consolas"/>
                <a:cs typeface="Courier New"/>
              </a:rPr>
              <a:t>if</a:t>
            </a:r>
            <a:r>
              <a:rPr sz="2400" dirty="0">
                <a:latin typeface="Consolas"/>
                <a:cs typeface="Courier New"/>
              </a:rPr>
              <a:t>	</a:t>
            </a:r>
            <a:r>
              <a:rPr sz="2400" spc="-10" dirty="0">
                <a:latin typeface="Consolas"/>
                <a:cs typeface="Courier New"/>
              </a:rPr>
              <a:t>(!Cond)goto</a:t>
            </a:r>
            <a:r>
              <a:rPr lang="en-US" sz="2400" spc="-10" dirty="0">
                <a:latin typeface="Consolas"/>
                <a:cs typeface="Courier New"/>
              </a:rPr>
              <a:t> </a:t>
            </a:r>
            <a:r>
              <a:rPr sz="2400" spc="-20" dirty="0">
                <a:latin typeface="Consolas"/>
                <a:cs typeface="Courier New"/>
              </a:rPr>
              <a:t>Exit;</a:t>
            </a:r>
            <a:endParaRPr sz="2400">
              <a:latin typeface="Consolas"/>
              <a:cs typeface="Courier New"/>
            </a:endParaRPr>
          </a:p>
          <a:p>
            <a:pPr marL="473075">
              <a:lnSpc>
                <a:spcPts val="3100"/>
              </a:lnSpc>
            </a:pPr>
            <a:r>
              <a:rPr sz="2400" b="1" spc="-20" dirty="0">
                <a:latin typeface="Consolas"/>
                <a:cs typeface="Courier New"/>
              </a:rPr>
              <a:t>Body</a:t>
            </a:r>
            <a:endParaRPr sz="2400">
              <a:latin typeface="Consolas"/>
              <a:cs typeface="Courier New"/>
            </a:endParaRPr>
          </a:p>
          <a:p>
            <a:pPr marL="46990" marR="2261870" indent="426720">
              <a:lnSpc>
                <a:spcPts val="3100"/>
              </a:lnSpc>
              <a:spcBef>
                <a:spcPts val="190"/>
              </a:spcBef>
              <a:tabLst>
                <a:tab pos="1540510" algn="l"/>
              </a:tabLst>
            </a:pPr>
            <a:r>
              <a:rPr lang="en-US" sz="2400" spc="-20" dirty="0">
                <a:latin typeface="Consolas"/>
                <a:cs typeface="Courier New"/>
              </a:rPr>
              <a:t>goto </a:t>
            </a:r>
            <a:r>
              <a:rPr lang="en-US" sz="2400" spc="-10" dirty="0">
                <a:latin typeface="Consolas"/>
                <a:cs typeface="Courier New"/>
              </a:rPr>
              <a:t>Loop; Exit:</a:t>
            </a:r>
            <a:endParaRPr sz="2400">
              <a:latin typeface="Consolas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6685" y="1515807"/>
            <a:ext cx="2741295" cy="921406"/>
          </a:xfrm>
          <a:prstGeom prst="rect">
            <a:avLst/>
          </a:prstGeom>
          <a:solidFill>
            <a:srgbClr val="D5F1D0"/>
          </a:solidFill>
          <a:ln w="12700">
            <a:solidFill>
              <a:srgbClr val="000000"/>
            </a:solidFill>
          </a:ln>
        </p:spPr>
        <p:txBody>
          <a:bodyPr vert="horz" wrap="square" lIns="0" tIns="94615" rIns="0" bIns="0" rtlCol="0" anchor="t">
            <a:spAutoFit/>
          </a:bodyPr>
          <a:lstStyle/>
          <a:p>
            <a:pPr marL="83185">
              <a:lnSpc>
                <a:spcPts val="3229"/>
              </a:lnSpc>
              <a:spcBef>
                <a:spcPts val="745"/>
              </a:spcBef>
              <a:tabLst>
                <a:tab pos="1363980" algn="l"/>
              </a:tabLst>
            </a:pPr>
            <a:r>
              <a:rPr sz="2800" spc="-10" dirty="0">
                <a:latin typeface="Consolas"/>
                <a:cs typeface="Courier New"/>
              </a:rPr>
              <a:t>while</a:t>
            </a:r>
            <a:r>
              <a:rPr sz="2800" dirty="0">
                <a:latin typeface="Consolas"/>
                <a:cs typeface="Courier New"/>
              </a:rPr>
              <a:t>	</a:t>
            </a:r>
            <a:r>
              <a:rPr sz="2800" spc="-10" dirty="0">
                <a:latin typeface="Consolas"/>
                <a:cs typeface="Courier New"/>
              </a:rPr>
              <a:t>(Cond)</a:t>
            </a:r>
            <a:endParaRPr lang="en-US" sz="2800">
              <a:latin typeface="Consolas"/>
              <a:cs typeface="Courier New"/>
            </a:endParaRPr>
          </a:p>
          <a:p>
            <a:pPr marL="510540">
              <a:lnSpc>
                <a:spcPts val="3229"/>
              </a:lnSpc>
            </a:pPr>
            <a:r>
              <a:rPr sz="2800" b="1" spc="-20" dirty="0">
                <a:latin typeface="Consolas"/>
                <a:cs typeface="Courier New"/>
              </a:rPr>
              <a:t>Body</a:t>
            </a:r>
            <a:endParaRPr sz="2800">
              <a:latin typeface="Consolas"/>
              <a:cs typeface="Courier New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51714E7-694A-1C6A-2FAF-FD84A902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/>
              <a:t>General 'while' template #1.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7D0D6C8-02B7-EA17-13DE-B6B08B7A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C4C2F27-7A91-6B24-2BC8-A91FD4549967}"/>
              </a:ext>
            </a:extLst>
          </p:cNvPr>
          <p:cNvSpPr txBox="1"/>
          <p:nvPr/>
        </p:nvSpPr>
        <p:spPr>
          <a:xfrm>
            <a:off x="833758" y="1099731"/>
            <a:ext cx="898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5AE30B3-CB8D-D428-B88C-DD49AD6FC957}"/>
              </a:ext>
            </a:extLst>
          </p:cNvPr>
          <p:cNvSpPr txBox="1"/>
          <p:nvPr/>
        </p:nvSpPr>
        <p:spPr>
          <a:xfrm>
            <a:off x="832850" y="3036348"/>
            <a:ext cx="1590040" cy="3911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goto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version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2926E21-BCAE-9086-912C-9BADDD160497}"/>
              </a:ext>
            </a:extLst>
          </p:cNvPr>
          <p:cNvSpPr txBox="1"/>
          <p:nvPr/>
        </p:nvSpPr>
        <p:spPr>
          <a:xfrm>
            <a:off x="679449" y="3426119"/>
            <a:ext cx="4578714" cy="1993494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 anchor="t">
            <a:spAutoFit/>
          </a:bodyPr>
          <a:lstStyle/>
          <a:p>
            <a:pPr marL="46990">
              <a:lnSpc>
                <a:spcPts val="3030"/>
              </a:lnSpc>
            </a:pPr>
            <a:r>
              <a:rPr sz="2400" spc="-10" dirty="0">
                <a:latin typeface="Courier New"/>
                <a:cs typeface="Courier New"/>
              </a:rPr>
              <a:t>Loop:</a:t>
            </a:r>
            <a:endParaRPr lang="en-US" sz="2400" dirty="0">
              <a:latin typeface="Courier New"/>
              <a:cs typeface="Courier New"/>
            </a:endParaRPr>
          </a:p>
          <a:p>
            <a:pPr marL="473075">
              <a:lnSpc>
                <a:spcPts val="3100"/>
              </a:lnSpc>
              <a:tabLst>
                <a:tab pos="1113790" algn="l"/>
                <a:tab pos="3674745" algn="l"/>
              </a:tabLst>
            </a:pPr>
            <a:r>
              <a:rPr sz="2400" spc="-25" dirty="0">
                <a:latin typeface="Courier New"/>
                <a:cs typeface="Courier New"/>
              </a:rPr>
              <a:t>if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(!Cond)</a:t>
            </a:r>
            <a:r>
              <a:rPr sz="2400" spc="-10" dirty="0" err="1">
                <a:latin typeface="Courier New"/>
                <a:cs typeface="Courier New"/>
              </a:rPr>
              <a:t>goto</a:t>
            </a:r>
            <a:r>
              <a:rPr lang="en-US" sz="2400" spc="-10" dirty="0">
                <a:latin typeface="Courier New"/>
                <a:cs typeface="Courier New"/>
              </a:rPr>
              <a:t> </a:t>
            </a:r>
            <a:r>
              <a:rPr sz="2400" spc="-20" dirty="0">
                <a:latin typeface="Courier New"/>
                <a:cs typeface="Courier New"/>
              </a:rPr>
              <a:t>Exit;</a:t>
            </a:r>
            <a:endParaRPr sz="2400" dirty="0">
              <a:latin typeface="Courier New"/>
              <a:cs typeface="Courier New"/>
            </a:endParaRPr>
          </a:p>
          <a:p>
            <a:pPr marL="473075">
              <a:lnSpc>
                <a:spcPts val="3100"/>
              </a:lnSpc>
            </a:pPr>
            <a:r>
              <a:rPr sz="2400" b="1" spc="-20" dirty="0">
                <a:latin typeface="Courier New"/>
                <a:cs typeface="Courier New"/>
              </a:rPr>
              <a:t>Body</a:t>
            </a:r>
            <a:endParaRPr sz="2400" dirty="0">
              <a:latin typeface="Courier New"/>
              <a:cs typeface="Courier New"/>
            </a:endParaRPr>
          </a:p>
          <a:p>
            <a:pPr marL="46990" marR="2261870" indent="426720">
              <a:lnSpc>
                <a:spcPts val="3100"/>
              </a:lnSpc>
              <a:spcBef>
                <a:spcPts val="190"/>
              </a:spcBef>
              <a:tabLst>
                <a:tab pos="1540510" algn="l"/>
              </a:tabLst>
            </a:pPr>
            <a:r>
              <a:rPr lang="en-US" sz="2400" spc="-20" dirty="0" err="1">
                <a:latin typeface="Courier New"/>
                <a:cs typeface="Courier New"/>
              </a:rPr>
              <a:t>goto</a:t>
            </a:r>
            <a:r>
              <a:rPr lang="en-US" sz="2400" spc="-20" dirty="0">
                <a:latin typeface="Courier New"/>
                <a:cs typeface="Courier New"/>
              </a:rPr>
              <a:t> </a:t>
            </a:r>
            <a:r>
              <a:rPr lang="en-US" sz="2400" spc="-10" dirty="0">
                <a:latin typeface="Courier New"/>
                <a:cs typeface="Courier New"/>
              </a:rPr>
              <a:t>Loop; Exit: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3DFF3F4-10FE-B125-7AF5-251B7DD12031}"/>
              </a:ext>
            </a:extLst>
          </p:cNvPr>
          <p:cNvSpPr txBox="1"/>
          <p:nvPr/>
        </p:nvSpPr>
        <p:spPr>
          <a:xfrm>
            <a:off x="836685" y="1515807"/>
            <a:ext cx="2741295" cy="921406"/>
          </a:xfrm>
          <a:prstGeom prst="rect">
            <a:avLst/>
          </a:prstGeom>
          <a:solidFill>
            <a:srgbClr val="D5F1D0"/>
          </a:solidFill>
          <a:ln w="12700">
            <a:solidFill>
              <a:srgbClr val="000000"/>
            </a:solidFill>
          </a:ln>
        </p:spPr>
        <p:txBody>
          <a:bodyPr vert="horz" wrap="square" lIns="0" tIns="94615" rIns="0" bIns="0" rtlCol="0" anchor="t">
            <a:spAutoFit/>
          </a:bodyPr>
          <a:lstStyle/>
          <a:p>
            <a:pPr marL="83185">
              <a:lnSpc>
                <a:spcPts val="3229"/>
              </a:lnSpc>
              <a:spcBef>
                <a:spcPts val="745"/>
              </a:spcBef>
              <a:tabLst>
                <a:tab pos="1363980" algn="l"/>
              </a:tabLst>
            </a:pPr>
            <a:r>
              <a:rPr sz="2800" spc="-10" dirty="0">
                <a:latin typeface="Courier New"/>
                <a:cs typeface="Courier New"/>
              </a:rPr>
              <a:t>while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(Cond)</a:t>
            </a:r>
            <a:endParaRPr sz="2800">
              <a:latin typeface="Courier New"/>
              <a:cs typeface="Courier New"/>
            </a:endParaRPr>
          </a:p>
          <a:p>
            <a:pPr marL="510540">
              <a:lnSpc>
                <a:spcPts val="3229"/>
              </a:lnSpc>
            </a:pPr>
            <a:r>
              <a:rPr sz="2800" b="1" spc="-20" dirty="0">
                <a:latin typeface="Courier New"/>
                <a:cs typeface="Courier New"/>
              </a:rPr>
              <a:t>Body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F425FEA-AA9F-2294-FD0D-DD3903053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/>
              <a:t>General 'while' template #1.</a:t>
            </a:r>
            <a:endParaRPr lang="en-US" dirty="0"/>
          </a:p>
        </p:txBody>
      </p:sp>
      <p:grpSp>
        <p:nvGrpSpPr>
          <p:cNvPr id="17" name="object 13">
            <a:extLst>
              <a:ext uri="{FF2B5EF4-FFF2-40B4-BE49-F238E27FC236}">
                <a16:creationId xmlns:a16="http://schemas.microsoft.com/office/drawing/2014/main" id="{DEB27B3A-FC2B-CC12-D262-0A118DCAE22C}"/>
              </a:ext>
            </a:extLst>
          </p:cNvPr>
          <p:cNvGrpSpPr/>
          <p:nvPr/>
        </p:nvGrpSpPr>
        <p:grpSpPr>
          <a:xfrm>
            <a:off x="5451336" y="1481128"/>
            <a:ext cx="6677659" cy="2844801"/>
            <a:chOff x="5387836" y="2732984"/>
            <a:chExt cx="6677659" cy="2844801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C70B8BC5-0CC7-BE84-AF9E-AAB33CF14AFC}"/>
                </a:ext>
              </a:extLst>
            </p:cNvPr>
            <p:cNvSpPr/>
            <p:nvPr/>
          </p:nvSpPr>
          <p:spPr>
            <a:xfrm>
              <a:off x="5387836" y="2732985"/>
              <a:ext cx="6677659" cy="2844800"/>
            </a:xfrm>
            <a:custGeom>
              <a:avLst/>
              <a:gdLst/>
              <a:ahLst/>
              <a:cxnLst/>
              <a:rect l="l" t="t" r="r" b="b"/>
              <a:pathLst>
                <a:path w="6677659" h="2844800">
                  <a:moveTo>
                    <a:pt x="6677102" y="0"/>
                  </a:moveTo>
                  <a:lnTo>
                    <a:pt x="0" y="0"/>
                  </a:lnTo>
                  <a:lnTo>
                    <a:pt x="0" y="2844800"/>
                  </a:lnTo>
                  <a:lnTo>
                    <a:pt x="6677102" y="2844800"/>
                  </a:lnTo>
                  <a:lnTo>
                    <a:pt x="6677102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195AD87F-BD10-1B8E-E206-225940F72B76}"/>
                </a:ext>
              </a:extLst>
            </p:cNvPr>
            <p:cNvSpPr/>
            <p:nvPr/>
          </p:nvSpPr>
          <p:spPr>
            <a:xfrm>
              <a:off x="5387836" y="2732984"/>
              <a:ext cx="6677659" cy="2844800"/>
            </a:xfrm>
            <a:custGeom>
              <a:avLst/>
              <a:gdLst/>
              <a:ahLst/>
              <a:cxnLst/>
              <a:rect l="l" t="t" r="r" b="b"/>
              <a:pathLst>
                <a:path w="6677659" h="2844800">
                  <a:moveTo>
                    <a:pt x="0" y="0"/>
                  </a:moveTo>
                  <a:lnTo>
                    <a:pt x="6677102" y="0"/>
                  </a:lnTo>
                  <a:lnTo>
                    <a:pt x="6677102" y="2844800"/>
                  </a:lnTo>
                  <a:lnTo>
                    <a:pt x="0" y="2844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6">
            <a:extLst>
              <a:ext uri="{FF2B5EF4-FFF2-40B4-BE49-F238E27FC236}">
                <a16:creationId xmlns:a16="http://schemas.microsoft.com/office/drawing/2014/main" id="{794A54E5-ACD5-D8FA-B158-4D601886A542}"/>
              </a:ext>
            </a:extLst>
          </p:cNvPr>
          <p:cNvSpPr txBox="1"/>
          <p:nvPr/>
        </p:nvSpPr>
        <p:spPr>
          <a:xfrm>
            <a:off x="5489436" y="1465799"/>
            <a:ext cx="3043555" cy="7340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ts val="279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Loop:</a:t>
            </a:r>
            <a:endParaRPr sz="2400">
              <a:latin typeface="Courier New"/>
              <a:cs typeface="Courier New"/>
            </a:endParaRPr>
          </a:p>
          <a:p>
            <a:pPr marL="469900">
              <a:lnSpc>
                <a:spcPts val="2790"/>
              </a:lnSpc>
              <a:tabLst>
                <a:tab pos="1384300" algn="l"/>
                <a:tab pos="2115820" algn="l"/>
                <a:tab pos="2847340" algn="l"/>
              </a:tabLst>
            </a:pPr>
            <a:r>
              <a:rPr sz="2400" spc="-20" dirty="0">
                <a:latin typeface="Courier New"/>
                <a:cs typeface="Courier New"/>
              </a:rPr>
              <a:t>slli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a0,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2</a:t>
            </a:r>
            <a:endParaRPr sz="2400">
              <a:latin typeface="Courier New"/>
              <a:cs typeface="Courier New"/>
            </a:endParaRPr>
          </a:p>
        </p:txBody>
      </p:sp>
      <p:graphicFrame>
        <p:nvGraphicFramePr>
          <p:cNvPr id="21" name="object 18">
            <a:extLst>
              <a:ext uri="{FF2B5EF4-FFF2-40B4-BE49-F238E27FC236}">
                <a16:creationId xmlns:a16="http://schemas.microsoft.com/office/drawing/2014/main" id="{B07A6D92-6ECF-39A5-D63A-CD8A4AC64CDF}"/>
              </a:ext>
            </a:extLst>
          </p:cNvPr>
          <p:cNvGraphicFramePr>
            <a:graphicFrameLocks noGrp="1"/>
          </p:cNvGraphicFramePr>
          <p:nvPr/>
        </p:nvGraphicFramePr>
        <p:xfrm>
          <a:off x="5927586" y="2215347"/>
          <a:ext cx="5916292" cy="687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9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7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31750">
                        <a:lnSpc>
                          <a:spcPts val="2480"/>
                        </a:lnSpc>
                        <a:tabLst>
                          <a:tab pos="763270" algn="l"/>
                          <a:tab pos="1494790" algn="l"/>
                          <a:tab pos="2226310" algn="l"/>
                        </a:tabLst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add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400" spc="-25" dirty="0">
                          <a:latin typeface="Courier New"/>
                          <a:cs typeface="Courier New"/>
                        </a:rPr>
                        <a:t>t0,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400" spc="-25" dirty="0">
                          <a:latin typeface="Courier New"/>
                          <a:cs typeface="Courier New"/>
                        </a:rPr>
                        <a:t>t0,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400" spc="-2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t0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400" spc="-10" dirty="0">
                          <a:latin typeface="Courier New"/>
                          <a:cs typeface="Courier New"/>
                        </a:rPr>
                        <a:t>&amp;A[i]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31750">
                        <a:lnSpc>
                          <a:spcPts val="2470"/>
                        </a:lnSpc>
                        <a:tabLst>
                          <a:tab pos="580390" algn="l"/>
                          <a:tab pos="1311910" algn="l"/>
                        </a:tabLst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lw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400" spc="-25" dirty="0">
                          <a:latin typeface="Courier New"/>
                          <a:cs typeface="Courier New"/>
                        </a:rPr>
                        <a:t>t1,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400" spc="-20" dirty="0">
                          <a:latin typeface="Courier New"/>
                          <a:cs typeface="Courier New"/>
                        </a:rPr>
                        <a:t>0(t0)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47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7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t1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70"/>
                        </a:lnSpc>
                      </a:pPr>
                      <a:r>
                        <a:rPr sz="24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70"/>
                        </a:lnSpc>
                      </a:pPr>
                      <a:r>
                        <a:rPr sz="2400" spc="-20" dirty="0">
                          <a:latin typeface="Courier New"/>
                          <a:cs typeface="Courier New"/>
                        </a:rPr>
                        <a:t>A[i]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object 19">
            <a:extLst>
              <a:ext uri="{FF2B5EF4-FFF2-40B4-BE49-F238E27FC236}">
                <a16:creationId xmlns:a16="http://schemas.microsoft.com/office/drawing/2014/main" id="{749431DC-4F4F-5DFF-27E2-3B7B613F4615}"/>
              </a:ext>
            </a:extLst>
          </p:cNvPr>
          <p:cNvSpPr txBox="1"/>
          <p:nvPr/>
        </p:nvSpPr>
        <p:spPr>
          <a:xfrm>
            <a:off x="5946636" y="2837399"/>
            <a:ext cx="2952115" cy="7418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340"/>
              </a:spcBef>
              <a:tabLst>
                <a:tab pos="744220" algn="l"/>
                <a:tab pos="927100" algn="l"/>
                <a:tab pos="1475740" algn="l"/>
                <a:tab pos="1658620" algn="l"/>
                <a:tab pos="2207260" algn="l"/>
                <a:tab pos="2390140" algn="l"/>
              </a:tabLst>
            </a:pPr>
            <a:r>
              <a:rPr sz="2400" spc="-25" dirty="0">
                <a:latin typeface="Courier New"/>
                <a:cs typeface="Courier New"/>
              </a:rPr>
              <a:t>bne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t1,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a1,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Exit addi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25" dirty="0">
                <a:latin typeface="Courier New"/>
                <a:cs typeface="Courier New"/>
              </a:rPr>
              <a:t>a0,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25" dirty="0">
                <a:latin typeface="Courier New"/>
                <a:cs typeface="Courier New"/>
              </a:rPr>
              <a:t>a0,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50" dirty="0"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8853791B-9581-81E0-CF3B-B0B34625385F}"/>
              </a:ext>
            </a:extLst>
          </p:cNvPr>
          <p:cNvSpPr txBox="1"/>
          <p:nvPr/>
        </p:nvSpPr>
        <p:spPr>
          <a:xfrm>
            <a:off x="5489436" y="3523199"/>
            <a:ext cx="3409315" cy="7418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457200">
              <a:lnSpc>
                <a:spcPts val="2700"/>
              </a:lnSpc>
              <a:spcBef>
                <a:spcPts val="340"/>
              </a:spcBef>
              <a:tabLst>
                <a:tab pos="1201420" algn="l"/>
                <a:tab pos="1932939" algn="l"/>
                <a:tab pos="2664460" algn="l"/>
              </a:tabLst>
            </a:pPr>
            <a:r>
              <a:rPr sz="2400" spc="-25" dirty="0">
                <a:latin typeface="Courier New"/>
                <a:cs typeface="Courier New"/>
              </a:rPr>
              <a:t>beq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x0,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x0,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Loop </a:t>
            </a:r>
            <a:r>
              <a:rPr sz="2400" spc="-10" dirty="0">
                <a:latin typeface="Courier New"/>
                <a:cs typeface="Courier New"/>
              </a:rPr>
              <a:t>Exit: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7" name="object 22">
            <a:extLst>
              <a:ext uri="{FF2B5EF4-FFF2-40B4-BE49-F238E27FC236}">
                <a16:creationId xmlns:a16="http://schemas.microsoft.com/office/drawing/2014/main" id="{78672E09-3A58-5695-CCD5-DA06A59BB9B2}"/>
              </a:ext>
            </a:extLst>
          </p:cNvPr>
          <p:cNvSpPr txBox="1"/>
          <p:nvPr/>
        </p:nvSpPr>
        <p:spPr>
          <a:xfrm>
            <a:off x="5446776" y="1100916"/>
            <a:ext cx="19138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Assembly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3">
            <a:extLst>
              <a:ext uri="{FF2B5EF4-FFF2-40B4-BE49-F238E27FC236}">
                <a16:creationId xmlns:a16="http://schemas.microsoft.com/office/drawing/2014/main" id="{70147742-ECDE-B596-2DB4-96FA094C7235}"/>
              </a:ext>
            </a:extLst>
          </p:cNvPr>
          <p:cNvSpPr txBox="1"/>
          <p:nvPr/>
        </p:nvSpPr>
        <p:spPr>
          <a:xfrm>
            <a:off x="5451887" y="1629796"/>
            <a:ext cx="363038" cy="14067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50" i="1" spc="-1700" dirty="0">
                <a:latin typeface="Garamond"/>
                <a:cs typeface="Garamond"/>
              </a:rPr>
              <a:t>{</a:t>
            </a:r>
            <a:endParaRPr sz="9050">
              <a:latin typeface="Garamond"/>
              <a:cs typeface="Garamond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1C9A35D-1D8C-0D6B-2856-B7DF87098D86}"/>
              </a:ext>
            </a:extLst>
          </p:cNvPr>
          <p:cNvCxnSpPr/>
          <p:nvPr/>
        </p:nvCxnSpPr>
        <p:spPr>
          <a:xfrm flipV="1">
            <a:off x="4862285" y="2467428"/>
            <a:ext cx="698499" cy="14786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558EADA-0B9C-E92D-0207-4C99D3F37553}"/>
              </a:ext>
            </a:extLst>
          </p:cNvPr>
          <p:cNvCxnSpPr/>
          <p:nvPr/>
        </p:nvCxnSpPr>
        <p:spPr>
          <a:xfrm flipV="1">
            <a:off x="2022928" y="3429000"/>
            <a:ext cx="3864428" cy="10341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D73128A-BB00-0865-4286-E04B4D70E128}"/>
              </a:ext>
            </a:extLst>
          </p:cNvPr>
          <p:cNvCxnSpPr/>
          <p:nvPr/>
        </p:nvCxnSpPr>
        <p:spPr>
          <a:xfrm flipV="1">
            <a:off x="2948214" y="3746499"/>
            <a:ext cx="2957285" cy="112485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146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A7C64D-6FE3-DFEC-E6D7-C44D1197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F4C4F79-407E-7B39-7990-5E4430C8663D}"/>
              </a:ext>
            </a:extLst>
          </p:cNvPr>
          <p:cNvSpPr txBox="1"/>
          <p:nvPr/>
        </p:nvSpPr>
        <p:spPr>
          <a:xfrm>
            <a:off x="833758" y="1099731"/>
            <a:ext cx="898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8F9E019-08E4-44C1-2BF4-1C7300085332}"/>
              </a:ext>
            </a:extLst>
          </p:cNvPr>
          <p:cNvSpPr txBox="1"/>
          <p:nvPr/>
        </p:nvSpPr>
        <p:spPr>
          <a:xfrm>
            <a:off x="832850" y="3036348"/>
            <a:ext cx="1590040" cy="3911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goto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version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C796BCB-D4AF-4F31-0285-B80F52B6964A}"/>
              </a:ext>
            </a:extLst>
          </p:cNvPr>
          <p:cNvSpPr txBox="1"/>
          <p:nvPr/>
        </p:nvSpPr>
        <p:spPr>
          <a:xfrm>
            <a:off x="679449" y="3426119"/>
            <a:ext cx="4578714" cy="2750753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 anchor="t">
            <a:spAutoFit/>
          </a:bodyPr>
          <a:lstStyle/>
          <a:p>
            <a:pPr marL="46990" marR="2231390" indent="457200">
              <a:lnSpc>
                <a:spcPts val="3100"/>
              </a:lnSpc>
              <a:spcBef>
                <a:spcPts val="105"/>
              </a:spcBef>
            </a:pPr>
            <a:r>
              <a:rPr lang="en-US" sz="2400" spc="-10" dirty="0" err="1">
                <a:latin typeface="Courier New"/>
                <a:cs typeface="Courier New"/>
              </a:rPr>
              <a:t>goto</a:t>
            </a:r>
            <a:r>
              <a:rPr lang="en-US" sz="2400" spc="-10" dirty="0">
                <a:latin typeface="Courier New"/>
                <a:cs typeface="Courier New"/>
              </a:rPr>
              <a:t> Test; Loop:</a:t>
            </a:r>
          </a:p>
          <a:p>
            <a:pPr marL="473075">
              <a:lnSpc>
                <a:spcPts val="2910"/>
              </a:lnSpc>
              <a:tabLst>
                <a:tab pos="1113790" algn="l"/>
                <a:tab pos="3674745" algn="l"/>
              </a:tabLst>
            </a:pPr>
            <a:r>
              <a:rPr lang="en-US" sz="2400" b="1" spc="-10" dirty="0">
                <a:latin typeface="Courier New"/>
                <a:cs typeface="Courier New"/>
              </a:rPr>
              <a:t>Body</a:t>
            </a:r>
            <a:endParaRPr lang="en-US" sz="2400" spc="-10">
              <a:latin typeface="Courier New"/>
              <a:cs typeface="Courier New"/>
            </a:endParaRPr>
          </a:p>
          <a:p>
            <a:pPr marL="46990">
              <a:lnSpc>
                <a:spcPts val="3100"/>
              </a:lnSpc>
              <a:tabLst>
                <a:tab pos="1113790" algn="l"/>
                <a:tab pos="3674745" algn="l"/>
              </a:tabLst>
            </a:pPr>
            <a:r>
              <a:rPr lang="en-US" sz="2400" spc="-10" dirty="0">
                <a:latin typeface="Courier New"/>
                <a:cs typeface="Courier New"/>
              </a:rPr>
              <a:t>Test:</a:t>
            </a:r>
          </a:p>
          <a:p>
            <a:pPr marL="46990" marR="311150" indent="457200">
              <a:lnSpc>
                <a:spcPts val="3100"/>
              </a:lnSpc>
              <a:spcBef>
                <a:spcPts val="190"/>
              </a:spcBef>
              <a:tabLst>
                <a:tab pos="1113790" algn="l"/>
                <a:tab pos="3674745" algn="l"/>
              </a:tabLst>
            </a:pPr>
            <a:r>
              <a:rPr lang="en-US" sz="2400" spc="-10" dirty="0">
                <a:latin typeface="Courier New"/>
                <a:cs typeface="Courier New"/>
              </a:rPr>
              <a:t>if (Cond)</a:t>
            </a:r>
            <a:r>
              <a:rPr lang="en-US" sz="2400" spc="-10" dirty="0" err="1">
                <a:latin typeface="Courier New"/>
                <a:cs typeface="Courier New"/>
              </a:rPr>
              <a:t>goto</a:t>
            </a:r>
            <a:r>
              <a:rPr lang="en-US" sz="2400" spc="-10" dirty="0">
                <a:latin typeface="Courier New"/>
                <a:cs typeface="Courier New"/>
              </a:rPr>
              <a:t> Loop; Exit:</a:t>
            </a:r>
          </a:p>
          <a:p>
            <a:pPr marL="46990">
              <a:lnSpc>
                <a:spcPts val="3030"/>
              </a:lnSpc>
              <a:tabLst>
                <a:tab pos="1540510" algn="l"/>
              </a:tabLst>
            </a:pPr>
            <a:endParaRPr sz="2000" spc="-10" dirty="0">
              <a:latin typeface="Courier New"/>
              <a:cs typeface="Courier New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0B1D872-90E9-D6A2-CAC2-F29A64165109}"/>
              </a:ext>
            </a:extLst>
          </p:cNvPr>
          <p:cNvSpPr txBox="1"/>
          <p:nvPr/>
        </p:nvSpPr>
        <p:spPr>
          <a:xfrm>
            <a:off x="836685" y="1515807"/>
            <a:ext cx="2741295" cy="921406"/>
          </a:xfrm>
          <a:prstGeom prst="rect">
            <a:avLst/>
          </a:prstGeom>
          <a:solidFill>
            <a:srgbClr val="D5F1D0"/>
          </a:solidFill>
          <a:ln w="12700">
            <a:solidFill>
              <a:srgbClr val="000000"/>
            </a:solidFill>
          </a:ln>
        </p:spPr>
        <p:txBody>
          <a:bodyPr vert="horz" wrap="square" lIns="0" tIns="94615" rIns="0" bIns="0" rtlCol="0" anchor="t">
            <a:spAutoFit/>
          </a:bodyPr>
          <a:lstStyle/>
          <a:p>
            <a:pPr marL="83185">
              <a:lnSpc>
                <a:spcPts val="3229"/>
              </a:lnSpc>
              <a:spcBef>
                <a:spcPts val="745"/>
              </a:spcBef>
              <a:tabLst>
                <a:tab pos="1363980" algn="l"/>
              </a:tabLst>
            </a:pPr>
            <a:r>
              <a:rPr sz="2800" spc="-10" dirty="0">
                <a:latin typeface="Courier New"/>
                <a:cs typeface="Courier New"/>
              </a:rPr>
              <a:t>while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(Cond)</a:t>
            </a:r>
            <a:endParaRPr sz="2800">
              <a:latin typeface="Courier New"/>
              <a:cs typeface="Courier New"/>
            </a:endParaRPr>
          </a:p>
          <a:p>
            <a:pPr marL="510540">
              <a:lnSpc>
                <a:spcPts val="3229"/>
              </a:lnSpc>
            </a:pPr>
            <a:r>
              <a:rPr sz="2800" b="1" spc="-20" dirty="0">
                <a:latin typeface="Courier New"/>
                <a:cs typeface="Courier New"/>
              </a:rPr>
              <a:t>Body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13F887A-30FF-ABCF-6912-A89B34089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/>
              <a:t>General 'while' template #2.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D9D759-1830-62C8-27A9-9DB903F79BA0}"/>
              </a:ext>
            </a:extLst>
          </p:cNvPr>
          <p:cNvSpPr txBox="1"/>
          <p:nvPr/>
        </p:nvSpPr>
        <p:spPr>
          <a:xfrm>
            <a:off x="6642652" y="960783"/>
            <a:ext cx="554934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dirty="0">
                <a:solidFill>
                  <a:srgbClr val="000000"/>
                </a:solidFill>
                <a:latin typeface="Aptos"/>
              </a:rPr>
              <a:t>"</a:t>
            </a:r>
            <a:r>
              <a:rPr lang="en-US" sz="3000" b="0" i="0" u="none" strike="noStrike" baseline="0" dirty="0">
                <a:solidFill>
                  <a:srgbClr val="000000"/>
                </a:solidFill>
                <a:latin typeface="Aptos"/>
              </a:rPr>
              <a:t>Jump-to-middle</a:t>
            </a:r>
            <a:r>
              <a:rPr lang="en-US" sz="3000" dirty="0">
                <a:solidFill>
                  <a:srgbClr val="000000"/>
                </a:solidFill>
                <a:latin typeface="Aptos"/>
              </a:rPr>
              <a:t>" </a:t>
            </a:r>
            <a:r>
              <a:rPr lang="en-US" sz="3000" b="0" i="0" u="none" strike="noStrike" baseline="0" dirty="0">
                <a:solidFill>
                  <a:srgbClr val="000000"/>
                </a:solidFill>
                <a:latin typeface="Aptos"/>
              </a:rPr>
              <a:t>translation</a:t>
            </a:r>
            <a:r>
              <a:rPr sz="3000" b="0" i="0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​</a:t>
            </a:r>
            <a:endParaRPr lang="en-US" sz="30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813756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A73A6-5080-B5F5-F748-29888B9C2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8997D18-FCC3-2281-4FCF-CCEE03AC5E7A}"/>
              </a:ext>
            </a:extLst>
          </p:cNvPr>
          <p:cNvSpPr txBox="1"/>
          <p:nvPr/>
        </p:nvSpPr>
        <p:spPr>
          <a:xfrm>
            <a:off x="833758" y="1099731"/>
            <a:ext cx="898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680F074-A3D0-B10B-3B55-31B919A50169}"/>
              </a:ext>
            </a:extLst>
          </p:cNvPr>
          <p:cNvSpPr txBox="1"/>
          <p:nvPr/>
        </p:nvSpPr>
        <p:spPr>
          <a:xfrm>
            <a:off x="832850" y="3036348"/>
            <a:ext cx="1590040" cy="3911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goto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version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659FFD1-1BF3-6566-89FC-5D254988D5A7}"/>
              </a:ext>
            </a:extLst>
          </p:cNvPr>
          <p:cNvSpPr txBox="1"/>
          <p:nvPr/>
        </p:nvSpPr>
        <p:spPr>
          <a:xfrm>
            <a:off x="679449" y="3426119"/>
            <a:ext cx="4578714" cy="2750753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 anchor="t">
            <a:spAutoFit/>
          </a:bodyPr>
          <a:lstStyle/>
          <a:p>
            <a:pPr marL="46990" marR="2231390" indent="457200">
              <a:lnSpc>
                <a:spcPts val="3100"/>
              </a:lnSpc>
              <a:spcBef>
                <a:spcPts val="105"/>
              </a:spcBef>
            </a:pPr>
            <a:r>
              <a:rPr lang="en-US" sz="2400" spc="-10" dirty="0" err="1">
                <a:latin typeface="Courier New"/>
                <a:cs typeface="Courier New"/>
              </a:rPr>
              <a:t>goto</a:t>
            </a:r>
            <a:r>
              <a:rPr lang="en-US" sz="2400" spc="-10" dirty="0">
                <a:latin typeface="Courier New"/>
                <a:cs typeface="Courier New"/>
              </a:rPr>
              <a:t> Test; Loop:</a:t>
            </a:r>
          </a:p>
          <a:p>
            <a:pPr marL="473075">
              <a:lnSpc>
                <a:spcPts val="2910"/>
              </a:lnSpc>
              <a:tabLst>
                <a:tab pos="1113790" algn="l"/>
                <a:tab pos="3674745" algn="l"/>
              </a:tabLst>
            </a:pPr>
            <a:r>
              <a:rPr lang="en-US" sz="2400" b="1" spc="-10" dirty="0">
                <a:latin typeface="Courier New"/>
                <a:cs typeface="Courier New"/>
              </a:rPr>
              <a:t>Body</a:t>
            </a:r>
            <a:endParaRPr lang="en-US" sz="2400" spc="-10">
              <a:latin typeface="Courier New"/>
              <a:cs typeface="Courier New"/>
            </a:endParaRPr>
          </a:p>
          <a:p>
            <a:pPr marL="46990">
              <a:lnSpc>
                <a:spcPts val="3100"/>
              </a:lnSpc>
              <a:tabLst>
                <a:tab pos="1113790" algn="l"/>
                <a:tab pos="3674745" algn="l"/>
              </a:tabLst>
            </a:pPr>
            <a:r>
              <a:rPr lang="en-US" sz="2400" spc="-10" dirty="0">
                <a:latin typeface="Courier New"/>
                <a:cs typeface="Courier New"/>
              </a:rPr>
              <a:t>Test:</a:t>
            </a:r>
          </a:p>
          <a:p>
            <a:pPr marL="46990" marR="311150" indent="457200">
              <a:lnSpc>
                <a:spcPts val="3100"/>
              </a:lnSpc>
              <a:spcBef>
                <a:spcPts val="190"/>
              </a:spcBef>
              <a:tabLst>
                <a:tab pos="1113790" algn="l"/>
                <a:tab pos="3674745" algn="l"/>
              </a:tabLst>
            </a:pPr>
            <a:r>
              <a:rPr lang="en-US" sz="2400" spc="-10" dirty="0">
                <a:latin typeface="Courier New"/>
                <a:cs typeface="Courier New"/>
              </a:rPr>
              <a:t>if (Cond)</a:t>
            </a:r>
            <a:r>
              <a:rPr lang="en-US" sz="2400" spc="-10" dirty="0" err="1">
                <a:latin typeface="Courier New"/>
                <a:cs typeface="Courier New"/>
              </a:rPr>
              <a:t>goto</a:t>
            </a:r>
            <a:r>
              <a:rPr lang="en-US" sz="2400" spc="-10" dirty="0">
                <a:latin typeface="Courier New"/>
                <a:cs typeface="Courier New"/>
              </a:rPr>
              <a:t> Loop; Exit:</a:t>
            </a:r>
          </a:p>
          <a:p>
            <a:pPr marL="46990">
              <a:lnSpc>
                <a:spcPts val="3030"/>
              </a:lnSpc>
              <a:tabLst>
                <a:tab pos="1540510" algn="l"/>
              </a:tabLst>
            </a:pPr>
            <a:endParaRPr sz="2000" spc="-10" dirty="0">
              <a:latin typeface="Courier New"/>
              <a:cs typeface="Courier New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13D1DB4-066D-3C14-F6E9-C95FB9A0A4CB}"/>
              </a:ext>
            </a:extLst>
          </p:cNvPr>
          <p:cNvSpPr txBox="1"/>
          <p:nvPr/>
        </p:nvSpPr>
        <p:spPr>
          <a:xfrm>
            <a:off x="836685" y="1515807"/>
            <a:ext cx="2741295" cy="921406"/>
          </a:xfrm>
          <a:prstGeom prst="rect">
            <a:avLst/>
          </a:prstGeom>
          <a:solidFill>
            <a:srgbClr val="D5F1D0"/>
          </a:solidFill>
          <a:ln w="12700">
            <a:solidFill>
              <a:srgbClr val="000000"/>
            </a:solidFill>
          </a:ln>
        </p:spPr>
        <p:txBody>
          <a:bodyPr vert="horz" wrap="square" lIns="0" tIns="94615" rIns="0" bIns="0" rtlCol="0" anchor="t">
            <a:spAutoFit/>
          </a:bodyPr>
          <a:lstStyle/>
          <a:p>
            <a:pPr marL="83185">
              <a:lnSpc>
                <a:spcPts val="3229"/>
              </a:lnSpc>
              <a:spcBef>
                <a:spcPts val="745"/>
              </a:spcBef>
              <a:tabLst>
                <a:tab pos="1363980" algn="l"/>
              </a:tabLst>
            </a:pPr>
            <a:r>
              <a:rPr sz="2800" spc="-10" dirty="0">
                <a:latin typeface="Courier New"/>
                <a:cs typeface="Courier New"/>
              </a:rPr>
              <a:t>while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(Cond)</a:t>
            </a:r>
            <a:endParaRPr sz="2800">
              <a:latin typeface="Courier New"/>
              <a:cs typeface="Courier New"/>
            </a:endParaRPr>
          </a:p>
          <a:p>
            <a:pPr marL="510540">
              <a:lnSpc>
                <a:spcPts val="3229"/>
              </a:lnSpc>
            </a:pPr>
            <a:r>
              <a:rPr sz="2800" b="1" spc="-20" dirty="0">
                <a:latin typeface="Courier New"/>
                <a:cs typeface="Courier New"/>
              </a:rPr>
              <a:t>Body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6F542F6-BAC1-A766-B634-FBEECFC3C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/>
              <a:t>General 'while' template #2.</a:t>
            </a:r>
            <a:endParaRPr lang="en-US" dirty="0"/>
          </a:p>
        </p:txBody>
      </p:sp>
      <p:sp>
        <p:nvSpPr>
          <p:cNvPr id="27" name="object 22">
            <a:extLst>
              <a:ext uri="{FF2B5EF4-FFF2-40B4-BE49-F238E27FC236}">
                <a16:creationId xmlns:a16="http://schemas.microsoft.com/office/drawing/2014/main" id="{D806ADB7-17CA-AD40-D6BD-FF88A47170DB}"/>
              </a:ext>
            </a:extLst>
          </p:cNvPr>
          <p:cNvSpPr txBox="1"/>
          <p:nvPr/>
        </p:nvSpPr>
        <p:spPr>
          <a:xfrm>
            <a:off x="5595863" y="2260481"/>
            <a:ext cx="19138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Assembly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8A6B942-5A2F-2B43-C02D-8B7D2B94A3EB}"/>
              </a:ext>
            </a:extLst>
          </p:cNvPr>
          <p:cNvGrpSpPr/>
          <p:nvPr/>
        </p:nvGrpSpPr>
        <p:grpSpPr>
          <a:xfrm>
            <a:off x="5594901" y="2645319"/>
            <a:ext cx="6677659" cy="3545930"/>
            <a:chOff x="5462379" y="1510602"/>
            <a:chExt cx="6677659" cy="3545930"/>
          </a:xfrm>
        </p:grpSpPr>
        <p:grpSp>
          <p:nvGrpSpPr>
            <p:cNvPr id="5" name="object 13">
              <a:extLst>
                <a:ext uri="{FF2B5EF4-FFF2-40B4-BE49-F238E27FC236}">
                  <a16:creationId xmlns:a16="http://schemas.microsoft.com/office/drawing/2014/main" id="{AE49406A-F1C3-DAEB-6360-B1E89D97D036}"/>
                </a:ext>
              </a:extLst>
            </p:cNvPr>
            <p:cNvGrpSpPr/>
            <p:nvPr/>
          </p:nvGrpSpPr>
          <p:grpSpPr>
            <a:xfrm>
              <a:off x="5462379" y="1525932"/>
              <a:ext cx="6677659" cy="3530600"/>
              <a:chOff x="5255314" y="2486715"/>
              <a:chExt cx="6677659" cy="3530600"/>
            </a:xfrm>
          </p:grpSpPr>
          <p:sp>
            <p:nvSpPr>
              <p:cNvPr id="18" name="object 14">
                <a:extLst>
                  <a:ext uri="{FF2B5EF4-FFF2-40B4-BE49-F238E27FC236}">
                    <a16:creationId xmlns:a16="http://schemas.microsoft.com/office/drawing/2014/main" id="{32EA6CBA-350E-DC6B-4BFF-AF89DAA8B2EB}"/>
                  </a:ext>
                </a:extLst>
              </p:cNvPr>
              <p:cNvSpPr/>
              <p:nvPr/>
            </p:nvSpPr>
            <p:spPr>
              <a:xfrm>
                <a:off x="5255314" y="2486715"/>
                <a:ext cx="6677659" cy="3530600"/>
              </a:xfrm>
              <a:custGeom>
                <a:avLst/>
                <a:gdLst/>
                <a:ahLst/>
                <a:cxnLst/>
                <a:rect l="l" t="t" r="r" b="b"/>
                <a:pathLst>
                  <a:path w="6677659" h="3530600">
                    <a:moveTo>
                      <a:pt x="6677102" y="0"/>
                    </a:moveTo>
                    <a:lnTo>
                      <a:pt x="0" y="0"/>
                    </a:lnTo>
                    <a:lnTo>
                      <a:pt x="0" y="3530600"/>
                    </a:lnTo>
                    <a:lnTo>
                      <a:pt x="6677102" y="3530600"/>
                    </a:lnTo>
                    <a:lnTo>
                      <a:pt x="6677102" y="0"/>
                    </a:lnTo>
                    <a:close/>
                  </a:path>
                </a:pathLst>
              </a:custGeom>
              <a:solidFill>
                <a:srgbClr val="F6F5BD"/>
              </a:solidFill>
            </p:spPr>
            <p:txBody>
              <a:bodyPr wrap="square" lIns="0" tIns="0" rIns="0" bIns="0" rtlCol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/>
              </a:p>
            </p:txBody>
          </p:sp>
          <p:sp>
            <p:nvSpPr>
              <p:cNvPr id="20" name="object 15">
                <a:extLst>
                  <a:ext uri="{FF2B5EF4-FFF2-40B4-BE49-F238E27FC236}">
                    <a16:creationId xmlns:a16="http://schemas.microsoft.com/office/drawing/2014/main" id="{32B84527-8688-4025-DD10-BD93C94DC97A}"/>
                  </a:ext>
                </a:extLst>
              </p:cNvPr>
              <p:cNvSpPr/>
              <p:nvPr/>
            </p:nvSpPr>
            <p:spPr>
              <a:xfrm>
                <a:off x="5255314" y="2486715"/>
                <a:ext cx="6677659" cy="3530600"/>
              </a:xfrm>
              <a:custGeom>
                <a:avLst/>
                <a:gdLst/>
                <a:ahLst/>
                <a:cxnLst/>
                <a:rect l="l" t="t" r="r" b="b"/>
                <a:pathLst>
                  <a:path w="6677659" h="3530600">
                    <a:moveTo>
                      <a:pt x="0" y="0"/>
                    </a:moveTo>
                    <a:lnTo>
                      <a:pt x="6677102" y="0"/>
                    </a:lnTo>
                    <a:lnTo>
                      <a:pt x="6677102" y="3530600"/>
                    </a:lnTo>
                    <a:lnTo>
                      <a:pt x="0" y="353060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/>
              </a:p>
            </p:txBody>
          </p:sp>
        </p:grpSp>
        <p:sp>
          <p:nvSpPr>
            <p:cNvPr id="7" name="object 16">
              <a:extLst>
                <a:ext uri="{FF2B5EF4-FFF2-40B4-BE49-F238E27FC236}">
                  <a16:creationId xmlns:a16="http://schemas.microsoft.com/office/drawing/2014/main" id="{B4475498-5E42-E584-E8B7-394F48BED85A}"/>
                </a:ext>
              </a:extLst>
            </p:cNvPr>
            <p:cNvSpPr txBox="1"/>
            <p:nvPr/>
          </p:nvSpPr>
          <p:spPr>
            <a:xfrm>
              <a:off x="9432978" y="2196402"/>
              <a:ext cx="2220595" cy="391160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561340" algn="l"/>
                  <a:tab pos="927100" algn="l"/>
                  <a:tab pos="1292860" algn="l"/>
                  <a:tab pos="1658620" algn="l"/>
                  <a:tab pos="202438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//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i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=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i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+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1</a:t>
              </a:r>
              <a:endParaRPr sz="2400">
                <a:latin typeface="Courier New"/>
                <a:cs typeface="Courier New"/>
              </a:endParaRPr>
            </a:p>
          </p:txBody>
        </p:sp>
        <p:sp>
          <p:nvSpPr>
            <p:cNvPr id="9" name="object 17">
              <a:extLst>
                <a:ext uri="{FF2B5EF4-FFF2-40B4-BE49-F238E27FC236}">
                  <a16:creationId xmlns:a16="http://schemas.microsoft.com/office/drawing/2014/main" id="{811B995A-8F64-7DD3-FB18-02E0151A6556}"/>
                </a:ext>
              </a:extLst>
            </p:cNvPr>
            <p:cNvSpPr txBox="1"/>
            <p:nvPr/>
          </p:nvSpPr>
          <p:spPr>
            <a:xfrm>
              <a:off x="5500479" y="1510602"/>
              <a:ext cx="3409315" cy="1762760"/>
            </a:xfrm>
            <a:prstGeom prst="rect">
              <a:avLst/>
            </a:prstGeom>
          </p:spPr>
          <p:txBody>
            <a:bodyPr vert="horz" wrap="square" lIns="0" tIns="4318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5080" indent="457200">
                <a:lnSpc>
                  <a:spcPts val="2700"/>
                </a:lnSpc>
                <a:spcBef>
                  <a:spcPts val="340"/>
                </a:spcBef>
                <a:tabLst>
                  <a:tab pos="1201420" algn="l"/>
                  <a:tab pos="1932939" algn="l"/>
                  <a:tab pos="266446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beq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x0,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x0,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0" dirty="0">
                  <a:latin typeface="Courier New"/>
                  <a:cs typeface="Courier New"/>
                </a:rPr>
                <a:t>Test </a:t>
              </a:r>
              <a:r>
                <a:rPr sz="2400" spc="-10" dirty="0">
                  <a:latin typeface="Courier New"/>
                  <a:cs typeface="Courier New"/>
                </a:rPr>
                <a:t>Loop:</a:t>
              </a:r>
              <a:endParaRPr sz="2400">
                <a:latin typeface="Courier New"/>
                <a:cs typeface="Courier New"/>
              </a:endParaRPr>
            </a:p>
            <a:p>
              <a:pPr marL="12700" marR="370840" indent="457200">
                <a:lnSpc>
                  <a:spcPts val="2700"/>
                </a:lnSpc>
                <a:tabLst>
                  <a:tab pos="1384300" algn="l"/>
                  <a:tab pos="2115820" algn="l"/>
                  <a:tab pos="2847340" algn="l"/>
                </a:tabLst>
              </a:pPr>
              <a:r>
                <a:rPr sz="2400" spc="-20" dirty="0">
                  <a:latin typeface="Courier New"/>
                  <a:cs typeface="Courier New"/>
                </a:rPr>
                <a:t>addi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a0,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a0,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1 </a:t>
              </a:r>
              <a:r>
                <a:rPr sz="2400" spc="-10" dirty="0">
                  <a:latin typeface="Courier New"/>
                  <a:cs typeface="Courier New"/>
                </a:rPr>
                <a:t>Test:</a:t>
              </a:r>
              <a:endParaRPr sz="2400">
                <a:latin typeface="Courier New"/>
                <a:cs typeface="Courier New"/>
              </a:endParaRPr>
            </a:p>
            <a:p>
              <a:pPr marL="469900">
                <a:lnSpc>
                  <a:spcPts val="2640"/>
                </a:lnSpc>
                <a:tabLst>
                  <a:tab pos="1384300" algn="l"/>
                  <a:tab pos="2115820" algn="l"/>
                  <a:tab pos="2847340" algn="l"/>
                </a:tabLst>
              </a:pPr>
              <a:r>
                <a:rPr sz="2400" spc="-20" dirty="0">
                  <a:latin typeface="Courier New"/>
                  <a:cs typeface="Courier New"/>
                </a:rPr>
                <a:t>slli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t0,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a0,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2</a:t>
              </a:r>
              <a:endParaRPr sz="2400">
                <a:latin typeface="Courier New"/>
                <a:cs typeface="Courier New"/>
              </a:endParaRPr>
            </a:p>
          </p:txBody>
        </p:sp>
        <p:sp>
          <p:nvSpPr>
            <p:cNvPr id="10" name="object 18">
              <a:extLst>
                <a:ext uri="{FF2B5EF4-FFF2-40B4-BE49-F238E27FC236}">
                  <a16:creationId xmlns:a16="http://schemas.microsoft.com/office/drawing/2014/main" id="{7E3FC5C8-4858-F017-2238-BBD514FF5FE1}"/>
                </a:ext>
              </a:extLst>
            </p:cNvPr>
            <p:cNvSpPr txBox="1"/>
            <p:nvPr/>
          </p:nvSpPr>
          <p:spPr>
            <a:xfrm>
              <a:off x="5957679" y="3225102"/>
              <a:ext cx="2952115" cy="1076960"/>
            </a:xfrm>
            <a:prstGeom prst="rect">
              <a:avLst/>
            </a:prstGeom>
          </p:spPr>
          <p:txBody>
            <a:bodyPr vert="horz" wrap="square" lIns="0" tIns="4318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370840">
                <a:lnSpc>
                  <a:spcPts val="2700"/>
                </a:lnSpc>
                <a:spcBef>
                  <a:spcPts val="340"/>
                </a:spcBef>
                <a:tabLst>
                  <a:tab pos="561340" algn="l"/>
                  <a:tab pos="744220" algn="l"/>
                  <a:tab pos="1292860" algn="l"/>
                  <a:tab pos="1475740" algn="l"/>
                  <a:tab pos="220726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add</a:t>
              </a:r>
              <a:r>
                <a:rPr sz="2400" dirty="0">
                  <a:latin typeface="Courier New"/>
                  <a:cs typeface="Courier New"/>
                </a:rPr>
                <a:t>		</a:t>
              </a:r>
              <a:r>
                <a:rPr sz="2400" spc="-25" dirty="0">
                  <a:latin typeface="Courier New"/>
                  <a:cs typeface="Courier New"/>
                </a:rPr>
                <a:t>t0,</a:t>
              </a:r>
              <a:r>
                <a:rPr sz="2400" dirty="0">
                  <a:latin typeface="Courier New"/>
                  <a:cs typeface="Courier New"/>
                </a:rPr>
                <a:t>		</a:t>
              </a:r>
              <a:r>
                <a:rPr sz="2400" spc="-25" dirty="0">
                  <a:latin typeface="Courier New"/>
                  <a:cs typeface="Courier New"/>
                </a:rPr>
                <a:t>t0,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a2 lw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t1,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0" dirty="0">
                  <a:latin typeface="Courier New"/>
                  <a:cs typeface="Courier New"/>
                </a:rPr>
                <a:t>0(t0)</a:t>
              </a:r>
              <a:endParaRPr sz="2400">
                <a:latin typeface="Courier New"/>
                <a:cs typeface="Courier New"/>
              </a:endParaRPr>
            </a:p>
            <a:p>
              <a:pPr marL="12700">
                <a:lnSpc>
                  <a:spcPts val="2640"/>
                </a:lnSpc>
                <a:tabLst>
                  <a:tab pos="744220" algn="l"/>
                  <a:tab pos="1475740" algn="l"/>
                  <a:tab pos="220726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beq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t1,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a1,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0" dirty="0">
                  <a:latin typeface="Courier New"/>
                  <a:cs typeface="Courier New"/>
                </a:rPr>
                <a:t>Loop</a:t>
              </a:r>
              <a:endParaRPr sz="2400">
                <a:latin typeface="Courier New"/>
                <a:cs typeface="Courier New"/>
              </a:endParaRPr>
            </a:p>
          </p:txBody>
        </p:sp>
        <p:sp>
          <p:nvSpPr>
            <p:cNvPr id="11" name="object 19">
              <a:extLst>
                <a:ext uri="{FF2B5EF4-FFF2-40B4-BE49-F238E27FC236}">
                  <a16:creationId xmlns:a16="http://schemas.microsoft.com/office/drawing/2014/main" id="{CFE212B2-E995-55B6-CFA1-2B962E6A7A07}"/>
                </a:ext>
              </a:extLst>
            </p:cNvPr>
            <p:cNvSpPr txBox="1"/>
            <p:nvPr/>
          </p:nvSpPr>
          <p:spPr>
            <a:xfrm>
              <a:off x="9432978" y="2882202"/>
              <a:ext cx="2403475" cy="1419860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lnSpc>
                  <a:spcPts val="2790"/>
                </a:lnSpc>
                <a:spcBef>
                  <a:spcPts val="100"/>
                </a:spcBef>
                <a:tabLst>
                  <a:tab pos="561340" algn="l"/>
                  <a:tab pos="1109980" algn="l"/>
                  <a:tab pos="147574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//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t0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=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i*4</a:t>
              </a:r>
              <a:endParaRPr sz="2400">
                <a:latin typeface="Courier New"/>
                <a:cs typeface="Courier New"/>
              </a:endParaRPr>
            </a:p>
            <a:p>
              <a:pPr marL="12700">
                <a:lnSpc>
                  <a:spcPts val="2700"/>
                </a:lnSpc>
                <a:tabLst>
                  <a:tab pos="561340" algn="l"/>
                  <a:tab pos="1109980" algn="l"/>
                  <a:tab pos="147574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//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t0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=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10" dirty="0">
                  <a:latin typeface="Courier New"/>
                  <a:cs typeface="Courier New"/>
                </a:rPr>
                <a:t>&amp;A[i]</a:t>
              </a:r>
              <a:endParaRPr sz="2400">
                <a:latin typeface="Courier New"/>
                <a:cs typeface="Courier New"/>
              </a:endParaRPr>
            </a:p>
            <a:p>
              <a:pPr marL="12700">
                <a:lnSpc>
                  <a:spcPts val="2700"/>
                </a:lnSpc>
                <a:tabLst>
                  <a:tab pos="561340" algn="l"/>
                  <a:tab pos="1109980" algn="l"/>
                  <a:tab pos="147574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//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t1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=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0" dirty="0">
                  <a:latin typeface="Courier New"/>
                  <a:cs typeface="Courier New"/>
                </a:rPr>
                <a:t>A[i]</a:t>
              </a:r>
              <a:endParaRPr sz="2400">
                <a:latin typeface="Courier New"/>
                <a:cs typeface="Courier New"/>
              </a:endParaRPr>
            </a:p>
            <a:p>
              <a:pPr marL="12700">
                <a:lnSpc>
                  <a:spcPts val="2790"/>
                </a:lnSpc>
                <a:tabLst>
                  <a:tab pos="561340" algn="l"/>
                  <a:tab pos="1475740" algn="l"/>
                  <a:tab pos="202438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//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0" dirty="0">
                  <a:latin typeface="Courier New"/>
                  <a:cs typeface="Courier New"/>
                </a:rPr>
                <a:t>A[i]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==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k</a:t>
              </a:r>
              <a:endParaRPr sz="2400">
                <a:latin typeface="Courier New"/>
                <a:cs typeface="Courier New"/>
              </a:endParaRPr>
            </a:p>
          </p:txBody>
        </p:sp>
        <p:sp>
          <p:nvSpPr>
            <p:cNvPr id="12" name="object 20">
              <a:extLst>
                <a:ext uri="{FF2B5EF4-FFF2-40B4-BE49-F238E27FC236}">
                  <a16:creationId xmlns:a16="http://schemas.microsoft.com/office/drawing/2014/main" id="{3550962C-C7A5-1AE1-1464-EF67BE1AF1A0}"/>
                </a:ext>
              </a:extLst>
            </p:cNvPr>
            <p:cNvSpPr txBox="1"/>
            <p:nvPr/>
          </p:nvSpPr>
          <p:spPr>
            <a:xfrm>
              <a:off x="5500479" y="4253802"/>
              <a:ext cx="94043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10" dirty="0">
                  <a:latin typeface="Courier New"/>
                  <a:cs typeface="Courier New"/>
                </a:rPr>
                <a:t>Exit:</a:t>
              </a:r>
              <a:endParaRPr sz="2400">
                <a:latin typeface="Courier New"/>
                <a:cs typeface="Courier New"/>
              </a:endParaRPr>
            </a:p>
          </p:txBody>
        </p:sp>
        <p:sp>
          <p:nvSpPr>
            <p:cNvPr id="14" name="object 25">
              <a:extLst>
                <a:ext uri="{FF2B5EF4-FFF2-40B4-BE49-F238E27FC236}">
                  <a16:creationId xmlns:a16="http://schemas.microsoft.com/office/drawing/2014/main" id="{C31660E9-1D42-2CAC-5BCA-902471F24630}"/>
                </a:ext>
              </a:extLst>
            </p:cNvPr>
            <p:cNvSpPr txBox="1"/>
            <p:nvPr/>
          </p:nvSpPr>
          <p:spPr>
            <a:xfrm>
              <a:off x="5592695" y="2763966"/>
              <a:ext cx="372110" cy="140652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9050" i="1" spc="-1700" dirty="0">
                  <a:latin typeface="Garamond"/>
                  <a:cs typeface="Garamond"/>
                </a:rPr>
                <a:t>{</a:t>
              </a:r>
              <a:endParaRPr sz="9050">
                <a:latin typeface="Garamond"/>
                <a:cs typeface="Garamond"/>
              </a:endParaRPr>
            </a:p>
          </p:txBody>
        </p:sp>
        <p:grpSp>
          <p:nvGrpSpPr>
            <p:cNvPr id="22" name="object 13">
              <a:extLst>
                <a:ext uri="{FF2B5EF4-FFF2-40B4-BE49-F238E27FC236}">
                  <a16:creationId xmlns:a16="http://schemas.microsoft.com/office/drawing/2014/main" id="{69847C45-D633-84D6-2D37-82B4787B588C}"/>
                </a:ext>
              </a:extLst>
            </p:cNvPr>
            <p:cNvGrpSpPr/>
            <p:nvPr/>
          </p:nvGrpSpPr>
          <p:grpSpPr>
            <a:xfrm>
              <a:off x="5462379" y="1525932"/>
              <a:ext cx="6677659" cy="3530600"/>
              <a:chOff x="5255314" y="2486715"/>
              <a:chExt cx="6677659" cy="3530600"/>
            </a:xfrm>
          </p:grpSpPr>
          <p:sp>
            <p:nvSpPr>
              <p:cNvPr id="33" name="object 14">
                <a:extLst>
                  <a:ext uri="{FF2B5EF4-FFF2-40B4-BE49-F238E27FC236}">
                    <a16:creationId xmlns:a16="http://schemas.microsoft.com/office/drawing/2014/main" id="{E3D8BE61-B0CC-8790-9C2C-76B182EA7077}"/>
                  </a:ext>
                </a:extLst>
              </p:cNvPr>
              <p:cNvSpPr/>
              <p:nvPr/>
            </p:nvSpPr>
            <p:spPr>
              <a:xfrm>
                <a:off x="5255314" y="2486715"/>
                <a:ext cx="6677659" cy="3530600"/>
              </a:xfrm>
              <a:custGeom>
                <a:avLst/>
                <a:gdLst/>
                <a:ahLst/>
                <a:cxnLst/>
                <a:rect l="l" t="t" r="r" b="b"/>
                <a:pathLst>
                  <a:path w="6677659" h="3530600">
                    <a:moveTo>
                      <a:pt x="6677102" y="0"/>
                    </a:moveTo>
                    <a:lnTo>
                      <a:pt x="0" y="0"/>
                    </a:lnTo>
                    <a:lnTo>
                      <a:pt x="0" y="3530600"/>
                    </a:lnTo>
                    <a:lnTo>
                      <a:pt x="6677102" y="3530600"/>
                    </a:lnTo>
                    <a:lnTo>
                      <a:pt x="6677102" y="0"/>
                    </a:lnTo>
                    <a:close/>
                  </a:path>
                </a:pathLst>
              </a:custGeom>
              <a:solidFill>
                <a:srgbClr val="F6F5BD"/>
              </a:solidFill>
            </p:spPr>
            <p:txBody>
              <a:bodyPr wrap="square" lIns="0" tIns="0" rIns="0" bIns="0" rtlCol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/>
              </a:p>
            </p:txBody>
          </p:sp>
          <p:sp>
            <p:nvSpPr>
              <p:cNvPr id="34" name="object 15">
                <a:extLst>
                  <a:ext uri="{FF2B5EF4-FFF2-40B4-BE49-F238E27FC236}">
                    <a16:creationId xmlns:a16="http://schemas.microsoft.com/office/drawing/2014/main" id="{C1D5B7FD-FAC2-C3DE-5F1F-9C4ACE320ACB}"/>
                  </a:ext>
                </a:extLst>
              </p:cNvPr>
              <p:cNvSpPr/>
              <p:nvPr/>
            </p:nvSpPr>
            <p:spPr>
              <a:xfrm>
                <a:off x="5255314" y="2486715"/>
                <a:ext cx="6677659" cy="3530600"/>
              </a:xfrm>
              <a:custGeom>
                <a:avLst/>
                <a:gdLst/>
                <a:ahLst/>
                <a:cxnLst/>
                <a:rect l="l" t="t" r="r" b="b"/>
                <a:pathLst>
                  <a:path w="6677659" h="3530600">
                    <a:moveTo>
                      <a:pt x="0" y="0"/>
                    </a:moveTo>
                    <a:lnTo>
                      <a:pt x="6677102" y="0"/>
                    </a:lnTo>
                    <a:lnTo>
                      <a:pt x="6677102" y="3530600"/>
                    </a:lnTo>
                    <a:lnTo>
                      <a:pt x="0" y="353060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/>
              </a:p>
            </p:txBody>
          </p:sp>
        </p:grpSp>
        <p:sp>
          <p:nvSpPr>
            <p:cNvPr id="24" name="object 16">
              <a:extLst>
                <a:ext uri="{FF2B5EF4-FFF2-40B4-BE49-F238E27FC236}">
                  <a16:creationId xmlns:a16="http://schemas.microsoft.com/office/drawing/2014/main" id="{9EA8EBB8-E37C-F8A5-B7BD-1C42A987B989}"/>
                </a:ext>
              </a:extLst>
            </p:cNvPr>
            <p:cNvSpPr txBox="1"/>
            <p:nvPr/>
          </p:nvSpPr>
          <p:spPr>
            <a:xfrm>
              <a:off x="9432978" y="2196402"/>
              <a:ext cx="2220595" cy="391160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561340" algn="l"/>
                  <a:tab pos="927100" algn="l"/>
                  <a:tab pos="1292860" algn="l"/>
                  <a:tab pos="1658620" algn="l"/>
                  <a:tab pos="202438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//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i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=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i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+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1</a:t>
              </a:r>
              <a:endParaRPr sz="2400">
                <a:latin typeface="Courier New"/>
                <a:cs typeface="Courier New"/>
              </a:endParaRPr>
            </a:p>
          </p:txBody>
        </p:sp>
        <p:sp>
          <p:nvSpPr>
            <p:cNvPr id="26" name="object 17">
              <a:extLst>
                <a:ext uri="{FF2B5EF4-FFF2-40B4-BE49-F238E27FC236}">
                  <a16:creationId xmlns:a16="http://schemas.microsoft.com/office/drawing/2014/main" id="{CF5FAE59-013E-A403-3772-627A3A3335FC}"/>
                </a:ext>
              </a:extLst>
            </p:cNvPr>
            <p:cNvSpPr txBox="1"/>
            <p:nvPr/>
          </p:nvSpPr>
          <p:spPr>
            <a:xfrm>
              <a:off x="5500479" y="1510602"/>
              <a:ext cx="3409315" cy="1762760"/>
            </a:xfrm>
            <a:prstGeom prst="rect">
              <a:avLst/>
            </a:prstGeom>
          </p:spPr>
          <p:txBody>
            <a:bodyPr vert="horz" wrap="square" lIns="0" tIns="4318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5080" indent="457200">
                <a:lnSpc>
                  <a:spcPts val="2700"/>
                </a:lnSpc>
                <a:spcBef>
                  <a:spcPts val="340"/>
                </a:spcBef>
                <a:tabLst>
                  <a:tab pos="1201420" algn="l"/>
                  <a:tab pos="1932939" algn="l"/>
                  <a:tab pos="266446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beq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x0,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x0,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0" dirty="0">
                  <a:latin typeface="Courier New"/>
                  <a:cs typeface="Courier New"/>
                </a:rPr>
                <a:t>Test </a:t>
              </a:r>
              <a:r>
                <a:rPr sz="2400" spc="-10" dirty="0">
                  <a:latin typeface="Courier New"/>
                  <a:cs typeface="Courier New"/>
                </a:rPr>
                <a:t>Loop:</a:t>
              </a:r>
              <a:endParaRPr sz="2400">
                <a:latin typeface="Courier New"/>
                <a:cs typeface="Courier New"/>
              </a:endParaRPr>
            </a:p>
            <a:p>
              <a:pPr marL="12700" marR="370840" indent="457200">
                <a:lnSpc>
                  <a:spcPts val="2700"/>
                </a:lnSpc>
                <a:tabLst>
                  <a:tab pos="1384300" algn="l"/>
                  <a:tab pos="2115820" algn="l"/>
                  <a:tab pos="2847340" algn="l"/>
                </a:tabLst>
              </a:pPr>
              <a:r>
                <a:rPr sz="2400" spc="-20" dirty="0">
                  <a:latin typeface="Courier New"/>
                  <a:cs typeface="Courier New"/>
                </a:rPr>
                <a:t>addi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a0,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a0,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1 </a:t>
              </a:r>
              <a:r>
                <a:rPr sz="2400" spc="-10" dirty="0">
                  <a:latin typeface="Courier New"/>
                  <a:cs typeface="Courier New"/>
                </a:rPr>
                <a:t>Test:</a:t>
              </a:r>
              <a:endParaRPr sz="2400">
                <a:latin typeface="Courier New"/>
                <a:cs typeface="Courier New"/>
              </a:endParaRPr>
            </a:p>
            <a:p>
              <a:pPr marL="469900">
                <a:lnSpc>
                  <a:spcPts val="2640"/>
                </a:lnSpc>
                <a:tabLst>
                  <a:tab pos="1384300" algn="l"/>
                  <a:tab pos="2115820" algn="l"/>
                  <a:tab pos="2847340" algn="l"/>
                </a:tabLst>
              </a:pPr>
              <a:r>
                <a:rPr sz="2400" spc="-20" dirty="0">
                  <a:latin typeface="Courier New"/>
                  <a:cs typeface="Courier New"/>
                </a:rPr>
                <a:t>slli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t0,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a0,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2</a:t>
              </a:r>
              <a:endParaRPr sz="2400">
                <a:latin typeface="Courier New"/>
                <a:cs typeface="Courier New"/>
              </a:endParaRPr>
            </a:p>
          </p:txBody>
        </p:sp>
        <p:sp>
          <p:nvSpPr>
            <p:cNvPr id="28" name="object 18">
              <a:extLst>
                <a:ext uri="{FF2B5EF4-FFF2-40B4-BE49-F238E27FC236}">
                  <a16:creationId xmlns:a16="http://schemas.microsoft.com/office/drawing/2014/main" id="{67A81D54-F252-59E1-1EF6-5A6B05250162}"/>
                </a:ext>
              </a:extLst>
            </p:cNvPr>
            <p:cNvSpPr txBox="1"/>
            <p:nvPr/>
          </p:nvSpPr>
          <p:spPr>
            <a:xfrm>
              <a:off x="5957679" y="3225102"/>
              <a:ext cx="2952115" cy="1076960"/>
            </a:xfrm>
            <a:prstGeom prst="rect">
              <a:avLst/>
            </a:prstGeom>
          </p:spPr>
          <p:txBody>
            <a:bodyPr vert="horz" wrap="square" lIns="0" tIns="4318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370840">
                <a:lnSpc>
                  <a:spcPts val="2700"/>
                </a:lnSpc>
                <a:spcBef>
                  <a:spcPts val="340"/>
                </a:spcBef>
                <a:tabLst>
                  <a:tab pos="561340" algn="l"/>
                  <a:tab pos="744220" algn="l"/>
                  <a:tab pos="1292860" algn="l"/>
                  <a:tab pos="1475740" algn="l"/>
                  <a:tab pos="220726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add</a:t>
              </a:r>
              <a:r>
                <a:rPr sz="2400" dirty="0">
                  <a:latin typeface="Courier New"/>
                  <a:cs typeface="Courier New"/>
                </a:rPr>
                <a:t>		</a:t>
              </a:r>
              <a:r>
                <a:rPr sz="2400" spc="-25" dirty="0">
                  <a:latin typeface="Courier New"/>
                  <a:cs typeface="Courier New"/>
                </a:rPr>
                <a:t>t0,</a:t>
              </a:r>
              <a:r>
                <a:rPr sz="2400" dirty="0">
                  <a:latin typeface="Courier New"/>
                  <a:cs typeface="Courier New"/>
                </a:rPr>
                <a:t>		</a:t>
              </a:r>
              <a:r>
                <a:rPr sz="2400" spc="-25" dirty="0">
                  <a:latin typeface="Courier New"/>
                  <a:cs typeface="Courier New"/>
                </a:rPr>
                <a:t>t0,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a2 lw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t1,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0" dirty="0">
                  <a:latin typeface="Courier New"/>
                  <a:cs typeface="Courier New"/>
                </a:rPr>
                <a:t>0(t0)</a:t>
              </a:r>
              <a:endParaRPr sz="2400">
                <a:latin typeface="Courier New"/>
                <a:cs typeface="Courier New"/>
              </a:endParaRPr>
            </a:p>
            <a:p>
              <a:pPr marL="12700">
                <a:lnSpc>
                  <a:spcPts val="2640"/>
                </a:lnSpc>
                <a:tabLst>
                  <a:tab pos="744220" algn="l"/>
                  <a:tab pos="1475740" algn="l"/>
                  <a:tab pos="220726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beq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t1,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a1,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0" dirty="0">
                  <a:latin typeface="Courier New"/>
                  <a:cs typeface="Courier New"/>
                </a:rPr>
                <a:t>Loop</a:t>
              </a:r>
              <a:endParaRPr sz="2400">
                <a:latin typeface="Courier New"/>
                <a:cs typeface="Courier New"/>
              </a:endParaRPr>
            </a:p>
          </p:txBody>
        </p:sp>
        <p:sp>
          <p:nvSpPr>
            <p:cNvPr id="30" name="object 19">
              <a:extLst>
                <a:ext uri="{FF2B5EF4-FFF2-40B4-BE49-F238E27FC236}">
                  <a16:creationId xmlns:a16="http://schemas.microsoft.com/office/drawing/2014/main" id="{954C8B4A-3EC1-85E6-DE7A-A05885FFA7FC}"/>
                </a:ext>
              </a:extLst>
            </p:cNvPr>
            <p:cNvSpPr txBox="1"/>
            <p:nvPr/>
          </p:nvSpPr>
          <p:spPr>
            <a:xfrm>
              <a:off x="9432978" y="2882202"/>
              <a:ext cx="2403475" cy="1419860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lnSpc>
                  <a:spcPts val="2790"/>
                </a:lnSpc>
                <a:spcBef>
                  <a:spcPts val="100"/>
                </a:spcBef>
                <a:tabLst>
                  <a:tab pos="561340" algn="l"/>
                  <a:tab pos="1109980" algn="l"/>
                  <a:tab pos="147574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//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t0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=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i*4</a:t>
              </a:r>
              <a:endParaRPr sz="2400">
                <a:latin typeface="Courier New"/>
                <a:cs typeface="Courier New"/>
              </a:endParaRPr>
            </a:p>
            <a:p>
              <a:pPr marL="12700">
                <a:lnSpc>
                  <a:spcPts val="2700"/>
                </a:lnSpc>
                <a:tabLst>
                  <a:tab pos="561340" algn="l"/>
                  <a:tab pos="1109980" algn="l"/>
                  <a:tab pos="147574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//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t0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=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10" dirty="0">
                  <a:latin typeface="Courier New"/>
                  <a:cs typeface="Courier New"/>
                </a:rPr>
                <a:t>&amp;A[i]</a:t>
              </a:r>
              <a:endParaRPr sz="2400">
                <a:latin typeface="Courier New"/>
                <a:cs typeface="Courier New"/>
              </a:endParaRPr>
            </a:p>
            <a:p>
              <a:pPr marL="12700">
                <a:lnSpc>
                  <a:spcPts val="2700"/>
                </a:lnSpc>
                <a:tabLst>
                  <a:tab pos="561340" algn="l"/>
                  <a:tab pos="1109980" algn="l"/>
                  <a:tab pos="147574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//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t1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=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0" dirty="0">
                  <a:latin typeface="Courier New"/>
                  <a:cs typeface="Courier New"/>
                </a:rPr>
                <a:t>A[i]</a:t>
              </a:r>
              <a:endParaRPr sz="2400">
                <a:latin typeface="Courier New"/>
                <a:cs typeface="Courier New"/>
              </a:endParaRPr>
            </a:p>
            <a:p>
              <a:pPr marL="12700">
                <a:lnSpc>
                  <a:spcPts val="2790"/>
                </a:lnSpc>
                <a:tabLst>
                  <a:tab pos="561340" algn="l"/>
                  <a:tab pos="1475740" algn="l"/>
                  <a:tab pos="2024380" algn="l"/>
                </a:tabLst>
              </a:pPr>
              <a:r>
                <a:rPr sz="2400" spc="-25" dirty="0">
                  <a:latin typeface="Courier New"/>
                  <a:cs typeface="Courier New"/>
                </a:rPr>
                <a:t>//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0" dirty="0">
                  <a:latin typeface="Courier New"/>
                  <a:cs typeface="Courier New"/>
                </a:rPr>
                <a:t>A[i]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25" dirty="0">
                  <a:latin typeface="Courier New"/>
                  <a:cs typeface="Courier New"/>
                </a:rPr>
                <a:t>==</a:t>
              </a:r>
              <a:r>
                <a:rPr sz="2400" dirty="0">
                  <a:latin typeface="Courier New"/>
                  <a:cs typeface="Courier New"/>
                </a:rPr>
                <a:t>	</a:t>
              </a:r>
              <a:r>
                <a:rPr sz="2400" spc="-50" dirty="0">
                  <a:latin typeface="Courier New"/>
                  <a:cs typeface="Courier New"/>
                </a:rPr>
                <a:t>k</a:t>
              </a:r>
              <a:endParaRPr sz="2400">
                <a:latin typeface="Courier New"/>
                <a:cs typeface="Courier New"/>
              </a:endParaRPr>
            </a:p>
          </p:txBody>
        </p:sp>
        <p:sp>
          <p:nvSpPr>
            <p:cNvPr id="31" name="object 20">
              <a:extLst>
                <a:ext uri="{FF2B5EF4-FFF2-40B4-BE49-F238E27FC236}">
                  <a16:creationId xmlns:a16="http://schemas.microsoft.com/office/drawing/2014/main" id="{B78E21F9-1F7A-703F-EB8A-CAB2534BAF91}"/>
                </a:ext>
              </a:extLst>
            </p:cNvPr>
            <p:cNvSpPr txBox="1"/>
            <p:nvPr/>
          </p:nvSpPr>
          <p:spPr>
            <a:xfrm>
              <a:off x="5500479" y="4253802"/>
              <a:ext cx="94043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10" dirty="0">
                  <a:latin typeface="Courier New"/>
                  <a:cs typeface="Courier New"/>
                </a:rPr>
                <a:t>Exit:</a:t>
              </a:r>
              <a:endParaRPr sz="2400">
                <a:latin typeface="Courier New"/>
                <a:cs typeface="Courier New"/>
              </a:endParaRPr>
            </a:p>
          </p:txBody>
        </p:sp>
        <p:sp>
          <p:nvSpPr>
            <p:cNvPr id="32" name="object 25">
              <a:extLst>
                <a:ext uri="{FF2B5EF4-FFF2-40B4-BE49-F238E27FC236}">
                  <a16:creationId xmlns:a16="http://schemas.microsoft.com/office/drawing/2014/main" id="{B96C2B56-06F6-9AF2-75B2-C4B1613F0546}"/>
                </a:ext>
              </a:extLst>
            </p:cNvPr>
            <p:cNvSpPr txBox="1"/>
            <p:nvPr/>
          </p:nvSpPr>
          <p:spPr>
            <a:xfrm>
              <a:off x="5592695" y="2763966"/>
              <a:ext cx="372110" cy="140652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9050" i="1" spc="-1700" dirty="0">
                  <a:latin typeface="Garamond"/>
                  <a:cs typeface="Garamond"/>
                </a:rPr>
                <a:t>{</a:t>
              </a:r>
              <a:endParaRPr sz="9050">
                <a:latin typeface="Garamond"/>
                <a:cs typeface="Garamond"/>
              </a:endParaRPr>
            </a:p>
          </p:txBody>
        </p: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1AD6B5F-6AD9-116C-1616-9AF8CD4FA8B9}"/>
              </a:ext>
            </a:extLst>
          </p:cNvPr>
          <p:cNvCxnSpPr/>
          <p:nvPr/>
        </p:nvCxnSpPr>
        <p:spPr>
          <a:xfrm flipV="1">
            <a:off x="3006982" y="2881558"/>
            <a:ext cx="3050759" cy="7994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B2BBAF2-756C-9E07-C25A-F22373E85075}"/>
              </a:ext>
            </a:extLst>
          </p:cNvPr>
          <p:cNvCxnSpPr/>
          <p:nvPr/>
        </p:nvCxnSpPr>
        <p:spPr>
          <a:xfrm flipV="1">
            <a:off x="1971655" y="3577297"/>
            <a:ext cx="4144063" cy="8574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37D645B-2D5C-AB39-4098-12FC325F8DF6}"/>
              </a:ext>
            </a:extLst>
          </p:cNvPr>
          <p:cNvCxnSpPr/>
          <p:nvPr/>
        </p:nvCxnSpPr>
        <p:spPr>
          <a:xfrm flipV="1">
            <a:off x="4613808" y="4703731"/>
            <a:ext cx="1236866" cy="5592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BE07880-15E6-DDA3-54A8-338716B06AB4}"/>
              </a:ext>
            </a:extLst>
          </p:cNvPr>
          <p:cNvSpPr txBox="1"/>
          <p:nvPr/>
        </p:nvSpPr>
        <p:spPr>
          <a:xfrm>
            <a:off x="6642652" y="960783"/>
            <a:ext cx="554934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dirty="0">
                <a:solidFill>
                  <a:srgbClr val="000000"/>
                </a:solidFill>
                <a:latin typeface="Aptos"/>
              </a:rPr>
              <a:t>"</a:t>
            </a:r>
            <a:r>
              <a:rPr lang="en-US" sz="3000" b="0" i="0" u="none" strike="noStrike" baseline="0" dirty="0">
                <a:solidFill>
                  <a:srgbClr val="000000"/>
                </a:solidFill>
                <a:latin typeface="Aptos"/>
              </a:rPr>
              <a:t>Jump-to-middle</a:t>
            </a:r>
            <a:r>
              <a:rPr lang="en-US" sz="3000" dirty="0">
                <a:solidFill>
                  <a:srgbClr val="000000"/>
                </a:solidFill>
                <a:latin typeface="Aptos"/>
              </a:rPr>
              <a:t>" </a:t>
            </a:r>
            <a:r>
              <a:rPr lang="en-US" sz="3000" b="0" i="0" u="none" strike="noStrike" baseline="0" dirty="0">
                <a:solidFill>
                  <a:srgbClr val="000000"/>
                </a:solidFill>
                <a:latin typeface="Aptos"/>
              </a:rPr>
              <a:t>translation</a:t>
            </a:r>
            <a:r>
              <a:rPr sz="3000" b="0" i="0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​</a:t>
            </a:r>
            <a:endParaRPr lang="en-US" sz="30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30391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2390773"/>
            <a:ext cx="5259048" cy="34067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824" y="2346323"/>
            <a:ext cx="5246370" cy="3140603"/>
          </a:xfrm>
          <a:prstGeom prst="rect">
            <a:avLst/>
          </a:prstGeom>
          <a:solidFill>
            <a:srgbClr val="D5F1D0"/>
          </a:solidFill>
          <a:ln w="12700">
            <a:solidFill>
              <a:srgbClr val="000000"/>
            </a:solidFill>
          </a:ln>
        </p:spPr>
        <p:txBody>
          <a:bodyPr vert="horz" wrap="square" lIns="0" tIns="21590" rIns="0" bIns="0" rtlCol="0" anchor="t">
            <a:spAutoFit/>
          </a:bodyPr>
          <a:lstStyle/>
          <a:p>
            <a:pPr marL="45085" marR="619760">
              <a:lnSpc>
                <a:spcPts val="2700"/>
              </a:lnSpc>
              <a:spcBef>
                <a:spcPts val="170"/>
              </a:spcBef>
              <a:tabLst>
                <a:tab pos="776605" algn="l"/>
                <a:tab pos="1325880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pcount_while(unsigned </a:t>
            </a: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x)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410845" marR="2083435">
              <a:lnSpc>
                <a:spcPts val="2700"/>
              </a:lnSpc>
              <a:tabLst>
                <a:tab pos="1143000" algn="l"/>
                <a:tab pos="1508760" algn="l"/>
                <a:tab pos="2240280" algn="l"/>
                <a:tab pos="2423160" algn="l"/>
                <a:tab pos="2788920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result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50" dirty="0">
                <a:latin typeface="Courier New"/>
                <a:cs typeface="Courier New"/>
              </a:rPr>
              <a:t>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0; </a:t>
            </a:r>
            <a:r>
              <a:rPr sz="2400" b="1" spc="-10" dirty="0">
                <a:latin typeface="Courier New"/>
                <a:cs typeface="Courier New"/>
              </a:rPr>
              <a:t>while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(x)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777240" marR="1534795">
              <a:lnSpc>
                <a:spcPts val="2700"/>
              </a:lnSpc>
              <a:tabLst>
                <a:tab pos="1143000" algn="l"/>
                <a:tab pos="1874520" algn="l"/>
                <a:tab pos="2057400" algn="l"/>
                <a:tab pos="2606040" algn="l"/>
                <a:tab pos="2971800" algn="l"/>
                <a:tab pos="3337560" algn="l"/>
              </a:tabLst>
            </a:pPr>
            <a:r>
              <a:rPr sz="2400" b="1" spc="-10" dirty="0">
                <a:latin typeface="Courier New"/>
                <a:cs typeface="Courier New"/>
              </a:rPr>
              <a:t>result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25" dirty="0">
                <a:latin typeface="Courier New"/>
                <a:cs typeface="Courier New"/>
              </a:rPr>
              <a:t>+=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x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&amp;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1; </a:t>
            </a:r>
            <a:r>
              <a:rPr sz="2400" b="1" spc="-50" dirty="0">
                <a:latin typeface="Courier New"/>
                <a:cs typeface="Courier New"/>
              </a:rPr>
              <a:t>x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&gt;&gt;=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1;</a:t>
            </a:r>
            <a:endParaRPr sz="2400">
              <a:latin typeface="Courier New"/>
              <a:cs typeface="Courier New"/>
            </a:endParaRPr>
          </a:p>
          <a:p>
            <a:pPr marL="410845">
              <a:lnSpc>
                <a:spcPts val="255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410845">
              <a:lnSpc>
                <a:spcPts val="2700"/>
              </a:lnSpc>
              <a:tabLst>
                <a:tab pos="1691639" algn="l"/>
              </a:tabLst>
            </a:pPr>
            <a:r>
              <a:rPr sz="2400" b="1" spc="-10" dirty="0">
                <a:latin typeface="Courier New"/>
                <a:cs typeface="Courier New"/>
              </a:rPr>
              <a:t>return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result;</a:t>
            </a:r>
            <a:endParaRPr sz="2400">
              <a:latin typeface="Courier New"/>
              <a:cs typeface="Courier New"/>
            </a:endParaRPr>
          </a:p>
          <a:p>
            <a:pPr marL="45085">
              <a:lnSpc>
                <a:spcPts val="279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0457" y="2398804"/>
            <a:ext cx="5393410" cy="40718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86807" y="2354355"/>
            <a:ext cx="5380990" cy="4059554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45085" marR="206375">
              <a:lnSpc>
                <a:spcPts val="2700"/>
              </a:lnSpc>
              <a:spcBef>
                <a:spcPts val="170"/>
              </a:spcBef>
              <a:tabLst>
                <a:tab pos="776605" algn="l"/>
                <a:tab pos="1325245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pcount_goto_jtm(unsigned </a:t>
            </a: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x)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410845" marR="2218055">
              <a:lnSpc>
                <a:spcPts val="2700"/>
              </a:lnSpc>
              <a:tabLst>
                <a:tab pos="1142365" algn="l"/>
                <a:tab pos="1325245" algn="l"/>
                <a:tab pos="2422525" algn="l"/>
                <a:tab pos="2788285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result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0; </a:t>
            </a:r>
            <a:r>
              <a:rPr sz="2400" b="1" spc="-20" dirty="0">
                <a:latin typeface="Courier New"/>
                <a:cs typeface="Courier New"/>
              </a:rPr>
              <a:t>goto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10" dirty="0">
                <a:solidFill>
                  <a:srgbClr val="0000FF"/>
                </a:solidFill>
                <a:latin typeface="Courier New"/>
                <a:cs typeface="Courier New"/>
              </a:rPr>
              <a:t>test</a:t>
            </a:r>
            <a:r>
              <a:rPr sz="2400" b="1" spc="-10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  <a:p>
            <a:pPr marL="227965">
              <a:lnSpc>
                <a:spcPts val="2550"/>
              </a:lnSpc>
            </a:pPr>
            <a:r>
              <a:rPr sz="2400" b="1" spc="-10" dirty="0">
                <a:solidFill>
                  <a:srgbClr val="CC0000"/>
                </a:solidFill>
                <a:latin typeface="Courier New"/>
                <a:cs typeface="Courier New"/>
              </a:rPr>
              <a:t>loop:</a:t>
            </a:r>
            <a:endParaRPr sz="2400">
              <a:latin typeface="Courier New"/>
              <a:cs typeface="Courier New"/>
            </a:endParaRPr>
          </a:p>
          <a:p>
            <a:pPr marL="410845" marR="2035175">
              <a:lnSpc>
                <a:spcPts val="2700"/>
              </a:lnSpc>
              <a:spcBef>
                <a:spcPts val="150"/>
              </a:spcBef>
              <a:tabLst>
                <a:tab pos="776605" algn="l"/>
                <a:tab pos="1508125" algn="l"/>
                <a:tab pos="1691005" algn="l"/>
                <a:tab pos="2239645" algn="l"/>
                <a:tab pos="2605405" algn="l"/>
                <a:tab pos="2971165" algn="l"/>
              </a:tabLst>
            </a:pPr>
            <a:r>
              <a:rPr sz="2400" b="1" spc="-10" dirty="0">
                <a:latin typeface="Courier New"/>
                <a:cs typeface="Courier New"/>
              </a:rPr>
              <a:t>result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25" dirty="0">
                <a:latin typeface="Courier New"/>
                <a:cs typeface="Courier New"/>
              </a:rPr>
              <a:t>+=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x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&amp;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1; </a:t>
            </a:r>
            <a:r>
              <a:rPr sz="2400" b="1" spc="-50" dirty="0">
                <a:latin typeface="Courier New"/>
                <a:cs typeface="Courier New"/>
              </a:rPr>
              <a:t>x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&gt;&gt;=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1;</a:t>
            </a:r>
            <a:endParaRPr sz="2400">
              <a:latin typeface="Courier New"/>
              <a:cs typeface="Courier New"/>
            </a:endParaRPr>
          </a:p>
          <a:p>
            <a:pPr marL="227965">
              <a:lnSpc>
                <a:spcPts val="2550"/>
              </a:lnSpc>
            </a:pPr>
            <a:r>
              <a:rPr sz="2400" b="1" spc="-10" dirty="0">
                <a:solidFill>
                  <a:srgbClr val="0000FF"/>
                </a:solidFill>
                <a:latin typeface="Courier New"/>
                <a:cs typeface="Courier New"/>
              </a:rPr>
              <a:t>test:</a:t>
            </a:r>
            <a:endParaRPr sz="2400">
              <a:latin typeface="Courier New"/>
              <a:cs typeface="Courier New"/>
            </a:endParaRPr>
          </a:p>
          <a:p>
            <a:pPr marL="410845" marR="2035175">
              <a:lnSpc>
                <a:spcPts val="2700"/>
              </a:lnSpc>
              <a:spcBef>
                <a:spcPts val="150"/>
              </a:spcBef>
              <a:tabLst>
                <a:tab pos="1508125" algn="l"/>
                <a:tab pos="1691005" algn="l"/>
                <a:tab pos="2422525" algn="l"/>
              </a:tabLst>
            </a:pPr>
            <a:r>
              <a:rPr sz="2400" b="1" spc="-10" dirty="0">
                <a:latin typeface="Courier New"/>
                <a:cs typeface="Courier New"/>
              </a:rPr>
              <a:t>if(x)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0" dirty="0">
                <a:latin typeface="Courier New"/>
                <a:cs typeface="Courier New"/>
              </a:rPr>
              <a:t>goto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solidFill>
                  <a:srgbClr val="CC0000"/>
                </a:solidFill>
                <a:latin typeface="Courier New"/>
                <a:cs typeface="Courier New"/>
              </a:rPr>
              <a:t>loop</a:t>
            </a:r>
            <a:r>
              <a:rPr sz="2400" b="1" spc="-10" dirty="0">
                <a:latin typeface="Courier New"/>
                <a:cs typeface="Courier New"/>
              </a:rPr>
              <a:t>; return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10" dirty="0">
                <a:latin typeface="Courier New"/>
                <a:cs typeface="Courier New"/>
              </a:rPr>
              <a:t>result;</a:t>
            </a:r>
            <a:endParaRPr sz="2400">
              <a:latin typeface="Courier New"/>
              <a:cs typeface="Courier New"/>
            </a:endParaRPr>
          </a:p>
          <a:p>
            <a:pPr marL="45085">
              <a:lnSpc>
                <a:spcPts val="264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4550" y="902735"/>
            <a:ext cx="8060414" cy="789960"/>
          </a:xfrm>
          <a:prstGeom prst="rect">
            <a:avLst/>
          </a:prstGeom>
        </p:spPr>
        <p:txBody>
          <a:bodyPr vert="horz" wrap="square" lIns="0" tIns="29464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320"/>
              </a:spcBef>
            </a:pPr>
            <a:r>
              <a:rPr sz="3200" dirty="0">
                <a:latin typeface="Aptos"/>
                <a:cs typeface="Calibri"/>
              </a:rPr>
              <a:t>Count</a:t>
            </a:r>
            <a:r>
              <a:rPr sz="3200" spc="-135" dirty="0">
                <a:latin typeface="Aptos"/>
                <a:cs typeface="Calibri"/>
              </a:rPr>
              <a:t> </a:t>
            </a:r>
            <a:r>
              <a:rPr sz="3200" dirty="0">
                <a:latin typeface="Aptos"/>
                <a:cs typeface="Calibri"/>
              </a:rPr>
              <a:t>number</a:t>
            </a:r>
            <a:r>
              <a:rPr sz="3200" spc="-70" dirty="0">
                <a:latin typeface="Aptos"/>
                <a:cs typeface="Calibri"/>
              </a:rPr>
              <a:t> </a:t>
            </a:r>
            <a:r>
              <a:rPr sz="3200" dirty="0">
                <a:latin typeface="Aptos"/>
                <a:cs typeface="Calibri"/>
              </a:rPr>
              <a:t>of</a:t>
            </a:r>
            <a:r>
              <a:rPr sz="3200" spc="-65" dirty="0">
                <a:latin typeface="Aptos"/>
                <a:cs typeface="Calibri"/>
              </a:rPr>
              <a:t> </a:t>
            </a:r>
            <a:r>
              <a:rPr sz="3200" spc="-25" dirty="0">
                <a:latin typeface="Aptos"/>
                <a:cs typeface="Calibri"/>
              </a:rPr>
              <a:t>1’s</a:t>
            </a:r>
            <a:r>
              <a:rPr sz="3200" spc="-65" dirty="0">
                <a:latin typeface="Aptos"/>
                <a:cs typeface="Calibri"/>
              </a:rPr>
              <a:t> </a:t>
            </a:r>
            <a:r>
              <a:rPr sz="3200" dirty="0">
                <a:latin typeface="Aptos"/>
                <a:cs typeface="Calibri"/>
              </a:rPr>
              <a:t>in</a:t>
            </a:r>
            <a:r>
              <a:rPr sz="3200" spc="-70" dirty="0">
                <a:latin typeface="Aptos"/>
                <a:cs typeface="Calibri"/>
              </a:rPr>
              <a:t> </a:t>
            </a:r>
            <a:r>
              <a:rPr sz="3200" spc="-10" dirty="0">
                <a:latin typeface="Aptos"/>
                <a:cs typeface="Calibri"/>
              </a:rPr>
              <a:t>argument</a:t>
            </a:r>
            <a:r>
              <a:rPr sz="3200" spc="-70" dirty="0">
                <a:latin typeface="Aptos"/>
                <a:cs typeface="Calibri"/>
              </a:rPr>
              <a:t> </a:t>
            </a:r>
            <a:r>
              <a:rPr sz="3200" spc="-25" dirty="0">
                <a:latin typeface="Aptos"/>
                <a:cs typeface="Courier New"/>
              </a:rPr>
              <a:t>x</a:t>
            </a:r>
            <a:r>
              <a:rPr sz="3200" spc="-1200" dirty="0">
                <a:latin typeface="Aptos"/>
                <a:cs typeface="Courier New"/>
              </a:rPr>
              <a:t> </a:t>
            </a:r>
            <a:r>
              <a:rPr lang="en-US" sz="3200" spc="-10" dirty="0">
                <a:latin typeface="Aptos"/>
                <a:cs typeface="Calibri"/>
              </a:rPr>
              <a:t>('</a:t>
            </a:r>
            <a:r>
              <a:rPr lang="en-US" sz="3200" spc="-10" dirty="0" err="1">
                <a:latin typeface="Aptos"/>
                <a:cs typeface="Calibri"/>
              </a:rPr>
              <a:t>popcount</a:t>
            </a:r>
            <a:r>
              <a:rPr lang="en-US" sz="3200" spc="-10" dirty="0">
                <a:latin typeface="Aptos"/>
                <a:cs typeface="Calibri"/>
              </a:rPr>
              <a:t>')</a:t>
            </a:r>
            <a:endParaRPr lang="en-US" sz="3200" dirty="0">
              <a:latin typeface="Aptos"/>
              <a:ea typeface="Calibri"/>
              <a:cs typeface="Calibri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5B8D0C7-D9AA-0541-AB86-33E583011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/>
              <a:t>While loop: example #2</a:t>
            </a:r>
            <a:endParaRPr 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AFB112B8-AF37-BB2F-D4A6-E253C062426C}"/>
              </a:ext>
            </a:extLst>
          </p:cNvPr>
          <p:cNvSpPr txBox="1"/>
          <p:nvPr/>
        </p:nvSpPr>
        <p:spPr>
          <a:xfrm>
            <a:off x="394780" y="1870014"/>
            <a:ext cx="898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886723EC-3715-04A3-CDD0-1F3C64860F65}"/>
              </a:ext>
            </a:extLst>
          </p:cNvPr>
          <p:cNvSpPr txBox="1"/>
          <p:nvPr/>
        </p:nvSpPr>
        <p:spPr>
          <a:xfrm>
            <a:off x="5984633" y="1868500"/>
            <a:ext cx="4000279" cy="3821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i="1" dirty="0" err="1">
                <a:latin typeface="Calibri"/>
                <a:cs typeface="Calibri"/>
              </a:rPr>
              <a:t>goto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version</a:t>
            </a:r>
            <a:r>
              <a:rPr lang="en-US" sz="2400" b="1" spc="-10" dirty="0">
                <a:latin typeface="Calibri"/>
                <a:cs typeface="Calibri"/>
              </a:rPr>
              <a:t> (template 2)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01854" y="-11083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95D1D"/>
                </a:solidFill>
                <a:latin typeface="Calibri"/>
                <a:cs typeface="Calibri"/>
              </a:rPr>
              <a:t>21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457" y="2398804"/>
            <a:ext cx="5393410" cy="407188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8807" y="2354355"/>
            <a:ext cx="5380990" cy="4059554"/>
          </a:xfrm>
          <a:prstGeom prst="rect">
            <a:avLst/>
          </a:prstGeom>
          <a:solidFill>
            <a:srgbClr val="D5F1CF"/>
          </a:solidFill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45085" marR="206375">
              <a:lnSpc>
                <a:spcPts val="2700"/>
              </a:lnSpc>
              <a:spcBef>
                <a:spcPts val="170"/>
              </a:spcBef>
              <a:tabLst>
                <a:tab pos="776605" algn="l"/>
                <a:tab pos="1325245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pcount_goto_jtm(unsigned </a:t>
            </a: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x)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410845" marR="2218055">
              <a:lnSpc>
                <a:spcPts val="2700"/>
              </a:lnSpc>
              <a:tabLst>
                <a:tab pos="1142365" algn="l"/>
                <a:tab pos="1325245" algn="l"/>
                <a:tab pos="2422525" algn="l"/>
                <a:tab pos="2788285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result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0; </a:t>
            </a:r>
            <a:r>
              <a:rPr sz="2400" b="1" spc="-20" dirty="0">
                <a:latin typeface="Courier New"/>
                <a:cs typeface="Courier New"/>
              </a:rPr>
              <a:t>goto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10" dirty="0">
                <a:solidFill>
                  <a:srgbClr val="0000FF"/>
                </a:solidFill>
                <a:latin typeface="Courier New"/>
                <a:cs typeface="Courier New"/>
              </a:rPr>
              <a:t>test</a:t>
            </a:r>
            <a:r>
              <a:rPr sz="2400" b="1" spc="-10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  <a:p>
            <a:pPr marL="227965">
              <a:lnSpc>
                <a:spcPts val="2550"/>
              </a:lnSpc>
            </a:pPr>
            <a:r>
              <a:rPr sz="2400" b="1" spc="-10" dirty="0">
                <a:solidFill>
                  <a:srgbClr val="CC0000"/>
                </a:solidFill>
                <a:latin typeface="Courier New"/>
                <a:cs typeface="Courier New"/>
              </a:rPr>
              <a:t>Loop:</a:t>
            </a:r>
            <a:endParaRPr sz="2400">
              <a:latin typeface="Courier New"/>
              <a:cs typeface="Courier New"/>
            </a:endParaRPr>
          </a:p>
          <a:p>
            <a:pPr marL="410845" marR="2035175">
              <a:lnSpc>
                <a:spcPts val="2700"/>
              </a:lnSpc>
              <a:spcBef>
                <a:spcPts val="150"/>
              </a:spcBef>
              <a:tabLst>
                <a:tab pos="776605" algn="l"/>
                <a:tab pos="1508125" algn="l"/>
                <a:tab pos="1691005" algn="l"/>
                <a:tab pos="2239645" algn="l"/>
                <a:tab pos="2605405" algn="l"/>
                <a:tab pos="2971165" algn="l"/>
              </a:tabLst>
            </a:pPr>
            <a:r>
              <a:rPr sz="2400" b="1" spc="-10" dirty="0">
                <a:latin typeface="Courier New"/>
                <a:cs typeface="Courier New"/>
              </a:rPr>
              <a:t>result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25" dirty="0">
                <a:latin typeface="Courier New"/>
                <a:cs typeface="Courier New"/>
              </a:rPr>
              <a:t>+=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x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&amp;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1; </a:t>
            </a:r>
            <a:r>
              <a:rPr sz="2400" b="1" spc="-50" dirty="0">
                <a:latin typeface="Courier New"/>
                <a:cs typeface="Courier New"/>
              </a:rPr>
              <a:t>x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&gt;&gt;=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1;</a:t>
            </a:r>
            <a:endParaRPr sz="2400">
              <a:latin typeface="Courier New"/>
              <a:cs typeface="Courier New"/>
            </a:endParaRPr>
          </a:p>
          <a:p>
            <a:pPr marL="227965">
              <a:lnSpc>
                <a:spcPts val="2550"/>
              </a:lnSpc>
            </a:pPr>
            <a:r>
              <a:rPr sz="2400" b="1" spc="-10" dirty="0">
                <a:latin typeface="Courier New"/>
                <a:cs typeface="Courier New"/>
              </a:rPr>
              <a:t>T</a:t>
            </a:r>
            <a:r>
              <a:rPr sz="2400" b="1" spc="-10" dirty="0">
                <a:solidFill>
                  <a:srgbClr val="0000FF"/>
                </a:solidFill>
                <a:latin typeface="Courier New"/>
                <a:cs typeface="Courier New"/>
              </a:rPr>
              <a:t>est:</a:t>
            </a:r>
            <a:endParaRPr sz="2400">
              <a:latin typeface="Courier New"/>
              <a:cs typeface="Courier New"/>
            </a:endParaRPr>
          </a:p>
          <a:p>
            <a:pPr marL="410845" marR="2035175">
              <a:lnSpc>
                <a:spcPts val="2700"/>
              </a:lnSpc>
              <a:spcBef>
                <a:spcPts val="150"/>
              </a:spcBef>
              <a:tabLst>
                <a:tab pos="1508125" algn="l"/>
                <a:tab pos="1691005" algn="l"/>
                <a:tab pos="2422525" algn="l"/>
              </a:tabLst>
            </a:pPr>
            <a:r>
              <a:rPr sz="2400" b="1" spc="-10" dirty="0">
                <a:latin typeface="Courier New"/>
                <a:cs typeface="Courier New"/>
              </a:rPr>
              <a:t>if(x)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0" dirty="0">
                <a:latin typeface="Courier New"/>
                <a:cs typeface="Courier New"/>
              </a:rPr>
              <a:t>goto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solidFill>
                  <a:srgbClr val="CC0000"/>
                </a:solidFill>
                <a:latin typeface="Courier New"/>
                <a:cs typeface="Courier New"/>
              </a:rPr>
              <a:t>Loop</a:t>
            </a:r>
            <a:r>
              <a:rPr sz="2400" b="1" spc="-10" dirty="0">
                <a:latin typeface="Courier New"/>
                <a:cs typeface="Courier New"/>
              </a:rPr>
              <a:t>; return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10" dirty="0">
                <a:latin typeface="Courier New"/>
                <a:cs typeface="Courier New"/>
              </a:rPr>
              <a:t>result;</a:t>
            </a:r>
            <a:endParaRPr sz="2400">
              <a:latin typeface="Courier New"/>
              <a:cs typeface="Courier New"/>
            </a:endParaRPr>
          </a:p>
          <a:p>
            <a:pPr marL="45085">
              <a:lnSpc>
                <a:spcPts val="264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73140" y="2349500"/>
            <a:ext cx="5958205" cy="387350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27939" rIns="0" bIns="0" rtlCol="0">
            <a:spAutoFit/>
          </a:bodyPr>
          <a:lstStyle/>
          <a:p>
            <a:pPr marL="508000" marR="2515235">
              <a:lnSpc>
                <a:spcPts val="2700"/>
              </a:lnSpc>
              <a:spcBef>
                <a:spcPts val="219"/>
              </a:spcBef>
              <a:tabLst>
                <a:tab pos="1239520" algn="l"/>
                <a:tab pos="1422400" algn="l"/>
                <a:tab pos="1971039" algn="l"/>
                <a:tab pos="2153920" algn="l"/>
                <a:tab pos="2702560" algn="l"/>
                <a:tab pos="2885440" algn="l"/>
              </a:tabLst>
            </a:pPr>
            <a:r>
              <a:rPr sz="2400" spc="-20" dirty="0">
                <a:latin typeface="Courier New"/>
                <a:cs typeface="Courier New"/>
              </a:rPr>
              <a:t>addi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25" dirty="0">
                <a:latin typeface="Courier New"/>
                <a:cs typeface="Courier New"/>
              </a:rPr>
              <a:t>t0,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25" dirty="0">
                <a:latin typeface="Courier New"/>
                <a:cs typeface="Courier New"/>
              </a:rPr>
              <a:t>x0,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50" dirty="0">
                <a:latin typeface="Courier New"/>
                <a:cs typeface="Courier New"/>
              </a:rPr>
              <a:t>0 </a:t>
            </a:r>
            <a:r>
              <a:rPr sz="2400" spc="-25" dirty="0">
                <a:latin typeface="Courier New"/>
                <a:cs typeface="Courier New"/>
              </a:rPr>
              <a:t>beq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x0,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x0,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Test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550"/>
              </a:lnSpc>
            </a:pPr>
            <a:r>
              <a:rPr sz="2400" spc="-10" dirty="0">
                <a:latin typeface="Courier New"/>
                <a:cs typeface="Courier New"/>
              </a:rPr>
              <a:t>Loop:</a:t>
            </a:r>
            <a:endParaRPr sz="2400">
              <a:latin typeface="Courier New"/>
              <a:cs typeface="Courier New"/>
            </a:endParaRPr>
          </a:p>
          <a:p>
            <a:pPr marL="508000">
              <a:lnSpc>
                <a:spcPts val="2700"/>
              </a:lnSpc>
              <a:tabLst>
                <a:tab pos="1422400" algn="l"/>
                <a:tab pos="2153920" algn="l"/>
                <a:tab pos="2885440" algn="l"/>
                <a:tab pos="3251200" algn="l"/>
                <a:tab pos="3799840" algn="l"/>
                <a:tab pos="4165600" algn="l"/>
                <a:tab pos="4531360" algn="l"/>
              </a:tabLst>
            </a:pPr>
            <a:r>
              <a:rPr sz="2400" spc="-20" dirty="0">
                <a:latin typeface="Courier New"/>
                <a:cs typeface="Courier New"/>
              </a:rPr>
              <a:t>andi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t1,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x0,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1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//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x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&amp;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  <a:p>
            <a:pPr marL="508000" marR="137160">
              <a:lnSpc>
                <a:spcPts val="2700"/>
              </a:lnSpc>
              <a:spcBef>
                <a:spcPts val="150"/>
              </a:spcBef>
              <a:tabLst>
                <a:tab pos="1239520" algn="l"/>
                <a:tab pos="1422400" algn="l"/>
                <a:tab pos="1971039" algn="l"/>
                <a:tab pos="2153920" algn="l"/>
                <a:tab pos="2702560" algn="l"/>
                <a:tab pos="2885440" algn="l"/>
                <a:tab pos="3251200" algn="l"/>
                <a:tab pos="3799840" algn="l"/>
                <a:tab pos="4165600" algn="l"/>
                <a:tab pos="4897755" algn="l"/>
                <a:tab pos="5080635" algn="l"/>
                <a:tab pos="5629275" algn="l"/>
              </a:tabLst>
            </a:pPr>
            <a:r>
              <a:rPr sz="2400" spc="-25" dirty="0">
                <a:latin typeface="Courier New"/>
                <a:cs typeface="Courier New"/>
              </a:rPr>
              <a:t>add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t1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//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result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+=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t </a:t>
            </a:r>
            <a:r>
              <a:rPr sz="2400" spc="-20" dirty="0">
                <a:latin typeface="Courier New"/>
                <a:cs typeface="Courier New"/>
              </a:rPr>
              <a:t>srli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25" dirty="0">
                <a:latin typeface="Courier New"/>
                <a:cs typeface="Courier New"/>
              </a:rPr>
              <a:t>a0,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25" dirty="0">
                <a:latin typeface="Courier New"/>
                <a:cs typeface="Courier New"/>
              </a:rPr>
              <a:t>a0,</a:t>
            </a:r>
            <a:r>
              <a:rPr sz="2400" dirty="0">
                <a:latin typeface="Courier New"/>
                <a:cs typeface="Courier New"/>
              </a:rPr>
              <a:t>		</a:t>
            </a:r>
            <a:r>
              <a:rPr sz="2400" spc="-50" dirty="0">
                <a:latin typeface="Courier New"/>
                <a:cs typeface="Courier New"/>
              </a:rPr>
              <a:t>1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//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x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&gt;&gt;=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  <a:p>
            <a:pPr marL="50800">
              <a:lnSpc>
                <a:spcPts val="2550"/>
              </a:lnSpc>
            </a:pPr>
            <a:r>
              <a:rPr sz="2400" spc="-10" dirty="0">
                <a:latin typeface="Courier New"/>
                <a:cs typeface="Courier New"/>
              </a:rPr>
              <a:t>Test:</a:t>
            </a:r>
            <a:endParaRPr sz="2400">
              <a:latin typeface="Courier New"/>
              <a:cs typeface="Courier New"/>
            </a:endParaRPr>
          </a:p>
          <a:p>
            <a:pPr marL="508000">
              <a:lnSpc>
                <a:spcPts val="2700"/>
              </a:lnSpc>
              <a:tabLst>
                <a:tab pos="1239520" algn="l"/>
                <a:tab pos="1971039" algn="l"/>
                <a:tab pos="2702560" algn="l"/>
              </a:tabLst>
            </a:pPr>
            <a:r>
              <a:rPr sz="2400" spc="-25" dirty="0">
                <a:latin typeface="Courier New"/>
                <a:cs typeface="Courier New"/>
              </a:rPr>
              <a:t>bne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x0,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a0,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Loop</a:t>
            </a:r>
            <a:endParaRPr sz="2400">
              <a:latin typeface="Courier New"/>
              <a:cs typeface="Courier New"/>
            </a:endParaRPr>
          </a:p>
          <a:p>
            <a:pPr marL="50800" marR="1052195" indent="457200">
              <a:lnSpc>
                <a:spcPts val="2700"/>
              </a:lnSpc>
              <a:spcBef>
                <a:spcPts val="150"/>
              </a:spcBef>
              <a:tabLst>
                <a:tab pos="1422400" algn="l"/>
                <a:tab pos="2153920" algn="l"/>
                <a:tab pos="2885440" algn="l"/>
                <a:tab pos="3251200" algn="l"/>
                <a:tab pos="3799840" algn="l"/>
              </a:tabLst>
            </a:pPr>
            <a:r>
              <a:rPr sz="2400" spc="-20" dirty="0">
                <a:latin typeface="Courier New"/>
                <a:cs typeface="Courier New"/>
              </a:rPr>
              <a:t>addi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a0,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t0,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0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//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return Exit: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90A9E0E-FC8D-BACC-C444-8B08A8EFC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/>
              <a:t>While loop: example #2</a:t>
            </a:r>
            <a:endParaRPr lang="en-US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6D6E8FF-A318-13D7-7055-012A1A5A54E0}"/>
              </a:ext>
            </a:extLst>
          </p:cNvPr>
          <p:cNvSpPr txBox="1"/>
          <p:nvPr/>
        </p:nvSpPr>
        <p:spPr>
          <a:xfrm>
            <a:off x="374550" y="902735"/>
            <a:ext cx="8060414" cy="789960"/>
          </a:xfrm>
          <a:prstGeom prst="rect">
            <a:avLst/>
          </a:prstGeom>
        </p:spPr>
        <p:txBody>
          <a:bodyPr vert="horz" wrap="square" lIns="0" tIns="29464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320"/>
              </a:spcBef>
            </a:pPr>
            <a:r>
              <a:rPr sz="3200" dirty="0">
                <a:latin typeface="Aptos"/>
                <a:cs typeface="Calibri"/>
              </a:rPr>
              <a:t>Count</a:t>
            </a:r>
            <a:r>
              <a:rPr sz="3200" spc="-135" dirty="0">
                <a:latin typeface="Aptos"/>
                <a:cs typeface="Calibri"/>
              </a:rPr>
              <a:t> </a:t>
            </a:r>
            <a:r>
              <a:rPr sz="3200" dirty="0">
                <a:latin typeface="Aptos"/>
                <a:cs typeface="Calibri"/>
              </a:rPr>
              <a:t>number</a:t>
            </a:r>
            <a:r>
              <a:rPr sz="3200" spc="-70" dirty="0">
                <a:latin typeface="Aptos"/>
                <a:cs typeface="Calibri"/>
              </a:rPr>
              <a:t> </a:t>
            </a:r>
            <a:r>
              <a:rPr sz="3200" dirty="0">
                <a:latin typeface="Aptos"/>
                <a:cs typeface="Calibri"/>
              </a:rPr>
              <a:t>of</a:t>
            </a:r>
            <a:r>
              <a:rPr sz="3200" spc="-65" dirty="0">
                <a:latin typeface="Aptos"/>
                <a:cs typeface="Calibri"/>
              </a:rPr>
              <a:t> </a:t>
            </a:r>
            <a:r>
              <a:rPr sz="3200" spc="-25" dirty="0">
                <a:latin typeface="Aptos"/>
                <a:cs typeface="Calibri"/>
              </a:rPr>
              <a:t>1’s</a:t>
            </a:r>
            <a:r>
              <a:rPr sz="3200" spc="-65" dirty="0">
                <a:latin typeface="Aptos"/>
                <a:cs typeface="Calibri"/>
              </a:rPr>
              <a:t> </a:t>
            </a:r>
            <a:r>
              <a:rPr sz="3200" dirty="0">
                <a:latin typeface="Aptos"/>
                <a:cs typeface="Calibri"/>
              </a:rPr>
              <a:t>in</a:t>
            </a:r>
            <a:r>
              <a:rPr sz="3200" spc="-70" dirty="0">
                <a:latin typeface="Aptos"/>
                <a:cs typeface="Calibri"/>
              </a:rPr>
              <a:t> </a:t>
            </a:r>
            <a:r>
              <a:rPr sz="3200" spc="-10" dirty="0">
                <a:latin typeface="Aptos"/>
                <a:cs typeface="Calibri"/>
              </a:rPr>
              <a:t>argument</a:t>
            </a:r>
            <a:r>
              <a:rPr sz="3200" spc="-70" dirty="0">
                <a:latin typeface="Aptos"/>
                <a:cs typeface="Calibri"/>
              </a:rPr>
              <a:t> </a:t>
            </a:r>
            <a:r>
              <a:rPr sz="3200" spc="-25" dirty="0">
                <a:latin typeface="Aptos"/>
                <a:cs typeface="Courier New"/>
              </a:rPr>
              <a:t>x</a:t>
            </a:r>
            <a:r>
              <a:rPr sz="3200" spc="-1200" dirty="0">
                <a:latin typeface="Aptos"/>
                <a:cs typeface="Courier New"/>
              </a:rPr>
              <a:t> </a:t>
            </a:r>
            <a:r>
              <a:rPr lang="en-US" sz="3200" spc="-10" dirty="0">
                <a:latin typeface="Aptos"/>
                <a:cs typeface="Calibri"/>
              </a:rPr>
              <a:t>('</a:t>
            </a:r>
            <a:r>
              <a:rPr lang="en-US" sz="3200" spc="-10" dirty="0" err="1">
                <a:latin typeface="Aptos"/>
                <a:cs typeface="Calibri"/>
              </a:rPr>
              <a:t>popcount</a:t>
            </a:r>
            <a:r>
              <a:rPr lang="en-US" sz="3200" spc="-10" dirty="0">
                <a:latin typeface="Aptos"/>
                <a:cs typeface="Calibri"/>
              </a:rPr>
              <a:t>')</a:t>
            </a:r>
            <a:endParaRPr lang="en-US" sz="3200" dirty="0">
              <a:latin typeface="Aptos"/>
              <a:ea typeface="Calibri"/>
              <a:cs typeface="Calibri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A4C9B5F6-BD96-689A-048D-1D70D0B48969}"/>
              </a:ext>
            </a:extLst>
          </p:cNvPr>
          <p:cNvSpPr txBox="1"/>
          <p:nvPr/>
        </p:nvSpPr>
        <p:spPr>
          <a:xfrm>
            <a:off x="402155" y="1885065"/>
            <a:ext cx="4000279" cy="3821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i="1" dirty="0" err="1">
                <a:latin typeface="Calibri"/>
                <a:cs typeface="Calibri"/>
              </a:rPr>
              <a:t>goto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version</a:t>
            </a:r>
            <a:r>
              <a:rPr lang="en-US" sz="2400" b="1" spc="-10" dirty="0">
                <a:latin typeface="Calibri"/>
                <a:cs typeface="Calibri"/>
              </a:rPr>
              <a:t> (template 2)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3" name="object 22">
            <a:extLst>
              <a:ext uri="{FF2B5EF4-FFF2-40B4-BE49-F238E27FC236}">
                <a16:creationId xmlns:a16="http://schemas.microsoft.com/office/drawing/2014/main" id="{C8F247AC-EDF6-49AF-DCEE-35A6DB8BEAD0}"/>
              </a:ext>
            </a:extLst>
          </p:cNvPr>
          <p:cNvSpPr txBox="1"/>
          <p:nvPr/>
        </p:nvSpPr>
        <p:spPr>
          <a:xfrm>
            <a:off x="5976863" y="1887764"/>
            <a:ext cx="19138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Assembly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01854" y="-11083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95D1D"/>
                </a:solidFill>
                <a:latin typeface="Calibri"/>
                <a:cs typeface="Calibri"/>
              </a:rPr>
              <a:t>22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4000" y="1350267"/>
            <a:ext cx="1043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450" y="1873247"/>
            <a:ext cx="3517900" cy="15335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4800" y="1828798"/>
            <a:ext cx="3505200" cy="1520825"/>
          </a:xfrm>
          <a:prstGeom prst="rect">
            <a:avLst/>
          </a:prstGeom>
          <a:solidFill>
            <a:srgbClr val="D5F1D0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ts val="3040"/>
              </a:lnSpc>
            </a:pPr>
            <a:r>
              <a:rPr sz="2800" spc="-25" dirty="0">
                <a:latin typeface="Courier New"/>
                <a:cs typeface="Courier New"/>
              </a:rPr>
              <a:t>do</a:t>
            </a:r>
            <a:endParaRPr sz="2800">
              <a:latin typeface="Courier New"/>
              <a:cs typeface="Courier New"/>
            </a:endParaRPr>
          </a:p>
          <a:p>
            <a:pPr marL="471170">
              <a:lnSpc>
                <a:spcPts val="3100"/>
              </a:lnSpc>
            </a:pPr>
            <a:r>
              <a:rPr sz="2800" b="1" spc="-20" dirty="0">
                <a:latin typeface="Courier New"/>
                <a:cs typeface="Courier New"/>
              </a:rPr>
              <a:t>body</a:t>
            </a:r>
            <a:endParaRPr sz="2800">
              <a:latin typeface="Courier New"/>
              <a:cs typeface="Courier New"/>
            </a:endParaRPr>
          </a:p>
          <a:p>
            <a:pPr marL="471170">
              <a:lnSpc>
                <a:spcPts val="3229"/>
              </a:lnSpc>
              <a:tabLst>
                <a:tab pos="1751330" algn="l"/>
              </a:tabLst>
            </a:pPr>
            <a:r>
              <a:rPr sz="2800" spc="-10" dirty="0">
                <a:latin typeface="Courier New"/>
                <a:cs typeface="Courier New"/>
              </a:rPr>
              <a:t>while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(COND);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0" y="1164629"/>
            <a:ext cx="1665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Goto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Version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3850" y="1676398"/>
            <a:ext cx="3670300" cy="19145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410200" y="1631950"/>
            <a:ext cx="3657600" cy="1901825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ts val="3040"/>
              </a:lnSpc>
            </a:pPr>
            <a:r>
              <a:rPr sz="2800" spc="-10" dirty="0">
                <a:latin typeface="Courier New"/>
                <a:cs typeface="Courier New"/>
              </a:rPr>
              <a:t>loop:</a:t>
            </a:r>
            <a:endParaRPr sz="2800">
              <a:latin typeface="Courier New"/>
              <a:cs typeface="Courier New"/>
            </a:endParaRPr>
          </a:p>
          <a:p>
            <a:pPr marL="471170">
              <a:lnSpc>
                <a:spcPts val="3100"/>
              </a:lnSpc>
            </a:pPr>
            <a:r>
              <a:rPr sz="2800" b="1" spc="-20" dirty="0">
                <a:latin typeface="Courier New"/>
                <a:cs typeface="Courier New"/>
              </a:rPr>
              <a:t>body</a:t>
            </a:r>
            <a:endParaRPr sz="2800">
              <a:latin typeface="Courier New"/>
              <a:cs typeface="Courier New"/>
            </a:endParaRPr>
          </a:p>
          <a:p>
            <a:pPr marL="471170">
              <a:lnSpc>
                <a:spcPts val="3100"/>
              </a:lnSpc>
              <a:tabLst>
                <a:tab pos="1111250" algn="l"/>
              </a:tabLst>
            </a:pPr>
            <a:r>
              <a:rPr sz="2800" spc="-25" dirty="0">
                <a:latin typeface="Courier New"/>
                <a:cs typeface="Courier New"/>
              </a:rPr>
              <a:t>if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(COND)</a:t>
            </a:r>
            <a:endParaRPr sz="2800">
              <a:latin typeface="Courier New"/>
              <a:cs typeface="Courier New"/>
            </a:endParaRPr>
          </a:p>
          <a:p>
            <a:pPr marL="897890">
              <a:lnSpc>
                <a:spcPts val="3229"/>
              </a:lnSpc>
              <a:tabLst>
                <a:tab pos="1964689" algn="l"/>
              </a:tabLst>
            </a:pPr>
            <a:r>
              <a:rPr sz="2800" spc="-20" dirty="0">
                <a:latin typeface="Courier New"/>
                <a:cs typeface="Courier New"/>
              </a:rPr>
              <a:t>goto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0" dirty="0">
                <a:latin typeface="Courier New"/>
                <a:cs typeface="Courier New"/>
              </a:rPr>
              <a:t>loop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6AE8B3A-91B3-B839-1E50-626C92B6D443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/>
              <a:t>General 'do-while' template.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4000" y="2231429"/>
            <a:ext cx="898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74" y="2746372"/>
            <a:ext cx="4435476" cy="37877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1624" y="2701922"/>
            <a:ext cx="4422775" cy="3493264"/>
          </a:xfrm>
          <a:prstGeom prst="rect">
            <a:avLst/>
          </a:prstGeom>
          <a:solidFill>
            <a:srgbClr val="D5F1D0"/>
          </a:solidFill>
          <a:ln w="12700">
            <a:solidFill>
              <a:srgbClr val="000000"/>
            </a:solidFill>
          </a:ln>
        </p:spPr>
        <p:txBody>
          <a:bodyPr vert="horz" wrap="square" lIns="0" tIns="21590" rIns="0" bIns="0" rtlCol="0" anchor="t">
            <a:spAutoFit/>
          </a:bodyPr>
          <a:lstStyle/>
          <a:p>
            <a:pPr marL="409575" marR="1078230" indent="-366395">
              <a:lnSpc>
                <a:spcPts val="2700"/>
              </a:lnSpc>
              <a:spcBef>
                <a:spcPts val="170"/>
              </a:spcBef>
              <a:tabLst>
                <a:tab pos="775970" algn="l"/>
                <a:tab pos="2239010" algn="l"/>
                <a:tab pos="2970530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pcount_do (unsigned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x)</a:t>
            </a:r>
            <a:endParaRPr lang="en-US" sz="2400">
              <a:latin typeface="Courier New"/>
              <a:cs typeface="Courier New"/>
            </a:endParaRPr>
          </a:p>
          <a:p>
            <a:pPr marL="44450">
              <a:lnSpc>
                <a:spcPts val="2550"/>
              </a:lnSpc>
            </a:pP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409575" marR="1261110">
              <a:lnSpc>
                <a:spcPts val="2700"/>
              </a:lnSpc>
              <a:spcBef>
                <a:spcPts val="150"/>
              </a:spcBef>
              <a:tabLst>
                <a:tab pos="958850" algn="l"/>
                <a:tab pos="1141730" algn="l"/>
                <a:tab pos="2421890" algn="l"/>
                <a:tab pos="2787650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10" dirty="0">
                <a:latin typeface="Courier New"/>
                <a:cs typeface="Courier New"/>
              </a:rPr>
              <a:t>result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0; do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775970" marR="712470">
              <a:lnSpc>
                <a:spcPts val="2700"/>
              </a:lnSpc>
              <a:tabLst>
                <a:tab pos="1141730" algn="l"/>
                <a:tab pos="1873250" algn="l"/>
                <a:tab pos="2056130" algn="l"/>
                <a:tab pos="2604770" algn="l"/>
                <a:tab pos="2970530" algn="l"/>
                <a:tab pos="3336290" algn="l"/>
              </a:tabLst>
            </a:pPr>
            <a:r>
              <a:rPr sz="2400" b="1" spc="-10" dirty="0">
                <a:latin typeface="Courier New"/>
                <a:cs typeface="Courier New"/>
              </a:rPr>
              <a:t>result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25" dirty="0">
                <a:latin typeface="Courier New"/>
                <a:cs typeface="Courier New"/>
              </a:rPr>
              <a:t>+=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x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&amp;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1; </a:t>
            </a:r>
            <a:r>
              <a:rPr sz="2400" b="1" spc="-50" dirty="0">
                <a:latin typeface="Courier New"/>
                <a:cs typeface="Courier New"/>
              </a:rPr>
              <a:t>x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&gt;&gt;=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1;</a:t>
            </a:r>
            <a:endParaRPr sz="2400">
              <a:latin typeface="Courier New"/>
              <a:cs typeface="Courier New"/>
            </a:endParaRPr>
          </a:p>
          <a:p>
            <a:pPr marL="409575" marR="1443990">
              <a:lnSpc>
                <a:spcPts val="2700"/>
              </a:lnSpc>
              <a:tabLst>
                <a:tab pos="775970" algn="l"/>
                <a:tab pos="1690370" algn="l"/>
                <a:tab pos="1873250" algn="l"/>
              </a:tabLst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while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20" dirty="0">
                <a:latin typeface="Courier New"/>
                <a:cs typeface="Courier New"/>
              </a:rPr>
              <a:t>(x); </a:t>
            </a:r>
            <a:r>
              <a:rPr sz="2400" b="1" spc="-10" dirty="0">
                <a:latin typeface="Courier New"/>
                <a:cs typeface="Courier New"/>
              </a:rPr>
              <a:t>return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result;</a:t>
            </a:r>
            <a:endParaRPr sz="2400">
              <a:latin typeface="Courier New"/>
              <a:cs typeface="Courier New"/>
            </a:endParaRPr>
          </a:p>
          <a:p>
            <a:pPr marL="44450">
              <a:lnSpc>
                <a:spcPts val="264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07000" y="2231429"/>
            <a:ext cx="1665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Goto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Version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8275" y="2746374"/>
            <a:ext cx="4130675" cy="37877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254625" y="2701925"/>
            <a:ext cx="4117975" cy="3493264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21590" rIns="0" bIns="0" rtlCol="0" anchor="t">
            <a:spAutoFit/>
          </a:bodyPr>
          <a:lstStyle/>
          <a:p>
            <a:pPr marL="409575" marR="773430" indent="-366395">
              <a:lnSpc>
                <a:spcPts val="2700"/>
              </a:lnSpc>
              <a:spcBef>
                <a:spcPts val="170"/>
              </a:spcBef>
              <a:tabLst>
                <a:tab pos="775970" algn="l"/>
                <a:tab pos="2239010" algn="l"/>
                <a:tab pos="2970530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pcount_goto (unsigned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x)</a:t>
            </a:r>
            <a:endParaRPr lang="en-US" sz="2400">
              <a:latin typeface="Courier New"/>
              <a:cs typeface="Courier New"/>
            </a:endParaRPr>
          </a:p>
          <a:p>
            <a:pPr marL="44450">
              <a:lnSpc>
                <a:spcPts val="2550"/>
              </a:lnSpc>
            </a:pP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226695" marR="956310" indent="182880">
              <a:lnSpc>
                <a:spcPts val="2700"/>
              </a:lnSpc>
              <a:spcBef>
                <a:spcPts val="150"/>
              </a:spcBef>
              <a:tabLst>
                <a:tab pos="1141730" algn="l"/>
                <a:tab pos="2421890" algn="l"/>
                <a:tab pos="2787650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result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0; </a:t>
            </a:r>
            <a:r>
              <a:rPr sz="2400" b="1" spc="-10" dirty="0">
                <a:solidFill>
                  <a:srgbClr val="CC0000"/>
                </a:solidFill>
                <a:latin typeface="Courier New"/>
                <a:cs typeface="Courier New"/>
              </a:rPr>
              <a:t>loop:</a:t>
            </a:r>
            <a:endParaRPr sz="2400">
              <a:latin typeface="Courier New"/>
              <a:cs typeface="Courier New"/>
            </a:endParaRPr>
          </a:p>
          <a:p>
            <a:pPr marL="409575" marR="773430">
              <a:lnSpc>
                <a:spcPts val="2700"/>
              </a:lnSpc>
              <a:tabLst>
                <a:tab pos="775970" algn="l"/>
                <a:tab pos="1507490" algn="l"/>
                <a:tab pos="1690370" algn="l"/>
                <a:tab pos="2239010" algn="l"/>
                <a:tab pos="2604770" algn="l"/>
                <a:tab pos="2970530" algn="l"/>
              </a:tabLst>
            </a:pPr>
            <a:r>
              <a:rPr sz="2400" b="1" spc="-10" dirty="0">
                <a:latin typeface="Courier New"/>
                <a:cs typeface="Courier New"/>
              </a:rPr>
              <a:t>result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25" dirty="0">
                <a:latin typeface="Courier New"/>
                <a:cs typeface="Courier New"/>
              </a:rPr>
              <a:t>+=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x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&amp;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1; </a:t>
            </a:r>
            <a:r>
              <a:rPr sz="2400" b="1" spc="-50" dirty="0">
                <a:latin typeface="Courier New"/>
                <a:cs typeface="Courier New"/>
              </a:rPr>
              <a:t>x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&gt;&gt;=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1;</a:t>
            </a:r>
            <a:endParaRPr sz="2400">
              <a:latin typeface="Courier New"/>
              <a:cs typeface="Courier New"/>
            </a:endParaRPr>
          </a:p>
          <a:p>
            <a:pPr marL="409575" marR="773430">
              <a:lnSpc>
                <a:spcPts val="2700"/>
              </a:lnSpc>
              <a:tabLst>
                <a:tab pos="1507490" algn="l"/>
                <a:tab pos="1690370" algn="l"/>
                <a:tab pos="2421890" algn="l"/>
              </a:tabLst>
            </a:pPr>
            <a:r>
              <a:rPr sz="2400" b="1" spc="-10" dirty="0">
                <a:latin typeface="Courier New"/>
                <a:cs typeface="Courier New"/>
              </a:rPr>
              <a:t>if(x)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0" dirty="0">
                <a:latin typeface="Courier New"/>
                <a:cs typeface="Courier New"/>
              </a:rPr>
              <a:t>goto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solidFill>
                  <a:srgbClr val="CC0000"/>
                </a:solidFill>
                <a:latin typeface="Courier New"/>
                <a:cs typeface="Courier New"/>
              </a:rPr>
              <a:t>loop</a:t>
            </a:r>
            <a:r>
              <a:rPr sz="2400" b="1" spc="-10" dirty="0">
                <a:latin typeface="Courier New"/>
                <a:cs typeface="Courier New"/>
              </a:rPr>
              <a:t>; return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10" dirty="0">
                <a:latin typeface="Courier New"/>
                <a:cs typeface="Courier New"/>
              </a:rPr>
              <a:t>result;</a:t>
            </a:r>
            <a:endParaRPr sz="2400">
              <a:latin typeface="Courier New"/>
              <a:cs typeface="Courier New"/>
            </a:endParaRPr>
          </a:p>
          <a:p>
            <a:pPr marL="44450">
              <a:lnSpc>
                <a:spcPts val="264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8F1C457-2878-325D-5EFD-62D38A5E5B50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/>
              <a:t>'do-while' for the previous example.</a:t>
            </a:r>
            <a:endParaRPr lang="en-US" dirty="0"/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D72B8EDE-8900-EFE3-BD86-6D5D9398259D}"/>
              </a:ext>
            </a:extLst>
          </p:cNvPr>
          <p:cNvSpPr txBox="1"/>
          <p:nvPr/>
        </p:nvSpPr>
        <p:spPr>
          <a:xfrm>
            <a:off x="374550" y="902735"/>
            <a:ext cx="8060414" cy="789960"/>
          </a:xfrm>
          <a:prstGeom prst="rect">
            <a:avLst/>
          </a:prstGeom>
        </p:spPr>
        <p:txBody>
          <a:bodyPr vert="horz" wrap="square" lIns="0" tIns="29464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320"/>
              </a:spcBef>
            </a:pPr>
            <a:r>
              <a:rPr sz="3200" dirty="0">
                <a:latin typeface="Aptos"/>
                <a:cs typeface="Calibri"/>
              </a:rPr>
              <a:t>Count</a:t>
            </a:r>
            <a:r>
              <a:rPr sz="3200" spc="-135" dirty="0">
                <a:latin typeface="Aptos"/>
                <a:cs typeface="Calibri"/>
              </a:rPr>
              <a:t> </a:t>
            </a:r>
            <a:r>
              <a:rPr sz="3200" dirty="0">
                <a:latin typeface="Aptos"/>
                <a:cs typeface="Calibri"/>
              </a:rPr>
              <a:t>number</a:t>
            </a:r>
            <a:r>
              <a:rPr sz="3200" spc="-70" dirty="0">
                <a:latin typeface="Aptos"/>
                <a:cs typeface="Calibri"/>
              </a:rPr>
              <a:t> </a:t>
            </a:r>
            <a:r>
              <a:rPr sz="3200" dirty="0">
                <a:latin typeface="Aptos"/>
                <a:cs typeface="Calibri"/>
              </a:rPr>
              <a:t>of</a:t>
            </a:r>
            <a:r>
              <a:rPr sz="3200" spc="-65" dirty="0">
                <a:latin typeface="Aptos"/>
                <a:cs typeface="Calibri"/>
              </a:rPr>
              <a:t> </a:t>
            </a:r>
            <a:r>
              <a:rPr sz="3200" spc="-25" dirty="0">
                <a:latin typeface="Aptos"/>
                <a:cs typeface="Calibri"/>
              </a:rPr>
              <a:t>1’s</a:t>
            </a:r>
            <a:r>
              <a:rPr sz="3200" spc="-65" dirty="0">
                <a:latin typeface="Aptos"/>
                <a:cs typeface="Calibri"/>
              </a:rPr>
              <a:t> </a:t>
            </a:r>
            <a:r>
              <a:rPr sz="3200" dirty="0">
                <a:latin typeface="Aptos"/>
                <a:cs typeface="Calibri"/>
              </a:rPr>
              <a:t>in</a:t>
            </a:r>
            <a:r>
              <a:rPr sz="3200" spc="-70" dirty="0">
                <a:latin typeface="Aptos"/>
                <a:cs typeface="Calibri"/>
              </a:rPr>
              <a:t> </a:t>
            </a:r>
            <a:r>
              <a:rPr sz="3200" spc="-10" dirty="0">
                <a:latin typeface="Aptos"/>
                <a:cs typeface="Calibri"/>
              </a:rPr>
              <a:t>argument</a:t>
            </a:r>
            <a:r>
              <a:rPr sz="3200" spc="-70" dirty="0">
                <a:latin typeface="Aptos"/>
                <a:cs typeface="Calibri"/>
              </a:rPr>
              <a:t> </a:t>
            </a:r>
            <a:r>
              <a:rPr sz="3200" spc="-25" dirty="0">
                <a:latin typeface="Aptos"/>
                <a:cs typeface="Courier New"/>
              </a:rPr>
              <a:t>x</a:t>
            </a:r>
            <a:r>
              <a:rPr sz="3200" spc="-1200" dirty="0">
                <a:latin typeface="Aptos"/>
                <a:cs typeface="Courier New"/>
              </a:rPr>
              <a:t> </a:t>
            </a:r>
            <a:r>
              <a:rPr lang="en-US" sz="3200" spc="-10" dirty="0">
                <a:latin typeface="Aptos"/>
                <a:cs typeface="Calibri"/>
              </a:rPr>
              <a:t>('</a:t>
            </a:r>
            <a:r>
              <a:rPr lang="en-US" sz="3200" spc="-10" dirty="0" err="1">
                <a:latin typeface="Aptos"/>
                <a:cs typeface="Calibri"/>
              </a:rPr>
              <a:t>popcount</a:t>
            </a:r>
            <a:r>
              <a:rPr lang="en-US" sz="3200" spc="-10" dirty="0">
                <a:latin typeface="Aptos"/>
                <a:cs typeface="Calibri"/>
              </a:rPr>
              <a:t>')</a:t>
            </a:r>
            <a:endParaRPr lang="en-US" sz="3200" dirty="0">
              <a:latin typeface="Aptos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81116" y="1517434"/>
            <a:ext cx="7352030" cy="3838575"/>
            <a:chOff x="4581116" y="1517434"/>
            <a:chExt cx="7352030" cy="38385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1116" y="1568232"/>
              <a:ext cx="7351716" cy="37877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87466" y="1523784"/>
              <a:ext cx="7339330" cy="3775075"/>
            </a:xfrm>
            <a:custGeom>
              <a:avLst/>
              <a:gdLst/>
              <a:ahLst/>
              <a:cxnLst/>
              <a:rect l="l" t="t" r="r" b="b"/>
              <a:pathLst>
                <a:path w="7339330" h="3775075">
                  <a:moveTo>
                    <a:pt x="7339016" y="0"/>
                  </a:moveTo>
                  <a:lnTo>
                    <a:pt x="0" y="0"/>
                  </a:lnTo>
                  <a:lnTo>
                    <a:pt x="0" y="3775075"/>
                  </a:lnTo>
                  <a:lnTo>
                    <a:pt x="7339016" y="3775075"/>
                  </a:lnTo>
                  <a:lnTo>
                    <a:pt x="7339016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87466" y="1523784"/>
              <a:ext cx="7339330" cy="3775075"/>
            </a:xfrm>
            <a:custGeom>
              <a:avLst/>
              <a:gdLst/>
              <a:ahLst/>
              <a:cxnLst/>
              <a:rect l="l" t="t" r="r" b="b"/>
              <a:pathLst>
                <a:path w="7339330" h="3775075">
                  <a:moveTo>
                    <a:pt x="0" y="0"/>
                  </a:moveTo>
                  <a:lnTo>
                    <a:pt x="7339016" y="0"/>
                  </a:lnTo>
                  <a:lnTo>
                    <a:pt x="7339016" y="3775075"/>
                  </a:lnTo>
                  <a:lnTo>
                    <a:pt x="0" y="37750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901854" y="-11083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95D1D"/>
                </a:solidFill>
                <a:latin typeface="Calibri"/>
                <a:cs typeface="Calibri"/>
              </a:rPr>
              <a:t>24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631371" y="2142314"/>
          <a:ext cx="7127870" cy="2538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11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0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41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864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16230">
                <a:tc>
                  <a:txBody>
                    <a:bodyPr/>
                    <a:lstStyle/>
                    <a:p>
                      <a:pPr marR="181610" algn="r">
                        <a:lnSpc>
                          <a:spcPts val="2270"/>
                        </a:lnSpc>
                      </a:pPr>
                      <a:r>
                        <a:rPr sz="2200" b="1" spc="-20" dirty="0">
                          <a:latin typeface="Courier New"/>
                          <a:cs typeface="Courier New"/>
                        </a:rPr>
                        <a:t>addi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ts val="2270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t0,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1594">
                        <a:lnSpc>
                          <a:spcPts val="2270"/>
                        </a:lnSpc>
                      </a:pPr>
                      <a:r>
                        <a:rPr sz="2200" b="1" spc="-10" dirty="0">
                          <a:latin typeface="Courier New"/>
                          <a:cs typeface="Courier New"/>
                        </a:rPr>
                        <a:t>zero,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2270"/>
                        </a:lnSpc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0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R="7620" algn="r">
                        <a:lnSpc>
                          <a:spcPts val="2270"/>
                        </a:lnSpc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L="319405" marR="12065">
                        <a:lnSpc>
                          <a:spcPts val="2270"/>
                        </a:lnSpc>
                        <a:tabLst>
                          <a:tab pos="1492885" algn="l"/>
                        </a:tabLst>
                      </a:pPr>
                      <a:r>
                        <a:rPr sz="2200" b="1" spc="-10" dirty="0">
                          <a:latin typeface="Courier New"/>
                          <a:cs typeface="Courier New"/>
                        </a:rPr>
                        <a:t>result</a:t>
                      </a:r>
                      <a:r>
                        <a:rPr sz="2200" b="1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200" b="1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270"/>
                        </a:lnSpc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0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31750">
                        <a:lnSpc>
                          <a:spcPts val="2200"/>
                        </a:lnSpc>
                      </a:pPr>
                      <a:r>
                        <a:rPr sz="2200" b="1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Loop: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534670">
                        <a:lnSpc>
                          <a:spcPts val="2570"/>
                        </a:lnSpc>
                      </a:pPr>
                      <a:r>
                        <a:rPr sz="2200" b="1" spc="-20" dirty="0">
                          <a:latin typeface="Courier New"/>
                          <a:cs typeface="Courier New"/>
                        </a:rPr>
                        <a:t>andi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 algn="ctr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t1,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27051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a0,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27051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270510" marB="0"/>
                </a:tc>
                <a:tc gridSpan="2">
                  <a:txBody>
                    <a:bodyPr/>
                    <a:lstStyle/>
                    <a:p>
                      <a:pPr marR="41910" algn="r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27051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285115">
                        <a:lnSpc>
                          <a:spcPts val="2200"/>
                        </a:lnSpc>
                        <a:tabLst>
                          <a:tab pos="620395" algn="l"/>
                        </a:tabLst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2200" b="1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200" b="1" spc="-20" dirty="0">
                          <a:latin typeface="Courier New"/>
                          <a:cs typeface="Courier New"/>
                        </a:rPr>
                        <a:t>loop: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117475">
                        <a:lnSpc>
                          <a:spcPts val="2570"/>
                        </a:lnSpc>
                        <a:tabLst>
                          <a:tab pos="452755" algn="l"/>
                          <a:tab pos="788035" algn="l"/>
                          <a:tab pos="1123315" algn="l"/>
                        </a:tabLst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2200" b="1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200" b="1" spc="-5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200" b="1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200" b="1" spc="-5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2200" b="1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200" b="1" spc="-50" dirty="0">
                          <a:latin typeface="Courier New"/>
                          <a:cs typeface="Courier New"/>
                        </a:rPr>
                        <a:t>&amp;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0x1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27051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534670">
                        <a:lnSpc>
                          <a:spcPts val="2270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add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 algn="ctr">
                        <a:lnSpc>
                          <a:spcPts val="2270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t0,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2270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t0,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3820">
                        <a:lnSpc>
                          <a:spcPts val="2270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t1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R="7620" algn="r">
                        <a:lnSpc>
                          <a:spcPts val="2270"/>
                        </a:lnSpc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319405">
                        <a:lnSpc>
                          <a:spcPts val="2270"/>
                        </a:lnSpc>
                      </a:pPr>
                      <a:r>
                        <a:rPr sz="2200" b="1" spc="-10" dirty="0">
                          <a:latin typeface="Courier New"/>
                          <a:cs typeface="Courier New"/>
                        </a:rPr>
                        <a:t>result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2270"/>
                        </a:lnSpc>
                        <a:tabLst>
                          <a:tab pos="570865" algn="l"/>
                        </a:tabLst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+=</a:t>
                      </a:r>
                      <a:r>
                        <a:rPr sz="2200" b="1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200" b="1" spc="-50" dirty="0">
                          <a:latin typeface="Courier New"/>
                          <a:cs typeface="Courier New"/>
                        </a:rPr>
                        <a:t>t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138430" algn="r">
                        <a:lnSpc>
                          <a:spcPts val="2280"/>
                        </a:lnSpc>
                      </a:pPr>
                      <a:r>
                        <a:rPr sz="2200" b="1" spc="-20" dirty="0">
                          <a:latin typeface="Courier New"/>
                          <a:cs typeface="Courier New"/>
                        </a:rPr>
                        <a:t>srli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 algn="ctr">
                        <a:lnSpc>
                          <a:spcPts val="2280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a0,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2280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a0,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3820">
                        <a:lnSpc>
                          <a:spcPts val="2280"/>
                        </a:lnSpc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280"/>
                        </a:lnSpc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285115">
                        <a:lnSpc>
                          <a:spcPts val="2280"/>
                        </a:lnSpc>
                        <a:tabLst>
                          <a:tab pos="620395" algn="l"/>
                        </a:tabLst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2200" b="1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200" b="1" spc="-25" dirty="0">
                          <a:latin typeface="Courier New"/>
                          <a:cs typeface="Courier New"/>
                        </a:rPr>
                        <a:t>&gt;&gt;=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83820">
                        <a:lnSpc>
                          <a:spcPts val="2280"/>
                        </a:lnSpc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534670">
                        <a:lnSpc>
                          <a:spcPts val="2280"/>
                        </a:lnSpc>
                      </a:pPr>
                      <a:r>
                        <a:rPr sz="22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bne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 algn="ctr">
                        <a:lnSpc>
                          <a:spcPts val="2280"/>
                        </a:lnSpc>
                      </a:pPr>
                      <a:r>
                        <a:rPr sz="22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a0,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2280"/>
                        </a:lnSpc>
                      </a:pPr>
                      <a:r>
                        <a:rPr sz="22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x0,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3820">
                        <a:lnSpc>
                          <a:spcPts val="2280"/>
                        </a:lnSpc>
                      </a:pPr>
                      <a:r>
                        <a:rPr sz="22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Loop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5280">
                        <a:lnSpc>
                          <a:spcPts val="2280"/>
                        </a:lnSpc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0990">
                        <a:lnSpc>
                          <a:spcPts val="2280"/>
                        </a:lnSpc>
                      </a:pPr>
                      <a:r>
                        <a:rPr sz="2200" b="1" spc="-35" dirty="0">
                          <a:latin typeface="Courier New"/>
                          <a:cs typeface="Courier New"/>
                        </a:rPr>
                        <a:t>if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67640">
                        <a:lnSpc>
                          <a:spcPts val="2280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(x)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3820">
                        <a:lnSpc>
                          <a:spcPts val="2280"/>
                        </a:lnSpc>
                      </a:pPr>
                      <a:r>
                        <a:rPr sz="2200" b="1" spc="-20" dirty="0">
                          <a:latin typeface="Courier New"/>
                          <a:cs typeface="Courier New"/>
                        </a:rPr>
                        <a:t>goto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2280"/>
                        </a:lnSpc>
                      </a:pPr>
                      <a:r>
                        <a:rPr sz="2200" b="1" spc="-20" dirty="0">
                          <a:latin typeface="Courier New"/>
                          <a:cs typeface="Courier New"/>
                        </a:rPr>
                        <a:t>loop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138430" algn="r">
                        <a:lnSpc>
                          <a:spcPts val="2280"/>
                        </a:lnSpc>
                      </a:pPr>
                      <a:r>
                        <a:rPr sz="2200" b="1" spc="-20" dirty="0">
                          <a:latin typeface="Courier New"/>
                          <a:cs typeface="Courier New"/>
                        </a:rPr>
                        <a:t>addi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 algn="ctr">
                        <a:lnSpc>
                          <a:spcPts val="2280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a0,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2280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t0,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2280"/>
                        </a:lnSpc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0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280"/>
                        </a:lnSpc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ts val="2280"/>
                        </a:lnSpc>
                      </a:pPr>
                      <a:r>
                        <a:rPr sz="2200" b="1" spc="-10" dirty="0">
                          <a:latin typeface="Courier New"/>
                          <a:cs typeface="Courier New"/>
                        </a:rPr>
                        <a:t>return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ts val="2280"/>
                        </a:lnSpc>
                      </a:pPr>
                      <a:r>
                        <a:rPr sz="2200" b="1" spc="-10" dirty="0">
                          <a:latin typeface="Courier New"/>
                          <a:cs typeface="Courier New"/>
                        </a:rPr>
                        <a:t>result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 gridSpan="15">
                  <a:txBody>
                    <a:bodyPr/>
                    <a:lstStyle/>
                    <a:p>
                      <a:pPr marL="534670">
                        <a:lnSpc>
                          <a:spcPts val="2280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ret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50115" y="1053288"/>
            <a:ext cx="6304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03725" algn="l"/>
              </a:tabLst>
            </a:pPr>
            <a:r>
              <a:rPr sz="2400" b="1" dirty="0">
                <a:latin typeface="Calibri"/>
                <a:cs typeface="Calibri"/>
              </a:rPr>
              <a:t>Goto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Version</a:t>
            </a:r>
            <a:r>
              <a:rPr sz="2400" b="1" dirty="0">
                <a:latin typeface="Calibri"/>
                <a:cs typeface="Calibri"/>
              </a:rPr>
              <a:t>	Assembly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390" y="1568232"/>
            <a:ext cx="4130675" cy="37877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7740" y="1523784"/>
            <a:ext cx="4117975" cy="3775075"/>
          </a:xfrm>
          <a:prstGeom prst="rect">
            <a:avLst/>
          </a:prstGeom>
          <a:solidFill>
            <a:srgbClr val="D5F1CF"/>
          </a:solidFill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410209" marR="773430" indent="-366395">
              <a:lnSpc>
                <a:spcPts val="2700"/>
              </a:lnSpc>
              <a:spcBef>
                <a:spcPts val="170"/>
              </a:spcBef>
              <a:tabLst>
                <a:tab pos="775970" algn="l"/>
                <a:tab pos="2239010" algn="l"/>
                <a:tab pos="2970530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pcount_goto (unsigned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x)</a:t>
            </a:r>
            <a:endParaRPr sz="2400">
              <a:latin typeface="Courier New"/>
              <a:cs typeface="Courier New"/>
            </a:endParaRPr>
          </a:p>
          <a:p>
            <a:pPr marL="44450">
              <a:lnSpc>
                <a:spcPts val="2550"/>
              </a:lnSpc>
            </a:pP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227329" marR="956310" indent="182880">
              <a:lnSpc>
                <a:spcPts val="2700"/>
              </a:lnSpc>
              <a:spcBef>
                <a:spcPts val="150"/>
              </a:spcBef>
              <a:tabLst>
                <a:tab pos="1141730" algn="l"/>
                <a:tab pos="2421890" algn="l"/>
                <a:tab pos="2787650" algn="l"/>
              </a:tabLst>
            </a:pPr>
            <a:r>
              <a:rPr sz="2400" b="1" spc="-25" dirty="0">
                <a:latin typeface="Courier New"/>
                <a:cs typeface="Courier New"/>
              </a:rPr>
              <a:t>int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result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0; </a:t>
            </a:r>
            <a:r>
              <a:rPr sz="2400" b="1" spc="-10" dirty="0">
                <a:solidFill>
                  <a:srgbClr val="CC0000"/>
                </a:solidFill>
                <a:latin typeface="Courier New"/>
                <a:cs typeface="Courier New"/>
              </a:rPr>
              <a:t>loop:</a:t>
            </a:r>
            <a:endParaRPr sz="2400">
              <a:latin typeface="Courier New"/>
              <a:cs typeface="Courier New"/>
            </a:endParaRPr>
          </a:p>
          <a:p>
            <a:pPr marL="410209" marR="773430">
              <a:lnSpc>
                <a:spcPts val="2700"/>
              </a:lnSpc>
              <a:tabLst>
                <a:tab pos="775970" algn="l"/>
                <a:tab pos="1507490" algn="l"/>
                <a:tab pos="1690370" algn="l"/>
                <a:tab pos="2239010" algn="l"/>
                <a:tab pos="2604770" algn="l"/>
                <a:tab pos="2970530" algn="l"/>
              </a:tabLst>
            </a:pPr>
            <a:r>
              <a:rPr sz="2400" b="1" spc="-10" dirty="0">
                <a:latin typeface="Courier New"/>
                <a:cs typeface="Courier New"/>
              </a:rPr>
              <a:t>result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25" dirty="0">
                <a:latin typeface="Courier New"/>
                <a:cs typeface="Courier New"/>
              </a:rPr>
              <a:t>+=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x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50" dirty="0">
                <a:latin typeface="Courier New"/>
                <a:cs typeface="Courier New"/>
              </a:rPr>
              <a:t>&amp;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1; </a:t>
            </a:r>
            <a:r>
              <a:rPr sz="2400" b="1" spc="-50" dirty="0">
                <a:latin typeface="Courier New"/>
                <a:cs typeface="Courier New"/>
              </a:rPr>
              <a:t>x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&gt;&gt;=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5" dirty="0">
                <a:latin typeface="Courier New"/>
                <a:cs typeface="Courier New"/>
              </a:rPr>
              <a:t>1;</a:t>
            </a:r>
            <a:endParaRPr sz="2400">
              <a:latin typeface="Courier New"/>
              <a:cs typeface="Courier New"/>
            </a:endParaRPr>
          </a:p>
          <a:p>
            <a:pPr marL="410209" marR="773430">
              <a:lnSpc>
                <a:spcPts val="2700"/>
              </a:lnSpc>
              <a:tabLst>
                <a:tab pos="1507490" algn="l"/>
                <a:tab pos="1690370" algn="l"/>
                <a:tab pos="2421890" algn="l"/>
              </a:tabLst>
            </a:pPr>
            <a:r>
              <a:rPr sz="2400" b="1" spc="-10" dirty="0">
                <a:latin typeface="Courier New"/>
                <a:cs typeface="Courier New"/>
              </a:rPr>
              <a:t>if(x)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20" dirty="0">
                <a:latin typeface="Courier New"/>
                <a:cs typeface="Courier New"/>
              </a:rPr>
              <a:t>goto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solidFill>
                  <a:srgbClr val="CC0000"/>
                </a:solidFill>
                <a:latin typeface="Courier New"/>
                <a:cs typeface="Courier New"/>
              </a:rPr>
              <a:t>loop</a:t>
            </a:r>
            <a:r>
              <a:rPr sz="2400" b="1" spc="-10" dirty="0">
                <a:latin typeface="Courier New"/>
                <a:cs typeface="Courier New"/>
              </a:rPr>
              <a:t>; return</a:t>
            </a:r>
            <a:r>
              <a:rPr sz="2400" b="1" dirty="0">
                <a:latin typeface="Courier New"/>
                <a:cs typeface="Courier New"/>
              </a:rPr>
              <a:t>		</a:t>
            </a:r>
            <a:r>
              <a:rPr sz="2400" b="1" spc="-10" dirty="0">
                <a:latin typeface="Courier New"/>
                <a:cs typeface="Courier New"/>
              </a:rPr>
              <a:t>result;</a:t>
            </a:r>
            <a:endParaRPr sz="2400">
              <a:latin typeface="Courier New"/>
              <a:cs typeface="Courier New"/>
            </a:endParaRPr>
          </a:p>
          <a:p>
            <a:pPr marL="44450">
              <a:lnSpc>
                <a:spcPts val="264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5AA4DF3-6F0E-9134-E261-73FAF5651782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/>
              <a:t>'do-while' loop compilation.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01854" y="-11083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95D1D"/>
                </a:solidFill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2362200"/>
            <a:ext cx="4648200" cy="3861312"/>
          </a:xfrm>
          <a:prstGeom prst="rect">
            <a:avLst/>
          </a:prstGeom>
          <a:solidFill>
            <a:srgbClr val="D5F1D0"/>
          </a:solidFill>
          <a:ln w="12700">
            <a:solidFill>
              <a:srgbClr val="000000"/>
            </a:solidFill>
          </a:ln>
        </p:spPr>
        <p:txBody>
          <a:bodyPr vert="horz" wrap="square" lIns="0" tIns="26669" rIns="0" bIns="0" rtlCol="0" anchor="t">
            <a:spAutoFit/>
          </a:bodyPr>
          <a:lstStyle/>
          <a:p>
            <a:pPr marL="44450" marR="479425">
              <a:lnSpc>
                <a:spcPts val="2300"/>
              </a:lnSpc>
              <a:spcBef>
                <a:spcPts val="209"/>
              </a:spcBef>
              <a:tabLst>
                <a:tab pos="654050" algn="l"/>
                <a:tab pos="1263650" algn="l"/>
                <a:tab pos="2178050" algn="l"/>
              </a:tabLst>
            </a:pPr>
            <a:r>
              <a:rPr sz="2000" b="1" spc="-10" dirty="0">
                <a:latin typeface="Courier New"/>
                <a:cs typeface="Courier New"/>
              </a:rPr>
              <a:t>#define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10" dirty="0">
                <a:latin typeface="Courier New"/>
                <a:cs typeface="Courier New"/>
              </a:rPr>
              <a:t>WSIZE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10" dirty="0">
                <a:latin typeface="Courier New"/>
                <a:cs typeface="Courier New"/>
              </a:rPr>
              <a:t>8*sizeof(int) </a:t>
            </a:r>
            <a:r>
              <a:rPr sz="2000" b="1" spc="-25" dirty="0">
                <a:latin typeface="Courier New"/>
                <a:cs typeface="Courier New"/>
              </a:rPr>
              <a:t>int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10" dirty="0">
                <a:latin typeface="Courier New"/>
                <a:cs typeface="Courier New"/>
              </a:rPr>
              <a:t>pcount_for</a:t>
            </a:r>
            <a:endParaRPr lang="en-US" sz="2000">
              <a:latin typeface="Courier New"/>
              <a:cs typeface="Courier New"/>
            </a:endParaRPr>
          </a:p>
          <a:p>
            <a:pPr marL="349250">
              <a:lnSpc>
                <a:spcPts val="2190"/>
              </a:lnSpc>
              <a:tabLst>
                <a:tab pos="1873250" algn="l"/>
                <a:tab pos="2482850" algn="l"/>
              </a:tabLst>
            </a:pPr>
            <a:r>
              <a:rPr sz="2000" b="1" spc="-10" dirty="0">
                <a:latin typeface="Courier New"/>
                <a:cs typeface="Courier New"/>
              </a:rPr>
              <a:t>(unsigned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int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x)</a:t>
            </a:r>
            <a:endParaRPr sz="2000">
              <a:latin typeface="Courier New"/>
              <a:cs typeface="Courier New"/>
            </a:endParaRPr>
          </a:p>
          <a:p>
            <a:pPr marL="44450">
              <a:lnSpc>
                <a:spcPts val="2300"/>
              </a:lnSpc>
            </a:pPr>
            <a:r>
              <a:rPr sz="2000" b="1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49250" marR="2919095">
              <a:lnSpc>
                <a:spcPts val="2300"/>
              </a:lnSpc>
              <a:spcBef>
                <a:spcPts val="110"/>
              </a:spcBef>
              <a:tabLst>
                <a:tab pos="958850" algn="l"/>
                <a:tab pos="1416050" algn="l"/>
              </a:tabLst>
            </a:pPr>
            <a:r>
              <a:rPr sz="2000" b="1" spc="-10" dirty="0">
                <a:latin typeface="Courier New"/>
                <a:cs typeface="Courier New"/>
              </a:rPr>
              <a:t>size_t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i; int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r;</a:t>
            </a:r>
            <a:endParaRPr sz="2000">
              <a:latin typeface="Courier New"/>
              <a:cs typeface="Courier New"/>
            </a:endParaRPr>
          </a:p>
          <a:p>
            <a:pPr marL="349250">
              <a:lnSpc>
                <a:spcPts val="2190"/>
              </a:lnSpc>
              <a:tabLst>
                <a:tab pos="958850" algn="l"/>
                <a:tab pos="1416050" algn="l"/>
                <a:tab pos="1720850" algn="l"/>
                <a:tab pos="2178050" algn="l"/>
                <a:tab pos="2482850" algn="l"/>
                <a:tab pos="2787650" algn="l"/>
              </a:tabLst>
            </a:pPr>
            <a:r>
              <a:rPr sz="2000" b="1" spc="-25" dirty="0">
                <a:latin typeface="Courier New"/>
                <a:cs typeface="Courier New"/>
              </a:rPr>
              <a:t>for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(r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50" dirty="0">
                <a:latin typeface="Courier New"/>
                <a:cs typeface="Courier New"/>
              </a:rPr>
              <a:t>=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0,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50" dirty="0">
                <a:latin typeface="Courier New"/>
                <a:cs typeface="Courier New"/>
              </a:rPr>
              <a:t>i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50" dirty="0">
                <a:latin typeface="Courier New"/>
                <a:cs typeface="Courier New"/>
              </a:rPr>
              <a:t>=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0;</a:t>
            </a:r>
            <a:endParaRPr sz="2000">
              <a:latin typeface="Courier New"/>
              <a:cs typeface="Courier New"/>
            </a:endParaRPr>
          </a:p>
          <a:p>
            <a:pPr marL="1111250">
              <a:lnSpc>
                <a:spcPts val="2300"/>
              </a:lnSpc>
              <a:tabLst>
                <a:tab pos="1416050" algn="l"/>
                <a:tab pos="1720850" algn="l"/>
                <a:tab pos="2787650" algn="l"/>
              </a:tabLst>
            </a:pPr>
            <a:r>
              <a:rPr sz="2000" b="1" spc="-50" dirty="0">
                <a:latin typeface="Courier New"/>
                <a:cs typeface="Courier New"/>
              </a:rPr>
              <a:t>i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50" dirty="0">
                <a:latin typeface="Courier New"/>
                <a:cs typeface="Courier New"/>
              </a:rPr>
              <a:t>&lt;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10" dirty="0">
                <a:latin typeface="Courier New"/>
                <a:cs typeface="Courier New"/>
              </a:rPr>
              <a:t>WSIZE;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0" dirty="0">
                <a:latin typeface="Courier New"/>
                <a:cs typeface="Courier New"/>
              </a:rPr>
              <a:t>i++)</a:t>
            </a:r>
            <a:endParaRPr sz="2000">
              <a:latin typeface="Courier New"/>
              <a:cs typeface="Courier New"/>
            </a:endParaRPr>
          </a:p>
          <a:p>
            <a:pPr marL="349250">
              <a:lnSpc>
                <a:spcPts val="2300"/>
              </a:lnSpc>
            </a:pPr>
            <a:r>
              <a:rPr sz="2000" b="1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654050">
              <a:lnSpc>
                <a:spcPts val="2300"/>
              </a:lnSpc>
              <a:tabLst>
                <a:tab pos="958850" algn="l"/>
                <a:tab pos="1416050" algn="l"/>
                <a:tab pos="1873250" algn="l"/>
                <a:tab pos="2330450" algn="l"/>
                <a:tab pos="2787650" algn="l"/>
                <a:tab pos="3092450" algn="l"/>
              </a:tabLst>
            </a:pPr>
            <a:r>
              <a:rPr sz="2000" b="1" spc="-50" dirty="0">
                <a:latin typeface="Courier New"/>
                <a:cs typeface="Courier New"/>
              </a:rPr>
              <a:t>r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+=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(x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&gt;&gt;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i)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50" dirty="0">
                <a:latin typeface="Courier New"/>
                <a:cs typeface="Courier New"/>
              </a:rPr>
              <a:t>&amp;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1;</a:t>
            </a:r>
            <a:endParaRPr sz="2000">
              <a:latin typeface="Courier New"/>
              <a:cs typeface="Courier New"/>
            </a:endParaRPr>
          </a:p>
          <a:p>
            <a:pPr marL="349250">
              <a:lnSpc>
                <a:spcPts val="23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349250">
              <a:lnSpc>
                <a:spcPts val="2300"/>
              </a:lnSpc>
              <a:tabLst>
                <a:tab pos="1416050" algn="l"/>
              </a:tabLst>
            </a:pPr>
            <a:r>
              <a:rPr sz="2000" b="1" spc="-10" dirty="0">
                <a:latin typeface="Courier New"/>
                <a:cs typeface="Courier New"/>
              </a:rPr>
              <a:t>return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r;</a:t>
            </a:r>
            <a:endParaRPr sz="2000">
              <a:latin typeface="Courier New"/>
              <a:cs typeface="Courier New"/>
            </a:endParaRPr>
          </a:p>
          <a:p>
            <a:pPr marL="44450">
              <a:lnSpc>
                <a:spcPts val="235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1050" y="1416048"/>
            <a:ext cx="2146300" cy="3937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67400" y="1371600"/>
            <a:ext cx="2133600" cy="3810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50"/>
              </a:spcBef>
              <a:tabLst>
                <a:tab pos="348615" algn="l"/>
                <a:tab pos="654050" algn="l"/>
                <a:tab pos="1111250" algn="l"/>
                <a:tab pos="1416050" algn="l"/>
                <a:tab pos="1720850" algn="l"/>
              </a:tabLst>
            </a:pPr>
            <a:r>
              <a:rPr sz="2000" b="1" spc="-50" dirty="0">
                <a:latin typeface="Courier New"/>
                <a:cs typeface="Courier New"/>
              </a:rPr>
              <a:t>r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50" dirty="0">
                <a:latin typeface="Courier New"/>
                <a:cs typeface="Courier New"/>
              </a:rPr>
              <a:t>=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0,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50" dirty="0">
                <a:latin typeface="Courier New"/>
                <a:cs typeface="Courier New"/>
              </a:rPr>
              <a:t>i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50" dirty="0">
                <a:latin typeface="Courier New"/>
                <a:cs typeface="Courier New"/>
              </a:rPr>
              <a:t>=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5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1050" y="2330448"/>
            <a:ext cx="2146300" cy="3937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867400" y="2286000"/>
            <a:ext cx="2133600" cy="3810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50"/>
              </a:spcBef>
              <a:tabLst>
                <a:tab pos="348615" algn="l"/>
                <a:tab pos="654050" algn="l"/>
              </a:tabLst>
            </a:pPr>
            <a:r>
              <a:rPr sz="2000" b="1" spc="-50" dirty="0">
                <a:latin typeface="Courier New"/>
                <a:cs typeface="Courier New"/>
              </a:rPr>
              <a:t>i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50" dirty="0">
                <a:latin typeface="Courier New"/>
                <a:cs typeface="Courier New"/>
              </a:rPr>
              <a:t>&lt;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10" dirty="0">
                <a:latin typeface="Courier New"/>
                <a:cs typeface="Courier New"/>
              </a:rPr>
              <a:t>WSIZE</a:t>
            </a:r>
            <a:endParaRPr sz="200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1050" y="3321048"/>
            <a:ext cx="2146300" cy="3936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867400" y="3276600"/>
            <a:ext cx="2133600" cy="3810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50"/>
              </a:spcBef>
            </a:pPr>
            <a:r>
              <a:rPr sz="2000" b="1" spc="-25" dirty="0">
                <a:latin typeface="Courier New"/>
                <a:cs typeface="Courier New"/>
              </a:rPr>
              <a:t>i++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15000" y="4267200"/>
            <a:ext cx="4114800" cy="916918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6350" rIns="0" bIns="0" rtlCol="0" anchor="t">
            <a:spAutoFit/>
          </a:bodyPr>
          <a:lstStyle/>
          <a:p>
            <a:pPr marL="44450">
              <a:lnSpc>
                <a:spcPts val="2350"/>
              </a:lnSpc>
              <a:spcBef>
                <a:spcPts val="50"/>
              </a:spcBef>
            </a:pPr>
            <a:r>
              <a:rPr sz="2000" b="1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96850">
              <a:lnSpc>
                <a:spcPts val="2300"/>
              </a:lnSpc>
              <a:tabLst>
                <a:tab pos="501650" algn="l"/>
                <a:tab pos="958850" algn="l"/>
                <a:tab pos="1416050" algn="l"/>
                <a:tab pos="1873250" algn="l"/>
                <a:tab pos="2330450" algn="l"/>
                <a:tab pos="2635250" algn="l"/>
              </a:tabLst>
            </a:pPr>
            <a:r>
              <a:rPr sz="2000" b="1" spc="-50" dirty="0">
                <a:latin typeface="Courier New"/>
                <a:cs typeface="Courier New"/>
              </a:rPr>
              <a:t>r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+=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(x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&gt;&gt;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i)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50" dirty="0">
                <a:latin typeface="Courier New"/>
                <a:cs typeface="Courier New"/>
              </a:rPr>
              <a:t>&amp;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5" dirty="0">
                <a:latin typeface="Courier New"/>
                <a:cs typeface="Courier New"/>
              </a:rPr>
              <a:t>1;</a:t>
            </a:r>
            <a:endParaRPr sz="2000">
              <a:latin typeface="Courier New"/>
              <a:cs typeface="Courier New"/>
            </a:endParaRPr>
          </a:p>
          <a:p>
            <a:pPr marL="44450">
              <a:lnSpc>
                <a:spcPts val="235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02337" y="877465"/>
            <a:ext cx="879475" cy="4521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latin typeface="Courier New"/>
                <a:cs typeface="Courier New"/>
              </a:rPr>
              <a:t>Init</a:t>
            </a:r>
            <a:endParaRPr lang="en-US" sz="2800" b="1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02337" y="1836315"/>
            <a:ext cx="879475" cy="4521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latin typeface="Courier New"/>
                <a:cs typeface="Courier New"/>
              </a:rPr>
              <a:t>Cond</a:t>
            </a:r>
            <a:endParaRPr lang="en-US" sz="2800" b="1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21387" y="2826915"/>
            <a:ext cx="1306195" cy="4521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Courier New"/>
                <a:cs typeface="Courier New"/>
              </a:rPr>
              <a:t>Update</a:t>
            </a:r>
            <a:endParaRPr lang="en-US" sz="2800" b="1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40437" y="3817515"/>
            <a:ext cx="879475" cy="4521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latin typeface="Courier New"/>
                <a:cs typeface="Courier New"/>
              </a:rPr>
              <a:t>Body</a:t>
            </a:r>
            <a:endParaRPr lang="en-US" sz="2800" b="1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1825" y="1004952"/>
            <a:ext cx="4627245" cy="921406"/>
          </a:xfrm>
          <a:prstGeom prst="rect">
            <a:avLst/>
          </a:prstGeom>
          <a:solidFill>
            <a:srgbClr val="F7E7D5"/>
          </a:solidFill>
          <a:ln w="12700">
            <a:solidFill>
              <a:srgbClr val="000000"/>
            </a:solidFill>
          </a:ln>
        </p:spPr>
        <p:txBody>
          <a:bodyPr vert="horz" wrap="square" lIns="0" tIns="94615" rIns="0" bIns="0" rtlCol="0" anchor="t">
            <a:spAutoFit/>
          </a:bodyPr>
          <a:lstStyle/>
          <a:p>
            <a:pPr marL="83185">
              <a:lnSpc>
                <a:spcPts val="3229"/>
              </a:lnSpc>
              <a:spcBef>
                <a:spcPts val="745"/>
              </a:spcBef>
            </a:pPr>
            <a:r>
              <a:rPr sz="2800" spc="-10" dirty="0">
                <a:latin typeface="Courier New"/>
                <a:cs typeface="Courier New"/>
              </a:rPr>
              <a:t>for(</a:t>
            </a:r>
            <a:r>
              <a:rPr sz="2800" b="1" spc="-10" dirty="0">
                <a:latin typeface="Courier New"/>
                <a:cs typeface="Courier New"/>
              </a:rPr>
              <a:t>Init</a:t>
            </a:r>
            <a:r>
              <a:rPr sz="2800" spc="-10" dirty="0">
                <a:latin typeface="Courier New"/>
                <a:cs typeface="Courier New"/>
              </a:rPr>
              <a:t>;</a:t>
            </a:r>
            <a:r>
              <a:rPr sz="2800" b="1" spc="-10" dirty="0">
                <a:latin typeface="Courier New"/>
                <a:cs typeface="Courier New"/>
              </a:rPr>
              <a:t>Cond</a:t>
            </a:r>
            <a:r>
              <a:rPr sz="2800" spc="-10" dirty="0">
                <a:latin typeface="Courier New"/>
                <a:cs typeface="Courier New"/>
              </a:rPr>
              <a:t>;</a:t>
            </a:r>
            <a:r>
              <a:rPr sz="2800" b="1" spc="-10" dirty="0">
                <a:latin typeface="Courier New"/>
                <a:cs typeface="Courier New"/>
              </a:rPr>
              <a:t>Update</a:t>
            </a:r>
            <a:r>
              <a:rPr sz="2800" spc="-10" dirty="0">
                <a:latin typeface="Courier New"/>
                <a:cs typeface="Courier New"/>
              </a:rPr>
              <a:t>)</a:t>
            </a:r>
            <a:endParaRPr sz="2800">
              <a:latin typeface="Courier New"/>
              <a:cs typeface="Courier New"/>
            </a:endParaRPr>
          </a:p>
          <a:p>
            <a:pPr marL="510540">
              <a:lnSpc>
                <a:spcPts val="3229"/>
              </a:lnSpc>
            </a:pPr>
            <a:r>
              <a:rPr sz="2800" b="1" spc="-20" dirty="0">
                <a:latin typeface="Courier New"/>
                <a:cs typeface="Courier New"/>
              </a:rPr>
              <a:t>Body</a:t>
            </a:r>
            <a:endParaRPr sz="2800" b="1">
              <a:latin typeface="Courier New"/>
              <a:cs typeface="Courier New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20E521A-4853-AF82-D1C4-64C13C7AC9E2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/>
              <a:t> 'for' loop template.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545744" y="2157148"/>
            <a:ext cx="2819400" cy="2659380"/>
          </a:xfrm>
          <a:prstGeom prst="rect">
            <a:avLst/>
          </a:prstGeom>
          <a:solidFill>
            <a:srgbClr val="F7E7D5"/>
          </a:solidFill>
          <a:ln w="57150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55"/>
              </a:spcBef>
            </a:pPr>
            <a:r>
              <a:rPr sz="2400" spc="-10" dirty="0">
                <a:latin typeface="Courier New"/>
                <a:cs typeface="Courier New"/>
              </a:rPr>
              <a:t>Init</a:t>
            </a:r>
            <a:r>
              <a:rPr sz="2400" i="1" spc="-10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  <a:p>
            <a:pPr marL="73025">
              <a:lnSpc>
                <a:spcPct val="100000"/>
              </a:lnSpc>
              <a:spcBef>
                <a:spcPts val="1260"/>
              </a:spcBef>
              <a:tabLst>
                <a:tab pos="1170305" algn="l"/>
                <a:tab pos="2519680" algn="l"/>
              </a:tabLst>
            </a:pPr>
            <a:r>
              <a:rPr sz="2400" spc="-10" dirty="0">
                <a:latin typeface="Courier New"/>
                <a:cs typeface="Courier New"/>
              </a:rPr>
              <a:t>while</a:t>
            </a:r>
            <a:r>
              <a:rPr sz="2400" dirty="0">
                <a:latin typeface="Courier New"/>
                <a:cs typeface="Courier New"/>
              </a:rPr>
              <a:t>	(Cond</a:t>
            </a:r>
            <a:r>
              <a:rPr sz="2400" spc="-90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)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804545">
              <a:lnSpc>
                <a:spcPct val="100000"/>
              </a:lnSpc>
              <a:spcBef>
                <a:spcPts val="1785"/>
              </a:spcBef>
            </a:pPr>
            <a:r>
              <a:rPr sz="2400" b="1" spc="-20" dirty="0">
                <a:latin typeface="Courier New"/>
                <a:cs typeface="Courier New"/>
              </a:rPr>
              <a:t>Body</a:t>
            </a:r>
            <a:endParaRPr sz="2400">
              <a:latin typeface="Courier New"/>
              <a:cs typeface="Courier New"/>
            </a:endParaRPr>
          </a:p>
          <a:p>
            <a:pPr marL="804545">
              <a:lnSpc>
                <a:spcPct val="100000"/>
              </a:lnSpc>
              <a:spcBef>
                <a:spcPts val="1260"/>
              </a:spcBef>
            </a:pPr>
            <a:r>
              <a:rPr sz="2400" spc="-10" dirty="0">
                <a:latin typeface="Courier New"/>
                <a:cs typeface="Courier New"/>
              </a:rPr>
              <a:t>Update;</a:t>
            </a:r>
            <a:endParaRPr sz="2400">
              <a:latin typeface="Courier New"/>
              <a:cs typeface="Courier New"/>
            </a:endParaRPr>
          </a:p>
          <a:p>
            <a:pPr marL="73025">
              <a:lnSpc>
                <a:spcPct val="100000"/>
              </a:lnSpc>
              <a:spcBef>
                <a:spcPts val="1260"/>
              </a:spcBef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42572" y="1716793"/>
            <a:ext cx="2699412" cy="3821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400" b="1" dirty="0">
                <a:latin typeface="Calibri"/>
                <a:cs typeface="Calibri"/>
              </a:rPr>
              <a:t>While loop</a:t>
            </a:r>
            <a:r>
              <a:rPr lang="en-US" sz="2400" b="1" spc="-55" dirty="0">
                <a:latin typeface="Calibri"/>
                <a:cs typeface="Calibri"/>
              </a:rPr>
              <a:t> v</a:t>
            </a:r>
            <a:r>
              <a:rPr lang="en-US" sz="2400" b="1" spc="-10" dirty="0">
                <a:latin typeface="Calibri"/>
                <a:cs typeface="Calibri"/>
              </a:rPr>
              <a:t>ersion</a:t>
            </a:r>
            <a:endParaRPr lang="en-US" sz="2400" b="1">
              <a:latin typeface="Calibri"/>
              <a:ea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61820" y="3009511"/>
            <a:ext cx="843280" cy="812800"/>
            <a:chOff x="5761820" y="3009511"/>
            <a:chExt cx="843280" cy="8128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1820" y="3060310"/>
              <a:ext cx="842963" cy="7620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61821" y="3009511"/>
              <a:ext cx="843280" cy="762000"/>
            </a:xfrm>
            <a:custGeom>
              <a:avLst/>
              <a:gdLst/>
              <a:ahLst/>
              <a:cxnLst/>
              <a:rect l="l" t="t" r="r" b="b"/>
              <a:pathLst>
                <a:path w="843279" h="762000">
                  <a:moveTo>
                    <a:pt x="462146" y="0"/>
                  </a:moveTo>
                  <a:lnTo>
                    <a:pt x="462146" y="190500"/>
                  </a:lnTo>
                  <a:lnTo>
                    <a:pt x="0" y="190500"/>
                  </a:lnTo>
                  <a:lnTo>
                    <a:pt x="0" y="571500"/>
                  </a:lnTo>
                  <a:lnTo>
                    <a:pt x="462146" y="571500"/>
                  </a:lnTo>
                  <a:lnTo>
                    <a:pt x="462146" y="762000"/>
                  </a:lnTo>
                  <a:lnTo>
                    <a:pt x="842962" y="381000"/>
                  </a:lnTo>
                  <a:lnTo>
                    <a:pt x="462146" y="0"/>
                  </a:lnTo>
                  <a:close/>
                </a:path>
              </a:pathLst>
            </a:custGeom>
            <a:solidFill>
              <a:srgbClr val="980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206" y="2877812"/>
            <a:ext cx="4639407" cy="11269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89556" y="2833363"/>
            <a:ext cx="4627245" cy="1114425"/>
          </a:xfrm>
          <a:prstGeom prst="rect">
            <a:avLst/>
          </a:prstGeom>
          <a:solidFill>
            <a:srgbClr val="F7E7D5"/>
          </a:solidFill>
          <a:ln w="127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83185">
              <a:lnSpc>
                <a:spcPts val="3229"/>
              </a:lnSpc>
              <a:spcBef>
                <a:spcPts val="745"/>
              </a:spcBef>
            </a:pPr>
            <a:r>
              <a:rPr sz="2800" spc="-10" dirty="0">
                <a:latin typeface="Courier New"/>
                <a:cs typeface="Courier New"/>
              </a:rPr>
              <a:t>for(Init;Cond;Update)</a:t>
            </a:r>
            <a:endParaRPr sz="2800">
              <a:latin typeface="Courier New"/>
              <a:cs typeface="Courier New"/>
            </a:endParaRPr>
          </a:p>
          <a:p>
            <a:pPr marL="510540">
              <a:lnSpc>
                <a:spcPts val="3229"/>
              </a:lnSpc>
            </a:pPr>
            <a:r>
              <a:rPr sz="2800" b="1" spc="-20" dirty="0">
                <a:latin typeface="Courier New"/>
                <a:cs typeface="Courier New"/>
              </a:rPr>
              <a:t>Body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0890" y="2390032"/>
            <a:ext cx="3017133" cy="3821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400" b="1" i="1" dirty="0">
                <a:latin typeface="Calibri"/>
                <a:cs typeface="Calibri"/>
              </a:rPr>
              <a:t>for</a:t>
            </a:r>
            <a:r>
              <a:rPr lang="en-US" sz="2400" b="1" spc="-50" dirty="0">
                <a:latin typeface="Calibri"/>
                <a:cs typeface="Calibri"/>
              </a:rPr>
              <a:t> loop v</a:t>
            </a:r>
            <a:r>
              <a:rPr lang="en-US" sz="2400" b="1" spc="-20" dirty="0">
                <a:latin typeface="Calibri"/>
                <a:cs typeface="Calibri"/>
              </a:rPr>
              <a:t>ersion</a:t>
            </a:r>
            <a:endParaRPr lang="en-US" sz="2400" b="1">
              <a:latin typeface="Calibri"/>
              <a:ea typeface="Calibri"/>
              <a:cs typeface="Calibri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F3A09C1-5D97-EAE0-2A49-199679BADFB5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/>
              <a:t> 'for' loop </a:t>
            </a:r>
            <a:r>
              <a:rPr lang="en-US" dirty="0">
                <a:latin typeface="Wingdings"/>
                <a:sym typeface="Wingdings"/>
              </a:rPr>
              <a:t></a:t>
            </a:r>
            <a:r>
              <a:rPr lang="en-US" dirty="0">
                <a:latin typeface="Aptos"/>
              </a:rPr>
              <a:t> </a:t>
            </a:r>
            <a:r>
              <a:rPr lang="en-US" dirty="0">
                <a:latin typeface="Aptos"/>
                <a:sym typeface="Wingdings"/>
              </a:rPr>
              <a:t>'</a:t>
            </a:r>
            <a:r>
              <a:rPr lang="en-US" b="1" dirty="0">
                <a:latin typeface="Aptos"/>
                <a:sym typeface="Wingdings"/>
              </a:rPr>
              <a:t>while' loop conversion</a:t>
            </a:r>
            <a:r>
              <a:rPr lang="en-US" sz="4500" b="1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426594" y="1143670"/>
            <a:ext cx="5475515" cy="5177058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16510" rIns="0" bIns="0" rtlCol="0" anchor="t">
            <a:spAutoFit/>
          </a:bodyPr>
          <a:lstStyle/>
          <a:p>
            <a:pPr marL="471170" marR="1013460" indent="-427355">
              <a:lnSpc>
                <a:spcPts val="3100"/>
              </a:lnSpc>
              <a:spcBef>
                <a:spcPts val="130"/>
              </a:spcBef>
              <a:tabLst>
                <a:tab pos="897890" algn="l"/>
                <a:tab pos="2604770" algn="l"/>
                <a:tab pos="3458210" algn="l"/>
              </a:tabLst>
            </a:pPr>
            <a:r>
              <a:rPr sz="2800" b="1" spc="-25" dirty="0">
                <a:latin typeface="Courier New"/>
                <a:cs typeface="Courier New"/>
              </a:rPr>
              <a:t>int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10" dirty="0">
                <a:latin typeface="Courier New"/>
                <a:cs typeface="Courier New"/>
              </a:rPr>
              <a:t>pcount_for_while (unsigned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int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x)</a:t>
            </a:r>
            <a:endParaRPr lang="en-US" sz="2800">
              <a:latin typeface="Courier New"/>
              <a:cs typeface="Courier New"/>
            </a:endParaRPr>
          </a:p>
          <a:p>
            <a:pPr marL="44450">
              <a:lnSpc>
                <a:spcPts val="2910"/>
              </a:lnSpc>
            </a:pPr>
            <a:r>
              <a:rPr sz="2800" b="1" spc="-50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471170" marR="2934335">
              <a:lnSpc>
                <a:spcPts val="3100"/>
              </a:lnSpc>
              <a:spcBef>
                <a:spcPts val="190"/>
              </a:spcBef>
              <a:tabLst>
                <a:tab pos="1324610" algn="l"/>
                <a:tab pos="1964689" algn="l"/>
              </a:tabLst>
            </a:pPr>
            <a:r>
              <a:rPr sz="2800" b="1" spc="-10" dirty="0">
                <a:latin typeface="Courier New"/>
                <a:cs typeface="Courier New"/>
              </a:rPr>
              <a:t>size_t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i; int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r;</a:t>
            </a:r>
            <a:endParaRPr sz="2800">
              <a:latin typeface="Courier New"/>
              <a:cs typeface="Courier New"/>
            </a:endParaRPr>
          </a:p>
          <a:p>
            <a:pPr marL="471170">
              <a:lnSpc>
                <a:spcPts val="2910"/>
              </a:lnSpc>
              <a:tabLst>
                <a:tab pos="897890" algn="l"/>
                <a:tab pos="1324610" algn="l"/>
                <a:tab pos="1964689" algn="l"/>
                <a:tab pos="2391410" algn="l"/>
                <a:tab pos="2818130" algn="l"/>
              </a:tabLst>
            </a:pPr>
            <a:r>
              <a:rPr sz="2800" b="1" spc="-50" dirty="0">
                <a:latin typeface="Courier New"/>
                <a:cs typeface="Courier New"/>
              </a:rPr>
              <a:t>r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50" dirty="0">
                <a:latin typeface="Courier New"/>
                <a:cs typeface="Courier New"/>
              </a:rPr>
              <a:t>=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0,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50" dirty="0">
                <a:latin typeface="Courier New"/>
                <a:cs typeface="Courier New"/>
              </a:rPr>
              <a:t>i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50" dirty="0">
                <a:latin typeface="Courier New"/>
                <a:cs typeface="Courier New"/>
              </a:rPr>
              <a:t>=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0;</a:t>
            </a:r>
            <a:endParaRPr sz="2800">
              <a:latin typeface="Courier New"/>
              <a:cs typeface="Courier New"/>
            </a:endParaRPr>
          </a:p>
          <a:p>
            <a:pPr marL="471170">
              <a:lnSpc>
                <a:spcPts val="3100"/>
              </a:lnSpc>
              <a:tabLst>
                <a:tab pos="1751330" algn="l"/>
                <a:tab pos="2391410" algn="l"/>
                <a:tab pos="2818130" algn="l"/>
              </a:tabLst>
            </a:pPr>
            <a:r>
              <a:rPr sz="2800" b="1" spc="-10" dirty="0">
                <a:latin typeface="Courier New"/>
                <a:cs typeface="Courier New"/>
              </a:rPr>
              <a:t>while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(i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50" dirty="0">
                <a:latin typeface="Courier New"/>
                <a:cs typeface="Courier New"/>
              </a:rPr>
              <a:t>&lt;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10" dirty="0">
                <a:latin typeface="Courier New"/>
                <a:cs typeface="Courier New"/>
              </a:rPr>
              <a:t>WSIZE)</a:t>
            </a:r>
            <a:endParaRPr sz="2800">
              <a:latin typeface="Courier New"/>
              <a:cs typeface="Courier New"/>
            </a:endParaRPr>
          </a:p>
          <a:p>
            <a:pPr marL="471170">
              <a:lnSpc>
                <a:spcPts val="3100"/>
              </a:lnSpc>
            </a:pPr>
            <a:r>
              <a:rPr sz="2800" b="1" spc="-50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897890" marR="586740">
              <a:lnSpc>
                <a:spcPts val="3100"/>
              </a:lnSpc>
              <a:spcBef>
                <a:spcPts val="190"/>
              </a:spcBef>
              <a:tabLst>
                <a:tab pos="1324610" algn="l"/>
                <a:tab pos="1964689" algn="l"/>
                <a:tab pos="2604770" algn="l"/>
                <a:tab pos="3244850" algn="l"/>
                <a:tab pos="3884929" algn="l"/>
                <a:tab pos="4312285" algn="l"/>
              </a:tabLst>
            </a:pPr>
            <a:r>
              <a:rPr sz="2800" b="1" spc="-50" dirty="0">
                <a:latin typeface="Courier New"/>
                <a:cs typeface="Courier New"/>
              </a:rPr>
              <a:t>r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+=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(x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&gt;&gt;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i)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50" dirty="0">
                <a:latin typeface="Courier New"/>
                <a:cs typeface="Courier New"/>
              </a:rPr>
              <a:t>&amp;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1; </a:t>
            </a:r>
            <a:r>
              <a:rPr sz="2800" b="1" spc="-20" dirty="0">
                <a:latin typeface="Courier New"/>
                <a:cs typeface="Courier New"/>
              </a:rPr>
              <a:t>i++;</a:t>
            </a:r>
            <a:endParaRPr sz="2800">
              <a:latin typeface="Courier New"/>
              <a:cs typeface="Courier New"/>
            </a:endParaRPr>
          </a:p>
          <a:p>
            <a:pPr marL="471170">
              <a:lnSpc>
                <a:spcPts val="2910"/>
              </a:lnSpc>
            </a:pPr>
            <a:r>
              <a:rPr sz="2800" b="1" spc="-5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  <a:p>
            <a:pPr marL="471170">
              <a:lnSpc>
                <a:spcPts val="3100"/>
              </a:lnSpc>
              <a:tabLst>
                <a:tab pos="1964689" algn="l"/>
              </a:tabLst>
            </a:pPr>
            <a:r>
              <a:rPr sz="2800" b="1" spc="-10" dirty="0">
                <a:latin typeface="Courier New"/>
                <a:cs typeface="Courier New"/>
              </a:rPr>
              <a:t>return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r;</a:t>
            </a:r>
            <a:endParaRPr sz="2800">
              <a:latin typeface="Courier New"/>
              <a:cs typeface="Courier New"/>
            </a:endParaRPr>
          </a:p>
          <a:p>
            <a:pPr marL="44450">
              <a:lnSpc>
                <a:spcPts val="3229"/>
              </a:lnSpc>
            </a:pPr>
            <a:r>
              <a:rPr sz="2800" b="1" spc="-5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2798" y="1809750"/>
            <a:ext cx="2941320" cy="444500"/>
            <a:chOff x="812798" y="1809750"/>
            <a:chExt cx="2941320" cy="4445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798" y="1860548"/>
              <a:ext cx="2941171" cy="3937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19148" y="1816100"/>
              <a:ext cx="2928620" cy="381000"/>
            </a:xfrm>
            <a:custGeom>
              <a:avLst/>
              <a:gdLst/>
              <a:ahLst/>
              <a:cxnLst/>
              <a:rect l="l" t="t" r="r" b="b"/>
              <a:pathLst>
                <a:path w="2928620" h="381000">
                  <a:moveTo>
                    <a:pt x="2928471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2928471" y="381000"/>
                  </a:lnTo>
                  <a:lnTo>
                    <a:pt x="2928471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 anchor="t"/>
            <a:lstStyle/>
            <a:p>
              <a:pPr algn="ctr">
                <a:lnSpc>
                  <a:spcPts val="3095"/>
                </a:lnSpc>
                <a:spcBef>
                  <a:spcPts val="525"/>
                </a:spcBef>
              </a:pPr>
              <a:r>
                <a:rPr lang="en-US" sz="2400" b="1" dirty="0">
                  <a:latin typeface="Courier New"/>
                  <a:cs typeface="Courier New"/>
                </a:rPr>
                <a:t>r = 0,i =0</a:t>
              </a:r>
              <a:endParaRPr lang="en-US" sz="2400">
                <a:latin typeface="Courier New"/>
                <a:cs typeface="Courier New"/>
              </a:endParaRPr>
            </a:p>
            <a:p>
              <a:pPr algn="ctr"/>
              <a:endParaRPr sz="1600"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819148" y="1816100"/>
              <a:ext cx="2928620" cy="381000"/>
            </a:xfrm>
            <a:custGeom>
              <a:avLst/>
              <a:gdLst/>
              <a:ahLst/>
              <a:cxnLst/>
              <a:rect l="l" t="t" r="r" b="b"/>
              <a:pathLst>
                <a:path w="2928620" h="381000">
                  <a:moveTo>
                    <a:pt x="0" y="0"/>
                  </a:moveTo>
                  <a:lnTo>
                    <a:pt x="2928471" y="0"/>
                  </a:lnTo>
                  <a:lnTo>
                    <a:pt x="2928471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12798" y="2724150"/>
            <a:ext cx="2941320" cy="444500"/>
            <a:chOff x="812798" y="2724150"/>
            <a:chExt cx="2941320" cy="4445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798" y="2774948"/>
              <a:ext cx="2941171" cy="3937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19148" y="2730500"/>
              <a:ext cx="2928620" cy="381000"/>
            </a:xfrm>
            <a:custGeom>
              <a:avLst/>
              <a:gdLst/>
              <a:ahLst/>
              <a:cxnLst/>
              <a:rect l="l" t="t" r="r" b="b"/>
              <a:pathLst>
                <a:path w="2928620" h="381000">
                  <a:moveTo>
                    <a:pt x="2928471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2928471" y="381000"/>
                  </a:lnTo>
                  <a:lnTo>
                    <a:pt x="2928471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 anchor="t"/>
            <a:lstStyle/>
            <a:p>
              <a:pPr algn="ctr">
                <a:spcBef>
                  <a:spcPts val="525"/>
                </a:spcBef>
              </a:pPr>
              <a:r>
                <a:rPr lang="en-US" sz="2400" b="1" dirty="0" err="1">
                  <a:latin typeface="Courier New"/>
                  <a:cs typeface="Courier New"/>
                </a:rPr>
                <a:t>i</a:t>
              </a:r>
              <a:r>
                <a:rPr lang="en-US" sz="2400" b="1" dirty="0">
                  <a:latin typeface="Courier New"/>
                  <a:cs typeface="Courier New"/>
                </a:rPr>
                <a:t> &lt; WSIZE</a:t>
              </a:r>
              <a:endParaRPr lang="en-US" sz="2400" dirty="0">
                <a:latin typeface="Courier New"/>
                <a:cs typeface="Courier New"/>
              </a:endParaRPr>
            </a:p>
            <a:p>
              <a:pPr algn="ctr"/>
              <a:endParaRPr sz="1600"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819148" y="2730500"/>
              <a:ext cx="2928620" cy="381000"/>
            </a:xfrm>
            <a:custGeom>
              <a:avLst/>
              <a:gdLst/>
              <a:ahLst/>
              <a:cxnLst/>
              <a:rect l="l" t="t" r="r" b="b"/>
              <a:pathLst>
                <a:path w="2928620" h="381000">
                  <a:moveTo>
                    <a:pt x="0" y="0"/>
                  </a:moveTo>
                  <a:lnTo>
                    <a:pt x="2928471" y="0"/>
                  </a:lnTo>
                  <a:lnTo>
                    <a:pt x="2928471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12798" y="3759200"/>
            <a:ext cx="2941320" cy="444500"/>
            <a:chOff x="812798" y="3759200"/>
            <a:chExt cx="2941320" cy="44450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798" y="3809998"/>
              <a:ext cx="2941171" cy="3937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19148" y="3765550"/>
              <a:ext cx="2928620" cy="381000"/>
            </a:xfrm>
            <a:custGeom>
              <a:avLst/>
              <a:gdLst/>
              <a:ahLst/>
              <a:cxnLst/>
              <a:rect l="l" t="t" r="r" b="b"/>
              <a:pathLst>
                <a:path w="2928620" h="381000">
                  <a:moveTo>
                    <a:pt x="2928471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2928471" y="381000"/>
                  </a:lnTo>
                  <a:lnTo>
                    <a:pt x="2928471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 anchor="t"/>
            <a:lstStyle/>
            <a:p>
              <a:pPr algn="ctr"/>
              <a:r>
                <a:rPr lang="en-US" sz="2400" b="1" dirty="0" err="1">
                  <a:latin typeface="Courier New"/>
                  <a:cs typeface="Courier New"/>
                </a:rPr>
                <a:t>i</a:t>
              </a:r>
              <a:r>
                <a:rPr lang="en-US" sz="2400" b="1" dirty="0">
                  <a:latin typeface="Courier New"/>
                  <a:cs typeface="Courier New"/>
                </a:rPr>
                <a:t>++</a:t>
              </a:r>
              <a:endParaRPr lang="en-US" sz="16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819148" y="3765550"/>
              <a:ext cx="2928620" cy="381000"/>
            </a:xfrm>
            <a:custGeom>
              <a:avLst/>
              <a:gdLst/>
              <a:ahLst/>
              <a:cxnLst/>
              <a:rect l="l" t="t" r="r" b="b"/>
              <a:pathLst>
                <a:path w="2928620" h="381000">
                  <a:moveTo>
                    <a:pt x="0" y="0"/>
                  </a:moveTo>
                  <a:lnTo>
                    <a:pt x="2928471" y="0"/>
                  </a:lnTo>
                  <a:lnTo>
                    <a:pt x="2928471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40921" y="5125356"/>
            <a:ext cx="5221695" cy="1197764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 anchor="t">
            <a:spAutoFit/>
          </a:bodyPr>
          <a:lstStyle/>
          <a:p>
            <a:pPr marL="44450">
              <a:lnSpc>
                <a:spcPts val="3040"/>
              </a:lnSpc>
            </a:pPr>
            <a:r>
              <a:rPr sz="2800" b="1" spc="-50" dirty="0">
                <a:latin typeface="Courier New"/>
                <a:cs typeface="Courier New"/>
              </a:rPr>
              <a:t>{</a:t>
            </a:r>
            <a:endParaRPr lang="en-US" sz="2800">
              <a:latin typeface="Courier New"/>
              <a:cs typeface="Courier New"/>
            </a:endParaRPr>
          </a:p>
          <a:p>
            <a:pPr marL="684530">
              <a:lnSpc>
                <a:spcPts val="3100"/>
              </a:lnSpc>
              <a:tabLst>
                <a:tab pos="1111250" algn="l"/>
                <a:tab pos="1751330" algn="l"/>
                <a:tab pos="2391410" algn="l"/>
                <a:tab pos="3031490" algn="l"/>
                <a:tab pos="3671570" algn="l"/>
                <a:tab pos="4098290" algn="l"/>
              </a:tabLst>
            </a:pPr>
            <a:r>
              <a:rPr sz="2800" b="1" spc="-50" dirty="0">
                <a:latin typeface="Courier New"/>
                <a:cs typeface="Courier New"/>
              </a:rPr>
              <a:t>r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+=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(x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&gt;&gt;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i)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50" dirty="0">
                <a:latin typeface="Courier New"/>
                <a:cs typeface="Courier New"/>
              </a:rPr>
              <a:t>&amp;</a:t>
            </a:r>
            <a:r>
              <a:rPr sz="2800" b="1" dirty="0">
                <a:latin typeface="Courier New"/>
                <a:cs typeface="Courier New"/>
              </a:rPr>
              <a:t>	</a:t>
            </a:r>
            <a:r>
              <a:rPr sz="2800" b="1" spc="-25" dirty="0">
                <a:latin typeface="Courier New"/>
                <a:cs typeface="Courier New"/>
              </a:rPr>
              <a:t>1;</a:t>
            </a:r>
            <a:endParaRPr sz="2800">
              <a:latin typeface="Courier New"/>
              <a:cs typeface="Courier New"/>
            </a:endParaRPr>
          </a:p>
          <a:p>
            <a:pPr marL="44450">
              <a:lnSpc>
                <a:spcPts val="3229"/>
              </a:lnSpc>
            </a:pPr>
            <a:r>
              <a:rPr sz="2800" b="1" spc="-5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E2FDED3-D9B1-94AA-65B9-0F29A9E2AB44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for-</a:t>
            </a:r>
            <a:r>
              <a:rPr lang="en-US" b="1" dirty="0">
                <a:latin typeface="Aptos"/>
              </a:rPr>
              <a:t>while</a:t>
            </a:r>
            <a:r>
              <a:rPr lang="en-US" b="1" dirty="0">
                <a:latin typeface="Aptos"/>
                <a:sym typeface="Wingdings"/>
              </a:rPr>
              <a:t> loop conversion</a:t>
            </a:r>
            <a:r>
              <a:rPr lang="en-US" sz="4500" b="1" dirty="0">
                <a:latin typeface="Aptos"/>
              </a:rPr>
              <a:t>.</a:t>
            </a:r>
            <a:endParaRPr lang="en-US" b="1">
              <a:latin typeface="Aptos"/>
            </a:endParaRPr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765775C9-B7D8-E775-7566-787336205C8A}"/>
              </a:ext>
            </a:extLst>
          </p:cNvPr>
          <p:cNvSpPr txBox="1"/>
          <p:nvPr/>
        </p:nvSpPr>
        <p:spPr>
          <a:xfrm>
            <a:off x="842509" y="1291122"/>
            <a:ext cx="879475" cy="4521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latin typeface="Courier New"/>
                <a:cs typeface="Courier New"/>
              </a:rPr>
              <a:t>Init</a:t>
            </a:r>
            <a:endParaRPr lang="en-US" sz="2800" b="1">
              <a:latin typeface="Courier New"/>
              <a:cs typeface="Courier New"/>
            </a:endParaRPr>
          </a:p>
        </p:txBody>
      </p:sp>
      <p:sp>
        <p:nvSpPr>
          <p:cNvPr id="28" name="object 13">
            <a:extLst>
              <a:ext uri="{FF2B5EF4-FFF2-40B4-BE49-F238E27FC236}">
                <a16:creationId xmlns:a16="http://schemas.microsoft.com/office/drawing/2014/main" id="{B60D6CE7-DBFD-1C53-5035-762A249DA013}"/>
              </a:ext>
            </a:extLst>
          </p:cNvPr>
          <p:cNvSpPr txBox="1"/>
          <p:nvPr/>
        </p:nvSpPr>
        <p:spPr>
          <a:xfrm>
            <a:off x="842508" y="2281722"/>
            <a:ext cx="879475" cy="4521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20" dirty="0">
                <a:latin typeface="Courier New"/>
                <a:cs typeface="Courier New"/>
              </a:rPr>
              <a:t>Cond</a:t>
            </a:r>
            <a:endParaRPr lang="en-US" dirty="0"/>
          </a:p>
        </p:txBody>
      </p:sp>
      <p:sp>
        <p:nvSpPr>
          <p:cNvPr id="30" name="object 13">
            <a:extLst>
              <a:ext uri="{FF2B5EF4-FFF2-40B4-BE49-F238E27FC236}">
                <a16:creationId xmlns:a16="http://schemas.microsoft.com/office/drawing/2014/main" id="{6E34F7D0-1E27-AC15-A213-A94C24F1AF41}"/>
              </a:ext>
            </a:extLst>
          </p:cNvPr>
          <p:cNvSpPr txBox="1"/>
          <p:nvPr/>
        </p:nvSpPr>
        <p:spPr>
          <a:xfrm>
            <a:off x="809851" y="3294094"/>
            <a:ext cx="1587046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20">
                <a:latin typeface="Courier New"/>
                <a:cs typeface="Courier New"/>
              </a:rPr>
              <a:t>Update</a:t>
            </a:r>
            <a:endParaRPr lang="en-US"/>
          </a:p>
        </p:txBody>
      </p:sp>
      <p:sp>
        <p:nvSpPr>
          <p:cNvPr id="32" name="object 13">
            <a:extLst>
              <a:ext uri="{FF2B5EF4-FFF2-40B4-BE49-F238E27FC236}">
                <a16:creationId xmlns:a16="http://schemas.microsoft.com/office/drawing/2014/main" id="{7919EE0B-AF49-9397-B519-402595220471}"/>
              </a:ext>
            </a:extLst>
          </p:cNvPr>
          <p:cNvSpPr txBox="1"/>
          <p:nvPr/>
        </p:nvSpPr>
        <p:spPr>
          <a:xfrm>
            <a:off x="842509" y="4578608"/>
            <a:ext cx="879475" cy="4521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20" dirty="0">
                <a:latin typeface="Courier New"/>
                <a:cs typeface="Courier New"/>
              </a:rPr>
              <a:t>Body</a:t>
            </a:r>
            <a:endParaRPr lang="en-US" sz="2800" b="1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47856" y="5723231"/>
            <a:ext cx="1750695" cy="495300"/>
            <a:chOff x="10047856" y="5723231"/>
            <a:chExt cx="1750695" cy="49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47856" y="5774030"/>
              <a:ext cx="1750327" cy="444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054206" y="5729581"/>
              <a:ext cx="1737995" cy="431800"/>
            </a:xfrm>
            <a:custGeom>
              <a:avLst/>
              <a:gdLst/>
              <a:ahLst/>
              <a:cxnLst/>
              <a:rect l="l" t="t" r="r" b="b"/>
              <a:pathLst>
                <a:path w="1737995" h="431800">
                  <a:moveTo>
                    <a:pt x="1737627" y="0"/>
                  </a:moveTo>
                  <a:lnTo>
                    <a:pt x="0" y="0"/>
                  </a:lnTo>
                  <a:lnTo>
                    <a:pt x="0" y="431799"/>
                  </a:lnTo>
                  <a:lnTo>
                    <a:pt x="1737627" y="431799"/>
                  </a:lnTo>
                  <a:lnTo>
                    <a:pt x="1737627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54206" y="5729581"/>
              <a:ext cx="1737995" cy="431800"/>
            </a:xfrm>
            <a:custGeom>
              <a:avLst/>
              <a:gdLst/>
              <a:ahLst/>
              <a:cxnLst/>
              <a:rect l="l" t="t" r="r" b="b"/>
              <a:pathLst>
                <a:path w="1737995" h="431800">
                  <a:moveTo>
                    <a:pt x="0" y="0"/>
                  </a:moveTo>
                  <a:lnTo>
                    <a:pt x="1737627" y="0"/>
                  </a:lnTo>
                  <a:lnTo>
                    <a:pt x="173762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843740" y="5723231"/>
            <a:ext cx="1750695" cy="495300"/>
            <a:chOff x="2843740" y="5723231"/>
            <a:chExt cx="1750695" cy="4953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3740" y="5774030"/>
              <a:ext cx="1750327" cy="4445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850090" y="5729581"/>
              <a:ext cx="1737995" cy="431800"/>
            </a:xfrm>
            <a:custGeom>
              <a:avLst/>
              <a:gdLst/>
              <a:ahLst/>
              <a:cxnLst/>
              <a:rect l="l" t="t" r="r" b="b"/>
              <a:pathLst>
                <a:path w="1737995" h="431800">
                  <a:moveTo>
                    <a:pt x="1737627" y="0"/>
                  </a:moveTo>
                  <a:lnTo>
                    <a:pt x="0" y="0"/>
                  </a:lnTo>
                  <a:lnTo>
                    <a:pt x="0" y="431799"/>
                  </a:lnTo>
                  <a:lnTo>
                    <a:pt x="1737627" y="431799"/>
                  </a:lnTo>
                  <a:lnTo>
                    <a:pt x="1737627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50090" y="5729581"/>
              <a:ext cx="1737995" cy="431800"/>
            </a:xfrm>
            <a:custGeom>
              <a:avLst/>
              <a:gdLst/>
              <a:ahLst/>
              <a:cxnLst/>
              <a:rect l="l" t="t" r="r" b="b"/>
              <a:pathLst>
                <a:path w="1737995" h="431800">
                  <a:moveTo>
                    <a:pt x="0" y="0"/>
                  </a:moveTo>
                  <a:lnTo>
                    <a:pt x="1737627" y="0"/>
                  </a:lnTo>
                  <a:lnTo>
                    <a:pt x="173762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97125" y="5723231"/>
            <a:ext cx="1750695" cy="495300"/>
            <a:chOff x="497125" y="5723231"/>
            <a:chExt cx="1750695" cy="4953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125" y="5774030"/>
              <a:ext cx="1750327" cy="4445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03475" y="5729581"/>
              <a:ext cx="1737995" cy="431800"/>
            </a:xfrm>
            <a:custGeom>
              <a:avLst/>
              <a:gdLst/>
              <a:ahLst/>
              <a:cxnLst/>
              <a:rect l="l" t="t" r="r" b="b"/>
              <a:pathLst>
                <a:path w="1737995" h="431800">
                  <a:moveTo>
                    <a:pt x="1737627" y="0"/>
                  </a:moveTo>
                  <a:lnTo>
                    <a:pt x="0" y="0"/>
                  </a:lnTo>
                  <a:lnTo>
                    <a:pt x="0" y="431799"/>
                  </a:lnTo>
                  <a:lnTo>
                    <a:pt x="1737627" y="431799"/>
                  </a:lnTo>
                  <a:lnTo>
                    <a:pt x="1737627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3475" y="5729581"/>
              <a:ext cx="1737995" cy="431800"/>
            </a:xfrm>
            <a:custGeom>
              <a:avLst/>
              <a:gdLst/>
              <a:ahLst/>
              <a:cxnLst/>
              <a:rect l="l" t="t" r="r" b="b"/>
              <a:pathLst>
                <a:path w="1737995" h="431800">
                  <a:moveTo>
                    <a:pt x="0" y="0"/>
                  </a:moveTo>
                  <a:lnTo>
                    <a:pt x="1737627" y="0"/>
                  </a:lnTo>
                  <a:lnTo>
                    <a:pt x="173762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9674381" y="3686326"/>
            <a:ext cx="1809750" cy="495300"/>
            <a:chOff x="9674381" y="3686326"/>
            <a:chExt cx="1809750" cy="49530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74381" y="3737124"/>
              <a:ext cx="1809407" cy="4445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680731" y="3692676"/>
              <a:ext cx="1797050" cy="431800"/>
            </a:xfrm>
            <a:custGeom>
              <a:avLst/>
              <a:gdLst/>
              <a:ahLst/>
              <a:cxnLst/>
              <a:rect l="l" t="t" r="r" b="b"/>
              <a:pathLst>
                <a:path w="1797050" h="431800">
                  <a:moveTo>
                    <a:pt x="1796707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1796707" y="431800"/>
                  </a:lnTo>
                  <a:lnTo>
                    <a:pt x="1796707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680731" y="3692676"/>
              <a:ext cx="1797050" cy="431800"/>
            </a:xfrm>
            <a:custGeom>
              <a:avLst/>
              <a:gdLst/>
              <a:ahLst/>
              <a:cxnLst/>
              <a:rect l="l" t="t" r="r" b="b"/>
              <a:pathLst>
                <a:path w="1797050" h="431800">
                  <a:moveTo>
                    <a:pt x="0" y="0"/>
                  </a:moveTo>
                  <a:lnTo>
                    <a:pt x="1796707" y="0"/>
                  </a:lnTo>
                  <a:lnTo>
                    <a:pt x="179670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159261" y="3686326"/>
            <a:ext cx="1809750" cy="495300"/>
            <a:chOff x="6159261" y="3686326"/>
            <a:chExt cx="1809750" cy="4953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9261" y="3737124"/>
              <a:ext cx="1809407" cy="4445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65611" y="3692676"/>
              <a:ext cx="1797050" cy="431800"/>
            </a:xfrm>
            <a:custGeom>
              <a:avLst/>
              <a:gdLst/>
              <a:ahLst/>
              <a:cxnLst/>
              <a:rect l="l" t="t" r="r" b="b"/>
              <a:pathLst>
                <a:path w="1797050" h="431800">
                  <a:moveTo>
                    <a:pt x="1796707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1796707" y="431800"/>
                  </a:lnTo>
                  <a:lnTo>
                    <a:pt x="1796707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65611" y="3692676"/>
              <a:ext cx="1797050" cy="431800"/>
            </a:xfrm>
            <a:custGeom>
              <a:avLst/>
              <a:gdLst/>
              <a:ahLst/>
              <a:cxnLst/>
              <a:rect l="l" t="t" r="r" b="b"/>
              <a:pathLst>
                <a:path w="1797050" h="431800">
                  <a:moveTo>
                    <a:pt x="0" y="0"/>
                  </a:moveTo>
                  <a:lnTo>
                    <a:pt x="1796707" y="0"/>
                  </a:lnTo>
                  <a:lnTo>
                    <a:pt x="179670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625257" y="3686326"/>
            <a:ext cx="1809750" cy="495300"/>
            <a:chOff x="3625257" y="3686326"/>
            <a:chExt cx="1809750" cy="49530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5257" y="3737124"/>
              <a:ext cx="1809407" cy="4445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31607" y="3692676"/>
              <a:ext cx="1797050" cy="431800"/>
            </a:xfrm>
            <a:custGeom>
              <a:avLst/>
              <a:gdLst/>
              <a:ahLst/>
              <a:cxnLst/>
              <a:rect l="l" t="t" r="r" b="b"/>
              <a:pathLst>
                <a:path w="1797050" h="431800">
                  <a:moveTo>
                    <a:pt x="1796707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1796707" y="431800"/>
                  </a:lnTo>
                  <a:lnTo>
                    <a:pt x="1796707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31607" y="3692676"/>
              <a:ext cx="1797050" cy="431800"/>
            </a:xfrm>
            <a:custGeom>
              <a:avLst/>
              <a:gdLst/>
              <a:ahLst/>
              <a:cxnLst/>
              <a:rect l="l" t="t" r="r" b="b"/>
              <a:pathLst>
                <a:path w="1797050" h="431800">
                  <a:moveTo>
                    <a:pt x="0" y="0"/>
                  </a:moveTo>
                  <a:lnTo>
                    <a:pt x="1796707" y="0"/>
                  </a:lnTo>
                  <a:lnTo>
                    <a:pt x="179670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28746" y="3686326"/>
            <a:ext cx="1809750" cy="495300"/>
            <a:chOff x="528746" y="3686326"/>
            <a:chExt cx="1809750" cy="49530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746" y="3737124"/>
              <a:ext cx="1809407" cy="4445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35096" y="3692676"/>
              <a:ext cx="1797050" cy="431800"/>
            </a:xfrm>
            <a:custGeom>
              <a:avLst/>
              <a:gdLst/>
              <a:ahLst/>
              <a:cxnLst/>
              <a:rect l="l" t="t" r="r" b="b"/>
              <a:pathLst>
                <a:path w="1797050" h="431800">
                  <a:moveTo>
                    <a:pt x="1796707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1796707" y="431800"/>
                  </a:lnTo>
                  <a:lnTo>
                    <a:pt x="1796707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5096" y="3692676"/>
              <a:ext cx="1797050" cy="431800"/>
            </a:xfrm>
            <a:custGeom>
              <a:avLst/>
              <a:gdLst/>
              <a:ahLst/>
              <a:cxnLst/>
              <a:rect l="l" t="t" r="r" b="b"/>
              <a:pathLst>
                <a:path w="1797050" h="431800">
                  <a:moveTo>
                    <a:pt x="0" y="0"/>
                  </a:moveTo>
                  <a:lnTo>
                    <a:pt x="1796707" y="0"/>
                  </a:lnTo>
                  <a:lnTo>
                    <a:pt x="179670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1913747" y="1125787"/>
            <a:ext cx="5161280" cy="1633855"/>
            <a:chOff x="1913747" y="1125787"/>
            <a:chExt cx="5161280" cy="1633855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3747" y="2315051"/>
              <a:ext cx="2499868" cy="4445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920097" y="2270602"/>
              <a:ext cx="2487295" cy="431800"/>
            </a:xfrm>
            <a:custGeom>
              <a:avLst/>
              <a:gdLst/>
              <a:ahLst/>
              <a:cxnLst/>
              <a:rect l="l" t="t" r="r" b="b"/>
              <a:pathLst>
                <a:path w="2487295" h="431800">
                  <a:moveTo>
                    <a:pt x="2487168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2487168" y="431800"/>
                  </a:lnTo>
                  <a:lnTo>
                    <a:pt x="2487168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20097" y="2270602"/>
              <a:ext cx="2487295" cy="431800"/>
            </a:xfrm>
            <a:custGeom>
              <a:avLst/>
              <a:gdLst/>
              <a:ahLst/>
              <a:cxnLst/>
              <a:rect l="l" t="t" r="r" b="b"/>
              <a:pathLst>
                <a:path w="2487295" h="431800">
                  <a:moveTo>
                    <a:pt x="0" y="0"/>
                  </a:moveTo>
                  <a:lnTo>
                    <a:pt x="2487168" y="0"/>
                  </a:lnTo>
                  <a:lnTo>
                    <a:pt x="2487168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0712" y="1176586"/>
              <a:ext cx="2103894" cy="4445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977062" y="1132137"/>
              <a:ext cx="2091689" cy="431800"/>
            </a:xfrm>
            <a:custGeom>
              <a:avLst/>
              <a:gdLst/>
              <a:ahLst/>
              <a:cxnLst/>
              <a:rect l="l" t="t" r="r" b="b"/>
              <a:pathLst>
                <a:path w="2091690" h="431800">
                  <a:moveTo>
                    <a:pt x="2091194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2091194" y="431800"/>
                  </a:lnTo>
                  <a:lnTo>
                    <a:pt x="2091194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77062" y="1132137"/>
              <a:ext cx="2091689" cy="431800"/>
            </a:xfrm>
            <a:custGeom>
              <a:avLst/>
              <a:gdLst/>
              <a:ahLst/>
              <a:cxnLst/>
              <a:rect l="l" t="t" r="r" b="b"/>
              <a:pathLst>
                <a:path w="2091690" h="431800">
                  <a:moveTo>
                    <a:pt x="0" y="0"/>
                  </a:moveTo>
                  <a:lnTo>
                    <a:pt x="2091194" y="0"/>
                  </a:lnTo>
                  <a:lnTo>
                    <a:pt x="2091194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951279" y="1121343"/>
            <a:ext cx="2124799" cy="3821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main()</a:t>
            </a:r>
            <a:endParaRPr lang="en-US" sz="24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12270" y="2259808"/>
            <a:ext cx="2507976" cy="38027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func1a(..)</a:t>
            </a:r>
            <a:endParaRPr lang="en-US" sz="2400">
              <a:latin typeface="Courier New"/>
              <a:cs typeface="Courier New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456507" y="2264252"/>
            <a:ext cx="2499995" cy="495300"/>
            <a:chOff x="7456507" y="2264252"/>
            <a:chExt cx="2499995" cy="495300"/>
          </a:xfrm>
        </p:grpSpPr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6507" y="2315051"/>
              <a:ext cx="2499868" cy="4445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462857" y="2270602"/>
              <a:ext cx="2487295" cy="431800"/>
            </a:xfrm>
            <a:custGeom>
              <a:avLst/>
              <a:gdLst/>
              <a:ahLst/>
              <a:cxnLst/>
              <a:rect l="l" t="t" r="r" b="b"/>
              <a:pathLst>
                <a:path w="2487295" h="431800">
                  <a:moveTo>
                    <a:pt x="2487168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2487168" y="431800"/>
                  </a:lnTo>
                  <a:lnTo>
                    <a:pt x="2487168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462857" y="2270602"/>
              <a:ext cx="2487295" cy="431800"/>
            </a:xfrm>
            <a:custGeom>
              <a:avLst/>
              <a:gdLst/>
              <a:ahLst/>
              <a:cxnLst/>
              <a:rect l="l" t="t" r="r" b="b"/>
              <a:pathLst>
                <a:path w="2487295" h="431800">
                  <a:moveTo>
                    <a:pt x="0" y="0"/>
                  </a:moveTo>
                  <a:lnTo>
                    <a:pt x="2487168" y="0"/>
                  </a:lnTo>
                  <a:lnTo>
                    <a:pt x="2487168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454935" y="2259808"/>
            <a:ext cx="2507977" cy="380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func1b(..)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99851" y="3670996"/>
            <a:ext cx="1854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func2a(..)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96361" y="3670996"/>
            <a:ext cx="1854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func2b(..)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130366" y="3670996"/>
            <a:ext cx="1854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func2c(..)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645486" y="3670996"/>
            <a:ext cx="1854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func2d(..)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1305" y="5707901"/>
            <a:ext cx="1671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leafa(..)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876760" y="5707901"/>
            <a:ext cx="1671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leafb(..)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080876" y="5707901"/>
            <a:ext cx="1671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leafn(..)</a:t>
            </a:r>
            <a:endParaRPr sz="2400">
              <a:latin typeface="Courier New"/>
              <a:cs typeface="Courier New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653532" y="1530928"/>
            <a:ext cx="8683625" cy="2219325"/>
            <a:chOff x="1653532" y="1530928"/>
            <a:chExt cx="8683625" cy="2219325"/>
          </a:xfrm>
        </p:grpSpPr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94578" y="1530928"/>
              <a:ext cx="1883609" cy="793003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3736125" y="1565207"/>
              <a:ext cx="1800860" cy="699135"/>
            </a:xfrm>
            <a:custGeom>
              <a:avLst/>
              <a:gdLst/>
              <a:ahLst/>
              <a:cxnLst/>
              <a:rect l="l" t="t" r="r" b="b"/>
              <a:pathLst>
                <a:path w="1800860" h="699135">
                  <a:moveTo>
                    <a:pt x="0" y="699045"/>
                  </a:moveTo>
                  <a:lnTo>
                    <a:pt x="1800514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99349" y="1531245"/>
              <a:ext cx="1529377" cy="79744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541622" y="1565207"/>
              <a:ext cx="1445260" cy="704215"/>
            </a:xfrm>
            <a:custGeom>
              <a:avLst/>
              <a:gdLst/>
              <a:ahLst/>
              <a:cxnLst/>
              <a:rect l="l" t="t" r="r" b="b"/>
              <a:pathLst>
                <a:path w="1445259" h="704214">
                  <a:moveTo>
                    <a:pt x="1444830" y="704125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53532" y="2675994"/>
              <a:ext cx="1283886" cy="107356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697680" y="2708752"/>
              <a:ext cx="1195705" cy="982980"/>
            </a:xfrm>
            <a:custGeom>
              <a:avLst/>
              <a:gdLst/>
              <a:ahLst/>
              <a:cxnLst/>
              <a:rect l="l" t="t" r="r" b="b"/>
              <a:pathLst>
                <a:path w="1195705" h="982979">
                  <a:moveTo>
                    <a:pt x="0" y="982652"/>
                  </a:moveTo>
                  <a:lnTo>
                    <a:pt x="119559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32242" y="2676754"/>
              <a:ext cx="1034036" cy="1072051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377211" y="2708752"/>
              <a:ext cx="944244" cy="982980"/>
            </a:xfrm>
            <a:custGeom>
              <a:avLst/>
              <a:gdLst/>
              <a:ahLst/>
              <a:cxnLst/>
              <a:rect l="l" t="t" r="r" b="b"/>
              <a:pathLst>
                <a:path w="944245" h="982979">
                  <a:moveTo>
                    <a:pt x="944099" y="98265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55248" y="2675767"/>
              <a:ext cx="1381718" cy="107402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8999109" y="2708752"/>
              <a:ext cx="1294130" cy="982980"/>
            </a:xfrm>
            <a:custGeom>
              <a:avLst/>
              <a:gdLst/>
              <a:ahLst/>
              <a:cxnLst/>
              <a:rect l="l" t="t" r="r" b="b"/>
              <a:pathLst>
                <a:path w="1294129" h="982979">
                  <a:moveTo>
                    <a:pt x="1293997" y="98265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70459" y="2676152"/>
              <a:ext cx="1223621" cy="107325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7314793" y="2708752"/>
              <a:ext cx="1135380" cy="982980"/>
            </a:xfrm>
            <a:custGeom>
              <a:avLst/>
              <a:gdLst/>
              <a:ahLst/>
              <a:cxnLst/>
              <a:rect l="l" t="t" r="r" b="b"/>
              <a:pathLst>
                <a:path w="1135379" h="982979">
                  <a:moveTo>
                    <a:pt x="0" y="982652"/>
                  </a:moveTo>
                  <a:lnTo>
                    <a:pt x="1134951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66"/>
          <p:cNvGrpSpPr/>
          <p:nvPr/>
        </p:nvGrpSpPr>
        <p:grpSpPr>
          <a:xfrm>
            <a:off x="9568556" y="4970208"/>
            <a:ext cx="1096010" cy="817244"/>
            <a:chOff x="9568556" y="4970208"/>
            <a:chExt cx="1096010" cy="817244"/>
          </a:xfrm>
        </p:grpSpPr>
        <p:pic>
          <p:nvPicPr>
            <p:cNvPr id="67" name="object 6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68556" y="4970208"/>
              <a:ext cx="1095973" cy="81663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9612215" y="5003342"/>
              <a:ext cx="1009015" cy="725170"/>
            </a:xfrm>
            <a:custGeom>
              <a:avLst/>
              <a:gdLst/>
              <a:ahLst/>
              <a:cxnLst/>
              <a:rect l="l" t="t" r="r" b="b"/>
              <a:pathLst>
                <a:path w="1009015" h="725170">
                  <a:moveTo>
                    <a:pt x="1008655" y="724968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3855625" y="4997024"/>
            <a:ext cx="661035" cy="783590"/>
            <a:chOff x="3855625" y="4997024"/>
            <a:chExt cx="661035" cy="783590"/>
          </a:xfrm>
        </p:grpSpPr>
        <p:pic>
          <p:nvPicPr>
            <p:cNvPr id="70" name="object 7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5625" y="4997024"/>
              <a:ext cx="660463" cy="783045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901091" y="5028463"/>
              <a:ext cx="569595" cy="695325"/>
            </a:xfrm>
            <a:custGeom>
              <a:avLst/>
              <a:gdLst/>
              <a:ahLst/>
              <a:cxnLst/>
              <a:rect l="l" t="t" r="r" b="b"/>
              <a:pathLst>
                <a:path w="569595" h="695325">
                  <a:moveTo>
                    <a:pt x="0" y="694768"/>
                  </a:moveTo>
                  <a:lnTo>
                    <a:pt x="56953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1597635" y="4994525"/>
            <a:ext cx="765810" cy="791210"/>
            <a:chOff x="1597635" y="4994525"/>
            <a:chExt cx="765810" cy="791210"/>
          </a:xfrm>
        </p:grpSpPr>
        <p:pic>
          <p:nvPicPr>
            <p:cNvPr id="73" name="object 7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97635" y="4994525"/>
              <a:ext cx="765772" cy="791192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642596" y="5026532"/>
              <a:ext cx="676275" cy="702310"/>
            </a:xfrm>
            <a:custGeom>
              <a:avLst/>
              <a:gdLst/>
              <a:ahLst/>
              <a:cxnLst/>
              <a:rect l="l" t="t" r="r" b="b"/>
              <a:pathLst>
                <a:path w="676275" h="702310">
                  <a:moveTo>
                    <a:pt x="0" y="701778"/>
                  </a:moveTo>
                  <a:lnTo>
                    <a:pt x="67585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Title 1">
            <a:extLst>
              <a:ext uri="{FF2B5EF4-FFF2-40B4-BE49-F238E27FC236}">
                <a16:creationId xmlns:a16="http://schemas.microsoft.com/office/drawing/2014/main" id="{614CF08B-8B99-0854-6064-4FA7D0B6513C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Nested procedures.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47856" y="5723231"/>
            <a:ext cx="1750695" cy="495300"/>
            <a:chOff x="10047856" y="5723231"/>
            <a:chExt cx="1750695" cy="49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47856" y="5774030"/>
              <a:ext cx="1750327" cy="444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054206" y="5729581"/>
              <a:ext cx="1737995" cy="431800"/>
            </a:xfrm>
            <a:custGeom>
              <a:avLst/>
              <a:gdLst/>
              <a:ahLst/>
              <a:cxnLst/>
              <a:rect l="l" t="t" r="r" b="b"/>
              <a:pathLst>
                <a:path w="1737995" h="431800">
                  <a:moveTo>
                    <a:pt x="1737627" y="0"/>
                  </a:moveTo>
                  <a:lnTo>
                    <a:pt x="0" y="0"/>
                  </a:lnTo>
                  <a:lnTo>
                    <a:pt x="0" y="431799"/>
                  </a:lnTo>
                  <a:lnTo>
                    <a:pt x="1737627" y="431799"/>
                  </a:lnTo>
                  <a:lnTo>
                    <a:pt x="1737627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54206" y="5729581"/>
              <a:ext cx="1737995" cy="431800"/>
            </a:xfrm>
            <a:custGeom>
              <a:avLst/>
              <a:gdLst/>
              <a:ahLst/>
              <a:cxnLst/>
              <a:rect l="l" t="t" r="r" b="b"/>
              <a:pathLst>
                <a:path w="1737995" h="431800">
                  <a:moveTo>
                    <a:pt x="0" y="0"/>
                  </a:moveTo>
                  <a:lnTo>
                    <a:pt x="1737627" y="0"/>
                  </a:lnTo>
                  <a:lnTo>
                    <a:pt x="173762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843740" y="5723231"/>
            <a:ext cx="1750695" cy="495300"/>
            <a:chOff x="2843740" y="5723231"/>
            <a:chExt cx="1750695" cy="4953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3740" y="5774030"/>
              <a:ext cx="1750327" cy="4445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850090" y="5729581"/>
              <a:ext cx="1737995" cy="431800"/>
            </a:xfrm>
            <a:custGeom>
              <a:avLst/>
              <a:gdLst/>
              <a:ahLst/>
              <a:cxnLst/>
              <a:rect l="l" t="t" r="r" b="b"/>
              <a:pathLst>
                <a:path w="1737995" h="431800">
                  <a:moveTo>
                    <a:pt x="1737627" y="0"/>
                  </a:moveTo>
                  <a:lnTo>
                    <a:pt x="0" y="0"/>
                  </a:lnTo>
                  <a:lnTo>
                    <a:pt x="0" y="431799"/>
                  </a:lnTo>
                  <a:lnTo>
                    <a:pt x="1737627" y="431799"/>
                  </a:lnTo>
                  <a:lnTo>
                    <a:pt x="1737627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50090" y="5729581"/>
              <a:ext cx="1737995" cy="431800"/>
            </a:xfrm>
            <a:custGeom>
              <a:avLst/>
              <a:gdLst/>
              <a:ahLst/>
              <a:cxnLst/>
              <a:rect l="l" t="t" r="r" b="b"/>
              <a:pathLst>
                <a:path w="1737995" h="431800">
                  <a:moveTo>
                    <a:pt x="0" y="0"/>
                  </a:moveTo>
                  <a:lnTo>
                    <a:pt x="1737627" y="0"/>
                  </a:lnTo>
                  <a:lnTo>
                    <a:pt x="173762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97125" y="5723231"/>
            <a:ext cx="1750695" cy="495300"/>
            <a:chOff x="497125" y="5723231"/>
            <a:chExt cx="1750695" cy="4953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125" y="5774030"/>
              <a:ext cx="1750327" cy="4445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03475" y="5729581"/>
              <a:ext cx="1737995" cy="431800"/>
            </a:xfrm>
            <a:custGeom>
              <a:avLst/>
              <a:gdLst/>
              <a:ahLst/>
              <a:cxnLst/>
              <a:rect l="l" t="t" r="r" b="b"/>
              <a:pathLst>
                <a:path w="1737995" h="431800">
                  <a:moveTo>
                    <a:pt x="1737627" y="0"/>
                  </a:moveTo>
                  <a:lnTo>
                    <a:pt x="0" y="0"/>
                  </a:lnTo>
                  <a:lnTo>
                    <a:pt x="0" y="431799"/>
                  </a:lnTo>
                  <a:lnTo>
                    <a:pt x="1737627" y="431799"/>
                  </a:lnTo>
                  <a:lnTo>
                    <a:pt x="1737627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3475" y="5729581"/>
              <a:ext cx="1737995" cy="431800"/>
            </a:xfrm>
            <a:custGeom>
              <a:avLst/>
              <a:gdLst/>
              <a:ahLst/>
              <a:cxnLst/>
              <a:rect l="l" t="t" r="r" b="b"/>
              <a:pathLst>
                <a:path w="1737995" h="431800">
                  <a:moveTo>
                    <a:pt x="0" y="0"/>
                  </a:moveTo>
                  <a:lnTo>
                    <a:pt x="1737627" y="0"/>
                  </a:lnTo>
                  <a:lnTo>
                    <a:pt x="173762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9674381" y="3686326"/>
            <a:ext cx="1809750" cy="495300"/>
            <a:chOff x="9674381" y="3686326"/>
            <a:chExt cx="1809750" cy="49530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74381" y="3737124"/>
              <a:ext cx="1809407" cy="4445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290577" y="3692676"/>
              <a:ext cx="1187450" cy="431800"/>
            </a:xfrm>
            <a:custGeom>
              <a:avLst/>
              <a:gdLst/>
              <a:ahLst/>
              <a:cxnLst/>
              <a:rect l="l" t="t" r="r" b="b"/>
              <a:pathLst>
                <a:path w="1187450" h="431800">
                  <a:moveTo>
                    <a:pt x="0" y="431800"/>
                  </a:moveTo>
                  <a:lnTo>
                    <a:pt x="1186860" y="431800"/>
                  </a:lnTo>
                  <a:lnTo>
                    <a:pt x="1186860" y="0"/>
                  </a:lnTo>
                  <a:lnTo>
                    <a:pt x="0" y="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680731" y="3692676"/>
              <a:ext cx="1797050" cy="431800"/>
            </a:xfrm>
            <a:custGeom>
              <a:avLst/>
              <a:gdLst/>
              <a:ahLst/>
              <a:cxnLst/>
              <a:rect l="l" t="t" r="r" b="b"/>
              <a:pathLst>
                <a:path w="1797050" h="431800">
                  <a:moveTo>
                    <a:pt x="0" y="0"/>
                  </a:moveTo>
                  <a:lnTo>
                    <a:pt x="1796707" y="0"/>
                  </a:lnTo>
                  <a:lnTo>
                    <a:pt x="179670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9261" y="3737124"/>
            <a:ext cx="1809407" cy="4445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5257" y="3737124"/>
            <a:ext cx="1809407" cy="44450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528746" y="3686326"/>
            <a:ext cx="1809750" cy="495300"/>
            <a:chOff x="528746" y="3686326"/>
            <a:chExt cx="1809750" cy="49530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746" y="3737124"/>
              <a:ext cx="1809407" cy="4445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35096" y="3692676"/>
              <a:ext cx="1797050" cy="431800"/>
            </a:xfrm>
            <a:custGeom>
              <a:avLst/>
              <a:gdLst/>
              <a:ahLst/>
              <a:cxnLst/>
              <a:rect l="l" t="t" r="r" b="b"/>
              <a:pathLst>
                <a:path w="1797050" h="431800">
                  <a:moveTo>
                    <a:pt x="1796707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1796707" y="431800"/>
                  </a:lnTo>
                  <a:lnTo>
                    <a:pt x="1796707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5096" y="3692676"/>
              <a:ext cx="1797050" cy="431800"/>
            </a:xfrm>
            <a:custGeom>
              <a:avLst/>
              <a:gdLst/>
              <a:ahLst/>
              <a:cxnLst/>
              <a:rect l="l" t="t" r="r" b="b"/>
              <a:pathLst>
                <a:path w="1797050" h="431800">
                  <a:moveTo>
                    <a:pt x="0" y="0"/>
                  </a:moveTo>
                  <a:lnTo>
                    <a:pt x="1796707" y="0"/>
                  </a:lnTo>
                  <a:lnTo>
                    <a:pt x="179670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913747" y="1125787"/>
            <a:ext cx="8042909" cy="1633855"/>
            <a:chOff x="1913747" y="1125787"/>
            <a:chExt cx="8042909" cy="163385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3747" y="2315051"/>
              <a:ext cx="2499868" cy="444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920097" y="2270602"/>
              <a:ext cx="605155" cy="431800"/>
            </a:xfrm>
            <a:custGeom>
              <a:avLst/>
              <a:gdLst/>
              <a:ahLst/>
              <a:cxnLst/>
              <a:rect l="l" t="t" r="r" b="b"/>
              <a:pathLst>
                <a:path w="605155" h="431800">
                  <a:moveTo>
                    <a:pt x="0" y="431800"/>
                  </a:moveTo>
                  <a:lnTo>
                    <a:pt x="604640" y="431800"/>
                  </a:lnTo>
                  <a:lnTo>
                    <a:pt x="604640" y="0"/>
                  </a:lnTo>
                  <a:lnTo>
                    <a:pt x="0" y="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20097" y="2270602"/>
              <a:ext cx="2487295" cy="431800"/>
            </a:xfrm>
            <a:custGeom>
              <a:avLst/>
              <a:gdLst/>
              <a:ahLst/>
              <a:cxnLst/>
              <a:rect l="l" t="t" r="r" b="b"/>
              <a:pathLst>
                <a:path w="2487295" h="431800">
                  <a:moveTo>
                    <a:pt x="0" y="0"/>
                  </a:moveTo>
                  <a:lnTo>
                    <a:pt x="2487168" y="0"/>
                  </a:lnTo>
                  <a:lnTo>
                    <a:pt x="2487168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0712" y="1176586"/>
              <a:ext cx="2103894" cy="4445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977062" y="1132137"/>
              <a:ext cx="2091689" cy="431800"/>
            </a:xfrm>
            <a:custGeom>
              <a:avLst/>
              <a:gdLst/>
              <a:ahLst/>
              <a:cxnLst/>
              <a:rect l="l" t="t" r="r" b="b"/>
              <a:pathLst>
                <a:path w="2091690" h="431800">
                  <a:moveTo>
                    <a:pt x="2091194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2091194" y="431800"/>
                  </a:lnTo>
                  <a:lnTo>
                    <a:pt x="2091194" y="0"/>
                  </a:lnTo>
                  <a:close/>
                </a:path>
              </a:pathLst>
            </a:custGeom>
            <a:solidFill>
              <a:srgbClr val="D5F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77062" y="1132137"/>
              <a:ext cx="2091689" cy="431800"/>
            </a:xfrm>
            <a:custGeom>
              <a:avLst/>
              <a:gdLst/>
              <a:ahLst/>
              <a:cxnLst/>
              <a:rect l="l" t="t" r="r" b="b"/>
              <a:pathLst>
                <a:path w="2091690" h="431800">
                  <a:moveTo>
                    <a:pt x="0" y="0"/>
                  </a:moveTo>
                  <a:lnTo>
                    <a:pt x="2091194" y="0"/>
                  </a:lnTo>
                  <a:lnTo>
                    <a:pt x="2091194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6507" y="2315051"/>
              <a:ext cx="2499868" cy="44450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1901854" y="-11083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95D1D"/>
                </a:solidFill>
                <a:latin typeface="Calibri"/>
                <a:cs typeface="Calibri"/>
              </a:rPr>
              <a:t>29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9851" y="3670996"/>
            <a:ext cx="1854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func2a(..)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194217" y="3670996"/>
            <a:ext cx="1306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c2d(..)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99647" y="2312671"/>
            <a:ext cx="7807325" cy="1767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80"/>
              </a:lnSpc>
              <a:tabLst>
                <a:tab pos="5111115" algn="l"/>
              </a:tabLst>
            </a:pPr>
            <a:r>
              <a:rPr sz="2400" spc="-10" dirty="0">
                <a:latin typeface="Courier New"/>
                <a:cs typeface="Courier New"/>
              </a:rPr>
              <a:t>nc1a(..)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func1b(..)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400">
              <a:latin typeface="Courier New"/>
              <a:cs typeface="Courier New"/>
            </a:endParaRPr>
          </a:p>
          <a:p>
            <a:pPr marL="1209040">
              <a:lnSpc>
                <a:spcPct val="100000"/>
              </a:lnSpc>
              <a:tabLst>
                <a:tab pos="3743325" algn="l"/>
                <a:tab pos="7258050" algn="l"/>
              </a:tabLst>
            </a:pPr>
            <a:r>
              <a:rPr sz="2400" spc="-10" dirty="0">
                <a:latin typeface="Courier New"/>
                <a:cs typeface="Courier New"/>
              </a:rPr>
              <a:t>func2b(..)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func2c(..)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fun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1305" y="5707901"/>
            <a:ext cx="1671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leafa(..)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876760" y="5707901"/>
            <a:ext cx="1671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leafb(..)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080876" y="5707901"/>
            <a:ext cx="1671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leafn(..)</a:t>
            </a:r>
            <a:endParaRPr sz="2400">
              <a:latin typeface="Courier New"/>
              <a:cs typeface="Courier New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597635" y="4994525"/>
            <a:ext cx="765810" cy="791210"/>
            <a:chOff x="1597635" y="4994525"/>
            <a:chExt cx="765810" cy="791210"/>
          </a:xfrm>
        </p:grpSpPr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97635" y="4994525"/>
              <a:ext cx="765772" cy="79119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642596" y="5026532"/>
              <a:ext cx="676275" cy="702310"/>
            </a:xfrm>
            <a:custGeom>
              <a:avLst/>
              <a:gdLst/>
              <a:ahLst/>
              <a:cxnLst/>
              <a:rect l="l" t="t" r="r" b="b"/>
              <a:pathLst>
                <a:path w="676275" h="702310">
                  <a:moveTo>
                    <a:pt x="0" y="701778"/>
                  </a:moveTo>
                  <a:lnTo>
                    <a:pt x="67585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1653532" y="1530928"/>
            <a:ext cx="9011285" cy="4256405"/>
            <a:chOff x="1653532" y="1530928"/>
            <a:chExt cx="9011285" cy="4256405"/>
          </a:xfrm>
        </p:grpSpPr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94578" y="1530928"/>
              <a:ext cx="1883609" cy="793003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736125" y="1565207"/>
              <a:ext cx="1800860" cy="699135"/>
            </a:xfrm>
            <a:custGeom>
              <a:avLst/>
              <a:gdLst/>
              <a:ahLst/>
              <a:cxnLst/>
              <a:rect l="l" t="t" r="r" b="b"/>
              <a:pathLst>
                <a:path w="1800860" h="699135">
                  <a:moveTo>
                    <a:pt x="0" y="699045"/>
                  </a:moveTo>
                  <a:lnTo>
                    <a:pt x="1800514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99349" y="1531245"/>
              <a:ext cx="1529377" cy="79744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541622" y="1565207"/>
              <a:ext cx="1445260" cy="704215"/>
            </a:xfrm>
            <a:custGeom>
              <a:avLst/>
              <a:gdLst/>
              <a:ahLst/>
              <a:cxnLst/>
              <a:rect l="l" t="t" r="r" b="b"/>
              <a:pathLst>
                <a:path w="1445259" h="704214">
                  <a:moveTo>
                    <a:pt x="1444830" y="704125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3532" y="2675994"/>
              <a:ext cx="1283886" cy="107356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697680" y="2708752"/>
              <a:ext cx="1195705" cy="982980"/>
            </a:xfrm>
            <a:custGeom>
              <a:avLst/>
              <a:gdLst/>
              <a:ahLst/>
              <a:cxnLst/>
              <a:rect l="l" t="t" r="r" b="b"/>
              <a:pathLst>
                <a:path w="1195705" h="982979">
                  <a:moveTo>
                    <a:pt x="0" y="982652"/>
                  </a:moveTo>
                  <a:lnTo>
                    <a:pt x="119559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32242" y="2676754"/>
              <a:ext cx="1034036" cy="107205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568556" y="4970208"/>
              <a:ext cx="1095973" cy="816637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9612214" y="5003342"/>
              <a:ext cx="1009015" cy="725170"/>
            </a:xfrm>
            <a:custGeom>
              <a:avLst/>
              <a:gdLst/>
              <a:ahLst/>
              <a:cxnLst/>
              <a:rect l="l" t="t" r="r" b="b"/>
              <a:pathLst>
                <a:path w="1009015" h="725170">
                  <a:moveTo>
                    <a:pt x="1008655" y="724968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55626" y="4997024"/>
              <a:ext cx="660463" cy="783045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901092" y="5028463"/>
              <a:ext cx="569595" cy="695325"/>
            </a:xfrm>
            <a:custGeom>
              <a:avLst/>
              <a:gdLst/>
              <a:ahLst/>
              <a:cxnLst/>
              <a:rect l="l" t="t" r="r" b="b"/>
              <a:pathLst>
                <a:path w="569595" h="695325">
                  <a:moveTo>
                    <a:pt x="0" y="694768"/>
                  </a:moveTo>
                  <a:lnTo>
                    <a:pt x="569530" y="0"/>
                  </a:lnTo>
                </a:path>
              </a:pathLst>
            </a:custGeom>
            <a:ln w="19050">
              <a:solidFill>
                <a:srgbClr val="6B2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955248" y="2675767"/>
              <a:ext cx="1381718" cy="107402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70459" y="2676152"/>
              <a:ext cx="1223621" cy="107325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18388" y="2110419"/>
              <a:ext cx="7778539" cy="3159973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524738" y="2065971"/>
              <a:ext cx="7766050" cy="3147695"/>
            </a:xfrm>
            <a:custGeom>
              <a:avLst/>
              <a:gdLst/>
              <a:ahLst/>
              <a:cxnLst/>
              <a:rect l="l" t="t" r="r" b="b"/>
              <a:pathLst>
                <a:path w="7766050" h="3147695">
                  <a:moveTo>
                    <a:pt x="7765839" y="0"/>
                  </a:moveTo>
                  <a:lnTo>
                    <a:pt x="0" y="0"/>
                  </a:lnTo>
                  <a:lnTo>
                    <a:pt x="0" y="3147273"/>
                  </a:lnTo>
                  <a:lnTo>
                    <a:pt x="7765839" y="3147273"/>
                  </a:lnTo>
                  <a:lnTo>
                    <a:pt x="7765839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24738" y="2065971"/>
              <a:ext cx="7766050" cy="3147695"/>
            </a:xfrm>
            <a:custGeom>
              <a:avLst/>
              <a:gdLst/>
              <a:ahLst/>
              <a:cxnLst/>
              <a:rect l="l" t="t" r="r" b="b"/>
              <a:pathLst>
                <a:path w="7766050" h="3147695">
                  <a:moveTo>
                    <a:pt x="0" y="0"/>
                  </a:moveTo>
                  <a:lnTo>
                    <a:pt x="7765839" y="0"/>
                  </a:lnTo>
                  <a:lnTo>
                    <a:pt x="7765839" y="3147273"/>
                  </a:lnTo>
                  <a:lnTo>
                    <a:pt x="0" y="314727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1970326" y="1110458"/>
            <a:ext cx="8167370" cy="1788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main()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2400">
              <a:latin typeface="Courier New"/>
              <a:cs typeface="Courier New"/>
            </a:endParaRPr>
          </a:p>
          <a:p>
            <a:pPr marL="598805" marR="55880" indent="-535940">
              <a:lnSpc>
                <a:spcPct val="101200"/>
              </a:lnSpc>
              <a:spcBef>
                <a:spcPts val="5"/>
              </a:spcBef>
            </a:pPr>
            <a:r>
              <a:rPr sz="3600" baseline="-33564" dirty="0">
                <a:latin typeface="Courier New"/>
                <a:cs typeface="Courier New"/>
              </a:rPr>
              <a:t>fu</a:t>
            </a:r>
            <a:r>
              <a:rPr sz="3600" spc="-352" baseline="-33564" dirty="0">
                <a:latin typeface="Courier New"/>
                <a:cs typeface="Courier New"/>
              </a:rPr>
              <a:t> </a:t>
            </a:r>
            <a:r>
              <a:rPr sz="2800" dirty="0">
                <a:latin typeface="Calibri"/>
                <a:cs typeface="Calibri"/>
              </a:rPr>
              <a:t>Multiple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procedure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eventually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conflict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register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556488" y="3310498"/>
            <a:ext cx="5602605" cy="131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Need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stack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preserve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293370" indent="-280670">
              <a:lnSpc>
                <a:spcPct val="100000"/>
              </a:lnSpc>
              <a:spcBef>
                <a:spcPts val="40"/>
              </a:spcBef>
              <a:buChar char="-"/>
              <a:tabLst>
                <a:tab pos="293370" algn="l"/>
              </a:tabLst>
            </a:pPr>
            <a:r>
              <a:rPr sz="2800" dirty="0">
                <a:latin typeface="Calibri"/>
                <a:cs typeface="Calibri"/>
              </a:rPr>
              <a:t>return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address</a:t>
            </a:r>
            <a:endParaRPr sz="2800">
              <a:latin typeface="Calibri"/>
              <a:cs typeface="Calibri"/>
            </a:endParaRPr>
          </a:p>
          <a:p>
            <a:pPr marL="293370" indent="-280670">
              <a:lnSpc>
                <a:spcPct val="100000"/>
              </a:lnSpc>
              <a:spcBef>
                <a:spcPts val="40"/>
              </a:spcBef>
              <a:buChar char="-"/>
              <a:tabLst>
                <a:tab pos="293370" algn="l"/>
              </a:tabLst>
            </a:pPr>
            <a:r>
              <a:rPr sz="2800" dirty="0">
                <a:latin typeface="Calibri"/>
                <a:cs typeface="Calibri"/>
              </a:rPr>
              <a:t>Saved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variables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8B920C78-13A4-1466-2172-3F92D5F06CDD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Nested procedures.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6224" y="1302232"/>
            <a:ext cx="4194810" cy="20967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35"/>
              </a:spcBef>
            </a:pPr>
            <a:r>
              <a:rPr sz="3200" dirty="0">
                <a:latin typeface="Calibri"/>
                <a:cs typeface="Calibri"/>
              </a:rPr>
              <a:t>Block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memory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by </a:t>
            </a:r>
            <a:r>
              <a:rPr sz="3200" dirty="0">
                <a:latin typeface="Calibri"/>
                <a:cs typeface="Calibri"/>
              </a:rPr>
              <a:t>compiler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stack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 </a:t>
            </a:r>
            <a:r>
              <a:rPr sz="3200" spc="-10" dirty="0">
                <a:latin typeface="Calibri"/>
                <a:cs typeface="Calibri"/>
              </a:rPr>
              <a:t>structure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stack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“grows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down”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224" y="4087138"/>
            <a:ext cx="4055110" cy="1525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95"/>
              </a:spcBef>
              <a:tabLst>
                <a:tab pos="1635760" algn="l"/>
              </a:tabLst>
            </a:pPr>
            <a:r>
              <a:rPr sz="3200" spc="-10" dirty="0">
                <a:latin typeface="Calibri"/>
                <a:cs typeface="Calibri"/>
              </a:rPr>
              <a:t>Register</a:t>
            </a:r>
            <a:r>
              <a:rPr sz="3200" spc="-175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ourier New"/>
                <a:cs typeface="Courier New"/>
              </a:rPr>
              <a:t>sp</a:t>
            </a:r>
            <a:r>
              <a:rPr sz="3200" b="1" spc="-1200" dirty="0">
                <a:latin typeface="Courier New"/>
                <a:cs typeface="Courier New"/>
              </a:rPr>
              <a:t> </a:t>
            </a:r>
            <a:r>
              <a:rPr sz="3200" dirty="0">
                <a:latin typeface="Calibri"/>
                <a:cs typeface="Calibri"/>
              </a:rPr>
              <a:t>contains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“lowest”</a:t>
            </a:r>
            <a:r>
              <a:rPr sz="3200" dirty="0">
                <a:latin typeface="Calibri"/>
                <a:cs typeface="Calibri"/>
              </a:rPr>
              <a:t>	stack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address</a:t>
            </a:r>
            <a:endParaRPr sz="3200">
              <a:latin typeface="Calibri"/>
              <a:cs typeface="Calibri"/>
            </a:endParaRPr>
          </a:p>
          <a:p>
            <a:pPr marL="488315" algn="ctr">
              <a:lnSpc>
                <a:spcPct val="100000"/>
              </a:lnSpc>
              <a:spcBef>
                <a:spcPts val="815"/>
              </a:spcBef>
            </a:pP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Points</a:t>
            </a:r>
            <a:r>
              <a:rPr sz="2400" spc="-5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to</a:t>
            </a:r>
            <a:r>
              <a:rPr sz="24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“top”</a:t>
            </a:r>
            <a:r>
              <a:rPr sz="24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62626"/>
                </a:solidFill>
                <a:latin typeface="Calibri"/>
                <a:cs typeface="Calibri"/>
              </a:rPr>
              <a:t>element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635467" y="4204177"/>
            <a:ext cx="508634" cy="87630"/>
            <a:chOff x="6635467" y="4204177"/>
            <a:chExt cx="508634" cy="87630"/>
          </a:xfrm>
        </p:grpSpPr>
        <p:sp>
          <p:nvSpPr>
            <p:cNvPr id="7" name="object 7"/>
            <p:cNvSpPr/>
            <p:nvPr/>
          </p:nvSpPr>
          <p:spPr>
            <a:xfrm>
              <a:off x="6635467" y="4247865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59">
                  <a:moveTo>
                    <a:pt x="0" y="0"/>
                  </a:moveTo>
                  <a:lnTo>
                    <a:pt x="403813" y="0"/>
                  </a:lnTo>
                  <a:lnTo>
                    <a:pt x="416513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56212" y="4204177"/>
              <a:ext cx="87630" cy="87630"/>
            </a:xfrm>
            <a:custGeom>
              <a:avLst/>
              <a:gdLst/>
              <a:ahLst/>
              <a:cxnLst/>
              <a:rect l="l" t="t" r="r" b="b"/>
              <a:pathLst>
                <a:path w="87629" h="87629">
                  <a:moveTo>
                    <a:pt x="0" y="0"/>
                  </a:moveTo>
                  <a:lnTo>
                    <a:pt x="0" y="87375"/>
                  </a:lnTo>
                  <a:lnTo>
                    <a:pt x="87375" y="436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716905" y="3537976"/>
            <a:ext cx="1770380" cy="8153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62699"/>
                </a:solidFill>
                <a:latin typeface="Calibri"/>
                <a:cs typeface="Calibri"/>
              </a:rPr>
              <a:t>Pointer:</a:t>
            </a:r>
            <a:endParaRPr sz="24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229"/>
              </a:spcBef>
            </a:pPr>
            <a:r>
              <a:rPr sz="2400" b="1" spc="-25" dirty="0">
                <a:latin typeface="Courier New"/>
                <a:cs typeface="Courier New"/>
              </a:rPr>
              <a:t>sp</a:t>
            </a:r>
            <a:endParaRPr sz="24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266786" y="1524001"/>
            <a:ext cx="1384935" cy="2890520"/>
            <a:chOff x="7266786" y="1524001"/>
            <a:chExt cx="1384935" cy="28905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0667" y="2022382"/>
              <a:ext cx="1330642" cy="213374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279486" y="1981201"/>
              <a:ext cx="1305560" cy="2108835"/>
            </a:xfrm>
            <a:custGeom>
              <a:avLst/>
              <a:gdLst/>
              <a:ahLst/>
              <a:cxnLst/>
              <a:rect l="l" t="t" r="r" b="b"/>
              <a:pathLst>
                <a:path w="1305559" h="2108835">
                  <a:moveTo>
                    <a:pt x="1305242" y="0"/>
                  </a:moveTo>
                  <a:lnTo>
                    <a:pt x="0" y="0"/>
                  </a:lnTo>
                  <a:lnTo>
                    <a:pt x="0" y="2108348"/>
                  </a:lnTo>
                  <a:lnTo>
                    <a:pt x="1305242" y="2108348"/>
                  </a:lnTo>
                  <a:lnTo>
                    <a:pt x="1305242" y="0"/>
                  </a:lnTo>
                  <a:close/>
                </a:path>
              </a:pathLst>
            </a:custGeom>
            <a:solidFill>
              <a:srgbClr val="D6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79486" y="1981201"/>
              <a:ext cx="1305560" cy="2108835"/>
            </a:xfrm>
            <a:custGeom>
              <a:avLst/>
              <a:gdLst/>
              <a:ahLst/>
              <a:cxnLst/>
              <a:rect l="l" t="t" r="r" b="b"/>
              <a:pathLst>
                <a:path w="1305559" h="2108835">
                  <a:moveTo>
                    <a:pt x="0" y="0"/>
                  </a:moveTo>
                  <a:lnTo>
                    <a:pt x="1305242" y="0"/>
                  </a:lnTo>
                  <a:lnTo>
                    <a:pt x="1305242" y="2108348"/>
                  </a:lnTo>
                  <a:lnTo>
                    <a:pt x="0" y="210834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4762" y="1577882"/>
              <a:ext cx="609747" cy="3810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620882" y="1524001"/>
              <a:ext cx="610235" cy="381000"/>
            </a:xfrm>
            <a:custGeom>
              <a:avLst/>
              <a:gdLst/>
              <a:ahLst/>
              <a:cxnLst/>
              <a:rect l="l" t="t" r="r" b="b"/>
              <a:pathLst>
                <a:path w="610234" h="381000">
                  <a:moveTo>
                    <a:pt x="609747" y="190500"/>
                  </a:moveTo>
                  <a:lnTo>
                    <a:pt x="0" y="190500"/>
                  </a:lnTo>
                  <a:lnTo>
                    <a:pt x="304873" y="381000"/>
                  </a:lnTo>
                  <a:lnTo>
                    <a:pt x="609747" y="190500"/>
                  </a:lnTo>
                  <a:close/>
                </a:path>
                <a:path w="610234" h="381000">
                  <a:moveTo>
                    <a:pt x="457310" y="0"/>
                  </a:moveTo>
                  <a:lnTo>
                    <a:pt x="152436" y="0"/>
                  </a:lnTo>
                  <a:lnTo>
                    <a:pt x="152436" y="190500"/>
                  </a:lnTo>
                  <a:lnTo>
                    <a:pt x="457310" y="190500"/>
                  </a:lnTo>
                  <a:lnTo>
                    <a:pt x="457310" y="0"/>
                  </a:lnTo>
                  <a:close/>
                </a:path>
              </a:pathLst>
            </a:custGeom>
            <a:solidFill>
              <a:srgbClr val="980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81074" y="4095494"/>
              <a:ext cx="1305560" cy="304800"/>
            </a:xfrm>
            <a:custGeom>
              <a:avLst/>
              <a:gdLst/>
              <a:ahLst/>
              <a:cxnLst/>
              <a:rect l="l" t="t" r="r" b="b"/>
              <a:pathLst>
                <a:path w="1305559" h="304800">
                  <a:moveTo>
                    <a:pt x="1305242" y="0"/>
                  </a:moveTo>
                  <a:lnTo>
                    <a:pt x="0" y="0"/>
                  </a:lnTo>
                  <a:lnTo>
                    <a:pt x="0" y="304740"/>
                  </a:lnTo>
                  <a:lnTo>
                    <a:pt x="1305242" y="304740"/>
                  </a:lnTo>
                  <a:lnTo>
                    <a:pt x="1305242" y="0"/>
                  </a:lnTo>
                  <a:close/>
                </a:path>
              </a:pathLst>
            </a:custGeom>
            <a:solidFill>
              <a:srgbClr val="D6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81074" y="4095494"/>
              <a:ext cx="1305560" cy="304800"/>
            </a:xfrm>
            <a:custGeom>
              <a:avLst/>
              <a:gdLst/>
              <a:ahLst/>
              <a:cxnLst/>
              <a:rect l="l" t="t" r="r" b="b"/>
              <a:pathLst>
                <a:path w="1305559" h="304800">
                  <a:moveTo>
                    <a:pt x="0" y="0"/>
                  </a:moveTo>
                  <a:lnTo>
                    <a:pt x="1305242" y="0"/>
                  </a:lnTo>
                  <a:lnTo>
                    <a:pt x="1305242" y="304740"/>
                  </a:lnTo>
                  <a:lnTo>
                    <a:pt x="0" y="304740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394365" y="4747294"/>
            <a:ext cx="120650" cy="1371600"/>
            <a:chOff x="9394365" y="4747294"/>
            <a:chExt cx="120650" cy="1371600"/>
          </a:xfrm>
        </p:grpSpPr>
        <p:sp>
          <p:nvSpPr>
            <p:cNvPr id="19" name="object 19"/>
            <p:cNvSpPr/>
            <p:nvPr/>
          </p:nvSpPr>
          <p:spPr>
            <a:xfrm>
              <a:off x="9454436" y="4747294"/>
              <a:ext cx="0" cy="1247775"/>
            </a:xfrm>
            <a:custGeom>
              <a:avLst/>
              <a:gdLst/>
              <a:ahLst/>
              <a:cxnLst/>
              <a:rect l="l" t="t" r="r" b="b"/>
              <a:pathLst>
                <a:path h="1247775">
                  <a:moveTo>
                    <a:pt x="0" y="0"/>
                  </a:moveTo>
                  <a:lnTo>
                    <a:pt x="0" y="1228174"/>
                  </a:lnTo>
                  <a:lnTo>
                    <a:pt x="0" y="124722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394365" y="5998751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20650" h="120650">
                  <a:moveTo>
                    <a:pt x="120142" y="0"/>
                  </a:moveTo>
                  <a:lnTo>
                    <a:pt x="0" y="0"/>
                  </a:lnTo>
                  <a:lnTo>
                    <a:pt x="60071" y="120142"/>
                  </a:lnTo>
                  <a:lnTo>
                    <a:pt x="1201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355121" y="1752601"/>
            <a:ext cx="120650" cy="1447800"/>
            <a:chOff x="9355121" y="1752601"/>
            <a:chExt cx="120650" cy="1447800"/>
          </a:xfrm>
        </p:grpSpPr>
        <p:sp>
          <p:nvSpPr>
            <p:cNvPr id="22" name="object 22"/>
            <p:cNvSpPr/>
            <p:nvPr/>
          </p:nvSpPr>
          <p:spPr>
            <a:xfrm>
              <a:off x="9415192" y="1876976"/>
              <a:ext cx="0" cy="1323975"/>
            </a:xfrm>
            <a:custGeom>
              <a:avLst/>
              <a:gdLst/>
              <a:ahLst/>
              <a:cxnLst/>
              <a:rect l="l" t="t" r="r" b="b"/>
              <a:pathLst>
                <a:path h="1323975">
                  <a:moveTo>
                    <a:pt x="0" y="1323425"/>
                  </a:moveTo>
                  <a:lnTo>
                    <a:pt x="0" y="1905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55121" y="1752601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20650" h="120650">
                  <a:moveTo>
                    <a:pt x="60071" y="0"/>
                  </a:moveTo>
                  <a:lnTo>
                    <a:pt x="0" y="120142"/>
                  </a:lnTo>
                  <a:lnTo>
                    <a:pt x="120142" y="120142"/>
                  </a:lnTo>
                  <a:lnTo>
                    <a:pt x="600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539041" y="2125693"/>
            <a:ext cx="970280" cy="60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Increasing Addresses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90761" y="4004679"/>
            <a:ext cx="1494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262699"/>
                </a:solidFill>
                <a:latin typeface="Calibri"/>
                <a:cs typeface="Calibri"/>
              </a:rPr>
              <a:t>“Top”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38085" y="1012230"/>
            <a:ext cx="1982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62699"/>
                </a:solidFill>
                <a:latin typeface="Calibri"/>
                <a:cs typeface="Calibri"/>
              </a:rPr>
              <a:t>“Bottom”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723800" y="4110470"/>
            <a:ext cx="969644" cy="328930"/>
            <a:chOff x="8723800" y="4110470"/>
            <a:chExt cx="969644" cy="328930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7681" y="4164351"/>
              <a:ext cx="915188" cy="27478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723800" y="4110470"/>
              <a:ext cx="915669" cy="274955"/>
            </a:xfrm>
            <a:custGeom>
              <a:avLst/>
              <a:gdLst/>
              <a:ahLst/>
              <a:cxnLst/>
              <a:rect l="l" t="t" r="r" b="b"/>
              <a:pathLst>
                <a:path w="915670" h="274954">
                  <a:moveTo>
                    <a:pt x="457594" y="0"/>
                  </a:moveTo>
                  <a:lnTo>
                    <a:pt x="0" y="137394"/>
                  </a:lnTo>
                  <a:lnTo>
                    <a:pt x="457594" y="274788"/>
                  </a:lnTo>
                  <a:lnTo>
                    <a:pt x="457594" y="206091"/>
                  </a:lnTo>
                  <a:lnTo>
                    <a:pt x="915189" y="206091"/>
                  </a:lnTo>
                  <a:lnTo>
                    <a:pt x="915189" y="68696"/>
                  </a:lnTo>
                  <a:lnTo>
                    <a:pt x="457594" y="68696"/>
                  </a:lnTo>
                  <a:lnTo>
                    <a:pt x="457594" y="0"/>
                  </a:lnTo>
                  <a:close/>
                </a:path>
              </a:pathLst>
            </a:custGeom>
            <a:solidFill>
              <a:srgbClr val="980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705285" y="5091636"/>
            <a:ext cx="1046480" cy="60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Decreasing Addresses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CFB87360-4DD8-91D2-5675-1674AE7189BA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RISC-V stack.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6642933" y="4813777"/>
            <a:ext cx="508634" cy="87630"/>
            <a:chOff x="6642933" y="4813777"/>
            <a:chExt cx="508634" cy="87630"/>
          </a:xfrm>
        </p:grpSpPr>
        <p:sp>
          <p:nvSpPr>
            <p:cNvPr id="5" name="object 5"/>
            <p:cNvSpPr/>
            <p:nvPr/>
          </p:nvSpPr>
          <p:spPr>
            <a:xfrm>
              <a:off x="6642933" y="4857465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59">
                  <a:moveTo>
                    <a:pt x="0" y="0"/>
                  </a:moveTo>
                  <a:lnTo>
                    <a:pt x="403813" y="0"/>
                  </a:lnTo>
                  <a:lnTo>
                    <a:pt x="416513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63680" y="4813777"/>
              <a:ext cx="87630" cy="87630"/>
            </a:xfrm>
            <a:custGeom>
              <a:avLst/>
              <a:gdLst/>
              <a:ahLst/>
              <a:cxnLst/>
              <a:rect l="l" t="t" r="r" b="b"/>
              <a:pathLst>
                <a:path w="87629" h="87629">
                  <a:moveTo>
                    <a:pt x="0" y="0"/>
                  </a:moveTo>
                  <a:lnTo>
                    <a:pt x="0" y="87375"/>
                  </a:lnTo>
                  <a:lnTo>
                    <a:pt x="87375" y="436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0667" y="2022382"/>
            <a:ext cx="1330642" cy="2133748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265199" y="1966913"/>
          <a:ext cx="1304925" cy="302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12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rs1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5A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rs2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5A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9394365" y="5240012"/>
            <a:ext cx="120650" cy="879475"/>
            <a:chOff x="9394365" y="5240012"/>
            <a:chExt cx="120650" cy="879475"/>
          </a:xfrm>
        </p:grpSpPr>
        <p:sp>
          <p:nvSpPr>
            <p:cNvPr id="10" name="object 10"/>
            <p:cNvSpPr/>
            <p:nvPr/>
          </p:nvSpPr>
          <p:spPr>
            <a:xfrm>
              <a:off x="9454436" y="5240012"/>
              <a:ext cx="0" cy="755015"/>
            </a:xfrm>
            <a:custGeom>
              <a:avLst/>
              <a:gdLst/>
              <a:ahLst/>
              <a:cxnLst/>
              <a:rect l="l" t="t" r="r" b="b"/>
              <a:pathLst>
                <a:path h="755014">
                  <a:moveTo>
                    <a:pt x="0" y="0"/>
                  </a:moveTo>
                  <a:lnTo>
                    <a:pt x="0" y="735456"/>
                  </a:lnTo>
                  <a:lnTo>
                    <a:pt x="0" y="75450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94365" y="5998751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20650" h="120650">
                  <a:moveTo>
                    <a:pt x="120142" y="0"/>
                  </a:moveTo>
                  <a:lnTo>
                    <a:pt x="0" y="0"/>
                  </a:lnTo>
                  <a:lnTo>
                    <a:pt x="60071" y="120142"/>
                  </a:lnTo>
                  <a:lnTo>
                    <a:pt x="1201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355121" y="1752601"/>
            <a:ext cx="120650" cy="1447800"/>
            <a:chOff x="9355121" y="1752601"/>
            <a:chExt cx="120650" cy="1447800"/>
          </a:xfrm>
        </p:grpSpPr>
        <p:sp>
          <p:nvSpPr>
            <p:cNvPr id="13" name="object 13"/>
            <p:cNvSpPr/>
            <p:nvPr/>
          </p:nvSpPr>
          <p:spPr>
            <a:xfrm>
              <a:off x="9415192" y="1876976"/>
              <a:ext cx="0" cy="1323975"/>
            </a:xfrm>
            <a:custGeom>
              <a:avLst/>
              <a:gdLst/>
              <a:ahLst/>
              <a:cxnLst/>
              <a:rect l="l" t="t" r="r" b="b"/>
              <a:pathLst>
                <a:path h="1323975">
                  <a:moveTo>
                    <a:pt x="0" y="1323425"/>
                  </a:moveTo>
                  <a:lnTo>
                    <a:pt x="0" y="1905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55121" y="1752601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20650" h="120650">
                  <a:moveTo>
                    <a:pt x="60071" y="0"/>
                  </a:moveTo>
                  <a:lnTo>
                    <a:pt x="0" y="120142"/>
                  </a:lnTo>
                  <a:lnTo>
                    <a:pt x="120142" y="120142"/>
                  </a:lnTo>
                  <a:lnTo>
                    <a:pt x="600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9041" y="2125693"/>
            <a:ext cx="970280" cy="60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Increasing Addresses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05285" y="4382509"/>
            <a:ext cx="1579880" cy="1318895"/>
          </a:xfrm>
          <a:prstGeom prst="rect">
            <a:avLst/>
          </a:prstGeom>
        </p:spPr>
        <p:txBody>
          <a:bodyPr vert="horz" wrap="square" lIns="0" tIns="21907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725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262699"/>
                </a:solidFill>
                <a:latin typeface="Calibri"/>
                <a:cs typeface="Calibri"/>
              </a:rPr>
              <a:t>“Top”</a:t>
            </a:r>
            <a:endParaRPr sz="2400">
              <a:latin typeface="Calibri"/>
              <a:cs typeface="Calibri"/>
            </a:endParaRPr>
          </a:p>
          <a:p>
            <a:pPr marL="12700" marR="537845">
              <a:lnSpc>
                <a:spcPct val="106500"/>
              </a:lnSpc>
              <a:spcBef>
                <a:spcPts val="1075"/>
              </a:spcBef>
            </a:pPr>
            <a:r>
              <a:rPr sz="1800" spc="-10" dirty="0">
                <a:latin typeface="Calibri"/>
                <a:cs typeface="Calibri"/>
              </a:rPr>
              <a:t>Decreasing Addresses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38085" y="1012230"/>
            <a:ext cx="1982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62699"/>
                </a:solidFill>
                <a:latin typeface="Calibri"/>
                <a:cs typeface="Calibri"/>
              </a:rPr>
              <a:t>“Bottom”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620882" y="1524001"/>
            <a:ext cx="664210" cy="434975"/>
            <a:chOff x="7620882" y="1524001"/>
            <a:chExt cx="664210" cy="43497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4762" y="1577882"/>
              <a:ext cx="609747" cy="3810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620882" y="1524001"/>
              <a:ext cx="610235" cy="381000"/>
            </a:xfrm>
            <a:custGeom>
              <a:avLst/>
              <a:gdLst/>
              <a:ahLst/>
              <a:cxnLst/>
              <a:rect l="l" t="t" r="r" b="b"/>
              <a:pathLst>
                <a:path w="610234" h="381000">
                  <a:moveTo>
                    <a:pt x="609747" y="190500"/>
                  </a:moveTo>
                  <a:lnTo>
                    <a:pt x="0" y="190500"/>
                  </a:lnTo>
                  <a:lnTo>
                    <a:pt x="304873" y="381000"/>
                  </a:lnTo>
                  <a:lnTo>
                    <a:pt x="609747" y="190500"/>
                  </a:lnTo>
                  <a:close/>
                </a:path>
                <a:path w="610234" h="381000">
                  <a:moveTo>
                    <a:pt x="457310" y="0"/>
                  </a:moveTo>
                  <a:lnTo>
                    <a:pt x="152436" y="0"/>
                  </a:lnTo>
                  <a:lnTo>
                    <a:pt x="152436" y="190500"/>
                  </a:lnTo>
                  <a:lnTo>
                    <a:pt x="457310" y="190500"/>
                  </a:lnTo>
                  <a:lnTo>
                    <a:pt x="457310" y="0"/>
                  </a:lnTo>
                  <a:close/>
                </a:path>
              </a:pathLst>
            </a:custGeom>
            <a:solidFill>
              <a:srgbClr val="980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8723800" y="4694670"/>
            <a:ext cx="969644" cy="328930"/>
            <a:chOff x="8723800" y="4694670"/>
            <a:chExt cx="969644" cy="32893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7681" y="4748551"/>
              <a:ext cx="915188" cy="27478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23800" y="4694670"/>
              <a:ext cx="915669" cy="274955"/>
            </a:xfrm>
            <a:custGeom>
              <a:avLst/>
              <a:gdLst/>
              <a:ahLst/>
              <a:cxnLst/>
              <a:rect l="l" t="t" r="r" b="b"/>
              <a:pathLst>
                <a:path w="915670" h="274954">
                  <a:moveTo>
                    <a:pt x="457594" y="0"/>
                  </a:moveTo>
                  <a:lnTo>
                    <a:pt x="0" y="137394"/>
                  </a:lnTo>
                  <a:lnTo>
                    <a:pt x="457594" y="274788"/>
                  </a:lnTo>
                  <a:lnTo>
                    <a:pt x="457594" y="206091"/>
                  </a:lnTo>
                  <a:lnTo>
                    <a:pt x="915189" y="206091"/>
                  </a:lnTo>
                  <a:lnTo>
                    <a:pt x="915189" y="68696"/>
                  </a:lnTo>
                  <a:lnTo>
                    <a:pt x="457594" y="68696"/>
                  </a:lnTo>
                  <a:lnTo>
                    <a:pt x="457594" y="0"/>
                  </a:lnTo>
                  <a:close/>
                </a:path>
              </a:pathLst>
            </a:custGeom>
            <a:solidFill>
              <a:srgbClr val="980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20225" y="1095899"/>
            <a:ext cx="2718435" cy="5130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31900" algn="l"/>
              </a:tabLst>
            </a:pPr>
            <a:r>
              <a:rPr sz="3200" b="1" spc="-20" dirty="0">
                <a:latin typeface="Courier New"/>
                <a:cs typeface="Courier New"/>
              </a:rPr>
              <a:t>addi</a:t>
            </a:r>
            <a:r>
              <a:rPr sz="3200" b="1" dirty="0">
                <a:latin typeface="Courier New"/>
                <a:cs typeface="Courier New"/>
              </a:rPr>
              <a:t>	</a:t>
            </a:r>
            <a:r>
              <a:rPr sz="3200" b="1" i="1" dirty="0">
                <a:latin typeface="Calibri"/>
                <a:cs typeface="Calibri"/>
              </a:rPr>
              <a:t>sp,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sp,</a:t>
            </a:r>
            <a:r>
              <a:rPr sz="3200" b="1" i="1" spc="-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-</a:t>
            </a:r>
            <a:r>
              <a:rPr sz="3200" b="1" i="1" spc="-50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2675" y="1733754"/>
            <a:ext cx="5797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Decrement</a:t>
            </a:r>
            <a:r>
              <a:rPr sz="2400" spc="-9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26"/>
                </a:solidFill>
                <a:latin typeface="Courier New"/>
                <a:cs typeface="Courier New"/>
              </a:rPr>
              <a:t>sp</a:t>
            </a:r>
            <a:r>
              <a:rPr sz="2400" b="1" spc="-900" dirty="0">
                <a:solidFill>
                  <a:srgbClr val="262626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by</a:t>
            </a:r>
            <a:r>
              <a:rPr sz="24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8</a:t>
            </a:r>
            <a:r>
              <a:rPr sz="2400" spc="-4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to</a:t>
            </a:r>
            <a:r>
              <a:rPr sz="24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make</a:t>
            </a:r>
            <a:r>
              <a:rPr sz="2400" spc="-4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room</a:t>
            </a:r>
            <a:r>
              <a:rPr sz="24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on</a:t>
            </a:r>
            <a:r>
              <a:rPr sz="2400" spc="-4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62626"/>
                </a:solidFill>
                <a:latin typeface="Calibri"/>
                <a:cs typeface="Calibri"/>
              </a:rPr>
              <a:t>stack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1205" y="2066900"/>
            <a:ext cx="2297430" cy="1339850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744220" algn="l"/>
              </a:tabLst>
            </a:pPr>
            <a:r>
              <a:rPr sz="3200" b="1" spc="-25" dirty="0">
                <a:latin typeface="Courier New"/>
                <a:cs typeface="Courier New"/>
              </a:rPr>
              <a:t>sw</a:t>
            </a:r>
            <a:r>
              <a:rPr sz="3200" b="1" dirty="0">
                <a:latin typeface="Courier New"/>
                <a:cs typeface="Courier New"/>
              </a:rPr>
              <a:t>	</a:t>
            </a:r>
            <a:r>
              <a:rPr sz="3200" b="1" i="1" dirty="0">
                <a:latin typeface="Calibri"/>
                <a:cs typeface="Calibri"/>
              </a:rPr>
              <a:t>rs1,</a:t>
            </a:r>
            <a:r>
              <a:rPr sz="3200" b="1" i="1" spc="-35" dirty="0">
                <a:latin typeface="Calibri"/>
                <a:cs typeface="Calibri"/>
              </a:rPr>
              <a:t> </a:t>
            </a:r>
            <a:r>
              <a:rPr sz="3200" b="1" i="1" spc="-20" dirty="0">
                <a:latin typeface="Calibri"/>
                <a:cs typeface="Calibri"/>
              </a:rPr>
              <a:t>4(sp)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  <a:tabLst>
                <a:tab pos="744220" algn="l"/>
              </a:tabLst>
            </a:pPr>
            <a:r>
              <a:rPr sz="3200" b="1" spc="-25" dirty="0">
                <a:latin typeface="Courier New"/>
                <a:cs typeface="Courier New"/>
              </a:rPr>
              <a:t>sw</a:t>
            </a:r>
            <a:r>
              <a:rPr sz="3200" b="1" dirty="0">
                <a:latin typeface="Courier New"/>
                <a:cs typeface="Courier New"/>
              </a:rPr>
              <a:t>	</a:t>
            </a:r>
            <a:r>
              <a:rPr sz="3200" b="1" i="1" dirty="0">
                <a:latin typeface="Calibri"/>
                <a:cs typeface="Calibri"/>
              </a:rPr>
              <a:t>rs2,</a:t>
            </a:r>
            <a:r>
              <a:rPr sz="3200" b="1" i="1" spc="-35" dirty="0">
                <a:latin typeface="Calibri"/>
                <a:cs typeface="Calibri"/>
              </a:rPr>
              <a:t> </a:t>
            </a:r>
            <a:r>
              <a:rPr sz="3200" b="1" i="1" spc="-20" dirty="0">
                <a:latin typeface="Calibri"/>
                <a:cs typeface="Calibri"/>
              </a:rPr>
              <a:t>0(sp)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23726" y="4617309"/>
            <a:ext cx="2770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New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pointer</a:t>
            </a:r>
            <a:r>
              <a:rPr sz="2400" b="1" spc="85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sp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91307" y="4004679"/>
            <a:ext cx="2179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Old</a:t>
            </a:r>
            <a:r>
              <a:rPr sz="2400" b="1" spc="-55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5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62699"/>
                </a:solidFill>
                <a:latin typeface="Calibri"/>
                <a:cs typeface="Calibri"/>
              </a:rPr>
              <a:t>pointer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633879" y="4204177"/>
            <a:ext cx="508634" cy="87630"/>
            <a:chOff x="6633879" y="4204177"/>
            <a:chExt cx="508634" cy="87630"/>
          </a:xfrm>
        </p:grpSpPr>
        <p:sp>
          <p:nvSpPr>
            <p:cNvPr id="30" name="object 30"/>
            <p:cNvSpPr/>
            <p:nvPr/>
          </p:nvSpPr>
          <p:spPr>
            <a:xfrm>
              <a:off x="6633879" y="4247865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59">
                  <a:moveTo>
                    <a:pt x="0" y="0"/>
                  </a:moveTo>
                  <a:lnTo>
                    <a:pt x="403813" y="0"/>
                  </a:lnTo>
                  <a:lnTo>
                    <a:pt x="416513" y="0"/>
                  </a:lnTo>
                </a:path>
              </a:pathLst>
            </a:custGeom>
            <a:ln w="2540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54625" y="4204177"/>
              <a:ext cx="87630" cy="87630"/>
            </a:xfrm>
            <a:custGeom>
              <a:avLst/>
              <a:gdLst/>
              <a:ahLst/>
              <a:cxnLst/>
              <a:rect l="l" t="t" r="r" b="b"/>
              <a:pathLst>
                <a:path w="87629" h="87629">
                  <a:moveTo>
                    <a:pt x="0" y="0"/>
                  </a:moveTo>
                  <a:lnTo>
                    <a:pt x="0" y="87375"/>
                  </a:lnTo>
                  <a:lnTo>
                    <a:pt x="87375" y="436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Title 1">
            <a:extLst>
              <a:ext uri="{FF2B5EF4-FFF2-40B4-BE49-F238E27FC236}">
                <a16:creationId xmlns:a16="http://schemas.microsoft.com/office/drawing/2014/main" id="{F326C50F-DF9F-ED43-991F-6437F5C3ECD8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RISC-V stack.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6642933" y="4813777"/>
            <a:ext cx="508634" cy="87630"/>
            <a:chOff x="6642933" y="4813777"/>
            <a:chExt cx="508634" cy="87630"/>
          </a:xfrm>
        </p:grpSpPr>
        <p:sp>
          <p:nvSpPr>
            <p:cNvPr id="5" name="object 5"/>
            <p:cNvSpPr/>
            <p:nvPr/>
          </p:nvSpPr>
          <p:spPr>
            <a:xfrm>
              <a:off x="6642933" y="4857465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59">
                  <a:moveTo>
                    <a:pt x="0" y="0"/>
                  </a:moveTo>
                  <a:lnTo>
                    <a:pt x="403813" y="0"/>
                  </a:lnTo>
                  <a:lnTo>
                    <a:pt x="416513" y="0"/>
                  </a:lnTo>
                </a:path>
              </a:pathLst>
            </a:custGeom>
            <a:ln w="2540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63680" y="4813777"/>
              <a:ext cx="87630" cy="87630"/>
            </a:xfrm>
            <a:custGeom>
              <a:avLst/>
              <a:gdLst/>
              <a:ahLst/>
              <a:cxnLst/>
              <a:rect l="l" t="t" r="r" b="b"/>
              <a:pathLst>
                <a:path w="87629" h="87629">
                  <a:moveTo>
                    <a:pt x="0" y="0"/>
                  </a:moveTo>
                  <a:lnTo>
                    <a:pt x="0" y="87375"/>
                  </a:lnTo>
                  <a:lnTo>
                    <a:pt x="87375" y="436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0667" y="2022382"/>
            <a:ext cx="1330642" cy="2133748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265199" y="1966913"/>
          <a:ext cx="1304925" cy="302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12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rs1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5A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rs2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5A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9394365" y="4747294"/>
            <a:ext cx="120650" cy="1371600"/>
            <a:chOff x="9394365" y="4747294"/>
            <a:chExt cx="120650" cy="1371600"/>
          </a:xfrm>
        </p:grpSpPr>
        <p:sp>
          <p:nvSpPr>
            <p:cNvPr id="10" name="object 10"/>
            <p:cNvSpPr/>
            <p:nvPr/>
          </p:nvSpPr>
          <p:spPr>
            <a:xfrm>
              <a:off x="9454436" y="4747294"/>
              <a:ext cx="0" cy="1247775"/>
            </a:xfrm>
            <a:custGeom>
              <a:avLst/>
              <a:gdLst/>
              <a:ahLst/>
              <a:cxnLst/>
              <a:rect l="l" t="t" r="r" b="b"/>
              <a:pathLst>
                <a:path h="1247775">
                  <a:moveTo>
                    <a:pt x="0" y="0"/>
                  </a:moveTo>
                  <a:lnTo>
                    <a:pt x="0" y="1228174"/>
                  </a:lnTo>
                  <a:lnTo>
                    <a:pt x="0" y="124722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94365" y="5998751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20650" h="120650">
                  <a:moveTo>
                    <a:pt x="120142" y="0"/>
                  </a:moveTo>
                  <a:lnTo>
                    <a:pt x="0" y="0"/>
                  </a:lnTo>
                  <a:lnTo>
                    <a:pt x="60071" y="120142"/>
                  </a:lnTo>
                  <a:lnTo>
                    <a:pt x="1201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355121" y="1752601"/>
            <a:ext cx="120650" cy="1447800"/>
            <a:chOff x="9355121" y="1752601"/>
            <a:chExt cx="120650" cy="1447800"/>
          </a:xfrm>
        </p:grpSpPr>
        <p:sp>
          <p:nvSpPr>
            <p:cNvPr id="13" name="object 13"/>
            <p:cNvSpPr/>
            <p:nvPr/>
          </p:nvSpPr>
          <p:spPr>
            <a:xfrm>
              <a:off x="9415192" y="1876976"/>
              <a:ext cx="0" cy="1323975"/>
            </a:xfrm>
            <a:custGeom>
              <a:avLst/>
              <a:gdLst/>
              <a:ahLst/>
              <a:cxnLst/>
              <a:rect l="l" t="t" r="r" b="b"/>
              <a:pathLst>
                <a:path h="1323975">
                  <a:moveTo>
                    <a:pt x="0" y="1323425"/>
                  </a:moveTo>
                  <a:lnTo>
                    <a:pt x="0" y="1905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55121" y="1752601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20650" h="120650">
                  <a:moveTo>
                    <a:pt x="60071" y="0"/>
                  </a:moveTo>
                  <a:lnTo>
                    <a:pt x="0" y="120142"/>
                  </a:lnTo>
                  <a:lnTo>
                    <a:pt x="120142" y="120142"/>
                  </a:lnTo>
                  <a:lnTo>
                    <a:pt x="600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9041" y="2125693"/>
            <a:ext cx="970280" cy="60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Increasing Addresses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90761" y="4004679"/>
            <a:ext cx="1494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262699"/>
                </a:solidFill>
                <a:latin typeface="Calibri"/>
                <a:cs typeface="Calibri"/>
              </a:rPr>
              <a:t>“Top”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38085" y="1012230"/>
            <a:ext cx="1982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62699"/>
                </a:solidFill>
                <a:latin typeface="Calibri"/>
                <a:cs typeface="Calibri"/>
              </a:rPr>
              <a:t>“Bottom”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620882" y="1524001"/>
            <a:ext cx="664210" cy="434975"/>
            <a:chOff x="7620882" y="1524001"/>
            <a:chExt cx="664210" cy="43497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4762" y="1577882"/>
              <a:ext cx="609747" cy="3810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620882" y="1524001"/>
              <a:ext cx="610235" cy="381000"/>
            </a:xfrm>
            <a:custGeom>
              <a:avLst/>
              <a:gdLst/>
              <a:ahLst/>
              <a:cxnLst/>
              <a:rect l="l" t="t" r="r" b="b"/>
              <a:pathLst>
                <a:path w="610234" h="381000">
                  <a:moveTo>
                    <a:pt x="609747" y="190500"/>
                  </a:moveTo>
                  <a:lnTo>
                    <a:pt x="0" y="190500"/>
                  </a:lnTo>
                  <a:lnTo>
                    <a:pt x="304873" y="381000"/>
                  </a:lnTo>
                  <a:lnTo>
                    <a:pt x="609747" y="190500"/>
                  </a:lnTo>
                  <a:close/>
                </a:path>
                <a:path w="610234" h="381000">
                  <a:moveTo>
                    <a:pt x="457310" y="0"/>
                  </a:moveTo>
                  <a:lnTo>
                    <a:pt x="152436" y="0"/>
                  </a:lnTo>
                  <a:lnTo>
                    <a:pt x="152436" y="190500"/>
                  </a:lnTo>
                  <a:lnTo>
                    <a:pt x="457310" y="190500"/>
                  </a:lnTo>
                  <a:lnTo>
                    <a:pt x="457310" y="0"/>
                  </a:lnTo>
                  <a:close/>
                </a:path>
              </a:pathLst>
            </a:custGeom>
            <a:solidFill>
              <a:srgbClr val="980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8723800" y="4110470"/>
            <a:ext cx="969644" cy="328930"/>
            <a:chOff x="8723800" y="4110470"/>
            <a:chExt cx="969644" cy="32893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7681" y="4164351"/>
              <a:ext cx="915188" cy="27478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23800" y="4110470"/>
              <a:ext cx="915669" cy="274955"/>
            </a:xfrm>
            <a:custGeom>
              <a:avLst/>
              <a:gdLst/>
              <a:ahLst/>
              <a:cxnLst/>
              <a:rect l="l" t="t" r="r" b="b"/>
              <a:pathLst>
                <a:path w="915670" h="274954">
                  <a:moveTo>
                    <a:pt x="457594" y="0"/>
                  </a:moveTo>
                  <a:lnTo>
                    <a:pt x="0" y="137394"/>
                  </a:lnTo>
                  <a:lnTo>
                    <a:pt x="457594" y="274788"/>
                  </a:lnTo>
                  <a:lnTo>
                    <a:pt x="457594" y="206091"/>
                  </a:lnTo>
                  <a:lnTo>
                    <a:pt x="915189" y="206091"/>
                  </a:lnTo>
                  <a:lnTo>
                    <a:pt x="915189" y="68696"/>
                  </a:lnTo>
                  <a:lnTo>
                    <a:pt x="457594" y="68696"/>
                  </a:lnTo>
                  <a:lnTo>
                    <a:pt x="457594" y="0"/>
                  </a:lnTo>
                  <a:close/>
                </a:path>
              </a:pathLst>
            </a:custGeom>
            <a:solidFill>
              <a:srgbClr val="980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705285" y="5091636"/>
            <a:ext cx="1046480" cy="60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Decreasing Addresses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23726" y="4020409"/>
            <a:ext cx="2770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New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pointer</a:t>
            </a:r>
            <a:r>
              <a:rPr sz="2400" b="1" spc="85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sp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91307" y="4639679"/>
            <a:ext cx="2179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Old</a:t>
            </a:r>
            <a:r>
              <a:rPr sz="2400" b="1" spc="-55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5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62699"/>
                </a:solidFill>
                <a:latin typeface="Calibri"/>
                <a:cs typeface="Calibri"/>
              </a:rPr>
              <a:t>pointer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633879" y="4204177"/>
            <a:ext cx="508634" cy="87630"/>
            <a:chOff x="6633879" y="4204177"/>
            <a:chExt cx="508634" cy="87630"/>
          </a:xfrm>
        </p:grpSpPr>
        <p:sp>
          <p:nvSpPr>
            <p:cNvPr id="28" name="object 28"/>
            <p:cNvSpPr/>
            <p:nvPr/>
          </p:nvSpPr>
          <p:spPr>
            <a:xfrm>
              <a:off x="6633879" y="4247865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59">
                  <a:moveTo>
                    <a:pt x="0" y="0"/>
                  </a:moveTo>
                  <a:lnTo>
                    <a:pt x="403813" y="0"/>
                  </a:lnTo>
                  <a:lnTo>
                    <a:pt x="416513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54625" y="4204177"/>
              <a:ext cx="87630" cy="87630"/>
            </a:xfrm>
            <a:custGeom>
              <a:avLst/>
              <a:gdLst/>
              <a:ahLst/>
              <a:cxnLst/>
              <a:rect l="l" t="t" r="r" b="b"/>
              <a:pathLst>
                <a:path w="87629" h="87629">
                  <a:moveTo>
                    <a:pt x="0" y="0"/>
                  </a:moveTo>
                  <a:lnTo>
                    <a:pt x="0" y="87375"/>
                  </a:lnTo>
                  <a:lnTo>
                    <a:pt x="87375" y="436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09187" y="871518"/>
            <a:ext cx="4570730" cy="2820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35380">
              <a:lnSpc>
                <a:spcPct val="116399"/>
              </a:lnSpc>
              <a:spcBef>
                <a:spcPts val="95"/>
              </a:spcBef>
              <a:tabLst>
                <a:tab pos="744220" algn="l"/>
                <a:tab pos="2207260" algn="l"/>
              </a:tabLst>
            </a:pPr>
            <a:r>
              <a:rPr sz="3200" b="1" spc="-25" dirty="0">
                <a:latin typeface="Courier New"/>
                <a:cs typeface="Courier New"/>
              </a:rPr>
              <a:t>lw</a:t>
            </a:r>
            <a:r>
              <a:rPr sz="3200" b="1" dirty="0">
                <a:latin typeface="Courier New"/>
                <a:cs typeface="Courier New"/>
              </a:rPr>
              <a:t>	</a:t>
            </a:r>
            <a:r>
              <a:rPr sz="3200" b="1" i="1" spc="-10" dirty="0">
                <a:latin typeface="Courier New"/>
                <a:cs typeface="Courier New"/>
              </a:rPr>
              <a:t>dst2</a:t>
            </a:r>
            <a:r>
              <a:rPr sz="3200" b="1" spc="-10" dirty="0">
                <a:latin typeface="Courier New"/>
                <a:cs typeface="Courier New"/>
              </a:rPr>
              <a:t>,</a:t>
            </a:r>
            <a:r>
              <a:rPr sz="3200" b="1" dirty="0">
                <a:latin typeface="Courier New"/>
                <a:cs typeface="Courier New"/>
              </a:rPr>
              <a:t>	</a:t>
            </a:r>
            <a:r>
              <a:rPr sz="3200" b="1" spc="-20" dirty="0">
                <a:latin typeface="Courier New"/>
                <a:cs typeface="Courier New"/>
              </a:rPr>
              <a:t>0(sp) </a:t>
            </a:r>
            <a:r>
              <a:rPr sz="3200" b="1" spc="-25" dirty="0">
                <a:latin typeface="Courier New"/>
                <a:cs typeface="Courier New"/>
              </a:rPr>
              <a:t>lw</a:t>
            </a:r>
            <a:r>
              <a:rPr sz="3200" b="1" dirty="0">
                <a:latin typeface="Courier New"/>
                <a:cs typeface="Courier New"/>
              </a:rPr>
              <a:t>	</a:t>
            </a:r>
            <a:r>
              <a:rPr sz="3200" b="1" i="1" spc="-10" dirty="0">
                <a:latin typeface="Courier New"/>
                <a:cs typeface="Courier New"/>
              </a:rPr>
              <a:t>dst1</a:t>
            </a:r>
            <a:r>
              <a:rPr sz="3200" b="1" spc="-10" dirty="0">
                <a:latin typeface="Courier New"/>
                <a:cs typeface="Courier New"/>
              </a:rPr>
              <a:t>,</a:t>
            </a:r>
            <a:r>
              <a:rPr sz="3200" b="1" dirty="0">
                <a:latin typeface="Courier New"/>
                <a:cs typeface="Courier New"/>
              </a:rPr>
              <a:t>	</a:t>
            </a:r>
            <a:r>
              <a:rPr sz="3200" b="1" spc="-20" dirty="0">
                <a:latin typeface="Courier New"/>
                <a:cs typeface="Courier New"/>
              </a:rPr>
              <a:t>4(sp)</a:t>
            </a:r>
            <a:endParaRPr sz="3200">
              <a:latin typeface="Courier New"/>
              <a:cs typeface="Courier New"/>
            </a:endParaRPr>
          </a:p>
          <a:p>
            <a:pPr marL="645160">
              <a:lnSpc>
                <a:spcPct val="100000"/>
              </a:lnSpc>
              <a:spcBef>
                <a:spcPts val="375"/>
              </a:spcBef>
            </a:pPr>
            <a:r>
              <a:rPr sz="2800" dirty="0">
                <a:latin typeface="Calibri"/>
                <a:cs typeface="Calibri"/>
              </a:rPr>
              <a:t>pop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stack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top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1231900" algn="l"/>
              </a:tabLst>
            </a:pPr>
            <a:r>
              <a:rPr sz="3200" b="1" spc="-20" dirty="0">
                <a:latin typeface="Courier New"/>
                <a:cs typeface="Courier New"/>
              </a:rPr>
              <a:t>addi</a:t>
            </a:r>
            <a:r>
              <a:rPr sz="3200" b="1" dirty="0">
                <a:latin typeface="Courier New"/>
                <a:cs typeface="Courier New"/>
              </a:rPr>
              <a:t>	</a:t>
            </a:r>
            <a:r>
              <a:rPr sz="3200" b="1" i="1" dirty="0">
                <a:latin typeface="Calibri"/>
                <a:cs typeface="Calibri"/>
              </a:rPr>
              <a:t>sp,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sp,</a:t>
            </a:r>
            <a:r>
              <a:rPr sz="3200" b="1" i="1" spc="-5" dirty="0">
                <a:latin typeface="Calibri"/>
                <a:cs typeface="Calibri"/>
              </a:rPr>
              <a:t> </a:t>
            </a:r>
            <a:r>
              <a:rPr sz="3200" b="1" i="1" spc="-50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  <a:p>
            <a:pPr marL="565150">
              <a:lnSpc>
                <a:spcPct val="100000"/>
              </a:lnSpc>
              <a:spcBef>
                <a:spcPts val="1075"/>
              </a:spcBef>
            </a:pPr>
            <a:r>
              <a:rPr sz="2800" dirty="0">
                <a:latin typeface="Calibri"/>
                <a:cs typeface="Calibri"/>
              </a:rPr>
              <a:t>Deallocate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top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8018708E-83AE-68D0-ADB3-26E4C0B8297B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RISC-V stack.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6640514" y="4985511"/>
            <a:ext cx="522605" cy="393700"/>
            <a:chOff x="6640514" y="4985511"/>
            <a:chExt cx="522605" cy="393700"/>
          </a:xfrm>
        </p:grpSpPr>
        <p:sp>
          <p:nvSpPr>
            <p:cNvPr id="5" name="object 5"/>
            <p:cNvSpPr/>
            <p:nvPr/>
          </p:nvSpPr>
          <p:spPr>
            <a:xfrm>
              <a:off x="6654800" y="5029199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59">
                  <a:moveTo>
                    <a:pt x="0" y="0"/>
                  </a:moveTo>
                  <a:lnTo>
                    <a:pt x="403690" y="0"/>
                  </a:lnTo>
                  <a:lnTo>
                    <a:pt x="416390" y="0"/>
                  </a:lnTo>
                </a:path>
              </a:pathLst>
            </a:custGeom>
            <a:ln w="254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75424" y="4985511"/>
              <a:ext cx="87630" cy="87630"/>
            </a:xfrm>
            <a:custGeom>
              <a:avLst/>
              <a:gdLst/>
              <a:ahLst/>
              <a:cxnLst/>
              <a:rect l="l" t="t" r="r" b="b"/>
              <a:pathLst>
                <a:path w="87629" h="87629">
                  <a:moveTo>
                    <a:pt x="0" y="0"/>
                  </a:moveTo>
                  <a:lnTo>
                    <a:pt x="0" y="87375"/>
                  </a:lnTo>
                  <a:lnTo>
                    <a:pt x="87375" y="436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53214" y="5335082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59">
                  <a:moveTo>
                    <a:pt x="0" y="0"/>
                  </a:moveTo>
                  <a:lnTo>
                    <a:pt x="403690" y="0"/>
                  </a:lnTo>
                  <a:lnTo>
                    <a:pt x="41639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73838" y="5291394"/>
              <a:ext cx="87630" cy="87630"/>
            </a:xfrm>
            <a:custGeom>
              <a:avLst/>
              <a:gdLst/>
              <a:ahLst/>
              <a:cxnLst/>
              <a:rect l="l" t="t" r="r" b="b"/>
              <a:pathLst>
                <a:path w="87629" h="87629">
                  <a:moveTo>
                    <a:pt x="0" y="0"/>
                  </a:moveTo>
                  <a:lnTo>
                    <a:pt x="0" y="87376"/>
                  </a:lnTo>
                  <a:lnTo>
                    <a:pt x="87375" y="436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265989" y="1524000"/>
            <a:ext cx="1332230" cy="3975100"/>
            <a:chOff x="7265989" y="1524000"/>
            <a:chExt cx="1332230" cy="3975100"/>
          </a:xfrm>
        </p:grpSpPr>
        <p:sp>
          <p:nvSpPr>
            <p:cNvPr id="10" name="object 10"/>
            <p:cNvSpPr/>
            <p:nvPr/>
          </p:nvSpPr>
          <p:spPr>
            <a:xfrm>
              <a:off x="7278689" y="5180577"/>
              <a:ext cx="1301750" cy="306070"/>
            </a:xfrm>
            <a:custGeom>
              <a:avLst/>
              <a:gdLst/>
              <a:ahLst/>
              <a:cxnLst/>
              <a:rect l="l" t="t" r="r" b="b"/>
              <a:pathLst>
                <a:path w="1301750" h="306070">
                  <a:moveTo>
                    <a:pt x="1301750" y="0"/>
                  </a:moveTo>
                  <a:lnTo>
                    <a:pt x="0" y="0"/>
                  </a:lnTo>
                  <a:lnTo>
                    <a:pt x="0" y="305821"/>
                  </a:lnTo>
                  <a:lnTo>
                    <a:pt x="1301750" y="305821"/>
                  </a:lnTo>
                  <a:lnTo>
                    <a:pt x="1301750" y="0"/>
                  </a:lnTo>
                  <a:close/>
                </a:path>
              </a:pathLst>
            </a:custGeom>
            <a:solidFill>
              <a:srgbClr val="848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78689" y="5180577"/>
              <a:ext cx="1301750" cy="306070"/>
            </a:xfrm>
            <a:custGeom>
              <a:avLst/>
              <a:gdLst/>
              <a:ahLst/>
              <a:cxnLst/>
              <a:rect l="l" t="t" r="r" b="b"/>
              <a:pathLst>
                <a:path w="1301750" h="306070">
                  <a:moveTo>
                    <a:pt x="0" y="0"/>
                  </a:moveTo>
                  <a:lnTo>
                    <a:pt x="1301750" y="0"/>
                  </a:lnTo>
                  <a:lnTo>
                    <a:pt x="1301750" y="305821"/>
                  </a:lnTo>
                  <a:lnTo>
                    <a:pt x="0" y="3058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80276" y="1981200"/>
              <a:ext cx="1304925" cy="3200400"/>
            </a:xfrm>
            <a:custGeom>
              <a:avLst/>
              <a:gdLst/>
              <a:ahLst/>
              <a:cxnLst/>
              <a:rect l="l" t="t" r="r" b="b"/>
              <a:pathLst>
                <a:path w="1304925" h="3200400">
                  <a:moveTo>
                    <a:pt x="1304925" y="0"/>
                  </a:moveTo>
                  <a:lnTo>
                    <a:pt x="0" y="0"/>
                  </a:lnTo>
                  <a:lnTo>
                    <a:pt x="0" y="3200400"/>
                  </a:lnTo>
                  <a:lnTo>
                    <a:pt x="1304925" y="3200400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D6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80276" y="1981200"/>
              <a:ext cx="1304925" cy="3200400"/>
            </a:xfrm>
            <a:custGeom>
              <a:avLst/>
              <a:gdLst/>
              <a:ahLst/>
              <a:cxnLst/>
              <a:rect l="l" t="t" r="r" b="b"/>
              <a:pathLst>
                <a:path w="1304925" h="3200400">
                  <a:moveTo>
                    <a:pt x="0" y="0"/>
                  </a:moveTo>
                  <a:lnTo>
                    <a:pt x="1304925" y="0"/>
                  </a:lnTo>
                  <a:lnTo>
                    <a:pt x="1304925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78689" y="4864100"/>
              <a:ext cx="1295400" cy="25400"/>
            </a:xfrm>
            <a:custGeom>
              <a:avLst/>
              <a:gdLst/>
              <a:ahLst/>
              <a:cxnLst/>
              <a:rect l="l" t="t" r="r" b="b"/>
              <a:pathLst>
                <a:path w="1295400" h="25400">
                  <a:moveTo>
                    <a:pt x="0" y="0"/>
                  </a:moveTo>
                  <a:lnTo>
                    <a:pt x="1295400" y="0"/>
                  </a:lnTo>
                  <a:lnTo>
                    <a:pt x="1295400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75468" y="1577881"/>
              <a:ext cx="609600" cy="3810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621589" y="152400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609600" y="190500"/>
                  </a:moveTo>
                  <a:lnTo>
                    <a:pt x="0" y="190500"/>
                  </a:lnTo>
                  <a:lnTo>
                    <a:pt x="304800" y="381000"/>
                  </a:lnTo>
                  <a:lnTo>
                    <a:pt x="609600" y="190500"/>
                  </a:lnTo>
                  <a:close/>
                </a:path>
                <a:path w="609600" h="381000">
                  <a:moveTo>
                    <a:pt x="457200" y="0"/>
                  </a:moveTo>
                  <a:lnTo>
                    <a:pt x="152400" y="0"/>
                  </a:lnTo>
                  <a:lnTo>
                    <a:pt x="152400" y="190500"/>
                  </a:lnTo>
                  <a:lnTo>
                    <a:pt x="457200" y="1905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80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942139" y="4992291"/>
            <a:ext cx="1911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-</a:t>
            </a:r>
            <a:r>
              <a:rPr sz="1600" spc="-50" dirty="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64314" y="4985511"/>
            <a:ext cx="598805" cy="356235"/>
            <a:chOff x="6564314" y="4985511"/>
            <a:chExt cx="598805" cy="35623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8195" y="5150038"/>
              <a:ext cx="368300" cy="19113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564314" y="5096158"/>
              <a:ext cx="368300" cy="191135"/>
            </a:xfrm>
            <a:custGeom>
              <a:avLst/>
              <a:gdLst/>
              <a:ahLst/>
              <a:cxnLst/>
              <a:rect l="l" t="t" r="r" b="b"/>
              <a:pathLst>
                <a:path w="368300" h="191135">
                  <a:moveTo>
                    <a:pt x="368300" y="95568"/>
                  </a:moveTo>
                  <a:lnTo>
                    <a:pt x="0" y="95568"/>
                  </a:lnTo>
                  <a:lnTo>
                    <a:pt x="184150" y="191138"/>
                  </a:lnTo>
                  <a:lnTo>
                    <a:pt x="368300" y="95568"/>
                  </a:lnTo>
                  <a:close/>
                </a:path>
                <a:path w="368300" h="191135">
                  <a:moveTo>
                    <a:pt x="276225" y="0"/>
                  </a:moveTo>
                  <a:lnTo>
                    <a:pt x="92075" y="0"/>
                  </a:lnTo>
                  <a:lnTo>
                    <a:pt x="92075" y="95568"/>
                  </a:lnTo>
                  <a:lnTo>
                    <a:pt x="276225" y="95568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980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54800" y="5029199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59">
                  <a:moveTo>
                    <a:pt x="0" y="0"/>
                  </a:moveTo>
                  <a:lnTo>
                    <a:pt x="403690" y="0"/>
                  </a:lnTo>
                  <a:lnTo>
                    <a:pt x="41639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5424" y="4985511"/>
              <a:ext cx="87630" cy="87630"/>
            </a:xfrm>
            <a:custGeom>
              <a:avLst/>
              <a:gdLst/>
              <a:ahLst/>
              <a:cxnLst/>
              <a:rect l="l" t="t" r="r" b="b"/>
              <a:pathLst>
                <a:path w="87629" h="87629">
                  <a:moveTo>
                    <a:pt x="0" y="0"/>
                  </a:moveTo>
                  <a:lnTo>
                    <a:pt x="0" y="87375"/>
                  </a:lnTo>
                  <a:lnTo>
                    <a:pt x="87375" y="436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9355392" y="3962400"/>
            <a:ext cx="120650" cy="1371600"/>
            <a:chOff x="9355392" y="3962400"/>
            <a:chExt cx="120650" cy="1371600"/>
          </a:xfrm>
        </p:grpSpPr>
        <p:sp>
          <p:nvSpPr>
            <p:cNvPr id="24" name="object 24"/>
            <p:cNvSpPr/>
            <p:nvPr/>
          </p:nvSpPr>
          <p:spPr>
            <a:xfrm>
              <a:off x="9415463" y="3962400"/>
              <a:ext cx="0" cy="1247775"/>
            </a:xfrm>
            <a:custGeom>
              <a:avLst/>
              <a:gdLst/>
              <a:ahLst/>
              <a:cxnLst/>
              <a:rect l="l" t="t" r="r" b="b"/>
              <a:pathLst>
                <a:path h="1247775">
                  <a:moveTo>
                    <a:pt x="0" y="0"/>
                  </a:moveTo>
                  <a:lnTo>
                    <a:pt x="0" y="1228174"/>
                  </a:lnTo>
                  <a:lnTo>
                    <a:pt x="0" y="124722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355392" y="5213858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20650" h="120650">
                  <a:moveTo>
                    <a:pt x="120142" y="0"/>
                  </a:moveTo>
                  <a:lnTo>
                    <a:pt x="0" y="0"/>
                  </a:lnTo>
                  <a:lnTo>
                    <a:pt x="60071" y="120142"/>
                  </a:lnTo>
                  <a:lnTo>
                    <a:pt x="1201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496425" y="4037041"/>
            <a:ext cx="61658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Stack </a:t>
            </a:r>
            <a:r>
              <a:rPr sz="1800" spc="-25" dirty="0">
                <a:latin typeface="Calibri"/>
                <a:cs typeface="Calibri"/>
              </a:rPr>
              <a:t>Grows </a:t>
            </a:r>
            <a:r>
              <a:rPr sz="1800" spc="-20" dirty="0">
                <a:latin typeface="Calibri"/>
                <a:cs typeface="Calibri"/>
              </a:rPr>
              <a:t>Down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355392" y="1752600"/>
            <a:ext cx="120650" cy="1447800"/>
            <a:chOff x="9355392" y="1752600"/>
            <a:chExt cx="120650" cy="1447800"/>
          </a:xfrm>
        </p:grpSpPr>
        <p:sp>
          <p:nvSpPr>
            <p:cNvPr id="28" name="object 28"/>
            <p:cNvSpPr/>
            <p:nvPr/>
          </p:nvSpPr>
          <p:spPr>
            <a:xfrm>
              <a:off x="9415463" y="1876974"/>
              <a:ext cx="0" cy="1323975"/>
            </a:xfrm>
            <a:custGeom>
              <a:avLst/>
              <a:gdLst/>
              <a:ahLst/>
              <a:cxnLst/>
              <a:rect l="l" t="t" r="r" b="b"/>
              <a:pathLst>
                <a:path h="1323975">
                  <a:moveTo>
                    <a:pt x="0" y="1323425"/>
                  </a:moveTo>
                  <a:lnTo>
                    <a:pt x="0" y="1905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355392" y="1752600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20650" h="120650">
                  <a:moveTo>
                    <a:pt x="60071" y="0"/>
                  </a:moveTo>
                  <a:lnTo>
                    <a:pt x="0" y="120141"/>
                  </a:lnTo>
                  <a:lnTo>
                    <a:pt x="120142" y="120141"/>
                  </a:lnTo>
                  <a:lnTo>
                    <a:pt x="600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501189" y="2087591"/>
            <a:ext cx="970280" cy="60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Increasing Addresses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99275" y="974129"/>
            <a:ext cx="1982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62699"/>
                </a:solidFill>
                <a:latin typeface="Calibri"/>
                <a:cs typeface="Calibri"/>
              </a:rPr>
              <a:t>“Bottom”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51114" y="4693197"/>
            <a:ext cx="2870835" cy="748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ts val="2845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Prev</a:t>
            </a:r>
            <a:r>
              <a:rPr sz="2400" b="1" spc="-85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85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Pointer:</a:t>
            </a:r>
            <a:r>
              <a:rPr sz="2400" b="1" spc="-9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sp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45"/>
              </a:lnSpc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Next</a:t>
            </a:r>
            <a:r>
              <a:rPr sz="2400" b="1" spc="-8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8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Pointer:</a:t>
            </a:r>
            <a:r>
              <a:rPr sz="2400" b="1" spc="-85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sp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40576" y="5850930"/>
            <a:ext cx="1494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262699"/>
                </a:solidFill>
                <a:latin typeface="Calibri"/>
                <a:cs typeface="Calibri"/>
              </a:rPr>
              <a:t>“Top”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620001" y="5562601"/>
            <a:ext cx="663575" cy="434975"/>
            <a:chOff x="7620001" y="5562601"/>
            <a:chExt cx="663575" cy="434975"/>
          </a:xfrm>
        </p:grpSpPr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73881" y="5616481"/>
              <a:ext cx="609600" cy="3810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620001" y="5562601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457200" y="190499"/>
                  </a:moveTo>
                  <a:lnTo>
                    <a:pt x="152400" y="190499"/>
                  </a:lnTo>
                  <a:lnTo>
                    <a:pt x="152400" y="380999"/>
                  </a:lnTo>
                  <a:lnTo>
                    <a:pt x="457200" y="380999"/>
                  </a:lnTo>
                  <a:lnTo>
                    <a:pt x="457200" y="190499"/>
                  </a:lnTo>
                  <a:close/>
                </a:path>
                <a:path w="609600" h="381000">
                  <a:moveTo>
                    <a:pt x="304800" y="0"/>
                  </a:moveTo>
                  <a:lnTo>
                    <a:pt x="0" y="190499"/>
                  </a:lnTo>
                  <a:lnTo>
                    <a:pt x="609600" y="1904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80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355545" y="2484090"/>
          <a:ext cx="3477258" cy="1027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371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b="1" spc="-25" dirty="0">
                          <a:latin typeface="Courier New"/>
                          <a:cs typeface="Courier New"/>
                        </a:rPr>
                        <a:t>lw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b="1" i="1" spc="-10" dirty="0">
                          <a:latin typeface="Courier New"/>
                          <a:cs typeface="Courier New"/>
                        </a:rPr>
                        <a:t>dst1</a:t>
                      </a:r>
                      <a:r>
                        <a:rPr sz="3200" b="1" spc="-10" dirty="0">
                          <a:latin typeface="Courier New"/>
                          <a:cs typeface="Courier New"/>
                        </a:rPr>
                        <a:t>,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b="1" spc="-10" dirty="0">
                          <a:latin typeface="Courier New"/>
                          <a:cs typeface="Courier New"/>
                        </a:rPr>
                        <a:t>0(sp)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715">
                <a:tc>
                  <a:txBody>
                    <a:bodyPr/>
                    <a:lstStyle/>
                    <a:p>
                      <a:pPr marL="31750">
                        <a:lnSpc>
                          <a:spcPts val="3725"/>
                        </a:lnSpc>
                      </a:pPr>
                      <a:r>
                        <a:rPr sz="3200" b="1" spc="-25" dirty="0">
                          <a:latin typeface="Courier New"/>
                          <a:cs typeface="Courier New"/>
                        </a:rPr>
                        <a:t>lw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25"/>
                        </a:lnSpc>
                      </a:pPr>
                      <a:r>
                        <a:rPr sz="3200" b="1" i="1" spc="-10" dirty="0">
                          <a:latin typeface="Courier New"/>
                          <a:cs typeface="Courier New"/>
                        </a:rPr>
                        <a:t>dst2</a:t>
                      </a:r>
                      <a:r>
                        <a:rPr sz="3200" b="1" spc="-10" dirty="0">
                          <a:latin typeface="Courier New"/>
                          <a:cs typeface="Courier New"/>
                        </a:rPr>
                        <a:t>,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725"/>
                        </a:lnSpc>
                      </a:pPr>
                      <a:r>
                        <a:rPr sz="3200" b="1" spc="-10" dirty="0">
                          <a:latin typeface="Courier New"/>
                          <a:cs typeface="Courier New"/>
                        </a:rPr>
                        <a:t>0(sp)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object 38"/>
          <p:cNvSpPr txBox="1"/>
          <p:nvPr/>
        </p:nvSpPr>
        <p:spPr>
          <a:xfrm>
            <a:off x="374595" y="5114522"/>
            <a:ext cx="100139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0" dirty="0">
                <a:latin typeface="Courier New"/>
                <a:cs typeface="Courier New"/>
              </a:rPr>
              <a:t>addi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93993" y="5114522"/>
            <a:ext cx="14986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i="1" dirty="0">
                <a:latin typeface="Calibri"/>
                <a:cs typeface="Calibri"/>
              </a:rPr>
              <a:t>sp,</a:t>
            </a:r>
            <a:r>
              <a:rPr sz="3200" b="1" i="1" spc="-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sp,</a:t>
            </a:r>
            <a:r>
              <a:rPr sz="3200" b="1" i="1" spc="-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-</a:t>
            </a:r>
            <a:r>
              <a:rPr sz="3200" b="1" i="1" spc="-50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C971170E-6CDD-DC49-5674-19873FA74DC3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Allocating and pushing to the stack.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7280276" y="1981200"/>
            <a:ext cx="1371600" cy="3711575"/>
            <a:chOff x="7280276" y="1981200"/>
            <a:chExt cx="1371600" cy="3711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6581" y="5311681"/>
              <a:ext cx="609600" cy="381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32700" y="525780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457200" y="190500"/>
                  </a:moveTo>
                  <a:lnTo>
                    <a:pt x="152400" y="190500"/>
                  </a:lnTo>
                  <a:lnTo>
                    <a:pt x="152400" y="381000"/>
                  </a:lnTo>
                  <a:lnTo>
                    <a:pt x="457200" y="381000"/>
                  </a:lnTo>
                  <a:lnTo>
                    <a:pt x="457200" y="190500"/>
                  </a:lnTo>
                  <a:close/>
                </a:path>
                <a:path w="609600" h="381000">
                  <a:moveTo>
                    <a:pt x="304800" y="0"/>
                  </a:moveTo>
                  <a:lnTo>
                    <a:pt x="0" y="190500"/>
                  </a:lnTo>
                  <a:lnTo>
                    <a:pt x="609600" y="1905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80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1456" y="2022381"/>
              <a:ext cx="1330325" cy="3225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280276" y="1981200"/>
              <a:ext cx="1304925" cy="2895600"/>
            </a:xfrm>
            <a:custGeom>
              <a:avLst/>
              <a:gdLst/>
              <a:ahLst/>
              <a:cxnLst/>
              <a:rect l="l" t="t" r="r" b="b"/>
              <a:pathLst>
                <a:path w="1304925" h="2895600">
                  <a:moveTo>
                    <a:pt x="0" y="2895600"/>
                  </a:moveTo>
                  <a:lnTo>
                    <a:pt x="1304925" y="2895600"/>
                  </a:lnTo>
                  <a:lnTo>
                    <a:pt x="1304925" y="0"/>
                  </a:lnTo>
                  <a:lnTo>
                    <a:pt x="0" y="0"/>
                  </a:lnTo>
                  <a:lnTo>
                    <a:pt x="0" y="2895600"/>
                  </a:lnTo>
                  <a:close/>
                </a:path>
              </a:pathLst>
            </a:custGeom>
            <a:solidFill>
              <a:srgbClr val="D6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640514" y="4679124"/>
            <a:ext cx="522605" cy="394335"/>
            <a:chOff x="6640514" y="4679124"/>
            <a:chExt cx="522605" cy="394335"/>
          </a:xfrm>
        </p:grpSpPr>
        <p:sp>
          <p:nvSpPr>
            <p:cNvPr id="9" name="object 9"/>
            <p:cNvSpPr/>
            <p:nvPr/>
          </p:nvSpPr>
          <p:spPr>
            <a:xfrm>
              <a:off x="6654800" y="5029199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59">
                  <a:moveTo>
                    <a:pt x="0" y="0"/>
                  </a:moveTo>
                  <a:lnTo>
                    <a:pt x="403690" y="0"/>
                  </a:lnTo>
                  <a:lnTo>
                    <a:pt x="41639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75424" y="4985511"/>
              <a:ext cx="87630" cy="87630"/>
            </a:xfrm>
            <a:custGeom>
              <a:avLst/>
              <a:gdLst/>
              <a:ahLst/>
              <a:cxnLst/>
              <a:rect l="l" t="t" r="r" b="b"/>
              <a:pathLst>
                <a:path w="87629" h="87629">
                  <a:moveTo>
                    <a:pt x="0" y="0"/>
                  </a:moveTo>
                  <a:lnTo>
                    <a:pt x="0" y="87375"/>
                  </a:lnTo>
                  <a:lnTo>
                    <a:pt x="87375" y="436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53214" y="4722812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59">
                  <a:moveTo>
                    <a:pt x="0" y="0"/>
                  </a:moveTo>
                  <a:lnTo>
                    <a:pt x="403690" y="0"/>
                  </a:lnTo>
                  <a:lnTo>
                    <a:pt x="41639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73838" y="4679124"/>
              <a:ext cx="87630" cy="87630"/>
            </a:xfrm>
            <a:custGeom>
              <a:avLst/>
              <a:gdLst/>
              <a:ahLst/>
              <a:cxnLst/>
              <a:rect l="l" t="t" r="r" b="b"/>
              <a:pathLst>
                <a:path w="87629" h="87629">
                  <a:moveTo>
                    <a:pt x="0" y="0"/>
                  </a:moveTo>
                  <a:lnTo>
                    <a:pt x="0" y="87375"/>
                  </a:lnTo>
                  <a:lnTo>
                    <a:pt x="87375" y="436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355392" y="3962400"/>
            <a:ext cx="120650" cy="1371600"/>
            <a:chOff x="9355392" y="3962400"/>
            <a:chExt cx="120650" cy="1371600"/>
          </a:xfrm>
        </p:grpSpPr>
        <p:sp>
          <p:nvSpPr>
            <p:cNvPr id="14" name="object 14"/>
            <p:cNvSpPr/>
            <p:nvPr/>
          </p:nvSpPr>
          <p:spPr>
            <a:xfrm>
              <a:off x="9415463" y="3962400"/>
              <a:ext cx="0" cy="1247775"/>
            </a:xfrm>
            <a:custGeom>
              <a:avLst/>
              <a:gdLst/>
              <a:ahLst/>
              <a:cxnLst/>
              <a:rect l="l" t="t" r="r" b="b"/>
              <a:pathLst>
                <a:path h="1247775">
                  <a:moveTo>
                    <a:pt x="0" y="0"/>
                  </a:moveTo>
                  <a:lnTo>
                    <a:pt x="0" y="1228174"/>
                  </a:lnTo>
                  <a:lnTo>
                    <a:pt x="0" y="124722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55392" y="5213858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20650" h="120650">
                  <a:moveTo>
                    <a:pt x="120142" y="0"/>
                  </a:moveTo>
                  <a:lnTo>
                    <a:pt x="0" y="0"/>
                  </a:lnTo>
                  <a:lnTo>
                    <a:pt x="60071" y="120142"/>
                  </a:lnTo>
                  <a:lnTo>
                    <a:pt x="1201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496425" y="4037041"/>
            <a:ext cx="61658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Stack </a:t>
            </a:r>
            <a:r>
              <a:rPr sz="1800" spc="-25" dirty="0">
                <a:latin typeface="Calibri"/>
                <a:cs typeface="Calibri"/>
              </a:rPr>
              <a:t>Grows </a:t>
            </a:r>
            <a:r>
              <a:rPr sz="1800" spc="-20" dirty="0">
                <a:latin typeface="Calibri"/>
                <a:cs typeface="Calibri"/>
              </a:rPr>
              <a:t>Down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355392" y="1752600"/>
            <a:ext cx="120650" cy="1447800"/>
            <a:chOff x="9355392" y="1752600"/>
            <a:chExt cx="120650" cy="1447800"/>
          </a:xfrm>
        </p:grpSpPr>
        <p:sp>
          <p:nvSpPr>
            <p:cNvPr id="18" name="object 18"/>
            <p:cNvSpPr/>
            <p:nvPr/>
          </p:nvSpPr>
          <p:spPr>
            <a:xfrm>
              <a:off x="9415463" y="1876974"/>
              <a:ext cx="0" cy="1323975"/>
            </a:xfrm>
            <a:custGeom>
              <a:avLst/>
              <a:gdLst/>
              <a:ahLst/>
              <a:cxnLst/>
              <a:rect l="l" t="t" r="r" b="b"/>
              <a:pathLst>
                <a:path h="1323975">
                  <a:moveTo>
                    <a:pt x="0" y="1323425"/>
                  </a:moveTo>
                  <a:lnTo>
                    <a:pt x="0" y="1905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355392" y="1752600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20650" h="120650">
                  <a:moveTo>
                    <a:pt x="60071" y="0"/>
                  </a:moveTo>
                  <a:lnTo>
                    <a:pt x="0" y="120141"/>
                  </a:lnTo>
                  <a:lnTo>
                    <a:pt x="120142" y="120141"/>
                  </a:lnTo>
                  <a:lnTo>
                    <a:pt x="600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501189" y="2087591"/>
            <a:ext cx="970280" cy="60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Increasing Addresses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42164" y="5542954"/>
            <a:ext cx="1494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262699"/>
                </a:solidFill>
                <a:latin typeface="Calibri"/>
                <a:cs typeface="Calibri"/>
              </a:rPr>
              <a:t>“Top”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621589" y="1524000"/>
            <a:ext cx="663575" cy="434975"/>
            <a:chOff x="7621589" y="1524000"/>
            <a:chExt cx="663575" cy="43497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75468" y="1577881"/>
              <a:ext cx="609600" cy="3810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621589" y="152400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609600" y="190500"/>
                  </a:moveTo>
                  <a:lnTo>
                    <a:pt x="0" y="190500"/>
                  </a:lnTo>
                  <a:lnTo>
                    <a:pt x="304800" y="381000"/>
                  </a:lnTo>
                  <a:lnTo>
                    <a:pt x="609600" y="190500"/>
                  </a:lnTo>
                  <a:close/>
                </a:path>
                <a:path w="609600" h="381000">
                  <a:moveTo>
                    <a:pt x="457200" y="0"/>
                  </a:moveTo>
                  <a:lnTo>
                    <a:pt x="152400" y="0"/>
                  </a:lnTo>
                  <a:lnTo>
                    <a:pt x="152400" y="190500"/>
                  </a:lnTo>
                  <a:lnTo>
                    <a:pt x="457200" y="1905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80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36224" y="974129"/>
            <a:ext cx="8645525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6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62699"/>
                </a:solidFill>
                <a:latin typeface="Calibri"/>
                <a:cs typeface="Calibri"/>
              </a:rPr>
              <a:t>“Bottom”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744220" algn="l"/>
                <a:tab pos="1963420" algn="l"/>
              </a:tabLst>
            </a:pPr>
            <a:r>
              <a:rPr sz="3200" b="1" spc="-25" dirty="0">
                <a:latin typeface="Courier New"/>
                <a:cs typeface="Courier New"/>
              </a:rPr>
              <a:t>lw</a:t>
            </a:r>
            <a:r>
              <a:rPr sz="3200" b="1" dirty="0">
                <a:latin typeface="Courier New"/>
                <a:cs typeface="Courier New"/>
              </a:rPr>
              <a:t>	</a:t>
            </a:r>
            <a:r>
              <a:rPr sz="3200" b="1" i="1" spc="-20" dirty="0">
                <a:latin typeface="Courier New"/>
                <a:cs typeface="Courier New"/>
              </a:rPr>
              <a:t>Dst</a:t>
            </a:r>
            <a:r>
              <a:rPr sz="3200" b="1" spc="-20" dirty="0">
                <a:latin typeface="Courier New"/>
                <a:cs typeface="Courier New"/>
              </a:rPr>
              <a:t>,</a:t>
            </a:r>
            <a:r>
              <a:rPr sz="3200" b="1" dirty="0">
                <a:latin typeface="Courier New"/>
                <a:cs typeface="Courier New"/>
              </a:rPr>
              <a:t>	</a:t>
            </a:r>
            <a:r>
              <a:rPr sz="3200" b="1" spc="-10" dirty="0">
                <a:latin typeface="Courier New"/>
                <a:cs typeface="Courier New"/>
              </a:rPr>
              <a:t>0(sp)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7204" y="1803228"/>
            <a:ext cx="6072505" cy="194818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423545">
              <a:lnSpc>
                <a:spcPct val="100000"/>
              </a:lnSpc>
              <a:spcBef>
                <a:spcPts val="815"/>
              </a:spcBef>
            </a:pP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Read</a:t>
            </a:r>
            <a:r>
              <a:rPr sz="2400" spc="-5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value</a:t>
            </a:r>
            <a:r>
              <a:rPr sz="2400" spc="-5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from</a:t>
            </a:r>
            <a:r>
              <a:rPr sz="2400" spc="-5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top</a:t>
            </a:r>
            <a:r>
              <a:rPr sz="2400" spc="-5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stack</a:t>
            </a:r>
            <a:r>
              <a:rPr sz="2400" spc="-5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at</a:t>
            </a:r>
            <a:r>
              <a:rPr sz="2400" spc="-5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62626"/>
                </a:solidFill>
                <a:latin typeface="Courier New"/>
                <a:cs typeface="Courier New"/>
              </a:rPr>
              <a:t>0(sp)</a:t>
            </a:r>
            <a:endParaRPr sz="2400">
              <a:latin typeface="Courier New"/>
              <a:cs typeface="Courier New"/>
            </a:endParaRPr>
          </a:p>
          <a:p>
            <a:pPr marL="423545">
              <a:lnSpc>
                <a:spcPct val="100000"/>
              </a:lnSpc>
              <a:spcBef>
                <a:spcPts val="715"/>
              </a:spcBef>
            </a:pP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This</a:t>
            </a:r>
            <a:r>
              <a:rPr sz="2400" spc="-3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is</a:t>
            </a:r>
            <a:r>
              <a:rPr sz="2400" spc="-2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optional</a:t>
            </a:r>
            <a:r>
              <a:rPr sz="2400" spc="-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in</a:t>
            </a:r>
            <a:r>
              <a:rPr sz="2400" spc="-2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62626"/>
                </a:solidFill>
                <a:latin typeface="Calibri"/>
                <a:cs typeface="Calibri"/>
              </a:rPr>
              <a:t>RISC-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V</a:t>
            </a:r>
            <a:r>
              <a:rPr sz="2400" spc="-2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(and</a:t>
            </a:r>
            <a:r>
              <a:rPr sz="2400" spc="-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most</a:t>
            </a:r>
            <a:r>
              <a:rPr sz="2400" spc="-2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RISC</a:t>
            </a:r>
            <a:r>
              <a:rPr sz="2400" spc="-2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62626"/>
                </a:solidFill>
                <a:latin typeface="Calibri"/>
                <a:cs typeface="Calibri"/>
              </a:rPr>
              <a:t>ISAs)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1231900" algn="l"/>
                <a:tab pos="2207260" algn="l"/>
                <a:tab pos="3182620" algn="l"/>
              </a:tabLst>
            </a:pPr>
            <a:r>
              <a:rPr sz="3200" b="1" spc="-20" dirty="0">
                <a:latin typeface="Courier New"/>
                <a:cs typeface="Courier New"/>
              </a:rPr>
              <a:t>addi</a:t>
            </a:r>
            <a:r>
              <a:rPr sz="3200" b="1" dirty="0">
                <a:latin typeface="Courier New"/>
                <a:cs typeface="Courier New"/>
              </a:rPr>
              <a:t>	</a:t>
            </a:r>
            <a:r>
              <a:rPr sz="3200" b="1" spc="-25" dirty="0">
                <a:latin typeface="Courier New"/>
                <a:cs typeface="Courier New"/>
              </a:rPr>
              <a:t>sp,</a:t>
            </a:r>
            <a:r>
              <a:rPr sz="3200" b="1" dirty="0">
                <a:latin typeface="Courier New"/>
                <a:cs typeface="Courier New"/>
              </a:rPr>
              <a:t>	</a:t>
            </a:r>
            <a:r>
              <a:rPr sz="3200" b="1" spc="-25" dirty="0">
                <a:latin typeface="Courier New"/>
                <a:cs typeface="Courier New"/>
              </a:rPr>
              <a:t>sp,</a:t>
            </a:r>
            <a:r>
              <a:rPr sz="3200" b="1" dirty="0">
                <a:latin typeface="Courier New"/>
                <a:cs typeface="Courier New"/>
              </a:rPr>
              <a:t>	</a:t>
            </a:r>
            <a:r>
              <a:rPr sz="3200" b="1" spc="-50" dirty="0">
                <a:latin typeface="Courier New"/>
                <a:cs typeface="Courier New"/>
              </a:rPr>
              <a:t>4</a:t>
            </a:r>
            <a:endParaRPr sz="3200">
              <a:latin typeface="Courier New"/>
              <a:cs typeface="Courier New"/>
            </a:endParaRPr>
          </a:p>
          <a:p>
            <a:pPr marL="423545">
              <a:lnSpc>
                <a:spcPct val="100000"/>
              </a:lnSpc>
              <a:spcBef>
                <a:spcPts val="265"/>
              </a:spcBef>
            </a:pP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Deallocate</a:t>
            </a:r>
            <a:r>
              <a:rPr sz="24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4</a:t>
            </a:r>
            <a:r>
              <a:rPr sz="24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bytes</a:t>
            </a:r>
            <a:r>
              <a:rPr sz="2400" spc="-4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from</a:t>
            </a:r>
            <a:r>
              <a:rPr sz="24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top</a:t>
            </a:r>
            <a:r>
              <a:rPr sz="2400" spc="-4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62626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62626"/>
                </a:solidFill>
                <a:latin typeface="Calibri"/>
                <a:cs typeface="Calibri"/>
              </a:rPr>
              <a:t>stack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242933" y="1968500"/>
            <a:ext cx="1450340" cy="3724275"/>
            <a:chOff x="7242933" y="1968500"/>
            <a:chExt cx="1450340" cy="3724275"/>
          </a:xfrm>
        </p:grpSpPr>
        <p:sp>
          <p:nvSpPr>
            <p:cNvPr id="29" name="object 29"/>
            <p:cNvSpPr/>
            <p:nvPr/>
          </p:nvSpPr>
          <p:spPr>
            <a:xfrm>
              <a:off x="7280276" y="1981200"/>
              <a:ext cx="1304925" cy="3200400"/>
            </a:xfrm>
            <a:custGeom>
              <a:avLst/>
              <a:gdLst/>
              <a:ahLst/>
              <a:cxnLst/>
              <a:rect l="l" t="t" r="r" b="b"/>
              <a:pathLst>
                <a:path w="1304925" h="3200400">
                  <a:moveTo>
                    <a:pt x="0" y="0"/>
                  </a:moveTo>
                  <a:lnTo>
                    <a:pt x="1304925" y="0"/>
                  </a:lnTo>
                  <a:lnTo>
                    <a:pt x="1304925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78688" y="4864100"/>
              <a:ext cx="1295400" cy="12700"/>
            </a:xfrm>
            <a:custGeom>
              <a:avLst/>
              <a:gdLst/>
              <a:ahLst/>
              <a:cxnLst/>
              <a:rect l="l" t="t" r="r" b="b"/>
              <a:pathLst>
                <a:path w="1295400" h="12700">
                  <a:moveTo>
                    <a:pt x="0" y="12700"/>
                  </a:moveTo>
                  <a:lnTo>
                    <a:pt x="1295400" y="12700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78688" y="4876800"/>
              <a:ext cx="1301750" cy="304800"/>
            </a:xfrm>
            <a:custGeom>
              <a:avLst/>
              <a:gdLst/>
              <a:ahLst/>
              <a:cxnLst/>
              <a:rect l="l" t="t" r="r" b="b"/>
              <a:pathLst>
                <a:path w="1301750" h="304800">
                  <a:moveTo>
                    <a:pt x="0" y="0"/>
                  </a:moveTo>
                  <a:lnTo>
                    <a:pt x="1301750" y="0"/>
                  </a:lnTo>
                  <a:lnTo>
                    <a:pt x="130175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77099" y="4876800"/>
              <a:ext cx="1301750" cy="304800"/>
            </a:xfrm>
            <a:custGeom>
              <a:avLst/>
              <a:gdLst/>
              <a:ahLst/>
              <a:cxnLst/>
              <a:rect l="l" t="t" r="r" b="b"/>
              <a:pathLst>
                <a:path w="1301750" h="304800">
                  <a:moveTo>
                    <a:pt x="0" y="0"/>
                  </a:moveTo>
                  <a:lnTo>
                    <a:pt x="1301750" y="0"/>
                  </a:lnTo>
                  <a:lnTo>
                    <a:pt x="130175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42933" y="4876798"/>
              <a:ext cx="1450340" cy="393065"/>
            </a:xfrm>
            <a:custGeom>
              <a:avLst/>
              <a:gdLst/>
              <a:ahLst/>
              <a:cxnLst/>
              <a:rect l="l" t="t" r="r" b="b"/>
              <a:pathLst>
                <a:path w="1450340" h="393064">
                  <a:moveTo>
                    <a:pt x="1450206" y="0"/>
                  </a:moveTo>
                  <a:lnTo>
                    <a:pt x="0" y="0"/>
                  </a:lnTo>
                  <a:lnTo>
                    <a:pt x="0" y="392664"/>
                  </a:lnTo>
                  <a:lnTo>
                    <a:pt x="1450206" y="392664"/>
                  </a:lnTo>
                  <a:lnTo>
                    <a:pt x="14502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84994" y="5006880"/>
              <a:ext cx="604836" cy="6858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631113" y="4953000"/>
              <a:ext cx="605155" cy="685800"/>
            </a:xfrm>
            <a:custGeom>
              <a:avLst/>
              <a:gdLst/>
              <a:ahLst/>
              <a:cxnLst/>
              <a:rect l="l" t="t" r="r" b="b"/>
              <a:pathLst>
                <a:path w="605154" h="685800">
                  <a:moveTo>
                    <a:pt x="306030" y="0"/>
                  </a:moveTo>
                  <a:lnTo>
                    <a:pt x="0" y="191865"/>
                  </a:lnTo>
                  <a:lnTo>
                    <a:pt x="147373" y="196850"/>
                  </a:lnTo>
                  <a:lnTo>
                    <a:pt x="147373" y="685800"/>
                  </a:lnTo>
                  <a:lnTo>
                    <a:pt x="452060" y="685800"/>
                  </a:lnTo>
                  <a:lnTo>
                    <a:pt x="452060" y="203200"/>
                  </a:lnTo>
                  <a:lnTo>
                    <a:pt x="604837" y="203200"/>
                  </a:lnTo>
                  <a:lnTo>
                    <a:pt x="306030" y="0"/>
                  </a:lnTo>
                  <a:close/>
                </a:path>
              </a:pathLst>
            </a:custGeom>
            <a:solidFill>
              <a:srgbClr val="980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280276" y="4559300"/>
              <a:ext cx="1295400" cy="25400"/>
            </a:xfrm>
            <a:custGeom>
              <a:avLst/>
              <a:gdLst/>
              <a:ahLst/>
              <a:cxnLst/>
              <a:rect l="l" t="t" r="r" b="b"/>
              <a:pathLst>
                <a:path w="1295400" h="25400">
                  <a:moveTo>
                    <a:pt x="0" y="0"/>
                  </a:moveTo>
                  <a:lnTo>
                    <a:pt x="1295400" y="0"/>
                  </a:lnTo>
                  <a:lnTo>
                    <a:pt x="1295400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942139" y="4687491"/>
            <a:ext cx="2298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Calibri"/>
                <a:cs typeface="Calibri"/>
              </a:rPr>
              <a:t>+4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564314" y="4791075"/>
            <a:ext cx="422275" cy="244475"/>
            <a:chOff x="6564314" y="4791075"/>
            <a:chExt cx="422275" cy="244475"/>
          </a:xfrm>
        </p:grpSpPr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8193" y="4844956"/>
              <a:ext cx="368300" cy="1905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564314" y="4791075"/>
              <a:ext cx="368300" cy="190500"/>
            </a:xfrm>
            <a:custGeom>
              <a:avLst/>
              <a:gdLst/>
              <a:ahLst/>
              <a:cxnLst/>
              <a:rect l="l" t="t" r="r" b="b"/>
              <a:pathLst>
                <a:path w="368300" h="190500">
                  <a:moveTo>
                    <a:pt x="276225" y="95250"/>
                  </a:moveTo>
                  <a:lnTo>
                    <a:pt x="92075" y="95250"/>
                  </a:lnTo>
                  <a:lnTo>
                    <a:pt x="92075" y="190500"/>
                  </a:lnTo>
                  <a:lnTo>
                    <a:pt x="276225" y="190500"/>
                  </a:lnTo>
                  <a:lnTo>
                    <a:pt x="276225" y="95250"/>
                  </a:lnTo>
                  <a:close/>
                </a:path>
                <a:path w="368300" h="190500">
                  <a:moveTo>
                    <a:pt x="184150" y="0"/>
                  </a:moveTo>
                  <a:lnTo>
                    <a:pt x="0" y="95250"/>
                  </a:lnTo>
                  <a:lnTo>
                    <a:pt x="368300" y="95250"/>
                  </a:lnTo>
                  <a:lnTo>
                    <a:pt x="184150" y="0"/>
                  </a:lnTo>
                  <a:close/>
                </a:path>
              </a:pathLst>
            </a:custGeom>
            <a:solidFill>
              <a:srgbClr val="9800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750357" y="4429671"/>
            <a:ext cx="2885440" cy="692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30"/>
              </a:lnSpc>
              <a:spcBef>
                <a:spcPts val="100"/>
              </a:spcBef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Next</a:t>
            </a:r>
            <a:r>
              <a:rPr sz="2400" b="1" spc="-8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8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Pointer:</a:t>
            </a:r>
            <a:r>
              <a:rPr sz="2400" b="1" spc="-85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sp</a:t>
            </a:r>
            <a:endParaRPr sz="2400">
              <a:latin typeface="Courier New"/>
              <a:cs typeface="Courier New"/>
            </a:endParaRPr>
          </a:p>
          <a:p>
            <a:pPr marL="60960">
              <a:lnSpc>
                <a:spcPts val="2630"/>
              </a:lnSpc>
            </a:pP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Prev</a:t>
            </a:r>
            <a:r>
              <a:rPr sz="2400" b="1" spc="-85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Stack</a:t>
            </a:r>
            <a:r>
              <a:rPr sz="2400" b="1" spc="-85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62699"/>
                </a:solidFill>
                <a:latin typeface="Calibri"/>
                <a:cs typeface="Calibri"/>
              </a:rPr>
              <a:t>Pointer:</a:t>
            </a:r>
            <a:r>
              <a:rPr sz="2400" b="1" spc="-90" dirty="0">
                <a:solidFill>
                  <a:srgbClr val="262699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sp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2C1A8CA4-1673-F608-D933-07FE99295A34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Popping and freeing from the stack.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9C75B8E-DEEE-5B02-7F50-856DFEAE8572}"/>
              </a:ext>
            </a:extLst>
          </p:cNvPr>
          <p:cNvGrpSpPr/>
          <p:nvPr/>
        </p:nvGrpSpPr>
        <p:grpSpPr>
          <a:xfrm>
            <a:off x="723465" y="1288975"/>
            <a:ext cx="4638675" cy="4278070"/>
            <a:chOff x="527522" y="1147461"/>
            <a:chExt cx="4638675" cy="4278070"/>
          </a:xfrm>
        </p:grpSpPr>
        <p:grpSp>
          <p:nvGrpSpPr>
            <p:cNvPr id="3" name="object 3"/>
            <p:cNvGrpSpPr/>
            <p:nvPr/>
          </p:nvGrpSpPr>
          <p:grpSpPr>
            <a:xfrm>
              <a:off x="527522" y="1147536"/>
              <a:ext cx="4638675" cy="4277995"/>
              <a:chOff x="26779" y="1060450"/>
              <a:chExt cx="4638675" cy="4277995"/>
            </a:xfrm>
          </p:grpSpPr>
          <p:pic>
            <p:nvPicPr>
              <p:cNvPr id="4" name="object 4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80660" y="3953609"/>
                <a:ext cx="4584700" cy="1384298"/>
              </a:xfrm>
              <a:prstGeom prst="rect">
                <a:avLst/>
              </a:prstGeom>
            </p:spPr>
          </p:pic>
          <p:sp>
            <p:nvSpPr>
              <p:cNvPr id="5" name="object 5"/>
              <p:cNvSpPr/>
              <p:nvPr/>
            </p:nvSpPr>
            <p:spPr>
              <a:xfrm>
                <a:off x="33129" y="3906078"/>
                <a:ext cx="4572000" cy="13716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1371600">
                    <a:moveTo>
                      <a:pt x="4572000" y="0"/>
                    </a:moveTo>
                    <a:lnTo>
                      <a:pt x="0" y="0"/>
                    </a:lnTo>
                    <a:lnTo>
                      <a:pt x="0" y="1371598"/>
                    </a:lnTo>
                    <a:lnTo>
                      <a:pt x="4572000" y="1371598"/>
                    </a:lnTo>
                    <a:lnTo>
                      <a:pt x="4572000" y="0"/>
                    </a:lnTo>
                    <a:close/>
                  </a:path>
                </a:pathLst>
              </a:custGeom>
              <a:solidFill>
                <a:srgbClr val="CCFFC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33129" y="3906078"/>
                <a:ext cx="4572000" cy="13716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13716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1371598"/>
                    </a:lnTo>
                    <a:lnTo>
                      <a:pt x="0" y="1371598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" name="object 7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0661" y="2124809"/>
                <a:ext cx="4584700" cy="1841500"/>
              </a:xfrm>
              <a:prstGeom prst="rect">
                <a:avLst/>
              </a:prstGeom>
            </p:spPr>
          </p:pic>
          <p:sp>
            <p:nvSpPr>
              <p:cNvPr id="8" name="object 8"/>
              <p:cNvSpPr/>
              <p:nvPr/>
            </p:nvSpPr>
            <p:spPr>
              <a:xfrm>
                <a:off x="33130" y="2077278"/>
                <a:ext cx="4572000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1828800">
                    <a:moveTo>
                      <a:pt x="4572000" y="0"/>
                    </a:moveTo>
                    <a:lnTo>
                      <a:pt x="0" y="0"/>
                    </a:lnTo>
                    <a:lnTo>
                      <a:pt x="0" y="1828800"/>
                    </a:lnTo>
                    <a:lnTo>
                      <a:pt x="4572000" y="1828800"/>
                    </a:lnTo>
                    <a:lnTo>
                      <a:pt x="4572000" y="0"/>
                    </a:lnTo>
                    <a:close/>
                  </a:path>
                </a:pathLst>
              </a:custGeom>
              <a:solidFill>
                <a:srgbClr val="F6F5B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33130" y="2077278"/>
                <a:ext cx="4572000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18288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1828800"/>
                    </a:lnTo>
                    <a:lnTo>
                      <a:pt x="0" y="182880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" name="object 10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0660" y="1114331"/>
                <a:ext cx="4584700" cy="1003300"/>
              </a:xfrm>
              <a:prstGeom prst="rect">
                <a:avLst/>
              </a:prstGeom>
            </p:spPr>
          </p:pic>
          <p:sp>
            <p:nvSpPr>
              <p:cNvPr id="11" name="object 11"/>
              <p:cNvSpPr/>
              <p:nvPr/>
            </p:nvSpPr>
            <p:spPr>
              <a:xfrm>
                <a:off x="33129" y="1066800"/>
                <a:ext cx="4572000" cy="9906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90600">
                    <a:moveTo>
                      <a:pt x="4572000" y="0"/>
                    </a:moveTo>
                    <a:lnTo>
                      <a:pt x="0" y="0"/>
                    </a:lnTo>
                    <a:lnTo>
                      <a:pt x="0" y="990600"/>
                    </a:lnTo>
                    <a:lnTo>
                      <a:pt x="4572000" y="990600"/>
                    </a:lnTo>
                    <a:lnTo>
                      <a:pt x="4572000" y="0"/>
                    </a:lnTo>
                    <a:close/>
                  </a:path>
                </a:pathLst>
              </a:custGeom>
              <a:solidFill>
                <a:srgbClr val="EFCFA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33129" y="1066800"/>
                <a:ext cx="4572000" cy="9906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906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990600"/>
                    </a:lnTo>
                    <a:lnTo>
                      <a:pt x="0" y="99060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3" name="object 13"/>
            <p:cNvSpPr txBox="1"/>
            <p:nvPr/>
          </p:nvSpPr>
          <p:spPr>
            <a:xfrm>
              <a:off x="565622" y="1147461"/>
              <a:ext cx="4293870" cy="40462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ts val="2350"/>
                </a:lnSpc>
                <a:spcBef>
                  <a:spcPts val="100"/>
                </a:spcBef>
                <a:tabLst>
                  <a:tab pos="622300" algn="l"/>
                  <a:tab pos="1689100" algn="l"/>
                  <a:tab pos="2146300" algn="l"/>
                </a:tabLst>
              </a:pPr>
              <a:r>
                <a:rPr sz="2000" spc="-25" dirty="0">
                  <a:latin typeface="Courier New"/>
                  <a:cs typeface="Courier New"/>
                </a:rPr>
                <a:t>int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10" dirty="0">
                  <a:latin typeface="Courier New"/>
                  <a:cs typeface="Courier New"/>
                </a:rPr>
                <a:t>caller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25" dirty="0">
                  <a:latin typeface="Courier New"/>
                  <a:cs typeface="Courier New"/>
                </a:rPr>
                <a:t>()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50" dirty="0">
                  <a:latin typeface="Courier New"/>
                  <a:cs typeface="Courier New"/>
                </a:rPr>
                <a:t>{</a:t>
              </a:r>
              <a:endParaRPr sz="2000">
                <a:latin typeface="Courier New"/>
                <a:cs typeface="Courier New"/>
              </a:endParaRPr>
            </a:p>
            <a:p>
              <a:pPr marL="317500">
                <a:lnSpc>
                  <a:spcPts val="2300"/>
                </a:lnSpc>
                <a:tabLst>
                  <a:tab pos="1384300" algn="l"/>
                  <a:tab pos="3060700" algn="l"/>
                </a:tabLst>
              </a:pPr>
              <a:r>
                <a:rPr sz="2000" spc="-10" dirty="0">
                  <a:latin typeface="Courier New"/>
                  <a:cs typeface="Courier New"/>
                </a:rPr>
                <a:t>return</a:t>
              </a:r>
              <a:r>
                <a:rPr sz="2000" dirty="0">
                  <a:latin typeface="Courier New"/>
                  <a:cs typeface="Courier New"/>
                </a:rPr>
                <a:t>	absadd(-</a:t>
              </a:r>
              <a:r>
                <a:rPr sz="2000" spc="-25" dirty="0">
                  <a:latin typeface="Courier New"/>
                  <a:cs typeface="Courier New"/>
                </a:rPr>
                <a:t>1,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25" dirty="0">
                  <a:latin typeface="Courier New"/>
                  <a:cs typeface="Courier New"/>
                </a:rPr>
                <a:t>2);</a:t>
              </a:r>
              <a:endParaRPr sz="2000">
                <a:latin typeface="Courier New"/>
                <a:cs typeface="Courier New"/>
              </a:endParaRPr>
            </a:p>
            <a:p>
              <a:pPr marL="12700">
                <a:lnSpc>
                  <a:spcPts val="2350"/>
                </a:lnSpc>
              </a:pPr>
              <a:r>
                <a:rPr sz="2000" spc="-50" dirty="0">
                  <a:latin typeface="Courier New"/>
                  <a:cs typeface="Courier New"/>
                </a:rPr>
                <a:t>}</a:t>
              </a:r>
              <a:endParaRPr sz="2000">
                <a:latin typeface="Courier New"/>
                <a:cs typeface="Courier New"/>
              </a:endParaRPr>
            </a:p>
            <a:p>
              <a:pPr marL="622300" marR="157480" indent="-610235">
                <a:lnSpc>
                  <a:spcPts val="2300"/>
                </a:lnSpc>
                <a:spcBef>
                  <a:spcPts val="1115"/>
                </a:spcBef>
                <a:tabLst>
                  <a:tab pos="622300" algn="l"/>
                  <a:tab pos="1231900" algn="l"/>
                  <a:tab pos="1689100" algn="l"/>
                  <a:tab pos="1993900" algn="l"/>
                  <a:tab pos="2451100" algn="l"/>
                  <a:tab pos="2908300" algn="l"/>
                  <a:tab pos="3517900" algn="l"/>
                  <a:tab pos="3975100" algn="l"/>
                </a:tabLst>
              </a:pPr>
              <a:r>
                <a:rPr sz="2000" spc="-25" dirty="0">
                  <a:latin typeface="Courier New"/>
                  <a:cs typeface="Courier New"/>
                </a:rPr>
                <a:t>int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10" dirty="0">
                  <a:latin typeface="Courier New"/>
                  <a:cs typeface="Courier New"/>
                </a:rPr>
                <a:t>absadd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20" dirty="0">
                  <a:latin typeface="Courier New"/>
                  <a:cs typeface="Courier New"/>
                </a:rPr>
                <a:t>(int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25" dirty="0">
                  <a:latin typeface="Courier New"/>
                  <a:cs typeface="Courier New"/>
                </a:rPr>
                <a:t>x,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25" dirty="0">
                  <a:latin typeface="Courier New"/>
                  <a:cs typeface="Courier New"/>
                </a:rPr>
                <a:t>int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25" dirty="0">
                  <a:latin typeface="Courier New"/>
                  <a:cs typeface="Courier New"/>
                </a:rPr>
                <a:t>y)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50" dirty="0">
                  <a:latin typeface="Courier New"/>
                  <a:cs typeface="Courier New"/>
                </a:rPr>
                <a:t>{ </a:t>
              </a:r>
              <a:r>
                <a:rPr sz="2000" spc="-25" dirty="0">
                  <a:latin typeface="Courier New"/>
                  <a:cs typeface="Courier New"/>
                </a:rPr>
                <a:t>int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25" dirty="0">
                  <a:latin typeface="Courier New"/>
                  <a:cs typeface="Courier New"/>
                </a:rPr>
                <a:t>t0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50" dirty="0">
                  <a:latin typeface="Courier New"/>
                  <a:cs typeface="Courier New"/>
                </a:rPr>
                <a:t>=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10" dirty="0">
                  <a:latin typeface="Courier New"/>
                  <a:cs typeface="Courier New"/>
                </a:rPr>
                <a:t>abs(x);</a:t>
              </a:r>
              <a:endParaRPr sz="2000">
                <a:latin typeface="Courier New"/>
                <a:cs typeface="Courier New"/>
              </a:endParaRPr>
            </a:p>
            <a:p>
              <a:pPr marL="622300" marR="1376680">
                <a:lnSpc>
                  <a:spcPts val="2300"/>
                </a:lnSpc>
                <a:tabLst>
                  <a:tab pos="1231900" algn="l"/>
                  <a:tab pos="1689100" algn="l"/>
                  <a:tab pos="1993900" algn="l"/>
                </a:tabLst>
              </a:pPr>
              <a:r>
                <a:rPr sz="2000" spc="-25" dirty="0">
                  <a:latin typeface="Courier New"/>
                  <a:cs typeface="Courier New"/>
                </a:rPr>
                <a:t>int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25" dirty="0">
                  <a:latin typeface="Courier New"/>
                  <a:cs typeface="Courier New"/>
                </a:rPr>
                <a:t>t1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50" dirty="0">
                  <a:latin typeface="Courier New"/>
                  <a:cs typeface="Courier New"/>
                </a:rPr>
                <a:t>=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10" dirty="0">
                  <a:latin typeface="Courier New"/>
                  <a:cs typeface="Courier New"/>
                </a:rPr>
                <a:t>abs(y) return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10" dirty="0">
                  <a:latin typeface="Courier New"/>
                  <a:cs typeface="Courier New"/>
                </a:rPr>
                <a:t>t0+t1;</a:t>
              </a:r>
              <a:endParaRPr sz="2000">
                <a:latin typeface="Courier New"/>
                <a:cs typeface="Courier New"/>
              </a:endParaRPr>
            </a:p>
            <a:p>
              <a:pPr marL="12700">
                <a:lnSpc>
                  <a:spcPts val="2240"/>
                </a:lnSpc>
              </a:pPr>
              <a:r>
                <a:rPr sz="2000" spc="-50" dirty="0">
                  <a:latin typeface="Courier New"/>
                  <a:cs typeface="Courier New"/>
                </a:rPr>
                <a:t>}</a:t>
              </a:r>
              <a:endParaRPr sz="2000">
                <a:latin typeface="Courier New"/>
                <a:cs typeface="Courier New"/>
              </a:endParaRPr>
            </a:p>
            <a:p>
              <a:pPr>
                <a:lnSpc>
                  <a:spcPct val="100000"/>
                </a:lnSpc>
                <a:spcBef>
                  <a:spcPts val="535"/>
                </a:spcBef>
              </a:pPr>
              <a:endParaRPr sz="2000">
                <a:latin typeface="Courier New"/>
                <a:cs typeface="Courier New"/>
              </a:endParaRPr>
            </a:p>
            <a:p>
              <a:pPr marL="12700">
                <a:lnSpc>
                  <a:spcPts val="2350"/>
                </a:lnSpc>
                <a:tabLst>
                  <a:tab pos="622300" algn="l"/>
                  <a:tab pos="1231900" algn="l"/>
                  <a:tab pos="1993900" algn="l"/>
                  <a:tab pos="2451100" algn="l"/>
                </a:tabLst>
              </a:pPr>
              <a:r>
                <a:rPr sz="2000" spc="-25" dirty="0">
                  <a:latin typeface="Courier New"/>
                  <a:cs typeface="Courier New"/>
                </a:rPr>
                <a:t>int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25" dirty="0">
                  <a:latin typeface="Courier New"/>
                  <a:cs typeface="Courier New"/>
                </a:rPr>
                <a:t>abs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20" dirty="0">
                  <a:latin typeface="Courier New"/>
                  <a:cs typeface="Courier New"/>
                </a:rPr>
                <a:t>(int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25" dirty="0">
                  <a:latin typeface="Courier New"/>
                  <a:cs typeface="Courier New"/>
                </a:rPr>
                <a:t>v)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50" dirty="0">
                  <a:latin typeface="Courier New"/>
                  <a:cs typeface="Courier New"/>
                </a:rPr>
                <a:t>{</a:t>
              </a:r>
              <a:endParaRPr sz="2000">
                <a:latin typeface="Courier New"/>
                <a:cs typeface="Courier New"/>
              </a:endParaRPr>
            </a:p>
            <a:p>
              <a:pPr marL="317500" marR="5080">
                <a:lnSpc>
                  <a:spcPts val="2300"/>
                </a:lnSpc>
                <a:spcBef>
                  <a:spcPts val="110"/>
                </a:spcBef>
                <a:tabLst>
                  <a:tab pos="927100" algn="l"/>
                  <a:tab pos="1384300" algn="l"/>
                  <a:tab pos="1689100" algn="l"/>
                  <a:tab pos="1841500" algn="l"/>
                  <a:tab pos="1993900" algn="l"/>
                  <a:tab pos="2146300" algn="l"/>
                  <a:tab pos="2298700" algn="l"/>
                  <a:tab pos="2755900" algn="l"/>
                  <a:tab pos="3060700" algn="l"/>
                  <a:tab pos="3365500" algn="l"/>
                  <a:tab pos="3670300" algn="l"/>
                  <a:tab pos="3975100" algn="l"/>
                </a:tabLst>
              </a:pPr>
              <a:r>
                <a:rPr sz="2000" spc="-25" dirty="0">
                  <a:latin typeface="Courier New"/>
                  <a:cs typeface="Courier New"/>
                </a:rPr>
                <a:t>int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20" dirty="0">
                  <a:latin typeface="Courier New"/>
                  <a:cs typeface="Courier New"/>
                </a:rPr>
                <a:t>mask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50" dirty="0">
                  <a:latin typeface="Courier New"/>
                  <a:cs typeface="Courier New"/>
                </a:rPr>
                <a:t>=</a:t>
              </a:r>
              <a:r>
                <a:rPr sz="2000" dirty="0">
                  <a:latin typeface="Courier New"/>
                  <a:cs typeface="Courier New"/>
                </a:rPr>
                <a:t>		</a:t>
              </a:r>
              <a:r>
                <a:rPr sz="2000" spc="-50" dirty="0">
                  <a:latin typeface="Courier New"/>
                  <a:cs typeface="Courier New"/>
                </a:rPr>
                <a:t>v</a:t>
              </a:r>
              <a:r>
                <a:rPr sz="2000" dirty="0">
                  <a:latin typeface="Courier New"/>
                  <a:cs typeface="Courier New"/>
                </a:rPr>
                <a:t>		</a:t>
              </a:r>
              <a:r>
                <a:rPr sz="2000" spc="-25" dirty="0">
                  <a:latin typeface="Courier New"/>
                  <a:cs typeface="Courier New"/>
                </a:rPr>
                <a:t>&gt;&gt;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50" dirty="0">
                  <a:latin typeface="Courier New"/>
                  <a:cs typeface="Courier New"/>
                </a:rPr>
                <a:t>4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50" dirty="0">
                  <a:latin typeface="Courier New"/>
                  <a:cs typeface="Courier New"/>
                </a:rPr>
                <a:t>*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50" dirty="0">
                  <a:latin typeface="Courier New"/>
                  <a:cs typeface="Courier New"/>
                </a:rPr>
                <a:t>8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50" dirty="0">
                  <a:latin typeface="Courier New"/>
                  <a:cs typeface="Courier New"/>
                </a:rPr>
                <a:t>-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25" dirty="0">
                  <a:latin typeface="Courier New"/>
                  <a:cs typeface="Courier New"/>
                </a:rPr>
                <a:t>1; </a:t>
              </a:r>
              <a:r>
                <a:rPr sz="2000" spc="-10" dirty="0">
                  <a:latin typeface="Courier New"/>
                  <a:cs typeface="Courier New"/>
                </a:rPr>
                <a:t>return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25" dirty="0">
                  <a:latin typeface="Courier New"/>
                  <a:cs typeface="Courier New"/>
                </a:rPr>
                <a:t>(v</a:t>
              </a:r>
              <a:r>
                <a:rPr sz="2000" dirty="0">
                  <a:latin typeface="Courier New"/>
                  <a:cs typeface="Courier New"/>
                </a:rPr>
                <a:t>		</a:t>
              </a:r>
              <a:r>
                <a:rPr sz="2000" spc="-50" dirty="0">
                  <a:latin typeface="Courier New"/>
                  <a:cs typeface="Courier New"/>
                </a:rPr>
                <a:t>+</a:t>
              </a:r>
              <a:r>
                <a:rPr sz="2000" dirty="0">
                  <a:latin typeface="Courier New"/>
                  <a:cs typeface="Courier New"/>
                </a:rPr>
                <a:t>		</a:t>
              </a:r>
              <a:r>
                <a:rPr sz="2000" spc="-10" dirty="0">
                  <a:latin typeface="Courier New"/>
                  <a:cs typeface="Courier New"/>
                </a:rPr>
                <a:t>mask)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50" dirty="0">
                  <a:latin typeface="Courier New"/>
                  <a:cs typeface="Courier New"/>
                </a:rPr>
                <a:t>^</a:t>
              </a:r>
              <a:r>
                <a:rPr sz="2000" dirty="0">
                  <a:latin typeface="Courier New"/>
                  <a:cs typeface="Courier New"/>
                </a:rPr>
                <a:t>	</a:t>
              </a:r>
              <a:r>
                <a:rPr sz="2000" spc="-10" dirty="0">
                  <a:latin typeface="Courier New"/>
                  <a:cs typeface="Courier New"/>
                </a:rPr>
                <a:t>mask;</a:t>
              </a:r>
              <a:endParaRPr sz="2000">
                <a:latin typeface="Courier New"/>
                <a:cs typeface="Courier New"/>
              </a:endParaRPr>
            </a:p>
            <a:p>
              <a:pPr marL="12700">
                <a:lnSpc>
                  <a:spcPts val="2240"/>
                </a:lnSpc>
              </a:pPr>
              <a:r>
                <a:rPr sz="2000" spc="-50" dirty="0">
                  <a:latin typeface="Courier New"/>
                  <a:cs typeface="Courier New"/>
                </a:rPr>
                <a:t>}</a:t>
              </a:r>
              <a:endParaRPr sz="2000">
                <a:latin typeface="Courier New"/>
                <a:cs typeface="Courier New"/>
              </a:endParaRP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ACCF270C-BB48-1803-85C6-F2234A674095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Procedure control-flow: example.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724400" y="1066800"/>
            <a:ext cx="7391400" cy="2514600"/>
          </a:xfrm>
          <a:custGeom>
            <a:avLst/>
            <a:gdLst/>
            <a:ahLst/>
            <a:cxnLst/>
            <a:rect l="l" t="t" r="r" b="b"/>
            <a:pathLst>
              <a:path w="7391400" h="2514600">
                <a:moveTo>
                  <a:pt x="7391398" y="0"/>
                </a:moveTo>
                <a:lnTo>
                  <a:pt x="0" y="0"/>
                </a:lnTo>
                <a:lnTo>
                  <a:pt x="0" y="2514600"/>
                </a:lnTo>
                <a:lnTo>
                  <a:pt x="7391398" y="2514600"/>
                </a:lnTo>
                <a:lnTo>
                  <a:pt x="7391398" y="0"/>
                </a:lnTo>
                <a:close/>
              </a:path>
            </a:pathLst>
          </a:custGeom>
          <a:solidFill>
            <a:srgbClr val="EFCF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24400" y="1066800"/>
            <a:ext cx="7391400" cy="2514600"/>
          </a:xfrm>
          <a:custGeom>
            <a:avLst/>
            <a:gdLst/>
            <a:ahLst/>
            <a:cxnLst/>
            <a:rect l="l" t="t" r="r" b="b"/>
            <a:pathLst>
              <a:path w="7391400" h="2514600">
                <a:moveTo>
                  <a:pt x="0" y="0"/>
                </a:moveTo>
                <a:lnTo>
                  <a:pt x="7391398" y="0"/>
                </a:lnTo>
                <a:lnTo>
                  <a:pt x="7391398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56150" y="1060375"/>
            <a:ext cx="10928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ourier New"/>
                <a:cs typeface="Courier New"/>
              </a:rPr>
              <a:t>caller: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041950" y="1407715"/>
          <a:ext cx="6617970" cy="1163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77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R="36830" algn="ctr">
                        <a:lnSpc>
                          <a:spcPts val="2065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400500: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65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addi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65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sp,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65"/>
                        </a:lnSpc>
                        <a:tabLst>
                          <a:tab pos="685800" algn="l"/>
                        </a:tabLst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sp,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-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4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36830" algn="ctr">
                        <a:lnSpc>
                          <a:spcPts val="20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400504: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sw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ra,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0(sp)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0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save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  <a:tabLst>
                          <a:tab pos="685800" algn="l"/>
                        </a:tabLst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ret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addr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36830" algn="ctr">
                        <a:lnSpc>
                          <a:spcPts val="20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400508: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addi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a0,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  <a:tabLst>
                          <a:tab pos="685800" algn="l"/>
                        </a:tabLst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x0,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-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0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arg0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  <a:tabLst>
                          <a:tab pos="381000" algn="l"/>
                        </a:tabLst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-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R="36830" algn="ctr">
                        <a:lnSpc>
                          <a:spcPts val="20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40050C: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addi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a1,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  <a:tabLst>
                          <a:tab pos="685800" algn="l"/>
                        </a:tabLst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x0,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0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arg1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  <a:tabLst>
                          <a:tab pos="381000" algn="l"/>
                        </a:tabLst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FCF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061000" y="2520875"/>
            <a:ext cx="1854835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  <a:tabLst>
                <a:tab pos="1231900" algn="l"/>
              </a:tabLst>
            </a:pPr>
            <a:r>
              <a:rPr sz="2000" spc="-10" dirty="0">
                <a:latin typeface="Courier New"/>
                <a:cs typeface="Courier New"/>
              </a:rPr>
              <a:t>400510: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jal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  <a:tabLst>
                <a:tab pos="1231900" algn="l"/>
              </a:tabLst>
            </a:pPr>
            <a:r>
              <a:rPr sz="2000" spc="-10" dirty="0">
                <a:latin typeface="Courier New"/>
                <a:cs typeface="Courier New"/>
              </a:rPr>
              <a:t>400514: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lw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50"/>
              </a:lnSpc>
              <a:tabLst>
                <a:tab pos="1231900" algn="l"/>
              </a:tabLst>
            </a:pPr>
            <a:r>
              <a:rPr sz="2000" spc="-10" dirty="0">
                <a:latin typeface="Courier New"/>
                <a:cs typeface="Courier New"/>
              </a:rPr>
              <a:t>400518: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jalr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94956" y="2520875"/>
            <a:ext cx="1550035" cy="9144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60"/>
              </a:spcBef>
              <a:tabLst>
                <a:tab pos="622300" algn="l"/>
              </a:tabLst>
            </a:pPr>
            <a:r>
              <a:rPr sz="2000" spc="-25" dirty="0">
                <a:latin typeface="Courier New"/>
                <a:cs typeface="Courier New"/>
              </a:rPr>
              <a:t>ra,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absadd </a:t>
            </a:r>
            <a:r>
              <a:rPr sz="2000" spc="-25" dirty="0">
                <a:latin typeface="Courier New"/>
                <a:cs typeface="Courier New"/>
              </a:rPr>
              <a:t>ra,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0(sp) </a:t>
            </a:r>
            <a:r>
              <a:rPr sz="2000" spc="-25" dirty="0">
                <a:latin typeface="Courier New"/>
                <a:cs typeface="Courier New"/>
              </a:rPr>
              <a:t>x0,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ra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28150" y="2520875"/>
            <a:ext cx="2159635" cy="9144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60"/>
              </a:spcBef>
              <a:tabLst>
                <a:tab pos="316865" algn="l"/>
                <a:tab pos="1536700" algn="l"/>
              </a:tabLst>
            </a:pP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absadd(-</a:t>
            </a:r>
            <a:r>
              <a:rPr sz="2000" spc="-20" dirty="0">
                <a:latin typeface="Courier New"/>
                <a:cs typeface="Courier New"/>
              </a:rPr>
              <a:t>1,2) </a:t>
            </a: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restore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ra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40"/>
              </a:lnSpc>
              <a:tabLst>
                <a:tab pos="316865" algn="l"/>
              </a:tabLst>
            </a:pP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return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6779" y="3899727"/>
            <a:ext cx="4638675" cy="1438275"/>
            <a:chOff x="26779" y="3899727"/>
            <a:chExt cx="4638675" cy="143827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60" y="3953608"/>
              <a:ext cx="4584700" cy="138429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3129" y="3906077"/>
              <a:ext cx="4572000" cy="1371600"/>
            </a:xfrm>
            <a:custGeom>
              <a:avLst/>
              <a:gdLst/>
              <a:ahLst/>
              <a:cxnLst/>
              <a:rect l="l" t="t" r="r" b="b"/>
              <a:pathLst>
                <a:path w="4572000" h="1371600">
                  <a:moveTo>
                    <a:pt x="4572000" y="0"/>
                  </a:moveTo>
                  <a:lnTo>
                    <a:pt x="0" y="0"/>
                  </a:lnTo>
                  <a:lnTo>
                    <a:pt x="0" y="1371598"/>
                  </a:lnTo>
                  <a:lnTo>
                    <a:pt x="4572000" y="1371598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129" y="3906077"/>
              <a:ext cx="4572000" cy="1371600"/>
            </a:xfrm>
            <a:custGeom>
              <a:avLst/>
              <a:gdLst/>
              <a:ahLst/>
              <a:cxnLst/>
              <a:rect l="l" t="t" r="r" b="b"/>
              <a:pathLst>
                <a:path w="4572000" h="1371600">
                  <a:moveTo>
                    <a:pt x="0" y="0"/>
                  </a:moveTo>
                  <a:lnTo>
                    <a:pt x="4572000" y="0"/>
                  </a:lnTo>
                  <a:lnTo>
                    <a:pt x="4572000" y="1371598"/>
                  </a:lnTo>
                  <a:lnTo>
                    <a:pt x="0" y="137159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4879" y="3899653"/>
            <a:ext cx="4293870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  <a:tabLst>
                <a:tab pos="622300" algn="l"/>
                <a:tab pos="1231900" algn="l"/>
                <a:tab pos="1993900" algn="l"/>
                <a:tab pos="24511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abs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(int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v)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17500" marR="5080">
              <a:lnSpc>
                <a:spcPts val="2300"/>
              </a:lnSpc>
              <a:spcBef>
                <a:spcPts val="110"/>
              </a:spcBef>
              <a:tabLst>
                <a:tab pos="927100" algn="l"/>
                <a:tab pos="1384300" algn="l"/>
                <a:tab pos="1689100" algn="l"/>
                <a:tab pos="1841500" algn="l"/>
                <a:tab pos="1993900" algn="l"/>
                <a:tab pos="2146300" algn="l"/>
                <a:tab pos="2298700" algn="l"/>
                <a:tab pos="2755900" algn="l"/>
                <a:tab pos="3060700" algn="l"/>
                <a:tab pos="3365500" algn="l"/>
                <a:tab pos="3670300" algn="l"/>
                <a:tab pos="39751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mask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=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50" dirty="0">
                <a:latin typeface="Courier New"/>
                <a:cs typeface="Courier New"/>
              </a:rPr>
              <a:t>v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25" dirty="0">
                <a:latin typeface="Courier New"/>
                <a:cs typeface="Courier New"/>
              </a:rPr>
              <a:t>&gt;&gt;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4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*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8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-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1; </a:t>
            </a:r>
            <a:r>
              <a:rPr sz="2000" spc="-10" dirty="0">
                <a:latin typeface="Courier New"/>
                <a:cs typeface="Courier New"/>
              </a:rPr>
              <a:t>return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(v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50" dirty="0">
                <a:latin typeface="Courier New"/>
                <a:cs typeface="Courier New"/>
              </a:rPr>
              <a:t>+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10" dirty="0">
                <a:latin typeface="Courier New"/>
                <a:cs typeface="Courier New"/>
              </a:rPr>
              <a:t>mask)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^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mask;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4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6780" y="2070928"/>
            <a:ext cx="4638675" cy="1895475"/>
            <a:chOff x="26780" y="2070928"/>
            <a:chExt cx="4638675" cy="189547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61" y="2124809"/>
              <a:ext cx="4584700" cy="18415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3130" y="2077278"/>
              <a:ext cx="4572000" cy="1828800"/>
            </a:xfrm>
            <a:custGeom>
              <a:avLst/>
              <a:gdLst/>
              <a:ahLst/>
              <a:cxnLst/>
              <a:rect l="l" t="t" r="r" b="b"/>
              <a:pathLst>
                <a:path w="4572000" h="1828800">
                  <a:moveTo>
                    <a:pt x="45720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4572000" y="18288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130" y="2077278"/>
              <a:ext cx="4572000" cy="1828800"/>
            </a:xfrm>
            <a:custGeom>
              <a:avLst/>
              <a:gdLst/>
              <a:ahLst/>
              <a:cxnLst/>
              <a:rect l="l" t="t" r="r" b="b"/>
              <a:pathLst>
                <a:path w="4572000" h="1828800">
                  <a:moveTo>
                    <a:pt x="0" y="0"/>
                  </a:moveTo>
                  <a:lnTo>
                    <a:pt x="4572000" y="0"/>
                  </a:lnTo>
                  <a:lnTo>
                    <a:pt x="45720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880" y="2070853"/>
            <a:ext cx="4141470" cy="14986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622300" marR="5080" indent="-610235">
              <a:lnSpc>
                <a:spcPts val="2300"/>
              </a:lnSpc>
              <a:spcBef>
                <a:spcPts val="260"/>
              </a:spcBef>
              <a:tabLst>
                <a:tab pos="622300" algn="l"/>
                <a:tab pos="1231900" algn="l"/>
                <a:tab pos="1689100" algn="l"/>
                <a:tab pos="1993900" algn="l"/>
                <a:tab pos="2451100" algn="l"/>
                <a:tab pos="2908300" algn="l"/>
                <a:tab pos="3517900" algn="l"/>
                <a:tab pos="39751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absadd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(int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x,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y)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{ </a:t>
            </a: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t0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=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abs(x);</a:t>
            </a:r>
            <a:endParaRPr sz="2000">
              <a:latin typeface="Courier New"/>
              <a:cs typeface="Courier New"/>
            </a:endParaRPr>
          </a:p>
          <a:p>
            <a:pPr marL="622300" marR="1224280">
              <a:lnSpc>
                <a:spcPts val="2300"/>
              </a:lnSpc>
              <a:tabLst>
                <a:tab pos="1231900" algn="l"/>
                <a:tab pos="1689100" algn="l"/>
                <a:tab pos="19939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t1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=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abs(y) return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t0+t1;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4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6779" y="1060450"/>
            <a:ext cx="4638675" cy="1057275"/>
            <a:chOff x="26779" y="1060450"/>
            <a:chExt cx="4638675" cy="105727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60" y="1114331"/>
              <a:ext cx="4584700" cy="10033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129" y="1066800"/>
              <a:ext cx="4572000" cy="990600"/>
            </a:xfrm>
            <a:custGeom>
              <a:avLst/>
              <a:gdLst/>
              <a:ahLst/>
              <a:cxnLst/>
              <a:rect l="l" t="t" r="r" b="b"/>
              <a:pathLst>
                <a:path w="4572000" h="990600">
                  <a:moveTo>
                    <a:pt x="4572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4572000" y="9906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EFCF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129" y="1066800"/>
              <a:ext cx="4572000" cy="990600"/>
            </a:xfrm>
            <a:custGeom>
              <a:avLst/>
              <a:gdLst/>
              <a:ahLst/>
              <a:cxnLst/>
              <a:rect l="l" t="t" r="r" b="b"/>
              <a:pathLst>
                <a:path w="4572000" h="990600">
                  <a:moveTo>
                    <a:pt x="0" y="0"/>
                  </a:moveTo>
                  <a:lnTo>
                    <a:pt x="4572000" y="0"/>
                  </a:lnTo>
                  <a:lnTo>
                    <a:pt x="45720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879" y="1060375"/>
            <a:ext cx="3531235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  <a:tabLst>
                <a:tab pos="622300" algn="l"/>
                <a:tab pos="1689100" algn="l"/>
                <a:tab pos="21463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caller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()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300"/>
              </a:lnSpc>
              <a:tabLst>
                <a:tab pos="1384300" algn="l"/>
                <a:tab pos="3060700" algn="l"/>
              </a:tabLst>
            </a:pPr>
            <a:r>
              <a:rPr sz="2000" spc="-10" dirty="0">
                <a:latin typeface="Courier New"/>
                <a:cs typeface="Courier New"/>
              </a:rPr>
              <a:t>return</a:t>
            </a:r>
            <a:r>
              <a:rPr sz="2000" dirty="0">
                <a:latin typeface="Courier New"/>
                <a:cs typeface="Courier New"/>
              </a:rPr>
              <a:t>	absadd(-</a:t>
            </a:r>
            <a:r>
              <a:rPr sz="2000" spc="-25" dirty="0">
                <a:latin typeface="Courier New"/>
                <a:cs typeface="Courier New"/>
              </a:rPr>
              <a:t>1,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2);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5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CBB9B033-3B09-AF3A-AFAA-05322F77D589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Procedure control-flow: example.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718050" y="1060450"/>
            <a:ext cx="7458075" cy="4486275"/>
            <a:chOff x="4718050" y="1060450"/>
            <a:chExt cx="7458075" cy="4486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1931" y="1114331"/>
              <a:ext cx="7404100" cy="4432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24400" y="1066800"/>
              <a:ext cx="7391400" cy="4419600"/>
            </a:xfrm>
            <a:custGeom>
              <a:avLst/>
              <a:gdLst/>
              <a:ahLst/>
              <a:cxnLst/>
              <a:rect l="l" t="t" r="r" b="b"/>
              <a:pathLst>
                <a:path w="7391400" h="4419600">
                  <a:moveTo>
                    <a:pt x="7391400" y="0"/>
                  </a:moveTo>
                  <a:lnTo>
                    <a:pt x="0" y="0"/>
                  </a:lnTo>
                  <a:lnTo>
                    <a:pt x="0" y="4419600"/>
                  </a:lnTo>
                  <a:lnTo>
                    <a:pt x="7391400" y="4419600"/>
                  </a:lnTo>
                  <a:lnTo>
                    <a:pt x="7391400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24400" y="1066800"/>
              <a:ext cx="7391400" cy="4419600"/>
            </a:xfrm>
            <a:custGeom>
              <a:avLst/>
              <a:gdLst/>
              <a:ahLst/>
              <a:cxnLst/>
              <a:rect l="l" t="t" r="r" b="b"/>
              <a:pathLst>
                <a:path w="7391400" h="4419600">
                  <a:moveTo>
                    <a:pt x="0" y="0"/>
                  </a:moveTo>
                  <a:lnTo>
                    <a:pt x="7391400" y="0"/>
                  </a:lnTo>
                  <a:lnTo>
                    <a:pt x="7391400" y="4419600"/>
                  </a:lnTo>
                  <a:lnTo>
                    <a:pt x="0" y="4419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756150" y="1060375"/>
            <a:ext cx="2159635" cy="14986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17500" marR="5080" indent="-305435">
              <a:lnSpc>
                <a:spcPts val="2300"/>
              </a:lnSpc>
              <a:spcBef>
                <a:spcPts val="260"/>
              </a:spcBef>
              <a:tabLst>
                <a:tab pos="1536700" algn="l"/>
              </a:tabLst>
            </a:pPr>
            <a:r>
              <a:rPr sz="2000" spc="-10" dirty="0">
                <a:latin typeface="Courier New"/>
                <a:cs typeface="Courier New"/>
              </a:rPr>
              <a:t>absadd: 400540: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addi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190"/>
              </a:lnSpc>
              <a:tabLst>
                <a:tab pos="1536700" algn="l"/>
              </a:tabLst>
            </a:pPr>
            <a:r>
              <a:rPr sz="2000" spc="-10" dirty="0">
                <a:latin typeface="Courier New"/>
                <a:cs typeface="Courier New"/>
              </a:rPr>
              <a:t>400544: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sw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300"/>
              </a:lnSpc>
              <a:tabLst>
                <a:tab pos="1536700" algn="l"/>
              </a:tabLst>
            </a:pPr>
            <a:r>
              <a:rPr sz="2000" spc="-10" dirty="0">
                <a:latin typeface="Courier New"/>
                <a:cs typeface="Courier New"/>
              </a:rPr>
              <a:t>400548: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sw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350"/>
              </a:lnSpc>
              <a:tabLst>
                <a:tab pos="1536700" algn="l"/>
              </a:tabLst>
            </a:pPr>
            <a:r>
              <a:rPr sz="2000" spc="-10" dirty="0">
                <a:latin typeface="Courier New"/>
                <a:cs typeface="Courier New"/>
              </a:rPr>
              <a:t>40054C: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sw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94956" y="1352475"/>
            <a:ext cx="1702435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  <a:tabLst>
                <a:tab pos="622300" algn="l"/>
                <a:tab pos="1231900" algn="l"/>
              </a:tabLst>
            </a:pPr>
            <a:r>
              <a:rPr sz="2000" spc="-25" dirty="0">
                <a:latin typeface="Courier New"/>
                <a:cs typeface="Courier New"/>
              </a:rPr>
              <a:t>sp,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sp,</a:t>
            </a:r>
            <a:r>
              <a:rPr sz="2000" dirty="0">
                <a:latin typeface="Courier New"/>
                <a:cs typeface="Courier New"/>
              </a:rPr>
              <a:t>	-</a:t>
            </a:r>
            <a:r>
              <a:rPr sz="2000" spc="-25" dirty="0">
                <a:latin typeface="Courier New"/>
                <a:cs typeface="Courier New"/>
              </a:rPr>
              <a:t>12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  <a:tabLst>
                <a:tab pos="622300" algn="l"/>
              </a:tabLst>
            </a:pPr>
            <a:r>
              <a:rPr sz="2000" spc="-25" dirty="0">
                <a:latin typeface="Courier New"/>
                <a:cs typeface="Courier New"/>
              </a:rPr>
              <a:t>ra,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8(sp)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  <a:tabLst>
                <a:tab pos="622300" algn="l"/>
              </a:tabLst>
            </a:pPr>
            <a:r>
              <a:rPr sz="2000" spc="-25" dirty="0">
                <a:latin typeface="Courier New"/>
                <a:cs typeface="Courier New"/>
              </a:rPr>
              <a:t>s0,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4(sp)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50"/>
              </a:lnSpc>
              <a:tabLst>
                <a:tab pos="622300" algn="l"/>
              </a:tabLst>
            </a:pPr>
            <a:r>
              <a:rPr sz="2000" spc="-25" dirty="0">
                <a:latin typeface="Courier New"/>
                <a:cs typeface="Courier New"/>
              </a:rPr>
              <a:t>a1,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0(sp)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28150" y="1352475"/>
            <a:ext cx="2464435" cy="12065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60"/>
              </a:spcBef>
              <a:tabLst>
                <a:tab pos="316865" algn="l"/>
                <a:tab pos="1079500" algn="l"/>
                <a:tab pos="1536700" algn="l"/>
                <a:tab pos="1689100" algn="l"/>
              </a:tabLst>
            </a:pP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Allocate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stack </a:t>
            </a: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Save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ret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20" dirty="0">
                <a:latin typeface="Courier New"/>
                <a:cs typeface="Courier New"/>
              </a:rPr>
              <a:t>addr </a:t>
            </a: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Save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s0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reg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40"/>
              </a:lnSpc>
              <a:tabLst>
                <a:tab pos="316865" algn="l"/>
                <a:tab pos="1079500" algn="l"/>
              </a:tabLst>
            </a:pP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Save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y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041950" y="2576115"/>
          <a:ext cx="6769734" cy="2039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2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R="36830" algn="ctr">
                        <a:lnSpc>
                          <a:spcPts val="2065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40055C: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65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jal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65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ra,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65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abs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65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65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abs(x)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36830" algn="ctr">
                        <a:lnSpc>
                          <a:spcPts val="20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400560: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add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s0,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  <a:tabLst>
                          <a:tab pos="685800" algn="l"/>
                        </a:tabLst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a0,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x0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  <a:tabLst>
                          <a:tab pos="533400" algn="l"/>
                          <a:tab pos="838200" algn="l"/>
                        </a:tabLst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s0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abs(x)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36830" algn="ctr">
                        <a:lnSpc>
                          <a:spcPts val="20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400558: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lw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a0,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0(sp)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  <a:tabLst>
                          <a:tab pos="533400" algn="l"/>
                          <a:tab pos="838200" algn="l"/>
                        </a:tabLst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a0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y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36830" algn="ctr">
                        <a:lnSpc>
                          <a:spcPts val="20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40055C: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jal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ra,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abs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abs(y)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36830" algn="ctr">
                        <a:lnSpc>
                          <a:spcPts val="20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400560: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add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a0,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  <a:tabLst>
                          <a:tab pos="685800" algn="l"/>
                        </a:tabLst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a0,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s0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  <a:tabLst>
                          <a:tab pos="533400" algn="l"/>
                          <a:tab pos="838200" algn="l"/>
                        </a:tabLst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a0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|x|+|y|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36830" algn="ctr">
                        <a:lnSpc>
                          <a:spcPts val="20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400564: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lw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s0,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4(sp)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  <a:tabLst>
                          <a:tab pos="1295400" algn="l"/>
                          <a:tab pos="1752600" algn="l"/>
                        </a:tabLst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Restore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s0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reg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R="36830" algn="ctr">
                        <a:lnSpc>
                          <a:spcPts val="20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400568: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lw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ra,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8(sp)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08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#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80"/>
                        </a:lnSpc>
                        <a:tabLst>
                          <a:tab pos="1295400" algn="l"/>
                        </a:tabLst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Restore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ret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6F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756150" y="4565574"/>
            <a:ext cx="2159635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</a:pPr>
            <a:r>
              <a:rPr sz="2000" spc="-20" dirty="0">
                <a:latin typeface="Courier New"/>
                <a:cs typeface="Courier New"/>
              </a:rPr>
              <a:t>addr</a:t>
            </a:r>
            <a:endParaRPr sz="2000">
              <a:latin typeface="Courier New"/>
              <a:cs typeface="Courier New"/>
            </a:endParaRPr>
          </a:p>
          <a:p>
            <a:pPr marL="317500" marR="5080">
              <a:lnSpc>
                <a:spcPts val="2300"/>
              </a:lnSpc>
              <a:spcBef>
                <a:spcPts val="110"/>
              </a:spcBef>
              <a:tabLst>
                <a:tab pos="1536700" algn="l"/>
              </a:tabLst>
            </a:pPr>
            <a:r>
              <a:rPr sz="2000" spc="-10" dirty="0">
                <a:latin typeface="Courier New"/>
                <a:cs typeface="Courier New"/>
              </a:rPr>
              <a:t>40056C: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addi </a:t>
            </a:r>
            <a:r>
              <a:rPr sz="2000" spc="-10" dirty="0">
                <a:latin typeface="Courier New"/>
                <a:cs typeface="Courier New"/>
              </a:rPr>
              <a:t>400570: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jalr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94956" y="4857674"/>
            <a:ext cx="1550035" cy="62230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59"/>
              </a:spcBef>
              <a:tabLst>
                <a:tab pos="622300" algn="l"/>
                <a:tab pos="1231900" algn="l"/>
              </a:tabLst>
            </a:pPr>
            <a:r>
              <a:rPr sz="2000" spc="-25" dirty="0">
                <a:latin typeface="Courier New"/>
                <a:cs typeface="Courier New"/>
              </a:rPr>
              <a:t>sp,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sp,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12 x0,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ra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23451" y="4857674"/>
            <a:ext cx="2160270" cy="62230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305435">
              <a:lnSpc>
                <a:spcPts val="2300"/>
              </a:lnSpc>
              <a:spcBef>
                <a:spcPts val="259"/>
              </a:spcBef>
              <a:tabLst>
                <a:tab pos="316865" algn="l"/>
                <a:tab pos="622935" algn="l"/>
                <a:tab pos="1384935" algn="l"/>
              </a:tabLst>
            </a:pP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Free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stack </a:t>
            </a: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ret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779" y="3899727"/>
            <a:ext cx="4638675" cy="1438275"/>
            <a:chOff x="26779" y="3899727"/>
            <a:chExt cx="4638675" cy="143827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60" y="3953608"/>
              <a:ext cx="4584700" cy="138429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129" y="3906077"/>
              <a:ext cx="4572000" cy="1371600"/>
            </a:xfrm>
            <a:custGeom>
              <a:avLst/>
              <a:gdLst/>
              <a:ahLst/>
              <a:cxnLst/>
              <a:rect l="l" t="t" r="r" b="b"/>
              <a:pathLst>
                <a:path w="4572000" h="1371600">
                  <a:moveTo>
                    <a:pt x="4572000" y="0"/>
                  </a:moveTo>
                  <a:lnTo>
                    <a:pt x="0" y="0"/>
                  </a:lnTo>
                  <a:lnTo>
                    <a:pt x="0" y="1371598"/>
                  </a:lnTo>
                  <a:lnTo>
                    <a:pt x="4572000" y="1371598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129" y="3906077"/>
              <a:ext cx="4572000" cy="1371600"/>
            </a:xfrm>
            <a:custGeom>
              <a:avLst/>
              <a:gdLst/>
              <a:ahLst/>
              <a:cxnLst/>
              <a:rect l="l" t="t" r="r" b="b"/>
              <a:pathLst>
                <a:path w="4572000" h="1371600">
                  <a:moveTo>
                    <a:pt x="0" y="0"/>
                  </a:moveTo>
                  <a:lnTo>
                    <a:pt x="4572000" y="0"/>
                  </a:lnTo>
                  <a:lnTo>
                    <a:pt x="4572000" y="1371598"/>
                  </a:lnTo>
                  <a:lnTo>
                    <a:pt x="0" y="137159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879" y="3899653"/>
            <a:ext cx="4293870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  <a:tabLst>
                <a:tab pos="622300" algn="l"/>
                <a:tab pos="1231900" algn="l"/>
                <a:tab pos="1993900" algn="l"/>
                <a:tab pos="24511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abs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(int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v)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17500" marR="5080">
              <a:lnSpc>
                <a:spcPts val="2300"/>
              </a:lnSpc>
              <a:spcBef>
                <a:spcPts val="110"/>
              </a:spcBef>
              <a:tabLst>
                <a:tab pos="927100" algn="l"/>
                <a:tab pos="1384300" algn="l"/>
                <a:tab pos="1689100" algn="l"/>
                <a:tab pos="1841500" algn="l"/>
                <a:tab pos="1993900" algn="l"/>
                <a:tab pos="2146300" algn="l"/>
                <a:tab pos="2298700" algn="l"/>
                <a:tab pos="2755900" algn="l"/>
                <a:tab pos="3060700" algn="l"/>
                <a:tab pos="3365500" algn="l"/>
                <a:tab pos="3670300" algn="l"/>
                <a:tab pos="39751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mask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=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50" dirty="0">
                <a:latin typeface="Courier New"/>
                <a:cs typeface="Courier New"/>
              </a:rPr>
              <a:t>v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25" dirty="0">
                <a:latin typeface="Courier New"/>
                <a:cs typeface="Courier New"/>
              </a:rPr>
              <a:t>&gt;&gt;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4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*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8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-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1; </a:t>
            </a:r>
            <a:r>
              <a:rPr sz="2000" spc="-10" dirty="0">
                <a:latin typeface="Courier New"/>
                <a:cs typeface="Courier New"/>
              </a:rPr>
              <a:t>return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(v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50" dirty="0">
                <a:latin typeface="Courier New"/>
                <a:cs typeface="Courier New"/>
              </a:rPr>
              <a:t>+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10" dirty="0">
                <a:latin typeface="Courier New"/>
                <a:cs typeface="Courier New"/>
              </a:rPr>
              <a:t>mask)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^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mask;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4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780" y="2070928"/>
            <a:ext cx="4638675" cy="1895475"/>
            <a:chOff x="26780" y="2070928"/>
            <a:chExt cx="4638675" cy="189547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61" y="2124809"/>
              <a:ext cx="4584700" cy="18415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3130" y="2077278"/>
              <a:ext cx="4572000" cy="1828800"/>
            </a:xfrm>
            <a:custGeom>
              <a:avLst/>
              <a:gdLst/>
              <a:ahLst/>
              <a:cxnLst/>
              <a:rect l="l" t="t" r="r" b="b"/>
              <a:pathLst>
                <a:path w="4572000" h="1828800">
                  <a:moveTo>
                    <a:pt x="45720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4572000" y="18288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130" y="2077278"/>
              <a:ext cx="4572000" cy="1828800"/>
            </a:xfrm>
            <a:custGeom>
              <a:avLst/>
              <a:gdLst/>
              <a:ahLst/>
              <a:cxnLst/>
              <a:rect l="l" t="t" r="r" b="b"/>
              <a:pathLst>
                <a:path w="4572000" h="1828800">
                  <a:moveTo>
                    <a:pt x="0" y="0"/>
                  </a:moveTo>
                  <a:lnTo>
                    <a:pt x="4572000" y="0"/>
                  </a:lnTo>
                  <a:lnTo>
                    <a:pt x="45720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4880" y="2070853"/>
            <a:ext cx="4141470" cy="14986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622300" marR="5080" indent="-610235">
              <a:lnSpc>
                <a:spcPts val="2300"/>
              </a:lnSpc>
              <a:spcBef>
                <a:spcPts val="260"/>
              </a:spcBef>
              <a:tabLst>
                <a:tab pos="622300" algn="l"/>
                <a:tab pos="1231900" algn="l"/>
                <a:tab pos="1689100" algn="l"/>
                <a:tab pos="1993900" algn="l"/>
                <a:tab pos="2451100" algn="l"/>
                <a:tab pos="2908300" algn="l"/>
                <a:tab pos="3517900" algn="l"/>
                <a:tab pos="39751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absadd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(int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x,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y)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{ </a:t>
            </a: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t0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=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abs(x);</a:t>
            </a:r>
            <a:endParaRPr sz="2000">
              <a:latin typeface="Courier New"/>
              <a:cs typeface="Courier New"/>
            </a:endParaRPr>
          </a:p>
          <a:p>
            <a:pPr marL="622300" marR="1224280">
              <a:lnSpc>
                <a:spcPts val="2300"/>
              </a:lnSpc>
              <a:tabLst>
                <a:tab pos="1231900" algn="l"/>
                <a:tab pos="1689100" algn="l"/>
                <a:tab pos="19939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t1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=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abs(y) return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t0+t1;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4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6779" y="1060450"/>
            <a:ext cx="4638675" cy="1057275"/>
            <a:chOff x="26779" y="1060450"/>
            <a:chExt cx="4638675" cy="1057275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60" y="1114331"/>
              <a:ext cx="4584700" cy="10033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3129" y="1066800"/>
              <a:ext cx="4572000" cy="990600"/>
            </a:xfrm>
            <a:custGeom>
              <a:avLst/>
              <a:gdLst/>
              <a:ahLst/>
              <a:cxnLst/>
              <a:rect l="l" t="t" r="r" b="b"/>
              <a:pathLst>
                <a:path w="4572000" h="990600">
                  <a:moveTo>
                    <a:pt x="4572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4572000" y="9906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EFCF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129" y="1066800"/>
              <a:ext cx="4572000" cy="990600"/>
            </a:xfrm>
            <a:custGeom>
              <a:avLst/>
              <a:gdLst/>
              <a:ahLst/>
              <a:cxnLst/>
              <a:rect l="l" t="t" r="r" b="b"/>
              <a:pathLst>
                <a:path w="4572000" h="990600">
                  <a:moveTo>
                    <a:pt x="0" y="0"/>
                  </a:moveTo>
                  <a:lnTo>
                    <a:pt x="4572000" y="0"/>
                  </a:lnTo>
                  <a:lnTo>
                    <a:pt x="45720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4879" y="1060375"/>
            <a:ext cx="3531235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  <a:tabLst>
                <a:tab pos="622300" algn="l"/>
                <a:tab pos="1689100" algn="l"/>
                <a:tab pos="21463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caller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()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300"/>
              </a:lnSpc>
              <a:tabLst>
                <a:tab pos="1384300" algn="l"/>
                <a:tab pos="3060700" algn="l"/>
              </a:tabLst>
            </a:pPr>
            <a:r>
              <a:rPr sz="2000" spc="-10" dirty="0">
                <a:latin typeface="Courier New"/>
                <a:cs typeface="Courier New"/>
              </a:rPr>
              <a:t>return</a:t>
            </a:r>
            <a:r>
              <a:rPr sz="2000" dirty="0">
                <a:latin typeface="Courier New"/>
                <a:cs typeface="Courier New"/>
              </a:rPr>
              <a:t>	absadd(-</a:t>
            </a:r>
            <a:r>
              <a:rPr sz="2000" spc="-25" dirty="0">
                <a:latin typeface="Courier New"/>
                <a:cs typeface="Courier New"/>
              </a:rPr>
              <a:t>1,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2);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5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89F11CF1-970C-D305-545C-B5466BAEFCF0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Procedure control-flow: example.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779" y="3899727"/>
            <a:ext cx="4638675" cy="1438275"/>
            <a:chOff x="26779" y="3899727"/>
            <a:chExt cx="4638675" cy="1438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60" y="3953608"/>
              <a:ext cx="4584700" cy="138429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129" y="3906077"/>
              <a:ext cx="4572000" cy="1371600"/>
            </a:xfrm>
            <a:custGeom>
              <a:avLst/>
              <a:gdLst/>
              <a:ahLst/>
              <a:cxnLst/>
              <a:rect l="l" t="t" r="r" b="b"/>
              <a:pathLst>
                <a:path w="4572000" h="1371600">
                  <a:moveTo>
                    <a:pt x="4572000" y="0"/>
                  </a:moveTo>
                  <a:lnTo>
                    <a:pt x="0" y="0"/>
                  </a:lnTo>
                  <a:lnTo>
                    <a:pt x="0" y="1371598"/>
                  </a:lnTo>
                  <a:lnTo>
                    <a:pt x="4572000" y="1371598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129" y="3906077"/>
              <a:ext cx="4572000" cy="1371600"/>
            </a:xfrm>
            <a:custGeom>
              <a:avLst/>
              <a:gdLst/>
              <a:ahLst/>
              <a:cxnLst/>
              <a:rect l="l" t="t" r="r" b="b"/>
              <a:pathLst>
                <a:path w="4572000" h="1371600">
                  <a:moveTo>
                    <a:pt x="0" y="0"/>
                  </a:moveTo>
                  <a:lnTo>
                    <a:pt x="4572000" y="0"/>
                  </a:lnTo>
                  <a:lnTo>
                    <a:pt x="4572000" y="1371598"/>
                  </a:lnTo>
                  <a:lnTo>
                    <a:pt x="0" y="137159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879" y="3899653"/>
            <a:ext cx="4293870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  <a:tabLst>
                <a:tab pos="622300" algn="l"/>
                <a:tab pos="1231900" algn="l"/>
                <a:tab pos="1993900" algn="l"/>
                <a:tab pos="24511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abs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(int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v)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17500" marR="5080">
              <a:lnSpc>
                <a:spcPts val="2300"/>
              </a:lnSpc>
              <a:spcBef>
                <a:spcPts val="110"/>
              </a:spcBef>
              <a:tabLst>
                <a:tab pos="927100" algn="l"/>
                <a:tab pos="1384300" algn="l"/>
                <a:tab pos="1689100" algn="l"/>
                <a:tab pos="1841500" algn="l"/>
                <a:tab pos="1993900" algn="l"/>
                <a:tab pos="2146300" algn="l"/>
                <a:tab pos="2298700" algn="l"/>
                <a:tab pos="2755900" algn="l"/>
                <a:tab pos="3060700" algn="l"/>
                <a:tab pos="3365500" algn="l"/>
                <a:tab pos="3670300" algn="l"/>
                <a:tab pos="39751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mask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=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50" dirty="0">
                <a:latin typeface="Courier New"/>
                <a:cs typeface="Courier New"/>
              </a:rPr>
              <a:t>v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25" dirty="0">
                <a:latin typeface="Courier New"/>
                <a:cs typeface="Courier New"/>
              </a:rPr>
              <a:t>&gt;&gt;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4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*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8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-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1; </a:t>
            </a:r>
            <a:r>
              <a:rPr sz="2000" spc="-10" dirty="0">
                <a:latin typeface="Courier New"/>
                <a:cs typeface="Courier New"/>
              </a:rPr>
              <a:t>return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(v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50" dirty="0">
                <a:latin typeface="Courier New"/>
                <a:cs typeface="Courier New"/>
              </a:rPr>
              <a:t>+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10" dirty="0">
                <a:latin typeface="Courier New"/>
                <a:cs typeface="Courier New"/>
              </a:rPr>
              <a:t>mask)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^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mask;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4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780" y="2070928"/>
            <a:ext cx="4638675" cy="1895475"/>
            <a:chOff x="26780" y="2070928"/>
            <a:chExt cx="4638675" cy="18954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61" y="2124809"/>
              <a:ext cx="4584700" cy="18415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3130" y="2077278"/>
              <a:ext cx="4572000" cy="1828800"/>
            </a:xfrm>
            <a:custGeom>
              <a:avLst/>
              <a:gdLst/>
              <a:ahLst/>
              <a:cxnLst/>
              <a:rect l="l" t="t" r="r" b="b"/>
              <a:pathLst>
                <a:path w="4572000" h="1828800">
                  <a:moveTo>
                    <a:pt x="45720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4572000" y="18288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130" y="2077278"/>
              <a:ext cx="4572000" cy="1828800"/>
            </a:xfrm>
            <a:custGeom>
              <a:avLst/>
              <a:gdLst/>
              <a:ahLst/>
              <a:cxnLst/>
              <a:rect l="l" t="t" r="r" b="b"/>
              <a:pathLst>
                <a:path w="4572000" h="1828800">
                  <a:moveTo>
                    <a:pt x="0" y="0"/>
                  </a:moveTo>
                  <a:lnTo>
                    <a:pt x="4572000" y="0"/>
                  </a:lnTo>
                  <a:lnTo>
                    <a:pt x="45720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4880" y="2070853"/>
            <a:ext cx="4141470" cy="14986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622300" marR="5080" indent="-610235">
              <a:lnSpc>
                <a:spcPts val="2300"/>
              </a:lnSpc>
              <a:spcBef>
                <a:spcPts val="260"/>
              </a:spcBef>
              <a:tabLst>
                <a:tab pos="622300" algn="l"/>
                <a:tab pos="1231900" algn="l"/>
                <a:tab pos="1689100" algn="l"/>
                <a:tab pos="1993900" algn="l"/>
                <a:tab pos="2451100" algn="l"/>
                <a:tab pos="2908300" algn="l"/>
                <a:tab pos="3517900" algn="l"/>
                <a:tab pos="39751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absadd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(int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x,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y)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{ </a:t>
            </a: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t0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=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abs(x);</a:t>
            </a:r>
            <a:endParaRPr sz="2000">
              <a:latin typeface="Courier New"/>
              <a:cs typeface="Courier New"/>
            </a:endParaRPr>
          </a:p>
          <a:p>
            <a:pPr marL="622300" marR="1224280">
              <a:lnSpc>
                <a:spcPts val="2300"/>
              </a:lnSpc>
              <a:tabLst>
                <a:tab pos="1231900" algn="l"/>
                <a:tab pos="1689100" algn="l"/>
                <a:tab pos="19939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t1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=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abs(y) return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t0+t1;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4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18048" y="1060450"/>
            <a:ext cx="7458075" cy="1666875"/>
            <a:chOff x="4718048" y="1060450"/>
            <a:chExt cx="7458075" cy="166687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1929" y="1114331"/>
              <a:ext cx="7404098" cy="16129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24398" y="1066800"/>
              <a:ext cx="7391400" cy="1600200"/>
            </a:xfrm>
            <a:custGeom>
              <a:avLst/>
              <a:gdLst/>
              <a:ahLst/>
              <a:cxnLst/>
              <a:rect l="l" t="t" r="r" b="b"/>
              <a:pathLst>
                <a:path w="7391400" h="1600200">
                  <a:moveTo>
                    <a:pt x="7391398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7391398" y="1600200"/>
                  </a:lnTo>
                  <a:lnTo>
                    <a:pt x="7391398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24398" y="1066800"/>
              <a:ext cx="7391400" cy="1600200"/>
            </a:xfrm>
            <a:custGeom>
              <a:avLst/>
              <a:gdLst/>
              <a:ahLst/>
              <a:cxnLst/>
              <a:rect l="l" t="t" r="r" b="b"/>
              <a:pathLst>
                <a:path w="7391400" h="1600200">
                  <a:moveTo>
                    <a:pt x="0" y="0"/>
                  </a:moveTo>
                  <a:lnTo>
                    <a:pt x="7391398" y="0"/>
                  </a:lnTo>
                  <a:lnTo>
                    <a:pt x="7391398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68848" y="1060375"/>
            <a:ext cx="2146935" cy="149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350"/>
              </a:lnSpc>
              <a:spcBef>
                <a:spcPts val="100"/>
              </a:spcBef>
            </a:pPr>
            <a:r>
              <a:rPr sz="2000" spc="-20" dirty="0">
                <a:latin typeface="Courier New"/>
                <a:cs typeface="Courier New"/>
              </a:rPr>
              <a:t>abs:</a:t>
            </a:r>
            <a:endParaRPr sz="2000">
              <a:latin typeface="Courier New"/>
              <a:cs typeface="Courier New"/>
            </a:endParaRPr>
          </a:p>
          <a:p>
            <a:pPr marL="304800">
              <a:lnSpc>
                <a:spcPts val="2300"/>
              </a:lnSpc>
              <a:tabLst>
                <a:tab pos="1524000" algn="l"/>
              </a:tabLst>
            </a:pPr>
            <a:r>
              <a:rPr sz="2000" spc="-10" dirty="0">
                <a:latin typeface="Courier New"/>
                <a:cs typeface="Courier New"/>
              </a:rPr>
              <a:t>400570: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sra</a:t>
            </a:r>
            <a:endParaRPr sz="2000">
              <a:latin typeface="Courier New"/>
              <a:cs typeface="Courier New"/>
            </a:endParaRPr>
          </a:p>
          <a:p>
            <a:pPr marL="304800">
              <a:lnSpc>
                <a:spcPts val="2300"/>
              </a:lnSpc>
              <a:tabLst>
                <a:tab pos="1524000" algn="l"/>
              </a:tabLst>
            </a:pPr>
            <a:r>
              <a:rPr sz="2000" spc="-10" dirty="0">
                <a:latin typeface="Courier New"/>
                <a:cs typeface="Courier New"/>
              </a:rPr>
              <a:t>400574: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add</a:t>
            </a:r>
            <a:endParaRPr sz="2000">
              <a:latin typeface="Courier New"/>
              <a:cs typeface="Courier New"/>
            </a:endParaRPr>
          </a:p>
          <a:p>
            <a:pPr marL="304800" marR="5080">
              <a:lnSpc>
                <a:spcPts val="2300"/>
              </a:lnSpc>
              <a:spcBef>
                <a:spcPts val="110"/>
              </a:spcBef>
              <a:tabLst>
                <a:tab pos="1524000" algn="l"/>
              </a:tabLst>
            </a:pPr>
            <a:r>
              <a:rPr sz="2000" spc="-10" dirty="0">
                <a:latin typeface="Courier New"/>
                <a:cs typeface="Courier New"/>
              </a:rPr>
              <a:t>400578: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xor </a:t>
            </a:r>
            <a:r>
              <a:rPr sz="2000" spc="-10" dirty="0">
                <a:latin typeface="Courier New"/>
                <a:cs typeface="Courier New"/>
              </a:rPr>
              <a:t>40057C: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jalr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07655" y="1352475"/>
            <a:ext cx="1537335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ts val="235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t0, a0, </a:t>
            </a:r>
            <a:r>
              <a:rPr sz="2000" spc="-25" dirty="0">
                <a:latin typeface="Courier New"/>
                <a:cs typeface="Courier New"/>
              </a:rPr>
              <a:t>31</a:t>
            </a:r>
            <a:endParaRPr sz="2000">
              <a:latin typeface="Courier New"/>
              <a:cs typeface="Courier New"/>
            </a:endParaRPr>
          </a:p>
          <a:p>
            <a:pPr marR="5080" algn="just">
              <a:lnSpc>
                <a:spcPts val="2300"/>
              </a:lnSpc>
              <a:spcBef>
                <a:spcPts val="110"/>
              </a:spcBef>
            </a:pPr>
            <a:r>
              <a:rPr sz="2000" dirty="0">
                <a:latin typeface="Courier New"/>
                <a:cs typeface="Courier New"/>
              </a:rPr>
              <a:t>a0, a0, </a:t>
            </a:r>
            <a:r>
              <a:rPr sz="2000" spc="-25" dirty="0">
                <a:latin typeface="Courier New"/>
                <a:cs typeface="Courier New"/>
              </a:rPr>
              <a:t>t0 </a:t>
            </a:r>
            <a:r>
              <a:rPr sz="2000" dirty="0">
                <a:latin typeface="Courier New"/>
                <a:cs typeface="Courier New"/>
              </a:rPr>
              <a:t>a0, a0, </a:t>
            </a:r>
            <a:r>
              <a:rPr sz="2000" spc="-25" dirty="0">
                <a:latin typeface="Courier New"/>
                <a:cs typeface="Courier New"/>
              </a:rPr>
              <a:t>t0 </a:t>
            </a:r>
            <a:r>
              <a:rPr sz="2000" dirty="0">
                <a:latin typeface="Courier New"/>
                <a:cs typeface="Courier New"/>
              </a:rPr>
              <a:t>x0, </a:t>
            </a:r>
            <a:r>
              <a:rPr sz="2000" spc="-25" dirty="0">
                <a:latin typeface="Courier New"/>
                <a:cs typeface="Courier New"/>
              </a:rPr>
              <a:t>ra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40848" y="1352475"/>
            <a:ext cx="2451735" cy="12065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R="5080">
              <a:lnSpc>
                <a:spcPts val="2300"/>
              </a:lnSpc>
              <a:spcBef>
                <a:spcPts val="260"/>
              </a:spcBef>
              <a:tabLst>
                <a:tab pos="304165" algn="l"/>
                <a:tab pos="609600" algn="l"/>
                <a:tab pos="914400" algn="l"/>
                <a:tab pos="1066800" algn="l"/>
                <a:tab pos="1371600" algn="l"/>
                <a:tab pos="1676400" algn="l"/>
                <a:tab pos="2133600" algn="l"/>
              </a:tabLst>
            </a:pP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mask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=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50" dirty="0">
                <a:latin typeface="Courier New"/>
                <a:cs typeface="Courier New"/>
              </a:rPr>
              <a:t>v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&gt;&gt;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31 </a:t>
            </a: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v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+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m</a:t>
            </a:r>
            <a:endParaRPr sz="2000">
              <a:latin typeface="Courier New"/>
              <a:cs typeface="Courier New"/>
            </a:endParaRPr>
          </a:p>
          <a:p>
            <a:pPr marR="5080">
              <a:lnSpc>
                <a:spcPts val="2300"/>
              </a:lnSpc>
              <a:tabLst>
                <a:tab pos="304165" algn="l"/>
                <a:tab pos="1219200" algn="l"/>
                <a:tab pos="1371600" algn="l"/>
                <a:tab pos="1524000" algn="l"/>
                <a:tab pos="1981200" algn="l"/>
                <a:tab pos="2286000" algn="l"/>
              </a:tabLst>
            </a:pP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a0=(v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+</a:t>
            </a:r>
            <a:r>
              <a:rPr sz="2000" dirty="0">
                <a:latin typeface="Courier New"/>
                <a:cs typeface="Courier New"/>
              </a:rPr>
              <a:t>		</a:t>
            </a:r>
            <a:r>
              <a:rPr sz="2000" spc="-25" dirty="0">
                <a:latin typeface="Courier New"/>
                <a:cs typeface="Courier New"/>
              </a:rPr>
              <a:t>m)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^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m 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return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a0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6779" y="1060450"/>
            <a:ext cx="4638675" cy="1057275"/>
            <a:chOff x="26779" y="1060450"/>
            <a:chExt cx="4638675" cy="105727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60" y="1114331"/>
              <a:ext cx="4584700" cy="10033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3129" y="1066800"/>
              <a:ext cx="4572000" cy="990600"/>
            </a:xfrm>
            <a:custGeom>
              <a:avLst/>
              <a:gdLst/>
              <a:ahLst/>
              <a:cxnLst/>
              <a:rect l="l" t="t" r="r" b="b"/>
              <a:pathLst>
                <a:path w="4572000" h="990600">
                  <a:moveTo>
                    <a:pt x="4572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4572000" y="9906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EFCF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129" y="1066800"/>
              <a:ext cx="4572000" cy="990600"/>
            </a:xfrm>
            <a:custGeom>
              <a:avLst/>
              <a:gdLst/>
              <a:ahLst/>
              <a:cxnLst/>
              <a:rect l="l" t="t" r="r" b="b"/>
              <a:pathLst>
                <a:path w="4572000" h="990600">
                  <a:moveTo>
                    <a:pt x="0" y="0"/>
                  </a:moveTo>
                  <a:lnTo>
                    <a:pt x="4572000" y="0"/>
                  </a:lnTo>
                  <a:lnTo>
                    <a:pt x="45720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4879" y="1060375"/>
            <a:ext cx="3531235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  <a:tabLst>
                <a:tab pos="622300" algn="l"/>
                <a:tab pos="1689100" algn="l"/>
                <a:tab pos="2146300" algn="l"/>
              </a:tabLst>
            </a:pPr>
            <a:r>
              <a:rPr sz="2000" spc="-25" dirty="0">
                <a:latin typeface="Courier New"/>
                <a:cs typeface="Courier New"/>
              </a:rPr>
              <a:t>int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caller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()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300"/>
              </a:lnSpc>
              <a:tabLst>
                <a:tab pos="1384300" algn="l"/>
                <a:tab pos="3060700" algn="l"/>
              </a:tabLst>
            </a:pPr>
            <a:r>
              <a:rPr sz="2000" spc="-10" dirty="0">
                <a:latin typeface="Courier New"/>
                <a:cs typeface="Courier New"/>
              </a:rPr>
              <a:t>return</a:t>
            </a:r>
            <a:r>
              <a:rPr sz="2000" dirty="0">
                <a:latin typeface="Courier New"/>
                <a:cs typeface="Courier New"/>
              </a:rPr>
              <a:t>	absadd(-</a:t>
            </a:r>
            <a:r>
              <a:rPr sz="2000" spc="-25" dirty="0">
                <a:latin typeface="Courier New"/>
                <a:cs typeface="Courier New"/>
              </a:rPr>
              <a:t>1,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2);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5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EE95ACD3-BC58-58D8-1665-E91CBCC5F393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Procedure control-flow: example.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69872" y="3251086"/>
            <a:ext cx="4562475" cy="3460750"/>
            <a:chOff x="1664529" y="3076915"/>
            <a:chExt cx="4562475" cy="3460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8410" y="3130796"/>
              <a:ext cx="4508500" cy="34064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70879" y="3083265"/>
              <a:ext cx="4495800" cy="3394075"/>
            </a:xfrm>
            <a:custGeom>
              <a:avLst/>
              <a:gdLst/>
              <a:ahLst/>
              <a:cxnLst/>
              <a:rect l="l" t="t" r="r" b="b"/>
              <a:pathLst>
                <a:path w="4495800" h="3394075">
                  <a:moveTo>
                    <a:pt x="4495800" y="0"/>
                  </a:moveTo>
                  <a:lnTo>
                    <a:pt x="0" y="0"/>
                  </a:lnTo>
                  <a:lnTo>
                    <a:pt x="0" y="3393734"/>
                  </a:lnTo>
                  <a:lnTo>
                    <a:pt x="4495800" y="3393734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70879" y="3083265"/>
              <a:ext cx="4495800" cy="3394075"/>
            </a:xfrm>
            <a:custGeom>
              <a:avLst/>
              <a:gdLst/>
              <a:ahLst/>
              <a:cxnLst/>
              <a:rect l="l" t="t" r="r" b="b"/>
              <a:pathLst>
                <a:path w="4495800" h="3394075">
                  <a:moveTo>
                    <a:pt x="0" y="0"/>
                  </a:moveTo>
                  <a:lnTo>
                    <a:pt x="4495800" y="0"/>
                  </a:lnTo>
                  <a:lnTo>
                    <a:pt x="4495800" y="3393734"/>
                  </a:lnTo>
                  <a:lnTo>
                    <a:pt x="0" y="339373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20672" y="3245938"/>
            <a:ext cx="1920875" cy="807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74320" indent="-274955">
              <a:lnSpc>
                <a:spcPts val="2000"/>
              </a:lnSpc>
              <a:spcBef>
                <a:spcPts val="300"/>
              </a:spcBef>
              <a:tabLst>
                <a:tab pos="1371600" algn="l"/>
              </a:tabLst>
            </a:pPr>
            <a:r>
              <a:rPr sz="1800" b="1" spc="-10" dirty="0">
                <a:latin typeface="Courier New"/>
                <a:cs typeface="Courier New"/>
              </a:rPr>
              <a:t>absadd: 400540: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addi</a:t>
            </a:r>
            <a:endParaRPr sz="1800">
              <a:latin typeface="Courier New"/>
              <a:cs typeface="Courier New"/>
            </a:endParaRPr>
          </a:p>
          <a:p>
            <a:pPr marL="274320">
              <a:lnSpc>
                <a:spcPts val="1960"/>
              </a:lnSpc>
              <a:tabLst>
                <a:tab pos="137160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400544: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sw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5598" y="3499938"/>
            <a:ext cx="15220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548640" algn="l"/>
                <a:tab pos="1097280" algn="l"/>
              </a:tabLst>
            </a:pP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-</a:t>
            </a:r>
            <a:r>
              <a:rPr sz="1800" b="1" spc="-25" dirty="0">
                <a:latin typeface="Courier New"/>
                <a:cs typeface="Courier New"/>
              </a:rPr>
              <a:t>12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8(sp)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5038" y="4007939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5038" y="4515939"/>
            <a:ext cx="1509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40055C: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jal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5038" y="4769939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5038" y="5277938"/>
            <a:ext cx="1646555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400568: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lw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00"/>
              </a:lnSpc>
              <a:spcBef>
                <a:spcPts val="12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40056C: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addi </a:t>
            </a:r>
            <a:r>
              <a:rPr sz="1800" b="1" spc="-10" dirty="0">
                <a:latin typeface="Courier New"/>
                <a:cs typeface="Courier New"/>
              </a:rPr>
              <a:t>400570: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jalr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15598" y="4515939"/>
            <a:ext cx="1384935" cy="156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abs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1800">
              <a:latin typeface="Courier New"/>
              <a:cs typeface="Courier New"/>
            </a:endParaRPr>
          </a:p>
          <a:p>
            <a:pPr marR="5080">
              <a:lnSpc>
                <a:spcPts val="2000"/>
              </a:lnSpc>
              <a:tabLst>
                <a:tab pos="548640" algn="l"/>
                <a:tab pos="109728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8(sp) 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12 x0,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72400" y="3505200"/>
            <a:ext cx="1346200" cy="381000"/>
          </a:xfrm>
          <a:prstGeom prst="rect">
            <a:avLst/>
          </a:prstGeom>
          <a:solidFill>
            <a:srgbClr val="FFCCCC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0x400510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72400" y="2895600"/>
            <a:ext cx="1346200" cy="381000"/>
          </a:xfrm>
          <a:prstGeom prst="rect">
            <a:avLst/>
          </a:prstGeom>
          <a:solidFill>
            <a:srgbClr val="D5F1CF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0x11C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72400" y="381000"/>
            <a:ext cx="1346200" cy="2266950"/>
          </a:xfrm>
          <a:prstGeom prst="rect">
            <a:avLst/>
          </a:prstGeom>
          <a:solidFill>
            <a:srgbClr val="D6D6F4"/>
          </a:solidFill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740"/>
              </a:lnSpc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216320" y="1317176"/>
            <a:ext cx="626745" cy="1782445"/>
            <a:chOff x="9216320" y="1317176"/>
            <a:chExt cx="626745" cy="1782445"/>
          </a:xfrm>
        </p:grpSpPr>
        <p:sp>
          <p:nvSpPr>
            <p:cNvPr id="18" name="object 18"/>
            <p:cNvSpPr/>
            <p:nvPr/>
          </p:nvSpPr>
          <p:spPr>
            <a:xfrm>
              <a:off x="9229020" y="1364841"/>
              <a:ext cx="601345" cy="1722120"/>
            </a:xfrm>
            <a:custGeom>
              <a:avLst/>
              <a:gdLst/>
              <a:ahLst/>
              <a:cxnLst/>
              <a:rect l="l" t="t" r="r" b="b"/>
              <a:pathLst>
                <a:path w="601345" h="1722120">
                  <a:moveTo>
                    <a:pt x="0" y="1721910"/>
                  </a:moveTo>
                  <a:lnTo>
                    <a:pt x="43755" y="1706402"/>
                  </a:lnTo>
                  <a:lnTo>
                    <a:pt x="86197" y="1688543"/>
                  </a:lnTo>
                  <a:lnTo>
                    <a:pt x="127285" y="1668420"/>
                  </a:lnTo>
                  <a:lnTo>
                    <a:pt x="166973" y="1646121"/>
                  </a:lnTo>
                  <a:lnTo>
                    <a:pt x="205220" y="1621731"/>
                  </a:lnTo>
                  <a:lnTo>
                    <a:pt x="241982" y="1595337"/>
                  </a:lnTo>
                  <a:lnTo>
                    <a:pt x="277215" y="1567026"/>
                  </a:lnTo>
                  <a:lnTo>
                    <a:pt x="310877" y="1536885"/>
                  </a:lnTo>
                  <a:lnTo>
                    <a:pt x="342925" y="1504999"/>
                  </a:lnTo>
                  <a:lnTo>
                    <a:pt x="373315" y="1471456"/>
                  </a:lnTo>
                  <a:lnTo>
                    <a:pt x="402004" y="1436343"/>
                  </a:lnTo>
                  <a:lnTo>
                    <a:pt x="428948" y="1399745"/>
                  </a:lnTo>
                  <a:lnTo>
                    <a:pt x="454105" y="1361750"/>
                  </a:lnTo>
                  <a:lnTo>
                    <a:pt x="477432" y="1322444"/>
                  </a:lnTo>
                  <a:lnTo>
                    <a:pt x="498885" y="1281914"/>
                  </a:lnTo>
                  <a:lnTo>
                    <a:pt x="518421" y="1240246"/>
                  </a:lnTo>
                  <a:lnTo>
                    <a:pt x="535996" y="1197527"/>
                  </a:lnTo>
                  <a:lnTo>
                    <a:pt x="551569" y="1153844"/>
                  </a:lnTo>
                  <a:lnTo>
                    <a:pt x="565095" y="1109283"/>
                  </a:lnTo>
                  <a:lnTo>
                    <a:pt x="576531" y="1063931"/>
                  </a:lnTo>
                  <a:lnTo>
                    <a:pt x="585834" y="1017874"/>
                  </a:lnTo>
                  <a:lnTo>
                    <a:pt x="592961" y="971200"/>
                  </a:lnTo>
                  <a:lnTo>
                    <a:pt x="597868" y="923994"/>
                  </a:lnTo>
                  <a:lnTo>
                    <a:pt x="600514" y="876344"/>
                  </a:lnTo>
                  <a:lnTo>
                    <a:pt x="600853" y="828335"/>
                  </a:lnTo>
                  <a:lnTo>
                    <a:pt x="598844" y="780055"/>
                  </a:lnTo>
                  <a:lnTo>
                    <a:pt x="594442" y="731591"/>
                  </a:lnTo>
                  <a:lnTo>
                    <a:pt x="587605" y="683028"/>
                  </a:lnTo>
                  <a:lnTo>
                    <a:pt x="578290" y="634454"/>
                  </a:lnTo>
                  <a:lnTo>
                    <a:pt x="566453" y="585955"/>
                  </a:lnTo>
                  <a:lnTo>
                    <a:pt x="551940" y="537378"/>
                  </a:lnTo>
                  <a:lnTo>
                    <a:pt x="535080" y="490056"/>
                  </a:lnTo>
                  <a:lnTo>
                    <a:pt x="515944" y="444070"/>
                  </a:lnTo>
                  <a:lnTo>
                    <a:pt x="494607" y="399501"/>
                  </a:lnTo>
                  <a:lnTo>
                    <a:pt x="471140" y="356430"/>
                  </a:lnTo>
                  <a:lnTo>
                    <a:pt x="445617" y="314938"/>
                  </a:lnTo>
                  <a:lnTo>
                    <a:pt x="418112" y="275108"/>
                  </a:lnTo>
                  <a:lnTo>
                    <a:pt x="388697" y="237019"/>
                  </a:lnTo>
                  <a:lnTo>
                    <a:pt x="357446" y="200754"/>
                  </a:lnTo>
                  <a:lnTo>
                    <a:pt x="324430" y="166394"/>
                  </a:lnTo>
                  <a:lnTo>
                    <a:pt x="289725" y="134019"/>
                  </a:lnTo>
                  <a:lnTo>
                    <a:pt x="253402" y="103712"/>
                  </a:lnTo>
                  <a:lnTo>
                    <a:pt x="215535" y="75553"/>
                  </a:lnTo>
                  <a:lnTo>
                    <a:pt x="176197" y="49624"/>
                  </a:lnTo>
                  <a:lnTo>
                    <a:pt x="135461" y="26007"/>
                  </a:lnTo>
                  <a:lnTo>
                    <a:pt x="93399" y="4781"/>
                  </a:lnTo>
                  <a:lnTo>
                    <a:pt x="81610" y="0"/>
                  </a:lnTo>
                </a:path>
              </a:pathLst>
            </a:custGeom>
            <a:ln w="254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44326" y="1317176"/>
              <a:ext cx="164572" cy="14340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309122" y="290315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sp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97575" y="662872"/>
            <a:ext cx="711835" cy="19304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spc="-10" dirty="0">
                <a:latin typeface="Courier New"/>
                <a:cs typeface="Courier New"/>
              </a:rPr>
              <a:t>0x120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0x11C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0x118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0x114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09122" y="351275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pc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94835" y="414140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ra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69872" y="1006021"/>
            <a:ext cx="4562475" cy="2124075"/>
            <a:chOff x="1664529" y="831850"/>
            <a:chExt cx="4562475" cy="212407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8410" y="885731"/>
              <a:ext cx="4508500" cy="20701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670879" y="838200"/>
              <a:ext cx="4495800" cy="2057400"/>
            </a:xfrm>
            <a:custGeom>
              <a:avLst/>
              <a:gdLst/>
              <a:ahLst/>
              <a:cxnLst/>
              <a:rect l="l" t="t" r="r" b="b"/>
              <a:pathLst>
                <a:path w="4495800" h="2057400">
                  <a:moveTo>
                    <a:pt x="44958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4495800" y="2057400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EFCF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70879" y="838200"/>
              <a:ext cx="4495800" cy="2057400"/>
            </a:xfrm>
            <a:custGeom>
              <a:avLst/>
              <a:gdLst/>
              <a:ahLst/>
              <a:cxnLst/>
              <a:rect l="l" t="t" r="r" b="b"/>
              <a:pathLst>
                <a:path w="4495800" h="2057400">
                  <a:moveTo>
                    <a:pt x="0" y="0"/>
                  </a:moveTo>
                  <a:lnTo>
                    <a:pt x="4495800" y="0"/>
                  </a:lnTo>
                  <a:lnTo>
                    <a:pt x="44958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20672" y="1000873"/>
            <a:ext cx="960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caller: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95038" y="1254873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26136" y="1824468"/>
            <a:ext cx="4130675" cy="217804"/>
          </a:xfrm>
          <a:prstGeom prst="rect">
            <a:avLst/>
          </a:prstGeom>
          <a:solidFill>
            <a:srgbClr val="00FFFF">
              <a:alpha val="37078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714"/>
              </a:lnSpc>
              <a:tabLst>
                <a:tab pos="1165860" algn="l"/>
                <a:tab pos="1851660" algn="l"/>
                <a:tab pos="2400935" algn="l"/>
              </a:tabLst>
            </a:pPr>
            <a:r>
              <a:rPr sz="1800" b="1" spc="-10" dirty="0">
                <a:latin typeface="Courier New"/>
                <a:cs typeface="Courier New"/>
              </a:rPr>
              <a:t>400510: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jal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absadd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95038" y="2016873"/>
            <a:ext cx="3030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97280" algn="l"/>
                <a:tab pos="1783080" algn="l"/>
                <a:tab pos="233172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400514: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lw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0(sp)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95038" y="2270873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45896" y="4133850"/>
            <a:ext cx="1346200" cy="381000"/>
          </a:xfrm>
          <a:prstGeom prst="rect">
            <a:avLst/>
          </a:prstGeom>
          <a:solidFill>
            <a:srgbClr val="D6D6F4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0x400514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54AA492-B457-6260-849E-083EC6F7CAA3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A closer look.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2529" y="3218429"/>
            <a:ext cx="4562475" cy="3460750"/>
            <a:chOff x="1664529" y="3076915"/>
            <a:chExt cx="4562475" cy="346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8410" y="3130796"/>
              <a:ext cx="4508500" cy="340643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70879" y="3083265"/>
              <a:ext cx="4495800" cy="3394075"/>
            </a:xfrm>
            <a:custGeom>
              <a:avLst/>
              <a:gdLst/>
              <a:ahLst/>
              <a:cxnLst/>
              <a:rect l="l" t="t" r="r" b="b"/>
              <a:pathLst>
                <a:path w="4495800" h="3394075">
                  <a:moveTo>
                    <a:pt x="4495800" y="0"/>
                  </a:moveTo>
                  <a:lnTo>
                    <a:pt x="0" y="0"/>
                  </a:lnTo>
                  <a:lnTo>
                    <a:pt x="0" y="3393734"/>
                  </a:lnTo>
                  <a:lnTo>
                    <a:pt x="4495800" y="3393734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70879" y="3083265"/>
              <a:ext cx="4495800" cy="3394075"/>
            </a:xfrm>
            <a:custGeom>
              <a:avLst/>
              <a:gdLst/>
              <a:ahLst/>
              <a:cxnLst/>
              <a:rect l="l" t="t" r="r" b="b"/>
              <a:pathLst>
                <a:path w="4495800" h="3394075">
                  <a:moveTo>
                    <a:pt x="0" y="0"/>
                  </a:moveTo>
                  <a:lnTo>
                    <a:pt x="4495800" y="0"/>
                  </a:lnTo>
                  <a:lnTo>
                    <a:pt x="4495800" y="3393734"/>
                  </a:lnTo>
                  <a:lnTo>
                    <a:pt x="0" y="339373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58793" y="3544411"/>
            <a:ext cx="4130675" cy="217804"/>
          </a:xfrm>
          <a:prstGeom prst="rect">
            <a:avLst/>
          </a:prstGeom>
          <a:solidFill>
            <a:srgbClr val="00FFFF">
              <a:alpha val="37078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55"/>
              </a:lnSpc>
              <a:tabLst>
                <a:tab pos="1165860" algn="l"/>
                <a:tab pos="1988820" algn="l"/>
                <a:tab pos="2538095" algn="l"/>
                <a:tab pos="3086735" algn="l"/>
              </a:tabLst>
            </a:pPr>
            <a:r>
              <a:rPr sz="1800" b="1" spc="-10" dirty="0">
                <a:latin typeface="Courier New"/>
                <a:cs typeface="Courier New"/>
              </a:rPr>
              <a:t>400540: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addi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-</a:t>
            </a:r>
            <a:r>
              <a:rPr sz="1800" b="1" spc="-25" dirty="0">
                <a:latin typeface="Courier New"/>
                <a:cs typeface="Courier New"/>
              </a:rPr>
              <a:t>12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3329" y="3213281"/>
            <a:ext cx="3442335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absadd:</a:t>
            </a:r>
            <a:endParaRPr sz="18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  <a:spcBef>
                <a:spcPts val="1839"/>
              </a:spcBef>
              <a:tabLst>
                <a:tab pos="1371600" algn="l"/>
                <a:tab pos="2194560" algn="l"/>
                <a:tab pos="274320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400544: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sw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8(sp)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7695" y="3975282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7695" y="4483282"/>
            <a:ext cx="1509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40055C: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jal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7695" y="4737282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7695" y="5245281"/>
            <a:ext cx="1646555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400568: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lw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00"/>
              </a:lnSpc>
              <a:spcBef>
                <a:spcPts val="12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40056C: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addi </a:t>
            </a:r>
            <a:r>
              <a:rPr sz="1800" b="1" spc="-10" dirty="0">
                <a:latin typeface="Courier New"/>
                <a:cs typeface="Courier New"/>
              </a:rPr>
              <a:t>400570: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jalr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48255" y="4483282"/>
            <a:ext cx="1384935" cy="156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abs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1800">
              <a:latin typeface="Courier New"/>
              <a:cs typeface="Courier New"/>
            </a:endParaRPr>
          </a:p>
          <a:p>
            <a:pPr marR="5080">
              <a:lnSpc>
                <a:spcPts val="2000"/>
              </a:lnSpc>
              <a:tabLst>
                <a:tab pos="548640" algn="l"/>
                <a:tab pos="109728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8(sp) 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12 x0,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ra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02529" y="973364"/>
            <a:ext cx="4562475" cy="2124075"/>
            <a:chOff x="1664529" y="831850"/>
            <a:chExt cx="4562475" cy="212407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8410" y="885731"/>
              <a:ext cx="4508500" cy="20701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670879" y="838200"/>
              <a:ext cx="4495800" cy="2057400"/>
            </a:xfrm>
            <a:custGeom>
              <a:avLst/>
              <a:gdLst/>
              <a:ahLst/>
              <a:cxnLst/>
              <a:rect l="l" t="t" r="r" b="b"/>
              <a:pathLst>
                <a:path w="4495800" h="2057400">
                  <a:moveTo>
                    <a:pt x="44958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4495800" y="2057400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EFCF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70879" y="838200"/>
              <a:ext cx="4495800" cy="2057400"/>
            </a:xfrm>
            <a:custGeom>
              <a:avLst/>
              <a:gdLst/>
              <a:ahLst/>
              <a:cxnLst/>
              <a:rect l="l" t="t" r="r" b="b"/>
              <a:pathLst>
                <a:path w="4495800" h="2057400">
                  <a:moveTo>
                    <a:pt x="0" y="0"/>
                  </a:moveTo>
                  <a:lnTo>
                    <a:pt x="4495800" y="0"/>
                  </a:lnTo>
                  <a:lnTo>
                    <a:pt x="44958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53329" y="968216"/>
            <a:ext cx="960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Caller: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27695" y="1222216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7695" y="1730216"/>
            <a:ext cx="15093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400510: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jal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400514: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lw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11072" y="1730216"/>
            <a:ext cx="1384935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5080">
              <a:lnSpc>
                <a:spcPts val="2000"/>
              </a:lnSpc>
              <a:spcBef>
                <a:spcPts val="300"/>
              </a:spcBef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absadd </a:t>
            </a: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0(sp)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27695" y="2238216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72400" y="3505200"/>
            <a:ext cx="1346200" cy="381000"/>
          </a:xfrm>
          <a:prstGeom prst="rect">
            <a:avLst/>
          </a:prstGeom>
          <a:solidFill>
            <a:srgbClr val="FFCCCC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0x400540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09122" y="351275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pc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45896" y="4133850"/>
            <a:ext cx="1346200" cy="381000"/>
          </a:xfrm>
          <a:prstGeom prst="rect">
            <a:avLst/>
          </a:prstGeom>
          <a:solidFill>
            <a:srgbClr val="D6D6F4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0x400514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94835" y="414140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72400" y="2895600"/>
            <a:ext cx="1346200" cy="381000"/>
          </a:xfrm>
          <a:prstGeom prst="rect">
            <a:avLst/>
          </a:prstGeom>
          <a:solidFill>
            <a:srgbClr val="D5F1CF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0x110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09122" y="290315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sp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759700" y="368300"/>
            <a:ext cx="1371600" cy="2292350"/>
            <a:chOff x="7759700" y="368300"/>
            <a:chExt cx="1371600" cy="2292350"/>
          </a:xfrm>
        </p:grpSpPr>
        <p:sp>
          <p:nvSpPr>
            <p:cNvPr id="30" name="object 30"/>
            <p:cNvSpPr/>
            <p:nvPr/>
          </p:nvSpPr>
          <p:spPr>
            <a:xfrm>
              <a:off x="7772400" y="381000"/>
              <a:ext cx="1346200" cy="2266950"/>
            </a:xfrm>
            <a:custGeom>
              <a:avLst/>
              <a:gdLst/>
              <a:ahLst/>
              <a:cxnLst/>
              <a:rect l="l" t="t" r="r" b="b"/>
              <a:pathLst>
                <a:path w="1346200" h="2266950">
                  <a:moveTo>
                    <a:pt x="1346200" y="0"/>
                  </a:moveTo>
                  <a:lnTo>
                    <a:pt x="0" y="0"/>
                  </a:lnTo>
                  <a:lnTo>
                    <a:pt x="0" y="2266950"/>
                  </a:lnTo>
                  <a:lnTo>
                    <a:pt x="1346200" y="2266950"/>
                  </a:lnTo>
                  <a:lnTo>
                    <a:pt x="1346200" y="0"/>
                  </a:lnTo>
                  <a:close/>
                </a:path>
              </a:pathLst>
            </a:custGeom>
            <a:solidFill>
              <a:srgbClr val="D6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72400" y="381000"/>
              <a:ext cx="1346200" cy="2266950"/>
            </a:xfrm>
            <a:custGeom>
              <a:avLst/>
              <a:gdLst/>
              <a:ahLst/>
              <a:cxnLst/>
              <a:rect l="l" t="t" r="r" b="b"/>
              <a:pathLst>
                <a:path w="1346200" h="2266950">
                  <a:moveTo>
                    <a:pt x="0" y="0"/>
                  </a:moveTo>
                  <a:lnTo>
                    <a:pt x="1346200" y="0"/>
                  </a:lnTo>
                  <a:lnTo>
                    <a:pt x="1346200" y="2266950"/>
                  </a:lnTo>
                  <a:lnTo>
                    <a:pt x="0" y="226695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785100" y="393700"/>
            <a:ext cx="1320800" cy="1111250"/>
          </a:xfrm>
          <a:prstGeom prst="rect">
            <a:avLst/>
          </a:prstGeom>
          <a:solidFill>
            <a:srgbClr val="D6D6F4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40"/>
              </a:lnSpc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97575" y="662872"/>
            <a:ext cx="711835" cy="19304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spc="-10" dirty="0">
                <a:latin typeface="Courier New"/>
                <a:cs typeface="Courier New"/>
              </a:rPr>
              <a:t>0x120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0x11C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0x118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0x114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0x110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772400" y="1504950"/>
            <a:ext cx="2070100" cy="1630680"/>
            <a:chOff x="7772400" y="1504950"/>
            <a:chExt cx="2070100" cy="1630680"/>
          </a:xfrm>
        </p:grpSpPr>
        <p:sp>
          <p:nvSpPr>
            <p:cNvPr id="35" name="object 35"/>
            <p:cNvSpPr/>
            <p:nvPr/>
          </p:nvSpPr>
          <p:spPr>
            <a:xfrm>
              <a:off x="9159730" y="2521744"/>
              <a:ext cx="670560" cy="600710"/>
            </a:xfrm>
            <a:custGeom>
              <a:avLst/>
              <a:gdLst/>
              <a:ahLst/>
              <a:cxnLst/>
              <a:rect l="l" t="t" r="r" b="b"/>
              <a:pathLst>
                <a:path w="670559" h="600710">
                  <a:moveTo>
                    <a:pt x="0" y="600637"/>
                  </a:moveTo>
                  <a:lnTo>
                    <a:pt x="67712" y="596373"/>
                  </a:lnTo>
                  <a:lnTo>
                    <a:pt x="133062" y="589780"/>
                  </a:lnTo>
                  <a:lnTo>
                    <a:pt x="195814" y="580977"/>
                  </a:lnTo>
                  <a:lnTo>
                    <a:pt x="255733" y="570082"/>
                  </a:lnTo>
                  <a:lnTo>
                    <a:pt x="312584" y="557214"/>
                  </a:lnTo>
                  <a:lnTo>
                    <a:pt x="366133" y="542493"/>
                  </a:lnTo>
                  <a:lnTo>
                    <a:pt x="416144" y="526035"/>
                  </a:lnTo>
                  <a:lnTo>
                    <a:pt x="462383" y="507961"/>
                  </a:lnTo>
                  <a:lnTo>
                    <a:pt x="504614" y="488389"/>
                  </a:lnTo>
                  <a:lnTo>
                    <a:pt x="542602" y="467438"/>
                  </a:lnTo>
                  <a:lnTo>
                    <a:pt x="576113" y="445226"/>
                  </a:lnTo>
                  <a:lnTo>
                    <a:pt x="628763" y="397494"/>
                  </a:lnTo>
                  <a:lnTo>
                    <a:pt x="660683" y="346144"/>
                  </a:lnTo>
                  <a:lnTo>
                    <a:pt x="669993" y="292125"/>
                  </a:lnTo>
                  <a:lnTo>
                    <a:pt x="665582" y="264412"/>
                  </a:lnTo>
                  <a:lnTo>
                    <a:pt x="638764" y="210546"/>
                  </a:lnTo>
                  <a:lnTo>
                    <a:pt x="589832" y="160602"/>
                  </a:lnTo>
                  <a:lnTo>
                    <a:pt x="557754" y="137380"/>
                  </a:lnTo>
                  <a:lnTo>
                    <a:pt x="520965" y="115473"/>
                  </a:lnTo>
                  <a:lnTo>
                    <a:pt x="479738" y="94992"/>
                  </a:lnTo>
                  <a:lnTo>
                    <a:pt x="434345" y="76047"/>
                  </a:lnTo>
                  <a:lnTo>
                    <a:pt x="385058" y="58752"/>
                  </a:lnTo>
                  <a:lnTo>
                    <a:pt x="332151" y="43216"/>
                  </a:lnTo>
                  <a:lnTo>
                    <a:pt x="275895" y="29552"/>
                  </a:lnTo>
                  <a:lnTo>
                    <a:pt x="216563" y="17870"/>
                  </a:lnTo>
                  <a:lnTo>
                    <a:pt x="154428" y="8282"/>
                  </a:lnTo>
                  <a:lnTo>
                    <a:pt x="89762" y="898"/>
                  </a:lnTo>
                  <a:lnTo>
                    <a:pt x="77092" y="0"/>
                  </a:lnTo>
                </a:path>
              </a:pathLst>
            </a:custGeom>
            <a:ln w="254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65454" y="2450238"/>
              <a:ext cx="156230" cy="15178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772400" y="1514475"/>
              <a:ext cx="1346200" cy="0"/>
            </a:xfrm>
            <a:custGeom>
              <a:avLst/>
              <a:gdLst/>
              <a:ahLst/>
              <a:cxnLst/>
              <a:rect l="l" t="t" r="r" b="b"/>
              <a:pathLst>
                <a:path w="1346200">
                  <a:moveTo>
                    <a:pt x="0" y="0"/>
                  </a:moveTo>
                  <a:lnTo>
                    <a:pt x="1346200" y="0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Title 1">
            <a:extLst>
              <a:ext uri="{FF2B5EF4-FFF2-40B4-BE49-F238E27FC236}">
                <a16:creationId xmlns:a16="http://schemas.microsoft.com/office/drawing/2014/main" id="{B91B8809-CD81-4DF2-8C44-32F806DB6914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A closer look.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64529" y="3076915"/>
            <a:ext cx="4562475" cy="3460750"/>
            <a:chOff x="1664529" y="3076915"/>
            <a:chExt cx="4562475" cy="346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8410" y="3130796"/>
              <a:ext cx="4508500" cy="340643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70879" y="3083265"/>
              <a:ext cx="4495800" cy="3394075"/>
            </a:xfrm>
            <a:custGeom>
              <a:avLst/>
              <a:gdLst/>
              <a:ahLst/>
              <a:cxnLst/>
              <a:rect l="l" t="t" r="r" b="b"/>
              <a:pathLst>
                <a:path w="4495800" h="3394075">
                  <a:moveTo>
                    <a:pt x="4495800" y="0"/>
                  </a:moveTo>
                  <a:lnTo>
                    <a:pt x="0" y="0"/>
                  </a:lnTo>
                  <a:lnTo>
                    <a:pt x="0" y="3393734"/>
                  </a:lnTo>
                  <a:lnTo>
                    <a:pt x="4495800" y="3393734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70879" y="3083265"/>
              <a:ext cx="4495800" cy="3394075"/>
            </a:xfrm>
            <a:custGeom>
              <a:avLst/>
              <a:gdLst/>
              <a:ahLst/>
              <a:cxnLst/>
              <a:rect l="l" t="t" r="r" b="b"/>
              <a:pathLst>
                <a:path w="4495800" h="3394075">
                  <a:moveTo>
                    <a:pt x="0" y="0"/>
                  </a:moveTo>
                  <a:lnTo>
                    <a:pt x="4495800" y="0"/>
                  </a:lnTo>
                  <a:lnTo>
                    <a:pt x="4495800" y="3393734"/>
                  </a:lnTo>
                  <a:lnTo>
                    <a:pt x="0" y="339373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15329" y="3071767"/>
            <a:ext cx="3716654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absadd:</a:t>
            </a:r>
            <a:endParaRPr sz="1800">
              <a:latin typeface="Courier New"/>
              <a:cs typeface="Courier New"/>
            </a:endParaRPr>
          </a:p>
          <a:p>
            <a:pPr marL="274320">
              <a:lnSpc>
                <a:spcPts val="2080"/>
              </a:lnSpc>
              <a:tabLst>
                <a:tab pos="1371600" algn="l"/>
                <a:tab pos="2194560" algn="l"/>
                <a:tab pos="2743200" algn="l"/>
                <a:tab pos="329184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400540: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addi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-</a:t>
            </a:r>
            <a:r>
              <a:rPr sz="1800" b="1" spc="-25" dirty="0">
                <a:latin typeface="Courier New"/>
                <a:cs typeface="Courier New"/>
              </a:rPr>
              <a:t>12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20793" y="3656897"/>
            <a:ext cx="4130675" cy="217804"/>
          </a:xfrm>
          <a:prstGeom prst="rect">
            <a:avLst/>
          </a:prstGeom>
          <a:solidFill>
            <a:srgbClr val="00FFFF">
              <a:alpha val="37078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55"/>
              </a:lnSpc>
              <a:tabLst>
                <a:tab pos="1165860" algn="l"/>
                <a:tab pos="1988820" algn="l"/>
                <a:tab pos="2538095" algn="l"/>
              </a:tabLst>
            </a:pPr>
            <a:r>
              <a:rPr sz="1800" b="1" spc="-10" dirty="0">
                <a:latin typeface="Courier New"/>
                <a:cs typeface="Courier New"/>
              </a:rPr>
              <a:t>400544: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sw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8(sp)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9695" y="3833768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9695" y="4341768"/>
            <a:ext cx="1509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40055C: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jal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0255" y="4341768"/>
            <a:ext cx="973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abs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9695" y="4595768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89695" y="5103767"/>
            <a:ext cx="1646555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400568: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lw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00"/>
              </a:lnSpc>
              <a:spcBef>
                <a:spcPts val="12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40056C: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addi </a:t>
            </a:r>
            <a:r>
              <a:rPr sz="1800" b="1" spc="-10" dirty="0">
                <a:latin typeface="Courier New"/>
                <a:cs typeface="Courier New"/>
              </a:rPr>
              <a:t>400570: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jalr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10255" y="5103767"/>
            <a:ext cx="1384935" cy="807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5080">
              <a:lnSpc>
                <a:spcPts val="2000"/>
              </a:lnSpc>
              <a:spcBef>
                <a:spcPts val="300"/>
              </a:spcBef>
              <a:tabLst>
                <a:tab pos="548640" algn="l"/>
                <a:tab pos="109728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8(sp) 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12 x0,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ra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664529" y="831850"/>
            <a:ext cx="4562475" cy="2124075"/>
            <a:chOff x="1664529" y="831850"/>
            <a:chExt cx="4562475" cy="212407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8410" y="885731"/>
              <a:ext cx="4508500" cy="20701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70879" y="838200"/>
              <a:ext cx="4495800" cy="2057400"/>
            </a:xfrm>
            <a:custGeom>
              <a:avLst/>
              <a:gdLst/>
              <a:ahLst/>
              <a:cxnLst/>
              <a:rect l="l" t="t" r="r" b="b"/>
              <a:pathLst>
                <a:path w="4495800" h="2057400">
                  <a:moveTo>
                    <a:pt x="44958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4495800" y="2057400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EFCF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0879" y="838200"/>
              <a:ext cx="4495800" cy="2057400"/>
            </a:xfrm>
            <a:custGeom>
              <a:avLst/>
              <a:gdLst/>
              <a:ahLst/>
              <a:cxnLst/>
              <a:rect l="l" t="t" r="r" b="b"/>
              <a:pathLst>
                <a:path w="4495800" h="2057400">
                  <a:moveTo>
                    <a:pt x="0" y="0"/>
                  </a:moveTo>
                  <a:lnTo>
                    <a:pt x="4495800" y="0"/>
                  </a:lnTo>
                  <a:lnTo>
                    <a:pt x="44958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15329" y="826702"/>
            <a:ext cx="960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caller: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89695" y="1080702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89695" y="1588702"/>
            <a:ext cx="15093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400510: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jal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400514: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lw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73072" y="1588702"/>
            <a:ext cx="1384935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5080">
              <a:lnSpc>
                <a:spcPts val="2000"/>
              </a:lnSpc>
              <a:spcBef>
                <a:spcPts val="300"/>
              </a:spcBef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absadd </a:t>
            </a: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0(sp)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89695" y="2096702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72400" y="3505200"/>
            <a:ext cx="1346200" cy="381000"/>
          </a:xfrm>
          <a:prstGeom prst="rect">
            <a:avLst/>
          </a:prstGeom>
          <a:solidFill>
            <a:srgbClr val="FFCCCC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0x400544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72400" y="2895600"/>
            <a:ext cx="1346200" cy="381000"/>
          </a:xfrm>
          <a:prstGeom prst="rect">
            <a:avLst/>
          </a:prstGeom>
          <a:solidFill>
            <a:srgbClr val="D5F1CF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0x110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09122" y="290315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sp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09122" y="351275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pc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45896" y="4133850"/>
            <a:ext cx="1346200" cy="381000"/>
          </a:xfrm>
          <a:prstGeom prst="rect">
            <a:avLst/>
          </a:prstGeom>
          <a:solidFill>
            <a:srgbClr val="D6D6F4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0x400514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94835" y="414140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97575" y="662872"/>
            <a:ext cx="711835" cy="19304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spc="-10" dirty="0">
                <a:latin typeface="Courier New"/>
                <a:cs typeface="Courier New"/>
              </a:rPr>
              <a:t>0x120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0x11C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0x118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0x114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0x110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759700" y="368300"/>
            <a:ext cx="2082800" cy="2767330"/>
            <a:chOff x="7759700" y="368300"/>
            <a:chExt cx="2082800" cy="2767330"/>
          </a:xfrm>
        </p:grpSpPr>
        <p:sp>
          <p:nvSpPr>
            <p:cNvPr id="32" name="object 32"/>
            <p:cNvSpPr/>
            <p:nvPr/>
          </p:nvSpPr>
          <p:spPr>
            <a:xfrm>
              <a:off x="9159730" y="2521744"/>
              <a:ext cx="670560" cy="600710"/>
            </a:xfrm>
            <a:custGeom>
              <a:avLst/>
              <a:gdLst/>
              <a:ahLst/>
              <a:cxnLst/>
              <a:rect l="l" t="t" r="r" b="b"/>
              <a:pathLst>
                <a:path w="670559" h="600710">
                  <a:moveTo>
                    <a:pt x="0" y="600637"/>
                  </a:moveTo>
                  <a:lnTo>
                    <a:pt x="67712" y="596373"/>
                  </a:lnTo>
                  <a:lnTo>
                    <a:pt x="133062" y="589780"/>
                  </a:lnTo>
                  <a:lnTo>
                    <a:pt x="195814" y="580977"/>
                  </a:lnTo>
                  <a:lnTo>
                    <a:pt x="255733" y="570082"/>
                  </a:lnTo>
                  <a:lnTo>
                    <a:pt x="312584" y="557214"/>
                  </a:lnTo>
                  <a:lnTo>
                    <a:pt x="366133" y="542493"/>
                  </a:lnTo>
                  <a:lnTo>
                    <a:pt x="416144" y="526035"/>
                  </a:lnTo>
                  <a:lnTo>
                    <a:pt x="462383" y="507961"/>
                  </a:lnTo>
                  <a:lnTo>
                    <a:pt x="504614" y="488389"/>
                  </a:lnTo>
                  <a:lnTo>
                    <a:pt x="542602" y="467438"/>
                  </a:lnTo>
                  <a:lnTo>
                    <a:pt x="576113" y="445226"/>
                  </a:lnTo>
                  <a:lnTo>
                    <a:pt x="628763" y="397494"/>
                  </a:lnTo>
                  <a:lnTo>
                    <a:pt x="660683" y="346144"/>
                  </a:lnTo>
                  <a:lnTo>
                    <a:pt x="669993" y="292125"/>
                  </a:lnTo>
                  <a:lnTo>
                    <a:pt x="665582" y="264412"/>
                  </a:lnTo>
                  <a:lnTo>
                    <a:pt x="638764" y="210546"/>
                  </a:lnTo>
                  <a:lnTo>
                    <a:pt x="589832" y="160602"/>
                  </a:lnTo>
                  <a:lnTo>
                    <a:pt x="557754" y="137380"/>
                  </a:lnTo>
                  <a:lnTo>
                    <a:pt x="520965" y="115473"/>
                  </a:lnTo>
                  <a:lnTo>
                    <a:pt x="479738" y="94992"/>
                  </a:lnTo>
                  <a:lnTo>
                    <a:pt x="434345" y="76047"/>
                  </a:lnTo>
                  <a:lnTo>
                    <a:pt x="385058" y="58752"/>
                  </a:lnTo>
                  <a:lnTo>
                    <a:pt x="332151" y="43216"/>
                  </a:lnTo>
                  <a:lnTo>
                    <a:pt x="275895" y="29552"/>
                  </a:lnTo>
                  <a:lnTo>
                    <a:pt x="216563" y="17870"/>
                  </a:lnTo>
                  <a:lnTo>
                    <a:pt x="154428" y="8282"/>
                  </a:lnTo>
                  <a:lnTo>
                    <a:pt x="89762" y="898"/>
                  </a:lnTo>
                  <a:lnTo>
                    <a:pt x="77092" y="0"/>
                  </a:lnTo>
                </a:path>
              </a:pathLst>
            </a:custGeom>
            <a:ln w="254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65454" y="2450238"/>
              <a:ext cx="156230" cy="15178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772400" y="381000"/>
              <a:ext cx="1346200" cy="2266950"/>
            </a:xfrm>
            <a:custGeom>
              <a:avLst/>
              <a:gdLst/>
              <a:ahLst/>
              <a:cxnLst/>
              <a:rect l="l" t="t" r="r" b="b"/>
              <a:pathLst>
                <a:path w="1346200" h="2266950">
                  <a:moveTo>
                    <a:pt x="1346200" y="0"/>
                  </a:moveTo>
                  <a:lnTo>
                    <a:pt x="0" y="0"/>
                  </a:lnTo>
                  <a:lnTo>
                    <a:pt x="0" y="2266950"/>
                  </a:lnTo>
                  <a:lnTo>
                    <a:pt x="1346200" y="2266950"/>
                  </a:lnTo>
                  <a:lnTo>
                    <a:pt x="1346200" y="0"/>
                  </a:lnTo>
                  <a:close/>
                </a:path>
              </a:pathLst>
            </a:custGeom>
            <a:solidFill>
              <a:srgbClr val="D6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72400" y="381000"/>
              <a:ext cx="1346200" cy="2266950"/>
            </a:xfrm>
            <a:custGeom>
              <a:avLst/>
              <a:gdLst/>
              <a:ahLst/>
              <a:cxnLst/>
              <a:rect l="l" t="t" r="r" b="b"/>
              <a:pathLst>
                <a:path w="1346200" h="2266950">
                  <a:moveTo>
                    <a:pt x="0" y="0"/>
                  </a:moveTo>
                  <a:lnTo>
                    <a:pt x="1346200" y="0"/>
                  </a:lnTo>
                  <a:lnTo>
                    <a:pt x="1346200" y="2266950"/>
                  </a:lnTo>
                  <a:lnTo>
                    <a:pt x="0" y="226695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785100" y="393700"/>
            <a:ext cx="1320800" cy="1111250"/>
          </a:xfrm>
          <a:prstGeom prst="rect">
            <a:avLst/>
          </a:prstGeom>
          <a:solidFill>
            <a:srgbClr val="D6D6F4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40"/>
              </a:lnSpc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85100" y="1524000"/>
            <a:ext cx="1320800" cy="1111250"/>
          </a:xfrm>
          <a:prstGeom prst="rect">
            <a:avLst/>
          </a:prstGeom>
          <a:solidFill>
            <a:srgbClr val="D6D6F4"/>
          </a:solidFill>
        </p:spPr>
        <p:txBody>
          <a:bodyPr vert="horz" wrap="square" lIns="0" tIns="0" rIns="0" bIns="0" rtlCol="0">
            <a:spAutoFit/>
          </a:bodyPr>
          <a:lstStyle/>
          <a:p>
            <a:pPr marL="41910">
              <a:lnSpc>
                <a:spcPts val="2440"/>
              </a:lnSpc>
            </a:pPr>
            <a:r>
              <a:rPr sz="2400" spc="-10" dirty="0">
                <a:latin typeface="Calibri"/>
                <a:cs typeface="Calibri"/>
              </a:rPr>
              <a:t>00400514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772400" y="1514475"/>
            <a:ext cx="1346200" cy="0"/>
          </a:xfrm>
          <a:custGeom>
            <a:avLst/>
            <a:gdLst/>
            <a:ahLst/>
            <a:cxnLst/>
            <a:rect l="l" t="t" r="r" b="b"/>
            <a:pathLst>
              <a:path w="1346200">
                <a:moveTo>
                  <a:pt x="0" y="0"/>
                </a:moveTo>
                <a:lnTo>
                  <a:pt x="1346200" y="0"/>
                </a:lnTo>
              </a:path>
            </a:pathLst>
          </a:custGeom>
          <a:ln w="1905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A305C5E5-7902-3F6B-059F-B230EFD5F64C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A closer look.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64529" y="3076915"/>
            <a:ext cx="4562475" cy="3460750"/>
            <a:chOff x="1664529" y="3076915"/>
            <a:chExt cx="4562475" cy="346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8410" y="3130796"/>
              <a:ext cx="4508500" cy="340643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70879" y="3083265"/>
              <a:ext cx="4495800" cy="3394075"/>
            </a:xfrm>
            <a:custGeom>
              <a:avLst/>
              <a:gdLst/>
              <a:ahLst/>
              <a:cxnLst/>
              <a:rect l="l" t="t" r="r" b="b"/>
              <a:pathLst>
                <a:path w="4495800" h="3394075">
                  <a:moveTo>
                    <a:pt x="4495800" y="0"/>
                  </a:moveTo>
                  <a:lnTo>
                    <a:pt x="0" y="0"/>
                  </a:lnTo>
                  <a:lnTo>
                    <a:pt x="0" y="3393734"/>
                  </a:lnTo>
                  <a:lnTo>
                    <a:pt x="4495800" y="3393734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70879" y="3083265"/>
              <a:ext cx="4495800" cy="3394075"/>
            </a:xfrm>
            <a:custGeom>
              <a:avLst/>
              <a:gdLst/>
              <a:ahLst/>
              <a:cxnLst/>
              <a:rect l="l" t="t" r="r" b="b"/>
              <a:pathLst>
                <a:path w="4495800" h="3394075">
                  <a:moveTo>
                    <a:pt x="0" y="0"/>
                  </a:moveTo>
                  <a:lnTo>
                    <a:pt x="4495800" y="0"/>
                  </a:lnTo>
                  <a:lnTo>
                    <a:pt x="4495800" y="3393734"/>
                  </a:lnTo>
                  <a:lnTo>
                    <a:pt x="0" y="339373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15329" y="3071767"/>
            <a:ext cx="1920875" cy="807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74320" indent="-274955">
              <a:lnSpc>
                <a:spcPts val="2000"/>
              </a:lnSpc>
              <a:spcBef>
                <a:spcPts val="300"/>
              </a:spcBef>
              <a:tabLst>
                <a:tab pos="1371600" algn="l"/>
              </a:tabLst>
            </a:pPr>
            <a:r>
              <a:rPr sz="1800" b="1" spc="-10" dirty="0">
                <a:latin typeface="Courier New"/>
                <a:cs typeface="Courier New"/>
              </a:rPr>
              <a:t>absadd: 400540: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addi</a:t>
            </a:r>
            <a:endParaRPr sz="1800">
              <a:latin typeface="Courier New"/>
              <a:cs typeface="Courier New"/>
            </a:endParaRPr>
          </a:p>
          <a:p>
            <a:pPr marL="274320">
              <a:lnSpc>
                <a:spcPts val="1960"/>
              </a:lnSpc>
              <a:tabLst>
                <a:tab pos="137160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400544: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sw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0255" y="3325767"/>
            <a:ext cx="15220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548640" algn="l"/>
                <a:tab pos="1097280" algn="l"/>
              </a:tabLst>
            </a:pP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-</a:t>
            </a:r>
            <a:r>
              <a:rPr sz="1800" b="1" spc="-25" dirty="0">
                <a:latin typeface="Courier New"/>
                <a:cs typeface="Courier New"/>
              </a:rPr>
              <a:t>12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8(sp)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9695" y="3833768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0793" y="4406197"/>
            <a:ext cx="4130675" cy="217804"/>
          </a:xfrm>
          <a:prstGeom prst="rect">
            <a:avLst/>
          </a:prstGeom>
          <a:solidFill>
            <a:srgbClr val="00FFFF">
              <a:alpha val="37078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714"/>
              </a:lnSpc>
              <a:tabLst>
                <a:tab pos="1165860" algn="l"/>
                <a:tab pos="1988820" algn="l"/>
                <a:tab pos="2538095" algn="l"/>
              </a:tabLst>
            </a:pPr>
            <a:r>
              <a:rPr sz="1800" b="1" spc="-10" dirty="0">
                <a:latin typeface="Courier New"/>
                <a:cs typeface="Courier New"/>
              </a:rPr>
              <a:t>40055C: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jal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abs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9695" y="4595768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9695" y="5103767"/>
            <a:ext cx="1646555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400568: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lw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00"/>
              </a:lnSpc>
              <a:spcBef>
                <a:spcPts val="12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40056C: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addi </a:t>
            </a:r>
            <a:r>
              <a:rPr sz="1800" b="1" spc="-10" dirty="0">
                <a:latin typeface="Courier New"/>
                <a:cs typeface="Courier New"/>
              </a:rPr>
              <a:t>400570: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jalr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10255" y="5103767"/>
            <a:ext cx="1384935" cy="807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5080">
              <a:lnSpc>
                <a:spcPts val="2000"/>
              </a:lnSpc>
              <a:spcBef>
                <a:spcPts val="300"/>
              </a:spcBef>
              <a:tabLst>
                <a:tab pos="548640" algn="l"/>
                <a:tab pos="109728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8(sp) 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12 x0,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ra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64529" y="831850"/>
            <a:ext cx="4562475" cy="2124075"/>
            <a:chOff x="1664529" y="831850"/>
            <a:chExt cx="4562475" cy="212407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8410" y="885731"/>
              <a:ext cx="4508500" cy="20701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670879" y="838200"/>
              <a:ext cx="4495800" cy="2057400"/>
            </a:xfrm>
            <a:custGeom>
              <a:avLst/>
              <a:gdLst/>
              <a:ahLst/>
              <a:cxnLst/>
              <a:rect l="l" t="t" r="r" b="b"/>
              <a:pathLst>
                <a:path w="4495800" h="2057400">
                  <a:moveTo>
                    <a:pt x="44958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4495800" y="2057400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EFCF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70879" y="838200"/>
              <a:ext cx="4495800" cy="2057400"/>
            </a:xfrm>
            <a:custGeom>
              <a:avLst/>
              <a:gdLst/>
              <a:ahLst/>
              <a:cxnLst/>
              <a:rect l="l" t="t" r="r" b="b"/>
              <a:pathLst>
                <a:path w="4495800" h="2057400">
                  <a:moveTo>
                    <a:pt x="0" y="0"/>
                  </a:moveTo>
                  <a:lnTo>
                    <a:pt x="4495800" y="0"/>
                  </a:lnTo>
                  <a:lnTo>
                    <a:pt x="44958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15329" y="826702"/>
            <a:ext cx="960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caller: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89695" y="1080702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89695" y="1588702"/>
            <a:ext cx="15093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400510: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jal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400514: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lw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3072" y="1588702"/>
            <a:ext cx="1384935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5080">
              <a:lnSpc>
                <a:spcPts val="2000"/>
              </a:lnSpc>
              <a:spcBef>
                <a:spcPts val="300"/>
              </a:spcBef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absadd </a:t>
            </a: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0(sp)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89695" y="2096702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759700" y="368300"/>
            <a:ext cx="1371600" cy="2292350"/>
            <a:chOff x="7759700" y="368300"/>
            <a:chExt cx="1371600" cy="2292350"/>
          </a:xfrm>
        </p:grpSpPr>
        <p:sp>
          <p:nvSpPr>
            <p:cNvPr id="23" name="object 23"/>
            <p:cNvSpPr/>
            <p:nvPr/>
          </p:nvSpPr>
          <p:spPr>
            <a:xfrm>
              <a:off x="7772400" y="381000"/>
              <a:ext cx="1346200" cy="2266950"/>
            </a:xfrm>
            <a:custGeom>
              <a:avLst/>
              <a:gdLst/>
              <a:ahLst/>
              <a:cxnLst/>
              <a:rect l="l" t="t" r="r" b="b"/>
              <a:pathLst>
                <a:path w="1346200" h="2266950">
                  <a:moveTo>
                    <a:pt x="1346200" y="0"/>
                  </a:moveTo>
                  <a:lnTo>
                    <a:pt x="0" y="0"/>
                  </a:lnTo>
                  <a:lnTo>
                    <a:pt x="0" y="2266950"/>
                  </a:lnTo>
                  <a:lnTo>
                    <a:pt x="1346200" y="2266950"/>
                  </a:lnTo>
                  <a:lnTo>
                    <a:pt x="1346200" y="0"/>
                  </a:lnTo>
                  <a:close/>
                </a:path>
              </a:pathLst>
            </a:custGeom>
            <a:solidFill>
              <a:srgbClr val="D6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72400" y="381000"/>
              <a:ext cx="1346200" cy="2266950"/>
            </a:xfrm>
            <a:custGeom>
              <a:avLst/>
              <a:gdLst/>
              <a:ahLst/>
              <a:cxnLst/>
              <a:rect l="l" t="t" r="r" b="b"/>
              <a:pathLst>
                <a:path w="1346200" h="2266950">
                  <a:moveTo>
                    <a:pt x="0" y="0"/>
                  </a:moveTo>
                  <a:lnTo>
                    <a:pt x="1346200" y="0"/>
                  </a:lnTo>
                  <a:lnTo>
                    <a:pt x="1346200" y="2266950"/>
                  </a:lnTo>
                  <a:lnTo>
                    <a:pt x="0" y="226695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785100" y="393700"/>
            <a:ext cx="1320800" cy="1111250"/>
          </a:xfrm>
          <a:prstGeom prst="rect">
            <a:avLst/>
          </a:prstGeom>
          <a:solidFill>
            <a:srgbClr val="D6D6F4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40"/>
              </a:lnSpc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85100" y="1524000"/>
            <a:ext cx="1320800" cy="1111250"/>
          </a:xfrm>
          <a:prstGeom prst="rect">
            <a:avLst/>
          </a:prstGeom>
          <a:solidFill>
            <a:srgbClr val="D6D6F4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440"/>
              </a:lnSpc>
            </a:pPr>
            <a:r>
              <a:rPr sz="2400" spc="-10" dirty="0">
                <a:latin typeface="Calibri"/>
                <a:cs typeface="Calibri"/>
              </a:rPr>
              <a:t>00400514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72400" y="3505200"/>
            <a:ext cx="1346200" cy="381000"/>
          </a:xfrm>
          <a:prstGeom prst="rect">
            <a:avLst/>
          </a:prstGeom>
          <a:solidFill>
            <a:srgbClr val="FFCCCC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0x40055C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72400" y="2895600"/>
            <a:ext cx="1346200" cy="381000"/>
          </a:xfrm>
          <a:prstGeom prst="rect">
            <a:avLst/>
          </a:prstGeom>
          <a:solidFill>
            <a:srgbClr val="D5F1CF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0x110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09122" y="290315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sp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309122" y="351275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pc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94835" y="414140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97575" y="662872"/>
            <a:ext cx="711835" cy="19304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spc="-10" dirty="0">
                <a:latin typeface="Courier New"/>
                <a:cs typeface="Courier New"/>
              </a:rPr>
              <a:t>0x120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0x11C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0x118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0x114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0x110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772400" y="1504950"/>
            <a:ext cx="2070100" cy="1630680"/>
            <a:chOff x="7772400" y="1504950"/>
            <a:chExt cx="2070100" cy="1630680"/>
          </a:xfrm>
        </p:grpSpPr>
        <p:sp>
          <p:nvSpPr>
            <p:cNvPr id="35" name="object 35"/>
            <p:cNvSpPr/>
            <p:nvPr/>
          </p:nvSpPr>
          <p:spPr>
            <a:xfrm>
              <a:off x="9159730" y="2521744"/>
              <a:ext cx="670560" cy="600710"/>
            </a:xfrm>
            <a:custGeom>
              <a:avLst/>
              <a:gdLst/>
              <a:ahLst/>
              <a:cxnLst/>
              <a:rect l="l" t="t" r="r" b="b"/>
              <a:pathLst>
                <a:path w="670559" h="600710">
                  <a:moveTo>
                    <a:pt x="0" y="600637"/>
                  </a:moveTo>
                  <a:lnTo>
                    <a:pt x="67712" y="596373"/>
                  </a:lnTo>
                  <a:lnTo>
                    <a:pt x="133062" y="589780"/>
                  </a:lnTo>
                  <a:lnTo>
                    <a:pt x="195814" y="580977"/>
                  </a:lnTo>
                  <a:lnTo>
                    <a:pt x="255733" y="570082"/>
                  </a:lnTo>
                  <a:lnTo>
                    <a:pt x="312584" y="557214"/>
                  </a:lnTo>
                  <a:lnTo>
                    <a:pt x="366133" y="542493"/>
                  </a:lnTo>
                  <a:lnTo>
                    <a:pt x="416144" y="526035"/>
                  </a:lnTo>
                  <a:lnTo>
                    <a:pt x="462383" y="507961"/>
                  </a:lnTo>
                  <a:lnTo>
                    <a:pt x="504614" y="488389"/>
                  </a:lnTo>
                  <a:lnTo>
                    <a:pt x="542602" y="467438"/>
                  </a:lnTo>
                  <a:lnTo>
                    <a:pt x="576113" y="445226"/>
                  </a:lnTo>
                  <a:lnTo>
                    <a:pt x="628763" y="397494"/>
                  </a:lnTo>
                  <a:lnTo>
                    <a:pt x="660683" y="346144"/>
                  </a:lnTo>
                  <a:lnTo>
                    <a:pt x="669993" y="292125"/>
                  </a:lnTo>
                  <a:lnTo>
                    <a:pt x="665582" y="264412"/>
                  </a:lnTo>
                  <a:lnTo>
                    <a:pt x="638764" y="210546"/>
                  </a:lnTo>
                  <a:lnTo>
                    <a:pt x="589832" y="160602"/>
                  </a:lnTo>
                  <a:lnTo>
                    <a:pt x="557754" y="137380"/>
                  </a:lnTo>
                  <a:lnTo>
                    <a:pt x="520965" y="115473"/>
                  </a:lnTo>
                  <a:lnTo>
                    <a:pt x="479738" y="94992"/>
                  </a:lnTo>
                  <a:lnTo>
                    <a:pt x="434345" y="76047"/>
                  </a:lnTo>
                  <a:lnTo>
                    <a:pt x="385058" y="58752"/>
                  </a:lnTo>
                  <a:lnTo>
                    <a:pt x="332151" y="43216"/>
                  </a:lnTo>
                  <a:lnTo>
                    <a:pt x="275895" y="29552"/>
                  </a:lnTo>
                  <a:lnTo>
                    <a:pt x="216563" y="17870"/>
                  </a:lnTo>
                  <a:lnTo>
                    <a:pt x="154428" y="8282"/>
                  </a:lnTo>
                  <a:lnTo>
                    <a:pt x="89762" y="898"/>
                  </a:lnTo>
                  <a:lnTo>
                    <a:pt x="77092" y="0"/>
                  </a:lnTo>
                </a:path>
              </a:pathLst>
            </a:custGeom>
            <a:ln w="254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65454" y="2450238"/>
              <a:ext cx="156230" cy="15178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772400" y="1514475"/>
              <a:ext cx="1346200" cy="0"/>
            </a:xfrm>
            <a:custGeom>
              <a:avLst/>
              <a:gdLst/>
              <a:ahLst/>
              <a:cxnLst/>
              <a:rect l="l" t="t" r="r" b="b"/>
              <a:pathLst>
                <a:path w="1346200">
                  <a:moveTo>
                    <a:pt x="0" y="0"/>
                  </a:moveTo>
                  <a:lnTo>
                    <a:pt x="1346200" y="0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745896" y="4133850"/>
            <a:ext cx="1346200" cy="381000"/>
          </a:xfrm>
          <a:prstGeom prst="rect">
            <a:avLst/>
          </a:prstGeom>
          <a:solidFill>
            <a:srgbClr val="D6D6F4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0x400560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5D8334E5-35BB-6D78-F47B-3C08C08E8CC6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A closer look.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64529" y="3076915"/>
            <a:ext cx="4562475" cy="3460750"/>
            <a:chOff x="1664529" y="3076915"/>
            <a:chExt cx="4562475" cy="346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8410" y="3130796"/>
              <a:ext cx="4508500" cy="340643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70879" y="3083265"/>
              <a:ext cx="4495800" cy="3394075"/>
            </a:xfrm>
            <a:custGeom>
              <a:avLst/>
              <a:gdLst/>
              <a:ahLst/>
              <a:cxnLst/>
              <a:rect l="l" t="t" r="r" b="b"/>
              <a:pathLst>
                <a:path w="4495800" h="3394075">
                  <a:moveTo>
                    <a:pt x="4495800" y="0"/>
                  </a:moveTo>
                  <a:lnTo>
                    <a:pt x="0" y="0"/>
                  </a:lnTo>
                  <a:lnTo>
                    <a:pt x="0" y="3393734"/>
                  </a:lnTo>
                  <a:lnTo>
                    <a:pt x="4495800" y="3393734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70879" y="3083265"/>
              <a:ext cx="4495800" cy="3394075"/>
            </a:xfrm>
            <a:custGeom>
              <a:avLst/>
              <a:gdLst/>
              <a:ahLst/>
              <a:cxnLst/>
              <a:rect l="l" t="t" r="r" b="b"/>
              <a:pathLst>
                <a:path w="4495800" h="3394075">
                  <a:moveTo>
                    <a:pt x="0" y="0"/>
                  </a:moveTo>
                  <a:lnTo>
                    <a:pt x="4495800" y="0"/>
                  </a:lnTo>
                  <a:lnTo>
                    <a:pt x="4495800" y="3393734"/>
                  </a:lnTo>
                  <a:lnTo>
                    <a:pt x="0" y="339373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15329" y="3071767"/>
            <a:ext cx="1920875" cy="807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74320" indent="-274955">
              <a:lnSpc>
                <a:spcPts val="2000"/>
              </a:lnSpc>
              <a:spcBef>
                <a:spcPts val="300"/>
              </a:spcBef>
              <a:tabLst>
                <a:tab pos="1371600" algn="l"/>
              </a:tabLst>
            </a:pPr>
            <a:r>
              <a:rPr sz="1800" b="1" spc="-10" dirty="0">
                <a:latin typeface="Courier New"/>
                <a:cs typeface="Courier New"/>
              </a:rPr>
              <a:t>absadd: 400540: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addi</a:t>
            </a:r>
            <a:endParaRPr sz="1800">
              <a:latin typeface="Courier New"/>
              <a:cs typeface="Courier New"/>
            </a:endParaRPr>
          </a:p>
          <a:p>
            <a:pPr marL="274320">
              <a:lnSpc>
                <a:spcPts val="1960"/>
              </a:lnSpc>
              <a:tabLst>
                <a:tab pos="137160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400544: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sw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0255" y="3325767"/>
            <a:ext cx="15220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548640" algn="l"/>
                <a:tab pos="1097280" algn="l"/>
              </a:tabLst>
            </a:pP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-</a:t>
            </a:r>
            <a:r>
              <a:rPr sz="1800" b="1" spc="-25" dirty="0">
                <a:latin typeface="Courier New"/>
                <a:cs typeface="Courier New"/>
              </a:rPr>
              <a:t>12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8(sp)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9695" y="3833768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9695" y="4341768"/>
            <a:ext cx="1509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40055C: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jal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0255" y="4341768"/>
            <a:ext cx="973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abs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9695" y="4595768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20793" y="5180897"/>
            <a:ext cx="4130675" cy="217804"/>
          </a:xfrm>
          <a:prstGeom prst="rect">
            <a:avLst/>
          </a:prstGeom>
          <a:solidFill>
            <a:srgbClr val="00FFFF">
              <a:alpha val="37078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55"/>
              </a:lnSpc>
              <a:tabLst>
                <a:tab pos="1165860" algn="l"/>
                <a:tab pos="1988820" algn="l"/>
                <a:tab pos="2538095" algn="l"/>
              </a:tabLst>
            </a:pPr>
            <a:r>
              <a:rPr sz="1800" b="1" spc="-10" dirty="0">
                <a:latin typeface="Courier New"/>
                <a:cs typeface="Courier New"/>
              </a:rPr>
              <a:t>400568: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lw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8(sp)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9695" y="5357767"/>
            <a:ext cx="1659255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5080">
              <a:lnSpc>
                <a:spcPts val="2000"/>
              </a:lnSpc>
              <a:spcBef>
                <a:spcPts val="3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40056C: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addi </a:t>
            </a:r>
            <a:r>
              <a:rPr sz="1800" b="1" spc="-10" dirty="0">
                <a:latin typeface="Courier New"/>
                <a:cs typeface="Courier New"/>
              </a:rPr>
              <a:t>400570: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jalr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10255" y="5357767"/>
            <a:ext cx="1384935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5080">
              <a:lnSpc>
                <a:spcPts val="2000"/>
              </a:lnSpc>
              <a:spcBef>
                <a:spcPts val="300"/>
              </a:spcBef>
              <a:tabLst>
                <a:tab pos="548640" algn="l"/>
                <a:tab pos="1097280" algn="l"/>
              </a:tabLst>
            </a:pP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12 x0,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ra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664529" y="831850"/>
            <a:ext cx="4562475" cy="2124075"/>
            <a:chOff x="1664529" y="831850"/>
            <a:chExt cx="4562475" cy="212407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8410" y="885731"/>
              <a:ext cx="4508500" cy="20701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670879" y="838200"/>
              <a:ext cx="4495800" cy="2057400"/>
            </a:xfrm>
            <a:custGeom>
              <a:avLst/>
              <a:gdLst/>
              <a:ahLst/>
              <a:cxnLst/>
              <a:rect l="l" t="t" r="r" b="b"/>
              <a:pathLst>
                <a:path w="4495800" h="2057400">
                  <a:moveTo>
                    <a:pt x="44958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4495800" y="2057400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EFCF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70879" y="838200"/>
              <a:ext cx="4495800" cy="2057400"/>
            </a:xfrm>
            <a:custGeom>
              <a:avLst/>
              <a:gdLst/>
              <a:ahLst/>
              <a:cxnLst/>
              <a:rect l="l" t="t" r="r" b="b"/>
              <a:pathLst>
                <a:path w="4495800" h="2057400">
                  <a:moveTo>
                    <a:pt x="0" y="0"/>
                  </a:moveTo>
                  <a:lnTo>
                    <a:pt x="4495800" y="0"/>
                  </a:lnTo>
                  <a:lnTo>
                    <a:pt x="44958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15329" y="826702"/>
            <a:ext cx="960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caller: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89695" y="1080702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89695" y="1588702"/>
            <a:ext cx="15093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400510: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jal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400514: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lw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73072" y="1588702"/>
            <a:ext cx="1384935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5080">
              <a:lnSpc>
                <a:spcPts val="2000"/>
              </a:lnSpc>
              <a:spcBef>
                <a:spcPts val="300"/>
              </a:spcBef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absadd </a:t>
            </a: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0(sp)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89695" y="2096702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72400" y="3505200"/>
            <a:ext cx="1346200" cy="381000"/>
          </a:xfrm>
          <a:prstGeom prst="rect">
            <a:avLst/>
          </a:prstGeom>
          <a:solidFill>
            <a:srgbClr val="FFCCCC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0x400568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72400" y="2895600"/>
            <a:ext cx="1346200" cy="381000"/>
          </a:xfrm>
          <a:prstGeom prst="rect">
            <a:avLst/>
          </a:prstGeom>
          <a:solidFill>
            <a:srgbClr val="D5F1CF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0x110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09122" y="290315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sp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09122" y="351275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pc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94835" y="414140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ra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759700" y="368300"/>
            <a:ext cx="1371600" cy="2292350"/>
            <a:chOff x="7759700" y="368300"/>
            <a:chExt cx="1371600" cy="2292350"/>
          </a:xfrm>
        </p:grpSpPr>
        <p:sp>
          <p:nvSpPr>
            <p:cNvPr id="31" name="object 31"/>
            <p:cNvSpPr/>
            <p:nvPr/>
          </p:nvSpPr>
          <p:spPr>
            <a:xfrm>
              <a:off x="7772400" y="381000"/>
              <a:ext cx="1346200" cy="2266950"/>
            </a:xfrm>
            <a:custGeom>
              <a:avLst/>
              <a:gdLst/>
              <a:ahLst/>
              <a:cxnLst/>
              <a:rect l="l" t="t" r="r" b="b"/>
              <a:pathLst>
                <a:path w="1346200" h="2266950">
                  <a:moveTo>
                    <a:pt x="1346200" y="0"/>
                  </a:moveTo>
                  <a:lnTo>
                    <a:pt x="0" y="0"/>
                  </a:lnTo>
                  <a:lnTo>
                    <a:pt x="0" y="2266950"/>
                  </a:lnTo>
                  <a:lnTo>
                    <a:pt x="1346200" y="2266950"/>
                  </a:lnTo>
                  <a:lnTo>
                    <a:pt x="1346200" y="0"/>
                  </a:lnTo>
                  <a:close/>
                </a:path>
              </a:pathLst>
            </a:custGeom>
            <a:solidFill>
              <a:srgbClr val="D6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72400" y="381000"/>
              <a:ext cx="1346200" cy="2266950"/>
            </a:xfrm>
            <a:custGeom>
              <a:avLst/>
              <a:gdLst/>
              <a:ahLst/>
              <a:cxnLst/>
              <a:rect l="l" t="t" r="r" b="b"/>
              <a:pathLst>
                <a:path w="1346200" h="2266950">
                  <a:moveTo>
                    <a:pt x="0" y="0"/>
                  </a:moveTo>
                  <a:lnTo>
                    <a:pt x="1346200" y="0"/>
                  </a:lnTo>
                  <a:lnTo>
                    <a:pt x="1346200" y="2266950"/>
                  </a:lnTo>
                  <a:lnTo>
                    <a:pt x="0" y="226695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85100" y="393700"/>
            <a:ext cx="1320800" cy="1111250"/>
          </a:xfrm>
          <a:prstGeom prst="rect">
            <a:avLst/>
          </a:prstGeom>
          <a:solidFill>
            <a:srgbClr val="D6D6F4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40"/>
              </a:lnSpc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85100" y="1524000"/>
            <a:ext cx="1320800" cy="1111250"/>
          </a:xfrm>
          <a:prstGeom prst="rect">
            <a:avLst/>
          </a:prstGeom>
          <a:solidFill>
            <a:srgbClr val="D6D6F4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440"/>
              </a:lnSpc>
            </a:pPr>
            <a:r>
              <a:rPr sz="2400" spc="-10" dirty="0">
                <a:latin typeface="Calibri"/>
                <a:cs typeface="Calibri"/>
              </a:rPr>
              <a:t>00400514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97575" y="662872"/>
            <a:ext cx="711835" cy="19304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spc="-10" dirty="0">
                <a:latin typeface="Courier New"/>
                <a:cs typeface="Courier New"/>
              </a:rPr>
              <a:t>0x120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0x11C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0x118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0x114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0x110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772400" y="1504950"/>
            <a:ext cx="2070100" cy="1630680"/>
            <a:chOff x="7772400" y="1504950"/>
            <a:chExt cx="2070100" cy="1630680"/>
          </a:xfrm>
        </p:grpSpPr>
        <p:sp>
          <p:nvSpPr>
            <p:cNvPr id="37" name="object 37"/>
            <p:cNvSpPr/>
            <p:nvPr/>
          </p:nvSpPr>
          <p:spPr>
            <a:xfrm>
              <a:off x="9159730" y="2521744"/>
              <a:ext cx="670560" cy="600710"/>
            </a:xfrm>
            <a:custGeom>
              <a:avLst/>
              <a:gdLst/>
              <a:ahLst/>
              <a:cxnLst/>
              <a:rect l="l" t="t" r="r" b="b"/>
              <a:pathLst>
                <a:path w="670559" h="600710">
                  <a:moveTo>
                    <a:pt x="0" y="600637"/>
                  </a:moveTo>
                  <a:lnTo>
                    <a:pt x="67712" y="596373"/>
                  </a:lnTo>
                  <a:lnTo>
                    <a:pt x="133062" y="589780"/>
                  </a:lnTo>
                  <a:lnTo>
                    <a:pt x="195814" y="580977"/>
                  </a:lnTo>
                  <a:lnTo>
                    <a:pt x="255733" y="570082"/>
                  </a:lnTo>
                  <a:lnTo>
                    <a:pt x="312584" y="557214"/>
                  </a:lnTo>
                  <a:lnTo>
                    <a:pt x="366133" y="542493"/>
                  </a:lnTo>
                  <a:lnTo>
                    <a:pt x="416144" y="526035"/>
                  </a:lnTo>
                  <a:lnTo>
                    <a:pt x="462383" y="507961"/>
                  </a:lnTo>
                  <a:lnTo>
                    <a:pt x="504614" y="488389"/>
                  </a:lnTo>
                  <a:lnTo>
                    <a:pt x="542602" y="467438"/>
                  </a:lnTo>
                  <a:lnTo>
                    <a:pt x="576113" y="445226"/>
                  </a:lnTo>
                  <a:lnTo>
                    <a:pt x="628763" y="397494"/>
                  </a:lnTo>
                  <a:lnTo>
                    <a:pt x="660683" y="346144"/>
                  </a:lnTo>
                  <a:lnTo>
                    <a:pt x="669993" y="292125"/>
                  </a:lnTo>
                  <a:lnTo>
                    <a:pt x="665582" y="264412"/>
                  </a:lnTo>
                  <a:lnTo>
                    <a:pt x="638764" y="210546"/>
                  </a:lnTo>
                  <a:lnTo>
                    <a:pt x="589832" y="160602"/>
                  </a:lnTo>
                  <a:lnTo>
                    <a:pt x="557754" y="137380"/>
                  </a:lnTo>
                  <a:lnTo>
                    <a:pt x="520965" y="115473"/>
                  </a:lnTo>
                  <a:lnTo>
                    <a:pt x="479738" y="94992"/>
                  </a:lnTo>
                  <a:lnTo>
                    <a:pt x="434345" y="76047"/>
                  </a:lnTo>
                  <a:lnTo>
                    <a:pt x="385058" y="58752"/>
                  </a:lnTo>
                  <a:lnTo>
                    <a:pt x="332151" y="43216"/>
                  </a:lnTo>
                  <a:lnTo>
                    <a:pt x="275895" y="29552"/>
                  </a:lnTo>
                  <a:lnTo>
                    <a:pt x="216563" y="17870"/>
                  </a:lnTo>
                  <a:lnTo>
                    <a:pt x="154428" y="8282"/>
                  </a:lnTo>
                  <a:lnTo>
                    <a:pt x="89762" y="898"/>
                  </a:lnTo>
                  <a:lnTo>
                    <a:pt x="77092" y="0"/>
                  </a:lnTo>
                </a:path>
              </a:pathLst>
            </a:custGeom>
            <a:ln w="254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65454" y="2450238"/>
              <a:ext cx="156230" cy="15178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772400" y="1514475"/>
              <a:ext cx="1346200" cy="0"/>
            </a:xfrm>
            <a:custGeom>
              <a:avLst/>
              <a:gdLst/>
              <a:ahLst/>
              <a:cxnLst/>
              <a:rect l="l" t="t" r="r" b="b"/>
              <a:pathLst>
                <a:path w="1346200">
                  <a:moveTo>
                    <a:pt x="0" y="0"/>
                  </a:moveTo>
                  <a:lnTo>
                    <a:pt x="1346200" y="0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745896" y="4133850"/>
            <a:ext cx="1346200" cy="381000"/>
          </a:xfrm>
          <a:prstGeom prst="rect">
            <a:avLst/>
          </a:prstGeom>
          <a:solidFill>
            <a:srgbClr val="D6D6F4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0x400514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CC6F39FC-1553-B31D-BCA6-B8784C17B309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A closer look.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64529" y="3076915"/>
            <a:ext cx="4562475" cy="3460750"/>
            <a:chOff x="1664529" y="3076915"/>
            <a:chExt cx="4562475" cy="346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8410" y="3130796"/>
              <a:ext cx="4508500" cy="340643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70879" y="3083265"/>
              <a:ext cx="4495800" cy="3394075"/>
            </a:xfrm>
            <a:custGeom>
              <a:avLst/>
              <a:gdLst/>
              <a:ahLst/>
              <a:cxnLst/>
              <a:rect l="l" t="t" r="r" b="b"/>
              <a:pathLst>
                <a:path w="4495800" h="3394075">
                  <a:moveTo>
                    <a:pt x="4495800" y="0"/>
                  </a:moveTo>
                  <a:lnTo>
                    <a:pt x="0" y="0"/>
                  </a:lnTo>
                  <a:lnTo>
                    <a:pt x="0" y="3393734"/>
                  </a:lnTo>
                  <a:lnTo>
                    <a:pt x="4495800" y="3393734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70879" y="3083265"/>
              <a:ext cx="4495800" cy="3394075"/>
            </a:xfrm>
            <a:custGeom>
              <a:avLst/>
              <a:gdLst/>
              <a:ahLst/>
              <a:cxnLst/>
              <a:rect l="l" t="t" r="r" b="b"/>
              <a:pathLst>
                <a:path w="4495800" h="3394075">
                  <a:moveTo>
                    <a:pt x="0" y="0"/>
                  </a:moveTo>
                  <a:lnTo>
                    <a:pt x="4495800" y="0"/>
                  </a:lnTo>
                  <a:lnTo>
                    <a:pt x="4495800" y="3393734"/>
                  </a:lnTo>
                  <a:lnTo>
                    <a:pt x="0" y="339373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15329" y="3071767"/>
            <a:ext cx="1920875" cy="807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74320" indent="-274955">
              <a:lnSpc>
                <a:spcPts val="2000"/>
              </a:lnSpc>
              <a:spcBef>
                <a:spcPts val="300"/>
              </a:spcBef>
              <a:tabLst>
                <a:tab pos="1371600" algn="l"/>
              </a:tabLst>
            </a:pPr>
            <a:r>
              <a:rPr sz="1800" b="1" spc="-10" dirty="0">
                <a:latin typeface="Courier New"/>
                <a:cs typeface="Courier New"/>
              </a:rPr>
              <a:t>absadd: 400540: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addi</a:t>
            </a:r>
            <a:endParaRPr sz="1800">
              <a:latin typeface="Courier New"/>
              <a:cs typeface="Courier New"/>
            </a:endParaRPr>
          </a:p>
          <a:p>
            <a:pPr marL="274320">
              <a:lnSpc>
                <a:spcPts val="1960"/>
              </a:lnSpc>
              <a:tabLst>
                <a:tab pos="137160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400544: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sw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0255" y="3325767"/>
            <a:ext cx="15220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548640" algn="l"/>
                <a:tab pos="1097280" algn="l"/>
              </a:tabLst>
            </a:pP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-</a:t>
            </a:r>
            <a:r>
              <a:rPr sz="1800" b="1" spc="-25" dirty="0">
                <a:latin typeface="Courier New"/>
                <a:cs typeface="Courier New"/>
              </a:rPr>
              <a:t>12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8(sp)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9695" y="3833768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9695" y="4341768"/>
            <a:ext cx="1509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40055C: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jal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9695" y="4595768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9695" y="5103767"/>
            <a:ext cx="137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400568: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lw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10255" y="4341768"/>
            <a:ext cx="1247775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abs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8(sp)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0793" y="5422198"/>
            <a:ext cx="4130675" cy="217804"/>
          </a:xfrm>
          <a:prstGeom prst="rect">
            <a:avLst/>
          </a:prstGeom>
          <a:solidFill>
            <a:srgbClr val="00FFFF">
              <a:alpha val="37078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714"/>
              </a:lnSpc>
              <a:tabLst>
                <a:tab pos="1165860" algn="l"/>
                <a:tab pos="1988820" algn="l"/>
                <a:tab pos="2538095" algn="l"/>
                <a:tab pos="3086735" algn="l"/>
              </a:tabLst>
            </a:pPr>
            <a:r>
              <a:rPr sz="1800" b="1" spc="-10" dirty="0">
                <a:latin typeface="Courier New"/>
                <a:cs typeface="Courier New"/>
              </a:rPr>
              <a:t>40056C: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addi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12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89695" y="5611767"/>
            <a:ext cx="275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97280" algn="l"/>
                <a:tab pos="1920239" algn="l"/>
                <a:tab pos="24688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400570: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jalr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x0,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ra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664529" y="831850"/>
            <a:ext cx="4562475" cy="2124075"/>
            <a:chOff x="1664529" y="831850"/>
            <a:chExt cx="4562475" cy="212407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8410" y="885731"/>
              <a:ext cx="4508500" cy="20701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670879" y="838200"/>
              <a:ext cx="4495800" cy="2057400"/>
            </a:xfrm>
            <a:custGeom>
              <a:avLst/>
              <a:gdLst/>
              <a:ahLst/>
              <a:cxnLst/>
              <a:rect l="l" t="t" r="r" b="b"/>
              <a:pathLst>
                <a:path w="4495800" h="2057400">
                  <a:moveTo>
                    <a:pt x="44958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4495800" y="2057400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EFCF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70879" y="838200"/>
              <a:ext cx="4495800" cy="2057400"/>
            </a:xfrm>
            <a:custGeom>
              <a:avLst/>
              <a:gdLst/>
              <a:ahLst/>
              <a:cxnLst/>
              <a:rect l="l" t="t" r="r" b="b"/>
              <a:pathLst>
                <a:path w="4495800" h="2057400">
                  <a:moveTo>
                    <a:pt x="0" y="0"/>
                  </a:moveTo>
                  <a:lnTo>
                    <a:pt x="4495800" y="0"/>
                  </a:lnTo>
                  <a:lnTo>
                    <a:pt x="44958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15329" y="826702"/>
            <a:ext cx="960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caller: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89695" y="1080702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89695" y="1588702"/>
            <a:ext cx="15093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400510: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jal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400514: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lw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73072" y="1588702"/>
            <a:ext cx="1384935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5080">
              <a:lnSpc>
                <a:spcPts val="2000"/>
              </a:lnSpc>
              <a:spcBef>
                <a:spcPts val="300"/>
              </a:spcBef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absadd </a:t>
            </a: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0(sp)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89695" y="2096702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72400" y="3505200"/>
            <a:ext cx="1346200" cy="381000"/>
          </a:xfrm>
          <a:prstGeom prst="rect">
            <a:avLst/>
          </a:prstGeom>
          <a:solidFill>
            <a:srgbClr val="FFCCCC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0x40056C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09122" y="290315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sp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09122" y="351275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pc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45896" y="4133850"/>
            <a:ext cx="1346200" cy="381000"/>
          </a:xfrm>
          <a:prstGeom prst="rect">
            <a:avLst/>
          </a:prstGeom>
          <a:solidFill>
            <a:srgbClr val="D6D6F4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0x400514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94835" y="414140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ra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759700" y="368300"/>
            <a:ext cx="1371600" cy="2292350"/>
            <a:chOff x="7759700" y="368300"/>
            <a:chExt cx="1371600" cy="2292350"/>
          </a:xfrm>
        </p:grpSpPr>
        <p:sp>
          <p:nvSpPr>
            <p:cNvPr id="31" name="object 31"/>
            <p:cNvSpPr/>
            <p:nvPr/>
          </p:nvSpPr>
          <p:spPr>
            <a:xfrm>
              <a:off x="7772400" y="381000"/>
              <a:ext cx="1346200" cy="2266950"/>
            </a:xfrm>
            <a:custGeom>
              <a:avLst/>
              <a:gdLst/>
              <a:ahLst/>
              <a:cxnLst/>
              <a:rect l="l" t="t" r="r" b="b"/>
              <a:pathLst>
                <a:path w="1346200" h="2266950">
                  <a:moveTo>
                    <a:pt x="1346200" y="0"/>
                  </a:moveTo>
                  <a:lnTo>
                    <a:pt x="0" y="0"/>
                  </a:lnTo>
                  <a:lnTo>
                    <a:pt x="0" y="2266950"/>
                  </a:lnTo>
                  <a:lnTo>
                    <a:pt x="1346200" y="2266950"/>
                  </a:lnTo>
                  <a:lnTo>
                    <a:pt x="1346200" y="0"/>
                  </a:lnTo>
                  <a:close/>
                </a:path>
              </a:pathLst>
            </a:custGeom>
            <a:solidFill>
              <a:srgbClr val="D6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72400" y="381000"/>
              <a:ext cx="1346200" cy="2266950"/>
            </a:xfrm>
            <a:custGeom>
              <a:avLst/>
              <a:gdLst/>
              <a:ahLst/>
              <a:cxnLst/>
              <a:rect l="l" t="t" r="r" b="b"/>
              <a:pathLst>
                <a:path w="1346200" h="2266950">
                  <a:moveTo>
                    <a:pt x="0" y="0"/>
                  </a:moveTo>
                  <a:lnTo>
                    <a:pt x="1346200" y="0"/>
                  </a:lnTo>
                  <a:lnTo>
                    <a:pt x="1346200" y="2266950"/>
                  </a:lnTo>
                  <a:lnTo>
                    <a:pt x="0" y="226695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85100" y="393700"/>
            <a:ext cx="1320800" cy="1111250"/>
          </a:xfrm>
          <a:prstGeom prst="rect">
            <a:avLst/>
          </a:prstGeom>
          <a:solidFill>
            <a:srgbClr val="D6D6F4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40"/>
              </a:lnSpc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85100" y="1524000"/>
            <a:ext cx="1320800" cy="1111250"/>
          </a:xfrm>
          <a:prstGeom prst="rect">
            <a:avLst/>
          </a:prstGeom>
          <a:solidFill>
            <a:srgbClr val="D6D6F4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440"/>
              </a:lnSpc>
            </a:pPr>
            <a:r>
              <a:rPr sz="2400" spc="-10" dirty="0">
                <a:latin typeface="Calibri"/>
                <a:cs typeface="Calibri"/>
              </a:rPr>
              <a:t>00400514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97575" y="662872"/>
            <a:ext cx="711835" cy="19304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spc="-10" dirty="0">
                <a:latin typeface="Courier New"/>
                <a:cs typeface="Courier New"/>
              </a:rPr>
              <a:t>0x120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0x11C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0x118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0x114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772400" y="1514475"/>
            <a:ext cx="1346200" cy="0"/>
          </a:xfrm>
          <a:custGeom>
            <a:avLst/>
            <a:gdLst/>
            <a:ahLst/>
            <a:cxnLst/>
            <a:rect l="l" t="t" r="r" b="b"/>
            <a:pathLst>
              <a:path w="1346200">
                <a:moveTo>
                  <a:pt x="0" y="0"/>
                </a:moveTo>
                <a:lnTo>
                  <a:pt x="1346200" y="0"/>
                </a:lnTo>
              </a:path>
            </a:pathLst>
          </a:custGeom>
          <a:ln w="1905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772400" y="2895600"/>
            <a:ext cx="1346200" cy="381000"/>
          </a:xfrm>
          <a:prstGeom prst="rect">
            <a:avLst/>
          </a:prstGeom>
          <a:solidFill>
            <a:srgbClr val="D5F1CF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0x11C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147030" y="1319455"/>
            <a:ext cx="695960" cy="1816100"/>
            <a:chOff x="9147030" y="1319455"/>
            <a:chExt cx="695960" cy="1816100"/>
          </a:xfrm>
        </p:grpSpPr>
        <p:sp>
          <p:nvSpPr>
            <p:cNvPr id="40" name="object 40"/>
            <p:cNvSpPr/>
            <p:nvPr/>
          </p:nvSpPr>
          <p:spPr>
            <a:xfrm>
              <a:off x="9159730" y="1381617"/>
              <a:ext cx="670560" cy="1741170"/>
            </a:xfrm>
            <a:custGeom>
              <a:avLst/>
              <a:gdLst/>
              <a:ahLst/>
              <a:cxnLst/>
              <a:rect l="l" t="t" r="r" b="b"/>
              <a:pathLst>
                <a:path w="670559" h="1741170">
                  <a:moveTo>
                    <a:pt x="0" y="1740763"/>
                  </a:moveTo>
                  <a:lnTo>
                    <a:pt x="43788" y="1733613"/>
                  </a:lnTo>
                  <a:lnTo>
                    <a:pt x="86635" y="1723623"/>
                  </a:lnTo>
                  <a:lnTo>
                    <a:pt x="128477" y="1710885"/>
                  </a:lnTo>
                  <a:lnTo>
                    <a:pt x="169253" y="1695490"/>
                  </a:lnTo>
                  <a:lnTo>
                    <a:pt x="208900" y="1677529"/>
                  </a:lnTo>
                  <a:lnTo>
                    <a:pt x="247355" y="1657095"/>
                  </a:lnTo>
                  <a:lnTo>
                    <a:pt x="284557" y="1634277"/>
                  </a:lnTo>
                  <a:lnTo>
                    <a:pt x="320442" y="1609168"/>
                  </a:lnTo>
                  <a:lnTo>
                    <a:pt x="354948" y="1581859"/>
                  </a:lnTo>
                  <a:lnTo>
                    <a:pt x="388013" y="1552442"/>
                  </a:lnTo>
                  <a:lnTo>
                    <a:pt x="419575" y="1521007"/>
                  </a:lnTo>
                  <a:lnTo>
                    <a:pt x="449571" y="1487646"/>
                  </a:lnTo>
                  <a:lnTo>
                    <a:pt x="477938" y="1452451"/>
                  </a:lnTo>
                  <a:lnTo>
                    <a:pt x="504614" y="1415512"/>
                  </a:lnTo>
                  <a:lnTo>
                    <a:pt x="529537" y="1376922"/>
                  </a:lnTo>
                  <a:lnTo>
                    <a:pt x="552644" y="1336772"/>
                  </a:lnTo>
                  <a:lnTo>
                    <a:pt x="573873" y="1295152"/>
                  </a:lnTo>
                  <a:lnTo>
                    <a:pt x="593162" y="1252155"/>
                  </a:lnTo>
                  <a:lnTo>
                    <a:pt x="610447" y="1207871"/>
                  </a:lnTo>
                  <a:lnTo>
                    <a:pt x="625667" y="1162392"/>
                  </a:lnTo>
                  <a:lnTo>
                    <a:pt x="638760" y="1115810"/>
                  </a:lnTo>
                  <a:lnTo>
                    <a:pt x="649662" y="1068216"/>
                  </a:lnTo>
                  <a:lnTo>
                    <a:pt x="658311" y="1019701"/>
                  </a:lnTo>
                  <a:lnTo>
                    <a:pt x="664645" y="970357"/>
                  </a:lnTo>
                  <a:lnTo>
                    <a:pt x="668602" y="920274"/>
                  </a:lnTo>
                  <a:lnTo>
                    <a:pt x="670118" y="869545"/>
                  </a:lnTo>
                  <a:lnTo>
                    <a:pt x="669132" y="818261"/>
                  </a:lnTo>
                  <a:lnTo>
                    <a:pt x="665582" y="766512"/>
                  </a:lnTo>
                  <a:lnTo>
                    <a:pt x="659222" y="713295"/>
                  </a:lnTo>
                  <a:lnTo>
                    <a:pt x="650235" y="661154"/>
                  </a:lnTo>
                  <a:lnTo>
                    <a:pt x="638702" y="610185"/>
                  </a:lnTo>
                  <a:lnTo>
                    <a:pt x="624705" y="560483"/>
                  </a:lnTo>
                  <a:lnTo>
                    <a:pt x="608324" y="512145"/>
                  </a:lnTo>
                  <a:lnTo>
                    <a:pt x="589640" y="465266"/>
                  </a:lnTo>
                  <a:lnTo>
                    <a:pt x="568736" y="419944"/>
                  </a:lnTo>
                  <a:lnTo>
                    <a:pt x="545691" y="376273"/>
                  </a:lnTo>
                  <a:lnTo>
                    <a:pt x="520587" y="334349"/>
                  </a:lnTo>
                  <a:lnTo>
                    <a:pt x="493506" y="294270"/>
                  </a:lnTo>
                  <a:lnTo>
                    <a:pt x="464527" y="256130"/>
                  </a:lnTo>
                  <a:lnTo>
                    <a:pt x="433733" y="220026"/>
                  </a:lnTo>
                  <a:lnTo>
                    <a:pt x="401205" y="186054"/>
                  </a:lnTo>
                  <a:lnTo>
                    <a:pt x="367023" y="154310"/>
                  </a:lnTo>
                  <a:lnTo>
                    <a:pt x="331270" y="124889"/>
                  </a:lnTo>
                  <a:lnTo>
                    <a:pt x="294025" y="97889"/>
                  </a:lnTo>
                  <a:lnTo>
                    <a:pt x="255370" y="73404"/>
                  </a:lnTo>
                  <a:lnTo>
                    <a:pt x="215387" y="51531"/>
                  </a:lnTo>
                  <a:lnTo>
                    <a:pt x="174156" y="32366"/>
                  </a:lnTo>
                  <a:lnTo>
                    <a:pt x="131758" y="16005"/>
                  </a:lnTo>
                  <a:lnTo>
                    <a:pt x="88275" y="2543"/>
                  </a:lnTo>
                  <a:lnTo>
                    <a:pt x="75823" y="0"/>
                  </a:lnTo>
                </a:path>
              </a:pathLst>
            </a:custGeom>
            <a:ln w="254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65453" y="1319455"/>
              <a:ext cx="161480" cy="149931"/>
            </a:xfrm>
            <a:prstGeom prst="rect">
              <a:avLst/>
            </a:prstGeom>
          </p:spPr>
        </p:pic>
      </p:grpSp>
      <p:sp>
        <p:nvSpPr>
          <p:cNvPr id="45" name="Title 1">
            <a:extLst>
              <a:ext uri="{FF2B5EF4-FFF2-40B4-BE49-F238E27FC236}">
                <a16:creationId xmlns:a16="http://schemas.microsoft.com/office/drawing/2014/main" id="{5AA41E0F-24DB-BAE0-E793-E02AC829EEC4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A closer look.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64529" y="3076915"/>
            <a:ext cx="4562475" cy="3460750"/>
            <a:chOff x="1664529" y="3076915"/>
            <a:chExt cx="4562475" cy="346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8410" y="3130796"/>
              <a:ext cx="4508500" cy="340643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70879" y="3083265"/>
              <a:ext cx="4495800" cy="3394075"/>
            </a:xfrm>
            <a:custGeom>
              <a:avLst/>
              <a:gdLst/>
              <a:ahLst/>
              <a:cxnLst/>
              <a:rect l="l" t="t" r="r" b="b"/>
              <a:pathLst>
                <a:path w="4495800" h="3394075">
                  <a:moveTo>
                    <a:pt x="4495800" y="0"/>
                  </a:moveTo>
                  <a:lnTo>
                    <a:pt x="0" y="0"/>
                  </a:lnTo>
                  <a:lnTo>
                    <a:pt x="0" y="3393734"/>
                  </a:lnTo>
                  <a:lnTo>
                    <a:pt x="4495800" y="3393734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F6F5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70879" y="3083265"/>
              <a:ext cx="4495800" cy="3394075"/>
            </a:xfrm>
            <a:custGeom>
              <a:avLst/>
              <a:gdLst/>
              <a:ahLst/>
              <a:cxnLst/>
              <a:rect l="l" t="t" r="r" b="b"/>
              <a:pathLst>
                <a:path w="4495800" h="3394075">
                  <a:moveTo>
                    <a:pt x="0" y="0"/>
                  </a:moveTo>
                  <a:lnTo>
                    <a:pt x="4495800" y="0"/>
                  </a:lnTo>
                  <a:lnTo>
                    <a:pt x="4495800" y="3393734"/>
                  </a:lnTo>
                  <a:lnTo>
                    <a:pt x="0" y="339373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15329" y="3071767"/>
            <a:ext cx="1920875" cy="807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74320" indent="-274955">
              <a:lnSpc>
                <a:spcPts val="2000"/>
              </a:lnSpc>
              <a:spcBef>
                <a:spcPts val="300"/>
              </a:spcBef>
              <a:tabLst>
                <a:tab pos="1371600" algn="l"/>
              </a:tabLst>
            </a:pPr>
            <a:r>
              <a:rPr sz="1800" b="1" spc="-10" dirty="0">
                <a:latin typeface="Courier New"/>
                <a:cs typeface="Courier New"/>
              </a:rPr>
              <a:t>absadd: 400540: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addi</a:t>
            </a:r>
            <a:endParaRPr sz="1800">
              <a:latin typeface="Courier New"/>
              <a:cs typeface="Courier New"/>
            </a:endParaRPr>
          </a:p>
          <a:p>
            <a:pPr marL="274320">
              <a:lnSpc>
                <a:spcPts val="1960"/>
              </a:lnSpc>
              <a:tabLst>
                <a:tab pos="137160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400544: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sw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0255" y="3325767"/>
            <a:ext cx="15220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548640" algn="l"/>
                <a:tab pos="1097280" algn="l"/>
              </a:tabLst>
            </a:pP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-</a:t>
            </a:r>
            <a:r>
              <a:rPr sz="1800" b="1" spc="-25" dirty="0">
                <a:latin typeface="Courier New"/>
                <a:cs typeface="Courier New"/>
              </a:rPr>
              <a:t>12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8(sp)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9695" y="3833768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9695" y="4341768"/>
            <a:ext cx="1509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40055C: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jal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9695" y="4595768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9695" y="5103767"/>
            <a:ext cx="164655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400568: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lw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40056C: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addi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10255" y="4341768"/>
            <a:ext cx="1384935" cy="131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abs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1800">
              <a:latin typeface="Courier New"/>
              <a:cs typeface="Courier New"/>
            </a:endParaRPr>
          </a:p>
          <a:p>
            <a:pPr marR="5080">
              <a:lnSpc>
                <a:spcPts val="2000"/>
              </a:lnSpc>
              <a:tabLst>
                <a:tab pos="548640" algn="l"/>
                <a:tab pos="109728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8(sp) 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sp,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12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0793" y="5676198"/>
            <a:ext cx="4130675" cy="217804"/>
          </a:xfrm>
          <a:prstGeom prst="rect">
            <a:avLst/>
          </a:prstGeom>
          <a:solidFill>
            <a:srgbClr val="00FFFF">
              <a:alpha val="37078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714"/>
              </a:lnSpc>
              <a:tabLst>
                <a:tab pos="1165860" algn="l"/>
                <a:tab pos="1988820" algn="l"/>
                <a:tab pos="2538095" algn="l"/>
              </a:tabLst>
            </a:pPr>
            <a:r>
              <a:rPr sz="1800" b="1" spc="-10" dirty="0">
                <a:latin typeface="Courier New"/>
                <a:cs typeface="Courier New"/>
              </a:rPr>
              <a:t>400570: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0" dirty="0">
                <a:latin typeface="Courier New"/>
                <a:cs typeface="Courier New"/>
              </a:rPr>
              <a:t>jalr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x0,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ra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664529" y="831850"/>
            <a:ext cx="4562475" cy="2124075"/>
            <a:chOff x="1664529" y="831850"/>
            <a:chExt cx="4562475" cy="212407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8410" y="885731"/>
              <a:ext cx="4508500" cy="20701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70879" y="838200"/>
              <a:ext cx="4495800" cy="2057400"/>
            </a:xfrm>
            <a:custGeom>
              <a:avLst/>
              <a:gdLst/>
              <a:ahLst/>
              <a:cxnLst/>
              <a:rect l="l" t="t" r="r" b="b"/>
              <a:pathLst>
                <a:path w="4495800" h="2057400">
                  <a:moveTo>
                    <a:pt x="44958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4495800" y="2057400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EFCF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0879" y="838200"/>
              <a:ext cx="4495800" cy="2057400"/>
            </a:xfrm>
            <a:custGeom>
              <a:avLst/>
              <a:gdLst/>
              <a:ahLst/>
              <a:cxnLst/>
              <a:rect l="l" t="t" r="r" b="b"/>
              <a:pathLst>
                <a:path w="4495800" h="2057400">
                  <a:moveTo>
                    <a:pt x="0" y="0"/>
                  </a:moveTo>
                  <a:lnTo>
                    <a:pt x="4495800" y="0"/>
                  </a:lnTo>
                  <a:lnTo>
                    <a:pt x="44958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15329" y="826702"/>
            <a:ext cx="960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caller: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89695" y="1080702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89695" y="1588702"/>
            <a:ext cx="15093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400510: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jal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  <a:tabLst>
                <a:tab pos="1097280" algn="l"/>
              </a:tabLst>
            </a:pPr>
            <a:r>
              <a:rPr sz="1800" b="1" spc="-10" dirty="0">
                <a:latin typeface="Courier New"/>
                <a:cs typeface="Courier New"/>
              </a:rPr>
              <a:t>400514: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lw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73072" y="1588702"/>
            <a:ext cx="1384935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5080">
              <a:lnSpc>
                <a:spcPts val="2000"/>
              </a:lnSpc>
              <a:spcBef>
                <a:spcPts val="300"/>
              </a:spcBef>
              <a:tabLst>
                <a:tab pos="548640" algn="l"/>
              </a:tabLst>
            </a:pP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absadd </a:t>
            </a:r>
            <a:r>
              <a:rPr sz="1800" b="1" spc="-25" dirty="0">
                <a:latin typeface="Courier New"/>
                <a:cs typeface="Courier New"/>
              </a:rPr>
              <a:t>ra,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0(sp)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89695" y="2096702"/>
            <a:ext cx="13779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8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•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759700" y="368300"/>
            <a:ext cx="1371600" cy="2292350"/>
            <a:chOff x="7759700" y="368300"/>
            <a:chExt cx="1371600" cy="2292350"/>
          </a:xfrm>
        </p:grpSpPr>
        <p:sp>
          <p:nvSpPr>
            <p:cNvPr id="24" name="object 24"/>
            <p:cNvSpPr/>
            <p:nvPr/>
          </p:nvSpPr>
          <p:spPr>
            <a:xfrm>
              <a:off x="7772400" y="381000"/>
              <a:ext cx="1346200" cy="2266950"/>
            </a:xfrm>
            <a:custGeom>
              <a:avLst/>
              <a:gdLst/>
              <a:ahLst/>
              <a:cxnLst/>
              <a:rect l="l" t="t" r="r" b="b"/>
              <a:pathLst>
                <a:path w="1346200" h="2266950">
                  <a:moveTo>
                    <a:pt x="1346200" y="0"/>
                  </a:moveTo>
                  <a:lnTo>
                    <a:pt x="0" y="0"/>
                  </a:lnTo>
                  <a:lnTo>
                    <a:pt x="0" y="2266950"/>
                  </a:lnTo>
                  <a:lnTo>
                    <a:pt x="1346200" y="2266950"/>
                  </a:lnTo>
                  <a:lnTo>
                    <a:pt x="1346200" y="0"/>
                  </a:lnTo>
                  <a:close/>
                </a:path>
              </a:pathLst>
            </a:custGeom>
            <a:solidFill>
              <a:srgbClr val="D6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772400" y="381000"/>
              <a:ext cx="1346200" cy="2266950"/>
            </a:xfrm>
            <a:custGeom>
              <a:avLst/>
              <a:gdLst/>
              <a:ahLst/>
              <a:cxnLst/>
              <a:rect l="l" t="t" r="r" b="b"/>
              <a:pathLst>
                <a:path w="1346200" h="2266950">
                  <a:moveTo>
                    <a:pt x="0" y="0"/>
                  </a:moveTo>
                  <a:lnTo>
                    <a:pt x="1346200" y="0"/>
                  </a:lnTo>
                  <a:lnTo>
                    <a:pt x="1346200" y="2266950"/>
                  </a:lnTo>
                  <a:lnTo>
                    <a:pt x="0" y="226695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785100" y="393700"/>
            <a:ext cx="1320800" cy="1111250"/>
          </a:xfrm>
          <a:prstGeom prst="rect">
            <a:avLst/>
          </a:prstGeom>
          <a:solidFill>
            <a:srgbClr val="D6D6F4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40"/>
              </a:lnSpc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85100" y="1524000"/>
            <a:ext cx="1320800" cy="1111250"/>
          </a:xfrm>
          <a:prstGeom prst="rect">
            <a:avLst/>
          </a:prstGeom>
          <a:solidFill>
            <a:srgbClr val="D6D6F4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440"/>
              </a:lnSpc>
            </a:pPr>
            <a:r>
              <a:rPr sz="2400" spc="-10" dirty="0">
                <a:latin typeface="Calibri"/>
                <a:cs typeface="Calibri"/>
              </a:rPr>
              <a:t>00400514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0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72400" y="3505200"/>
            <a:ext cx="1346200" cy="381000"/>
          </a:xfrm>
          <a:prstGeom prst="rect">
            <a:avLst/>
          </a:prstGeom>
          <a:solidFill>
            <a:srgbClr val="FFCCCC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0x400570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72400" y="2895600"/>
            <a:ext cx="1346200" cy="381000"/>
          </a:xfrm>
          <a:prstGeom prst="rect">
            <a:avLst/>
          </a:prstGeom>
          <a:solidFill>
            <a:srgbClr val="D5F1CF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0x11C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309122" y="290315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sp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09122" y="351275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pc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745896" y="4133850"/>
            <a:ext cx="1346200" cy="381000"/>
          </a:xfrm>
          <a:prstGeom prst="rect">
            <a:avLst/>
          </a:prstGeom>
          <a:solidFill>
            <a:srgbClr val="D6D6F4"/>
          </a:solidFill>
          <a:ln w="254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latin typeface="Courier New"/>
                <a:cs typeface="Courier New"/>
              </a:rPr>
              <a:t>0x400514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294835" y="4141402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97575" y="662872"/>
            <a:ext cx="711835" cy="19304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spc="-10" dirty="0">
                <a:latin typeface="Courier New"/>
                <a:cs typeface="Courier New"/>
              </a:rPr>
              <a:t>0x120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0x11C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0x118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0x114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ourier New"/>
                <a:cs typeface="Courier New"/>
              </a:rPr>
              <a:t>0x110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772400" y="1319455"/>
            <a:ext cx="2070735" cy="1816100"/>
            <a:chOff x="7772400" y="1319455"/>
            <a:chExt cx="2070735" cy="1816100"/>
          </a:xfrm>
        </p:grpSpPr>
        <p:sp>
          <p:nvSpPr>
            <p:cNvPr id="37" name="object 37"/>
            <p:cNvSpPr/>
            <p:nvPr/>
          </p:nvSpPr>
          <p:spPr>
            <a:xfrm>
              <a:off x="9159730" y="1381617"/>
              <a:ext cx="670560" cy="1741170"/>
            </a:xfrm>
            <a:custGeom>
              <a:avLst/>
              <a:gdLst/>
              <a:ahLst/>
              <a:cxnLst/>
              <a:rect l="l" t="t" r="r" b="b"/>
              <a:pathLst>
                <a:path w="670559" h="1741170">
                  <a:moveTo>
                    <a:pt x="0" y="1740763"/>
                  </a:moveTo>
                  <a:lnTo>
                    <a:pt x="43788" y="1733613"/>
                  </a:lnTo>
                  <a:lnTo>
                    <a:pt x="86635" y="1723623"/>
                  </a:lnTo>
                  <a:lnTo>
                    <a:pt x="128477" y="1710885"/>
                  </a:lnTo>
                  <a:lnTo>
                    <a:pt x="169253" y="1695490"/>
                  </a:lnTo>
                  <a:lnTo>
                    <a:pt x="208900" y="1677529"/>
                  </a:lnTo>
                  <a:lnTo>
                    <a:pt x="247355" y="1657095"/>
                  </a:lnTo>
                  <a:lnTo>
                    <a:pt x="284557" y="1634277"/>
                  </a:lnTo>
                  <a:lnTo>
                    <a:pt x="320442" y="1609168"/>
                  </a:lnTo>
                  <a:lnTo>
                    <a:pt x="354948" y="1581859"/>
                  </a:lnTo>
                  <a:lnTo>
                    <a:pt x="388013" y="1552442"/>
                  </a:lnTo>
                  <a:lnTo>
                    <a:pt x="419575" y="1521007"/>
                  </a:lnTo>
                  <a:lnTo>
                    <a:pt x="449571" y="1487646"/>
                  </a:lnTo>
                  <a:lnTo>
                    <a:pt x="477938" y="1452451"/>
                  </a:lnTo>
                  <a:lnTo>
                    <a:pt x="504614" y="1415512"/>
                  </a:lnTo>
                  <a:lnTo>
                    <a:pt x="529537" y="1376922"/>
                  </a:lnTo>
                  <a:lnTo>
                    <a:pt x="552644" y="1336772"/>
                  </a:lnTo>
                  <a:lnTo>
                    <a:pt x="573873" y="1295152"/>
                  </a:lnTo>
                  <a:lnTo>
                    <a:pt x="593162" y="1252155"/>
                  </a:lnTo>
                  <a:lnTo>
                    <a:pt x="610447" y="1207871"/>
                  </a:lnTo>
                  <a:lnTo>
                    <a:pt x="625667" y="1162392"/>
                  </a:lnTo>
                  <a:lnTo>
                    <a:pt x="638760" y="1115810"/>
                  </a:lnTo>
                  <a:lnTo>
                    <a:pt x="649662" y="1068216"/>
                  </a:lnTo>
                  <a:lnTo>
                    <a:pt x="658311" y="1019701"/>
                  </a:lnTo>
                  <a:lnTo>
                    <a:pt x="664645" y="970357"/>
                  </a:lnTo>
                  <a:lnTo>
                    <a:pt x="668602" y="920274"/>
                  </a:lnTo>
                  <a:lnTo>
                    <a:pt x="670118" y="869545"/>
                  </a:lnTo>
                  <a:lnTo>
                    <a:pt x="669132" y="818261"/>
                  </a:lnTo>
                  <a:lnTo>
                    <a:pt x="665582" y="766512"/>
                  </a:lnTo>
                  <a:lnTo>
                    <a:pt x="659222" y="713295"/>
                  </a:lnTo>
                  <a:lnTo>
                    <a:pt x="650235" y="661154"/>
                  </a:lnTo>
                  <a:lnTo>
                    <a:pt x="638702" y="610185"/>
                  </a:lnTo>
                  <a:lnTo>
                    <a:pt x="624705" y="560483"/>
                  </a:lnTo>
                  <a:lnTo>
                    <a:pt x="608324" y="512145"/>
                  </a:lnTo>
                  <a:lnTo>
                    <a:pt x="589640" y="465266"/>
                  </a:lnTo>
                  <a:lnTo>
                    <a:pt x="568736" y="419944"/>
                  </a:lnTo>
                  <a:lnTo>
                    <a:pt x="545691" y="376273"/>
                  </a:lnTo>
                  <a:lnTo>
                    <a:pt x="520587" y="334349"/>
                  </a:lnTo>
                  <a:lnTo>
                    <a:pt x="493506" y="294270"/>
                  </a:lnTo>
                  <a:lnTo>
                    <a:pt x="464527" y="256130"/>
                  </a:lnTo>
                  <a:lnTo>
                    <a:pt x="433733" y="220026"/>
                  </a:lnTo>
                  <a:lnTo>
                    <a:pt x="401205" y="186054"/>
                  </a:lnTo>
                  <a:lnTo>
                    <a:pt x="367023" y="154310"/>
                  </a:lnTo>
                  <a:lnTo>
                    <a:pt x="331270" y="124889"/>
                  </a:lnTo>
                  <a:lnTo>
                    <a:pt x="294025" y="97889"/>
                  </a:lnTo>
                  <a:lnTo>
                    <a:pt x="255370" y="73404"/>
                  </a:lnTo>
                  <a:lnTo>
                    <a:pt x="215387" y="51531"/>
                  </a:lnTo>
                  <a:lnTo>
                    <a:pt x="174156" y="32366"/>
                  </a:lnTo>
                  <a:lnTo>
                    <a:pt x="131758" y="16005"/>
                  </a:lnTo>
                  <a:lnTo>
                    <a:pt x="88275" y="2543"/>
                  </a:lnTo>
                  <a:lnTo>
                    <a:pt x="75823" y="0"/>
                  </a:lnTo>
                </a:path>
              </a:pathLst>
            </a:custGeom>
            <a:ln w="254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65454" y="1319455"/>
              <a:ext cx="161480" cy="14993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772400" y="1514475"/>
              <a:ext cx="1346200" cy="0"/>
            </a:xfrm>
            <a:custGeom>
              <a:avLst/>
              <a:gdLst/>
              <a:ahLst/>
              <a:cxnLst/>
              <a:rect l="l" t="t" r="r" b="b"/>
              <a:pathLst>
                <a:path w="1346200">
                  <a:moveTo>
                    <a:pt x="0" y="0"/>
                  </a:moveTo>
                  <a:lnTo>
                    <a:pt x="1346200" y="0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Title 1">
            <a:extLst>
              <a:ext uri="{FF2B5EF4-FFF2-40B4-BE49-F238E27FC236}">
                <a16:creationId xmlns:a16="http://schemas.microsoft.com/office/drawing/2014/main" id="{10F100ED-5EC3-9F28-41E2-5208A1A76648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A closer look.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587CC-E398-4A75-870F-110C87919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Things you should know or go learn more about:</a:t>
            </a:r>
          </a:p>
          <a:p>
            <a:pPr lvl="1"/>
            <a:r>
              <a:rPr lang="en-US" dirty="0"/>
              <a:t>RISC-V assembly programming straight-line code with basic arithmetic</a:t>
            </a:r>
          </a:p>
          <a:p>
            <a:pPr lvl="2"/>
            <a:r>
              <a:rPr lang="en-US" dirty="0"/>
              <a:t>Addition, subtraction, multiplication (shifts and adds)</a:t>
            </a:r>
          </a:p>
          <a:p>
            <a:pPr lvl="1"/>
            <a:r>
              <a:rPr lang="en-US" dirty="0"/>
              <a:t>Basic function call/return</a:t>
            </a:r>
          </a:p>
          <a:p>
            <a:pPr lvl="2"/>
            <a:r>
              <a:rPr lang="en-US" dirty="0"/>
              <a:t>Function calls that don’t make nested function calls (</a:t>
            </a:r>
            <a:r>
              <a:rPr lang="en-US" b="1" dirty="0">
                <a:solidFill>
                  <a:schemeClr val="accent1"/>
                </a:solidFill>
              </a:rPr>
              <a:t>leaf procedures</a:t>
            </a:r>
            <a:r>
              <a:rPr lang="en-US" dirty="0"/>
              <a:t>)</a:t>
            </a:r>
          </a:p>
          <a:p>
            <a:endParaRPr lang="en-US"/>
          </a:p>
          <a:p>
            <a:pPr marL="0" indent="0">
              <a:buNone/>
            </a:pPr>
            <a:r>
              <a:rPr lang="en-US" b="1" dirty="0"/>
              <a:t>Next up</a:t>
            </a:r>
            <a:r>
              <a:rPr lang="en-US" dirty="0"/>
              <a:t>: Logical operations.</a:t>
            </a:r>
          </a:p>
          <a:p>
            <a:endParaRPr lang="en-US"/>
          </a:p>
          <a:p>
            <a:pPr marL="0" indent="0">
              <a:buNone/>
            </a:pPr>
            <a:r>
              <a:rPr lang="en-US" dirty="0"/>
              <a:t>Read </a:t>
            </a:r>
            <a:r>
              <a:rPr lang="en-US" b="1" dirty="0"/>
              <a:t>chapter 2</a:t>
            </a:r>
            <a:r>
              <a:rPr lang="en-US" dirty="0"/>
              <a:t>!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74F6C6-A51C-0DE6-F51F-2BC42713AD18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ptos"/>
              </a:rPr>
              <a:t>Summery.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3579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12156-12F0-4BD2-D35D-EEEDF658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D382-E63F-8072-3870-82AA42427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b="1"/>
              <a:t>Thank you.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95CBB-F04F-4CC7-8926-3050DC67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19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35097d-3c42-4841-8414-e54f32605794" xsi:nil="true"/>
    <lcf76f155ced4ddcb4097134ff3c332f xmlns="4619ee15-d16e-4cab-835a-106b42f09be9">
      <Terms xmlns="http://schemas.microsoft.com/office/infopath/2007/PartnerControls"/>
    </lcf76f155ced4ddcb4097134ff3c332f>
    <comment xmlns="4619ee15-d16e-4cab-835a-106b42f09be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F7041B20C9D84A837902E535A9C631" ma:contentTypeVersion="17" ma:contentTypeDescription="Create a new document." ma:contentTypeScope="" ma:versionID="bf947d493ea0e920a0a55c5a9bbc11a7">
  <xsd:schema xmlns:xsd="http://www.w3.org/2001/XMLSchema" xmlns:xs="http://www.w3.org/2001/XMLSchema" xmlns:p="http://schemas.microsoft.com/office/2006/metadata/properties" xmlns:ns2="4619ee15-d16e-4cab-835a-106b42f09be9" xmlns:ns3="9135097d-3c42-4841-8414-e54f32605794" targetNamespace="http://schemas.microsoft.com/office/2006/metadata/properties" ma:root="true" ma:fieldsID="626080d7c39690040fa29d374903722c" ns2:_="" ns3:_="">
    <xsd:import namespace="4619ee15-d16e-4cab-835a-106b42f09be9"/>
    <xsd:import namespace="9135097d-3c42-4841-8414-e54f326057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  <xsd:element ref="ns2:commen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ee15-d16e-4cab-835a-106b42f09b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7373dcc-d629-4f14-9a28-796bffe926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" ma:index="23" nillable="true" ma:displayName="comment" ma:format="Dropdown" ma:internalName="comment">
      <xsd:simpleType>
        <xsd:restriction base="dms:Text">
          <xsd:maxLength value="255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35097d-3c42-4841-8414-e54f3260579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19991c60-4f88-465e-b0d6-8ccc2d76eff8}" ma:internalName="TaxCatchAll" ma:showField="CatchAllData" ma:web="9135097d-3c42-4841-8414-e54f326057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30B765-BC9D-41EA-B9D3-9E225854F8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583296-0ED5-46EC-9454-454006AAD442}">
  <ds:schemaRefs>
    <ds:schemaRef ds:uri="4619ee15-d16e-4cab-835a-106b42f09be9"/>
    <ds:schemaRef ds:uri="785cff9e-9d88-40f4-96cb-1285df94b63b"/>
    <ds:schemaRef ds:uri="9135097d-3c42-4841-8414-e54f32605794"/>
    <ds:schemaRef ds:uri="9fdeb73d-c18a-448e-b2ff-a2496585359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2EBC180-5FF9-4712-8D46-CF33F4FB5C84}">
  <ds:schemaRefs>
    <ds:schemaRef ds:uri="4619ee15-d16e-4cab-835a-106b42f09be9"/>
    <ds:schemaRef ds:uri="9135097d-3c42-4841-8414-e54f326057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CS 2160 Introduction to Assembly Programming and Computer Organization  Lecture 03: Branching, Procedures, and  Loops</vt:lpstr>
      <vt:lpstr>Today’s Agenda.</vt:lpstr>
      <vt:lpstr>Instructions for Making Decisions (§2.7) </vt:lpstr>
      <vt:lpstr>Instructions for Making Decisions (§2.7) </vt:lpstr>
      <vt:lpstr>PowerPoint Presentation</vt:lpstr>
      <vt:lpstr>Example: if else conditional branching. </vt:lpstr>
      <vt:lpstr>Example: if else conditional branching. </vt:lpstr>
      <vt:lpstr>If else conditional branching template. </vt:lpstr>
      <vt:lpstr>Example: if else.</vt:lpstr>
      <vt:lpstr>Example: if else.</vt:lpstr>
      <vt:lpstr>Example: if else.</vt:lpstr>
      <vt:lpstr>Example: while.</vt:lpstr>
      <vt:lpstr>Example solution: while.</vt:lpstr>
      <vt:lpstr>General 'while' template #1.</vt:lpstr>
      <vt:lpstr>General 'while' template #1.</vt:lpstr>
      <vt:lpstr>General 'while' template #2.</vt:lpstr>
      <vt:lpstr>General 'while' template #2.</vt:lpstr>
      <vt:lpstr>While loop: example #2</vt:lpstr>
      <vt:lpstr>While loop: example #2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Himon Thakur</dc:creator>
  <cp:revision>542</cp:revision>
  <dcterms:created xsi:type="dcterms:W3CDTF">2026-02-17T00:04:35Z</dcterms:created>
  <dcterms:modified xsi:type="dcterms:W3CDTF">2026-09-10T22:11:22Z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0x010100EEF7041B20C9D84A837902E535A9C631</vt:lpwstr>
  </property>
</Properties>
</file>