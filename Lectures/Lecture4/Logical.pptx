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7" r:id="rId1"/>
    <p:sldMasterId id="2147483660" r:id="rId2"/>
  </p:sldMasterIdLst>
  <p:notesMasterIdLst>
    <p:notesMasterId r:id="rId32"/>
  </p:notesMasterIdLst>
  <p:sldIdLst>
    <p:sldId id="256" r:id="rId3"/>
    <p:sldId id="257" r:id="rId4"/>
    <p:sldId id="359" r:id="rId5"/>
    <p:sldId id="826" r:id="rId6"/>
    <p:sldId id="827" r:id="rId7"/>
    <p:sldId id="363" r:id="rId8"/>
    <p:sldId id="364" r:id="rId9"/>
    <p:sldId id="287" r:id="rId10"/>
    <p:sldId id="288" r:id="rId11"/>
    <p:sldId id="825" r:id="rId12"/>
    <p:sldId id="824" r:id="rId13"/>
    <p:sldId id="289" r:id="rId14"/>
    <p:sldId id="384" r:id="rId15"/>
    <p:sldId id="385" r:id="rId16"/>
    <p:sldId id="828" r:id="rId17"/>
    <p:sldId id="774" r:id="rId18"/>
    <p:sldId id="831" r:id="rId19"/>
    <p:sldId id="832" r:id="rId20"/>
    <p:sldId id="829" r:id="rId21"/>
    <p:sldId id="775" r:id="rId22"/>
    <p:sldId id="777" r:id="rId23"/>
    <p:sldId id="778" r:id="rId24"/>
    <p:sldId id="779" r:id="rId25"/>
    <p:sldId id="833" r:id="rId26"/>
    <p:sldId id="781" r:id="rId27"/>
    <p:sldId id="783" r:id="rId28"/>
    <p:sldId id="785" r:id="rId29"/>
    <p:sldId id="782" r:id="rId30"/>
    <p:sldId id="27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DDF8"/>
    <a:srgbClr val="009639"/>
    <a:srgbClr val="00D657"/>
    <a:srgbClr val="00A840"/>
    <a:srgbClr val="71FF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11" dt="2026-09-10T22:25:10.9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55" autoAdjust="0"/>
    <p:restoredTop sz="76370" autoAdjust="0"/>
  </p:normalViewPr>
  <p:slideViewPr>
    <p:cSldViewPr>
      <p:cViewPr varScale="1">
        <p:scale>
          <a:sx n="95" d="100"/>
          <a:sy n="95" d="100"/>
        </p:scale>
        <p:origin x="2000" y="184"/>
      </p:cViewPr>
      <p:guideLst>
        <p:guide orient="horz" pos="2160"/>
        <p:guide pos="3840"/>
      </p:guideLst>
    </p:cSldViewPr>
  </p:slideViewPr>
  <p:notesTextViewPr>
    <p:cViewPr>
      <p:scale>
        <a:sx n="200" d="100"/>
        <a:sy n="2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5C8BA7-AD7A-4562-9101-3AAD26BB5789}" type="datetimeFigureOut">
              <a:rPr lang="en-US" smtClean="0"/>
              <a:pPr/>
              <a:t>9/10/2026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E34500-BB8F-47C6-8EB6-733711EA6A42}" type="slidenum">
              <a:rPr lang="en-US" smtClean="0"/>
              <a:pPr/>
              <a:t>‹#›</a:t>
            </a:fld>
            <a:endParaRPr lang="en-US"/>
          </a:p>
        </p:txBody>
      </p:sp>
    </p:spTree>
    <p:extLst>
      <p:ext uri="{BB962C8B-B14F-4D97-AF65-F5344CB8AC3E}">
        <p14:creationId xmlns:p14="http://schemas.microsoft.com/office/powerpoint/2010/main" val="1379869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B4209CE5-1DCB-0754-7B5A-63D3D0F4998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The University of Adelaide, School of Computer Science</a:t>
            </a:r>
          </a:p>
        </p:txBody>
      </p:sp>
      <p:sp>
        <p:nvSpPr>
          <p:cNvPr id="29699" name="Rectangle 3">
            <a:extLst>
              <a:ext uri="{FF2B5EF4-FFF2-40B4-BE49-F238E27FC236}">
                <a16:creationId xmlns:a16="http://schemas.microsoft.com/office/drawing/2014/main" id="{458A4260-DE0C-B3C7-3FE4-608F39F18A6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357BD182-E38B-0445-B7E4-7959FA454D0B}" type="datetime3">
              <a:rPr lang="en-US" altLang="en-US" smtClean="0">
                <a:latin typeface="Times New Roman" panose="02020603050405020304" pitchFamily="18" charset="0"/>
              </a:rPr>
              <a:pPr/>
              <a:t>10 September 2026</a:t>
            </a:fld>
            <a:endParaRPr lang="en-US" altLang="en-US">
              <a:latin typeface="Times New Roman" panose="02020603050405020304" pitchFamily="18" charset="0"/>
            </a:endParaRPr>
          </a:p>
        </p:txBody>
      </p:sp>
      <p:sp>
        <p:nvSpPr>
          <p:cNvPr id="29700" name="Rectangle 6">
            <a:extLst>
              <a:ext uri="{FF2B5EF4-FFF2-40B4-BE49-F238E27FC236}">
                <a16:creationId xmlns:a16="http://schemas.microsoft.com/office/drawing/2014/main" id="{418F0B1A-84D1-D13E-D189-5D1F805FDB9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2 — Instructions: Language of the Computer</a:t>
            </a:r>
          </a:p>
        </p:txBody>
      </p:sp>
      <p:sp>
        <p:nvSpPr>
          <p:cNvPr id="29701" name="Rectangle 7">
            <a:extLst>
              <a:ext uri="{FF2B5EF4-FFF2-40B4-BE49-F238E27FC236}">
                <a16:creationId xmlns:a16="http://schemas.microsoft.com/office/drawing/2014/main" id="{FCDC89EF-B42B-AB4A-D419-A3EB981230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86EC4E06-76FC-1D47-9BEC-0E9E9C2B3130}"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29702" name="Rectangle 2">
            <a:extLst>
              <a:ext uri="{FF2B5EF4-FFF2-40B4-BE49-F238E27FC236}">
                <a16:creationId xmlns:a16="http://schemas.microsoft.com/office/drawing/2014/main" id="{DCC41B4F-0712-CE4D-90E4-EE763E4DB794}"/>
              </a:ext>
            </a:extLst>
          </p:cNvPr>
          <p:cNvSpPr>
            <a:spLocks noGrp="1" noRot="1" noChangeAspect="1" noChangeArrowheads="1" noTextEdit="1"/>
          </p:cNvSpPr>
          <p:nvPr>
            <p:ph type="sldImg"/>
          </p:nvPr>
        </p:nvSpPr>
        <p:spPr>
          <a:ln/>
        </p:spPr>
      </p:sp>
      <p:sp>
        <p:nvSpPr>
          <p:cNvPr id="29703" name="Rectangle 3">
            <a:extLst>
              <a:ext uri="{FF2B5EF4-FFF2-40B4-BE49-F238E27FC236}">
                <a16:creationId xmlns:a16="http://schemas.microsoft.com/office/drawing/2014/main" id="{2CDC2CCD-1CB8-C317-80F8-996C63D0CA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664C4-6A81-C928-AD00-FB1CEDB6E800}"/>
            </a:ext>
          </a:extLst>
        </p:cNvPr>
        <p:cNvGrpSpPr/>
        <p:nvPr/>
      </p:nvGrpSpPr>
      <p:grpSpPr>
        <a:xfrm>
          <a:off x="0" y="0"/>
          <a:ext cx="0" cy="0"/>
          <a:chOff x="0" y="0"/>
          <a:chExt cx="0" cy="0"/>
        </a:xfrm>
      </p:grpSpPr>
      <p:sp>
        <p:nvSpPr>
          <p:cNvPr id="29698" name="Rectangle 2">
            <a:extLst>
              <a:ext uri="{FF2B5EF4-FFF2-40B4-BE49-F238E27FC236}">
                <a16:creationId xmlns:a16="http://schemas.microsoft.com/office/drawing/2014/main" id="{4558FB5A-81E5-4218-4540-CCBDE17F252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The University of Adelaide, School of Computer Science</a:t>
            </a:r>
          </a:p>
        </p:txBody>
      </p:sp>
      <p:sp>
        <p:nvSpPr>
          <p:cNvPr id="29699" name="Rectangle 3">
            <a:extLst>
              <a:ext uri="{FF2B5EF4-FFF2-40B4-BE49-F238E27FC236}">
                <a16:creationId xmlns:a16="http://schemas.microsoft.com/office/drawing/2014/main" id="{91CCC84F-84A1-41D9-7951-73BDB0CE376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357BD182-E38B-0445-B7E4-7959FA454D0B}" type="datetime3">
              <a:rPr lang="en-US" altLang="en-US" smtClean="0">
                <a:latin typeface="Times New Roman" panose="02020603050405020304" pitchFamily="18" charset="0"/>
              </a:rPr>
              <a:pPr/>
              <a:t>10 September 2026</a:t>
            </a:fld>
            <a:endParaRPr lang="en-US" altLang="en-US">
              <a:latin typeface="Times New Roman" panose="02020603050405020304" pitchFamily="18" charset="0"/>
            </a:endParaRPr>
          </a:p>
        </p:txBody>
      </p:sp>
      <p:sp>
        <p:nvSpPr>
          <p:cNvPr id="29700" name="Rectangle 6">
            <a:extLst>
              <a:ext uri="{FF2B5EF4-FFF2-40B4-BE49-F238E27FC236}">
                <a16:creationId xmlns:a16="http://schemas.microsoft.com/office/drawing/2014/main" id="{2450FD49-208A-CE17-771B-2FBF2EF3FCF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2 — Instructions: Language of the Computer</a:t>
            </a:r>
          </a:p>
        </p:txBody>
      </p:sp>
      <p:sp>
        <p:nvSpPr>
          <p:cNvPr id="29701" name="Rectangle 7">
            <a:extLst>
              <a:ext uri="{FF2B5EF4-FFF2-40B4-BE49-F238E27FC236}">
                <a16:creationId xmlns:a16="http://schemas.microsoft.com/office/drawing/2014/main" id="{E3094CB8-7516-E7D9-438C-69ABD24492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86EC4E06-76FC-1D47-9BEC-0E9E9C2B3130}"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29702" name="Rectangle 2">
            <a:extLst>
              <a:ext uri="{FF2B5EF4-FFF2-40B4-BE49-F238E27FC236}">
                <a16:creationId xmlns:a16="http://schemas.microsoft.com/office/drawing/2014/main" id="{3FB0D3C3-CD72-48ED-FC8A-B3F2577AE435}"/>
              </a:ext>
            </a:extLst>
          </p:cNvPr>
          <p:cNvSpPr>
            <a:spLocks noGrp="1" noRot="1" noChangeAspect="1" noChangeArrowheads="1" noTextEdit="1"/>
          </p:cNvSpPr>
          <p:nvPr>
            <p:ph type="sldImg"/>
          </p:nvPr>
        </p:nvSpPr>
        <p:spPr>
          <a:ln/>
        </p:spPr>
      </p:sp>
      <p:sp>
        <p:nvSpPr>
          <p:cNvPr id="29703" name="Rectangle 3">
            <a:extLst>
              <a:ext uri="{FF2B5EF4-FFF2-40B4-BE49-F238E27FC236}">
                <a16:creationId xmlns:a16="http://schemas.microsoft.com/office/drawing/2014/main" id="{3560CBF7-FF3E-5DEF-2038-8267C27397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354417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746F5-A53F-97FB-3D12-614E5301C810}"/>
            </a:ext>
          </a:extLst>
        </p:cNvPr>
        <p:cNvGrpSpPr/>
        <p:nvPr/>
      </p:nvGrpSpPr>
      <p:grpSpPr>
        <a:xfrm>
          <a:off x="0" y="0"/>
          <a:ext cx="0" cy="0"/>
          <a:chOff x="0" y="0"/>
          <a:chExt cx="0" cy="0"/>
        </a:xfrm>
      </p:grpSpPr>
      <p:sp>
        <p:nvSpPr>
          <p:cNvPr id="29698" name="Rectangle 2">
            <a:extLst>
              <a:ext uri="{FF2B5EF4-FFF2-40B4-BE49-F238E27FC236}">
                <a16:creationId xmlns:a16="http://schemas.microsoft.com/office/drawing/2014/main" id="{BA733848-4B9E-4290-615E-8426148EF94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The University of Adelaide, School of Computer Science</a:t>
            </a:r>
          </a:p>
        </p:txBody>
      </p:sp>
      <p:sp>
        <p:nvSpPr>
          <p:cNvPr id="29699" name="Rectangle 3">
            <a:extLst>
              <a:ext uri="{FF2B5EF4-FFF2-40B4-BE49-F238E27FC236}">
                <a16:creationId xmlns:a16="http://schemas.microsoft.com/office/drawing/2014/main" id="{C4DC1881-7FA2-5CA2-865F-410EBC36619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357BD182-E38B-0445-B7E4-7959FA454D0B}" type="datetime3">
              <a:rPr lang="en-US" altLang="en-US" smtClean="0">
                <a:latin typeface="Times New Roman" panose="02020603050405020304" pitchFamily="18" charset="0"/>
              </a:rPr>
              <a:pPr/>
              <a:t>10 September 2026</a:t>
            </a:fld>
            <a:endParaRPr lang="en-US" altLang="en-US">
              <a:latin typeface="Times New Roman" panose="02020603050405020304" pitchFamily="18" charset="0"/>
            </a:endParaRPr>
          </a:p>
        </p:txBody>
      </p:sp>
      <p:sp>
        <p:nvSpPr>
          <p:cNvPr id="29700" name="Rectangle 6">
            <a:extLst>
              <a:ext uri="{FF2B5EF4-FFF2-40B4-BE49-F238E27FC236}">
                <a16:creationId xmlns:a16="http://schemas.microsoft.com/office/drawing/2014/main" id="{353CD64E-ED67-F335-EE39-20BC703B180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2 — Instructions: Language of the Computer</a:t>
            </a:r>
          </a:p>
        </p:txBody>
      </p:sp>
      <p:sp>
        <p:nvSpPr>
          <p:cNvPr id="29701" name="Rectangle 7">
            <a:extLst>
              <a:ext uri="{FF2B5EF4-FFF2-40B4-BE49-F238E27FC236}">
                <a16:creationId xmlns:a16="http://schemas.microsoft.com/office/drawing/2014/main" id="{047EF6B1-9821-DA1D-60F2-E6782360AE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86EC4E06-76FC-1D47-9BEC-0E9E9C2B3130}"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29702" name="Rectangle 2">
            <a:extLst>
              <a:ext uri="{FF2B5EF4-FFF2-40B4-BE49-F238E27FC236}">
                <a16:creationId xmlns:a16="http://schemas.microsoft.com/office/drawing/2014/main" id="{5DAD89D6-D169-D89A-09D9-50955AD12D7B}"/>
              </a:ext>
            </a:extLst>
          </p:cNvPr>
          <p:cNvSpPr>
            <a:spLocks noGrp="1" noRot="1" noChangeAspect="1" noChangeArrowheads="1" noTextEdit="1"/>
          </p:cNvSpPr>
          <p:nvPr>
            <p:ph type="sldImg"/>
          </p:nvPr>
        </p:nvSpPr>
        <p:spPr>
          <a:ln/>
        </p:spPr>
      </p:sp>
      <p:sp>
        <p:nvSpPr>
          <p:cNvPr id="29703" name="Rectangle 3">
            <a:extLst>
              <a:ext uri="{FF2B5EF4-FFF2-40B4-BE49-F238E27FC236}">
                <a16:creationId xmlns:a16="http://schemas.microsoft.com/office/drawing/2014/main" id="{B3D5B4D4-FC81-9EFD-E4B5-6F16AD6679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2907648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BEB3CFB1-85E1-779E-38CC-5C7612C5C77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The University of Adelaide, School of Computer Science</a:t>
            </a:r>
          </a:p>
        </p:txBody>
      </p:sp>
      <p:sp>
        <p:nvSpPr>
          <p:cNvPr id="35843" name="Rectangle 3">
            <a:extLst>
              <a:ext uri="{FF2B5EF4-FFF2-40B4-BE49-F238E27FC236}">
                <a16:creationId xmlns:a16="http://schemas.microsoft.com/office/drawing/2014/main" id="{B6DE5DAC-C85C-D79C-D696-C8677624429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5E3DF9AC-C3E9-EE40-84EB-BCD691E7A61C}" type="datetime3">
              <a:rPr lang="en-US" altLang="en-US" smtClean="0">
                <a:latin typeface="Times New Roman" panose="02020603050405020304" pitchFamily="18" charset="0"/>
              </a:rPr>
              <a:pPr/>
              <a:t>10 September 2026</a:t>
            </a:fld>
            <a:endParaRPr lang="en-US" altLang="en-US">
              <a:latin typeface="Times New Roman" panose="02020603050405020304" pitchFamily="18" charset="0"/>
            </a:endParaRPr>
          </a:p>
        </p:txBody>
      </p:sp>
      <p:sp>
        <p:nvSpPr>
          <p:cNvPr id="35844" name="Rectangle 6">
            <a:extLst>
              <a:ext uri="{FF2B5EF4-FFF2-40B4-BE49-F238E27FC236}">
                <a16:creationId xmlns:a16="http://schemas.microsoft.com/office/drawing/2014/main" id="{194F2337-2998-79CB-2ADE-332DC5B6F26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2 — Instructions: Language of the Computer</a:t>
            </a:r>
          </a:p>
        </p:txBody>
      </p:sp>
      <p:sp>
        <p:nvSpPr>
          <p:cNvPr id="35845" name="Rectangle 7">
            <a:extLst>
              <a:ext uri="{FF2B5EF4-FFF2-40B4-BE49-F238E27FC236}">
                <a16:creationId xmlns:a16="http://schemas.microsoft.com/office/drawing/2014/main" id="{A4650D5B-BC29-43ED-AC9A-F52E7298FA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824D2FF4-C5A7-7B4C-BC12-DD1C3FFD0C78}"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35846" name="Rectangle 2">
            <a:extLst>
              <a:ext uri="{FF2B5EF4-FFF2-40B4-BE49-F238E27FC236}">
                <a16:creationId xmlns:a16="http://schemas.microsoft.com/office/drawing/2014/main" id="{B97A9ED8-9D4D-E3D7-34CE-0E07A465524E}"/>
              </a:ext>
            </a:extLst>
          </p:cNvPr>
          <p:cNvSpPr>
            <a:spLocks noGrp="1" noRot="1" noChangeAspect="1" noChangeArrowheads="1" noTextEdit="1"/>
          </p:cNvSpPr>
          <p:nvPr>
            <p:ph type="sldImg"/>
          </p:nvPr>
        </p:nvSpPr>
        <p:spPr>
          <a:ln/>
        </p:spPr>
      </p:sp>
      <p:sp>
        <p:nvSpPr>
          <p:cNvPr id="35847" name="Rectangle 3">
            <a:extLst>
              <a:ext uri="{FF2B5EF4-FFF2-40B4-BE49-F238E27FC236}">
                <a16:creationId xmlns:a16="http://schemas.microsoft.com/office/drawing/2014/main" id="{BAD155C7-E3A2-5603-8F12-5D43D2A2E3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F8B7AEC-3EAA-8804-457F-49468DEFC2F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The University of Adelaide, School of Computer Science</a:t>
            </a:r>
          </a:p>
        </p:txBody>
      </p:sp>
      <p:sp>
        <p:nvSpPr>
          <p:cNvPr id="37891" name="Rectangle 3">
            <a:extLst>
              <a:ext uri="{FF2B5EF4-FFF2-40B4-BE49-F238E27FC236}">
                <a16:creationId xmlns:a16="http://schemas.microsoft.com/office/drawing/2014/main" id="{20678A9E-B836-15F3-4176-4E18BF7F83A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BA5215E8-C30B-5443-BBDF-3A040611EBC3}" type="datetime3">
              <a:rPr lang="en-US" altLang="en-US" smtClean="0">
                <a:latin typeface="Times New Roman" panose="02020603050405020304" pitchFamily="18" charset="0"/>
              </a:rPr>
              <a:pPr/>
              <a:t>10 September 2026</a:t>
            </a:fld>
            <a:endParaRPr lang="en-US" altLang="en-US">
              <a:latin typeface="Times New Roman" panose="02020603050405020304" pitchFamily="18" charset="0"/>
            </a:endParaRPr>
          </a:p>
        </p:txBody>
      </p:sp>
      <p:sp>
        <p:nvSpPr>
          <p:cNvPr id="37892" name="Rectangle 6">
            <a:extLst>
              <a:ext uri="{FF2B5EF4-FFF2-40B4-BE49-F238E27FC236}">
                <a16:creationId xmlns:a16="http://schemas.microsoft.com/office/drawing/2014/main" id="{D9DF89F6-7661-A318-493E-2F6ADDEE9F5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2 — Instructions: Language of the Computer</a:t>
            </a:r>
          </a:p>
        </p:txBody>
      </p:sp>
      <p:sp>
        <p:nvSpPr>
          <p:cNvPr id="37893" name="Rectangle 7">
            <a:extLst>
              <a:ext uri="{FF2B5EF4-FFF2-40B4-BE49-F238E27FC236}">
                <a16:creationId xmlns:a16="http://schemas.microsoft.com/office/drawing/2014/main" id="{58A419D6-78BA-5C69-856B-5A8E180DAC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C5D9711C-7438-754B-8885-7C622E83A779}"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37894" name="Rectangle 2">
            <a:extLst>
              <a:ext uri="{FF2B5EF4-FFF2-40B4-BE49-F238E27FC236}">
                <a16:creationId xmlns:a16="http://schemas.microsoft.com/office/drawing/2014/main" id="{451E857A-C43C-1FAD-CA64-109425FA133C}"/>
              </a:ext>
            </a:extLst>
          </p:cNvPr>
          <p:cNvSpPr>
            <a:spLocks noGrp="1" noRot="1" noChangeAspect="1" noChangeArrowheads="1" noTextEdit="1"/>
          </p:cNvSpPr>
          <p:nvPr>
            <p:ph type="sldImg"/>
          </p:nvPr>
        </p:nvSpPr>
        <p:spPr>
          <a:ln/>
        </p:spPr>
      </p:sp>
      <p:sp>
        <p:nvSpPr>
          <p:cNvPr id="37895" name="Rectangle 3">
            <a:extLst>
              <a:ext uri="{FF2B5EF4-FFF2-40B4-BE49-F238E27FC236}">
                <a16:creationId xmlns:a16="http://schemas.microsoft.com/office/drawing/2014/main" id="{96AD0148-78F1-E669-2370-CEE436633A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FD9DFAF0-5152-CF39-D148-8BB6E2581F7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The University of Adelaide, School of Computer Science</a:t>
            </a:r>
          </a:p>
        </p:txBody>
      </p:sp>
      <p:sp>
        <p:nvSpPr>
          <p:cNvPr id="54275" name="Rectangle 3">
            <a:extLst>
              <a:ext uri="{FF2B5EF4-FFF2-40B4-BE49-F238E27FC236}">
                <a16:creationId xmlns:a16="http://schemas.microsoft.com/office/drawing/2014/main" id="{AD81A535-0A81-1BA1-D4DE-B7E01ECC610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9BE803CA-91A9-5346-96CF-757BB361F2CC}" type="datetime3">
              <a:rPr lang="en-US" altLang="en-US" smtClean="0">
                <a:latin typeface="Times New Roman" panose="02020603050405020304" pitchFamily="18" charset="0"/>
              </a:rPr>
              <a:pPr/>
              <a:t>10 September 2026</a:t>
            </a:fld>
            <a:endParaRPr lang="en-US" altLang="en-US">
              <a:latin typeface="Times New Roman" panose="02020603050405020304" pitchFamily="18" charset="0"/>
            </a:endParaRPr>
          </a:p>
        </p:txBody>
      </p:sp>
      <p:sp>
        <p:nvSpPr>
          <p:cNvPr id="54276" name="Rectangle 6">
            <a:extLst>
              <a:ext uri="{FF2B5EF4-FFF2-40B4-BE49-F238E27FC236}">
                <a16:creationId xmlns:a16="http://schemas.microsoft.com/office/drawing/2014/main" id="{1A49E380-662A-8055-67CC-D1CCEFA0064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2 — Instructions: Language of the Computer</a:t>
            </a:r>
          </a:p>
        </p:txBody>
      </p:sp>
      <p:sp>
        <p:nvSpPr>
          <p:cNvPr id="54277" name="Rectangle 7">
            <a:extLst>
              <a:ext uri="{FF2B5EF4-FFF2-40B4-BE49-F238E27FC236}">
                <a16:creationId xmlns:a16="http://schemas.microsoft.com/office/drawing/2014/main" id="{2287949E-79F1-2A53-AE9B-7D7D4A9651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4D8F5643-3111-2542-A470-164D00D9384B}"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54278" name="Rectangle 2">
            <a:extLst>
              <a:ext uri="{FF2B5EF4-FFF2-40B4-BE49-F238E27FC236}">
                <a16:creationId xmlns:a16="http://schemas.microsoft.com/office/drawing/2014/main" id="{DE27F82D-BEB1-181A-64C0-E42382D82C82}"/>
              </a:ext>
            </a:extLst>
          </p:cNvPr>
          <p:cNvSpPr>
            <a:spLocks noGrp="1" noRot="1" noChangeAspect="1" noChangeArrowheads="1" noTextEdit="1"/>
          </p:cNvSpPr>
          <p:nvPr>
            <p:ph type="sldImg"/>
          </p:nvPr>
        </p:nvSpPr>
        <p:spPr>
          <a:ln/>
        </p:spPr>
      </p:sp>
      <p:sp>
        <p:nvSpPr>
          <p:cNvPr id="54279" name="Rectangle 3">
            <a:extLst>
              <a:ext uri="{FF2B5EF4-FFF2-40B4-BE49-F238E27FC236}">
                <a16:creationId xmlns:a16="http://schemas.microsoft.com/office/drawing/2014/main" id="{FE1EC6E5-2F14-4DBF-E86C-8CA154FB24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20E1E19C-134B-D1F0-59D1-E1643BC7F27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The University of Adelaide, School of Computer Science</a:t>
            </a:r>
          </a:p>
        </p:txBody>
      </p:sp>
      <p:sp>
        <p:nvSpPr>
          <p:cNvPr id="56323" name="Rectangle 3">
            <a:extLst>
              <a:ext uri="{FF2B5EF4-FFF2-40B4-BE49-F238E27FC236}">
                <a16:creationId xmlns:a16="http://schemas.microsoft.com/office/drawing/2014/main" id="{2DA81947-1377-DD3A-E670-A22321B2030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1E0BED10-903E-8B45-9538-64722BA10AFA}" type="datetime3">
              <a:rPr lang="en-US" altLang="en-US" smtClean="0">
                <a:latin typeface="Times New Roman" panose="02020603050405020304" pitchFamily="18" charset="0"/>
              </a:rPr>
              <a:pPr/>
              <a:t>10 September 2026</a:t>
            </a:fld>
            <a:endParaRPr lang="en-US" altLang="en-US">
              <a:latin typeface="Times New Roman" panose="02020603050405020304" pitchFamily="18" charset="0"/>
            </a:endParaRPr>
          </a:p>
        </p:txBody>
      </p:sp>
      <p:sp>
        <p:nvSpPr>
          <p:cNvPr id="56324" name="Rectangle 6">
            <a:extLst>
              <a:ext uri="{FF2B5EF4-FFF2-40B4-BE49-F238E27FC236}">
                <a16:creationId xmlns:a16="http://schemas.microsoft.com/office/drawing/2014/main" id="{E542B776-0F2E-6760-0719-5576E5E6550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2 — Instructions: Language of the Computer</a:t>
            </a:r>
          </a:p>
        </p:txBody>
      </p:sp>
      <p:sp>
        <p:nvSpPr>
          <p:cNvPr id="56325" name="Rectangle 7">
            <a:extLst>
              <a:ext uri="{FF2B5EF4-FFF2-40B4-BE49-F238E27FC236}">
                <a16:creationId xmlns:a16="http://schemas.microsoft.com/office/drawing/2014/main" id="{27BDE3B2-C709-AC32-80C8-719BC23E6E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A5BF4D7E-A408-2F4F-89CE-CE6561369A21}"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56326" name="Rectangle 2">
            <a:extLst>
              <a:ext uri="{FF2B5EF4-FFF2-40B4-BE49-F238E27FC236}">
                <a16:creationId xmlns:a16="http://schemas.microsoft.com/office/drawing/2014/main" id="{8AC7C9FE-B532-335F-45BA-76BDEF8492FC}"/>
              </a:ext>
            </a:extLst>
          </p:cNvPr>
          <p:cNvSpPr>
            <a:spLocks noGrp="1" noRot="1" noChangeAspect="1" noChangeArrowheads="1" noTextEdit="1"/>
          </p:cNvSpPr>
          <p:nvPr>
            <p:ph type="sldImg"/>
          </p:nvPr>
        </p:nvSpPr>
        <p:spPr>
          <a:ln/>
        </p:spPr>
      </p:sp>
      <p:sp>
        <p:nvSpPr>
          <p:cNvPr id="56327" name="Rectangle 3">
            <a:extLst>
              <a:ext uri="{FF2B5EF4-FFF2-40B4-BE49-F238E27FC236}">
                <a16:creationId xmlns:a16="http://schemas.microsoft.com/office/drawing/2014/main" id="{68F227B6-8ACA-7864-168D-93BBA39F3B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77A21-92C6-16FB-9440-9DA2314AA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F06214-F91F-D6BC-E573-051F55B77F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EBCC84-641C-282A-1373-3EAD1D3B1E46}"/>
              </a:ext>
            </a:extLst>
          </p:cNvPr>
          <p:cNvSpPr>
            <a:spLocks noGrp="1"/>
          </p:cNvSpPr>
          <p:nvPr>
            <p:ph type="body" idx="1"/>
          </p:nvPr>
        </p:nvSpPr>
        <p:spPr/>
        <p:txBody>
          <a:bodyPr/>
          <a:lstStyle/>
          <a:p>
            <a:r>
              <a:rPr lang="en-US" dirty="0"/>
              <a:t>Our discussion today aims to continue your orientation toward understanding and writing assembly source code for the RISC-V ISA.</a:t>
            </a:r>
          </a:p>
        </p:txBody>
      </p:sp>
      <p:sp>
        <p:nvSpPr>
          <p:cNvPr id="4" name="Slide Number Placeholder 3">
            <a:extLst>
              <a:ext uri="{FF2B5EF4-FFF2-40B4-BE49-F238E27FC236}">
                <a16:creationId xmlns:a16="http://schemas.microsoft.com/office/drawing/2014/main" id="{B32A0C00-73EC-65CE-B7ED-CE18C2637207}"/>
              </a:ext>
            </a:extLst>
          </p:cNvPr>
          <p:cNvSpPr>
            <a:spLocks noGrp="1"/>
          </p:cNvSpPr>
          <p:nvPr>
            <p:ph type="sldNum" sz="quarter" idx="5"/>
          </p:nvPr>
        </p:nvSpPr>
        <p:spPr/>
        <p:txBody>
          <a:bodyPr/>
          <a:lstStyle/>
          <a:p>
            <a:fld id="{0EE34500-BB8F-47C6-8EB6-733711EA6A42}" type="slidenum">
              <a:rPr lang="en-US" smtClean="0"/>
              <a:pPr/>
              <a:t>26</a:t>
            </a:fld>
            <a:endParaRPr lang="en-US"/>
          </a:p>
        </p:txBody>
      </p:sp>
    </p:spTree>
    <p:extLst>
      <p:ext uri="{BB962C8B-B14F-4D97-AF65-F5344CB8AC3E}">
        <p14:creationId xmlns:p14="http://schemas.microsoft.com/office/powerpoint/2010/main" val="356691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87CB-D8DE-B1C7-6451-AF146D517E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D5CC3-57BE-1752-ED58-E9E696E1CF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CF20EF-DD13-12C9-975A-6918D94ABE5B}"/>
              </a:ext>
            </a:extLst>
          </p:cNvPr>
          <p:cNvSpPr>
            <a:spLocks noGrp="1"/>
          </p:cNvSpPr>
          <p:nvPr>
            <p:ph type="body" idx="1"/>
          </p:nvPr>
        </p:nvSpPr>
        <p:spPr/>
        <p:txBody>
          <a:bodyPr/>
          <a:lstStyle/>
          <a:p>
            <a:r>
              <a:rPr lang="en-US" dirty="0"/>
              <a:t>Our discussion today aims to continue your orientation toward understanding and writing assembly source code for the RISC-V ISA.</a:t>
            </a:r>
          </a:p>
        </p:txBody>
      </p:sp>
      <p:sp>
        <p:nvSpPr>
          <p:cNvPr id="4" name="Slide Number Placeholder 3">
            <a:extLst>
              <a:ext uri="{FF2B5EF4-FFF2-40B4-BE49-F238E27FC236}">
                <a16:creationId xmlns:a16="http://schemas.microsoft.com/office/drawing/2014/main" id="{2CEB6790-0377-E17C-C671-B763268B4A6B}"/>
              </a:ext>
            </a:extLst>
          </p:cNvPr>
          <p:cNvSpPr>
            <a:spLocks noGrp="1"/>
          </p:cNvSpPr>
          <p:nvPr>
            <p:ph type="sldNum" sz="quarter" idx="5"/>
          </p:nvPr>
        </p:nvSpPr>
        <p:spPr/>
        <p:txBody>
          <a:bodyPr/>
          <a:lstStyle/>
          <a:p>
            <a:fld id="{0EE34500-BB8F-47C6-8EB6-733711EA6A42}" type="slidenum">
              <a:rPr lang="en-US" smtClean="0"/>
              <a:pPr/>
              <a:t>27</a:t>
            </a:fld>
            <a:endParaRPr lang="en-US"/>
          </a:p>
        </p:txBody>
      </p:sp>
    </p:spTree>
    <p:extLst>
      <p:ext uri="{BB962C8B-B14F-4D97-AF65-F5344CB8AC3E}">
        <p14:creationId xmlns:p14="http://schemas.microsoft.com/office/powerpoint/2010/main" val="3193817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B0A2360F-B6C0-F2CF-6874-C72336B1329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The University of Adelaide, School of Computer Science</a:t>
            </a:r>
          </a:p>
        </p:txBody>
      </p:sp>
      <p:sp>
        <p:nvSpPr>
          <p:cNvPr id="58371" name="Rectangle 3">
            <a:extLst>
              <a:ext uri="{FF2B5EF4-FFF2-40B4-BE49-F238E27FC236}">
                <a16:creationId xmlns:a16="http://schemas.microsoft.com/office/drawing/2014/main" id="{7CA9E768-2282-6223-AF95-9A68B0D6B62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40BBE74B-72B9-2444-9496-315A31B78D3C}" type="datetime3">
              <a:rPr lang="en-US" altLang="en-US" smtClean="0">
                <a:latin typeface="Times New Roman" panose="02020603050405020304" pitchFamily="18" charset="0"/>
              </a:rPr>
              <a:pPr/>
              <a:t>10 September 2026</a:t>
            </a:fld>
            <a:endParaRPr lang="en-US" altLang="en-US">
              <a:latin typeface="Times New Roman" panose="02020603050405020304" pitchFamily="18" charset="0"/>
            </a:endParaRPr>
          </a:p>
        </p:txBody>
      </p:sp>
      <p:sp>
        <p:nvSpPr>
          <p:cNvPr id="58372" name="Rectangle 6">
            <a:extLst>
              <a:ext uri="{FF2B5EF4-FFF2-40B4-BE49-F238E27FC236}">
                <a16:creationId xmlns:a16="http://schemas.microsoft.com/office/drawing/2014/main" id="{CE983DDE-D9C3-87BE-7A15-694097059BD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2 — Instructions: Language of the Computer</a:t>
            </a:r>
          </a:p>
        </p:txBody>
      </p:sp>
      <p:sp>
        <p:nvSpPr>
          <p:cNvPr id="58373" name="Rectangle 7">
            <a:extLst>
              <a:ext uri="{FF2B5EF4-FFF2-40B4-BE49-F238E27FC236}">
                <a16:creationId xmlns:a16="http://schemas.microsoft.com/office/drawing/2014/main" id="{42325395-A7BE-A916-B30D-B608B96475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64280802-E5C5-044D-A6A1-047E3FC125D8}"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58374" name="Rectangle 2">
            <a:extLst>
              <a:ext uri="{FF2B5EF4-FFF2-40B4-BE49-F238E27FC236}">
                <a16:creationId xmlns:a16="http://schemas.microsoft.com/office/drawing/2014/main" id="{E17B519A-8C62-A831-BCDB-1E15BD9E5A19}"/>
              </a:ext>
            </a:extLst>
          </p:cNvPr>
          <p:cNvSpPr>
            <a:spLocks noGrp="1" noRot="1" noChangeAspect="1" noChangeArrowheads="1" noTextEdit="1"/>
          </p:cNvSpPr>
          <p:nvPr>
            <p:ph type="sldImg"/>
          </p:nvPr>
        </p:nvSpPr>
        <p:spPr>
          <a:ln/>
        </p:spPr>
      </p:sp>
      <p:sp>
        <p:nvSpPr>
          <p:cNvPr id="58375" name="Rectangle 3">
            <a:extLst>
              <a:ext uri="{FF2B5EF4-FFF2-40B4-BE49-F238E27FC236}">
                <a16:creationId xmlns:a16="http://schemas.microsoft.com/office/drawing/2014/main" id="{BECC3E9E-40E3-CEA0-5E78-A7178F84D3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279B9E9F-8549-8EA6-5450-8843516D382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The University of Adelaide, School of Computer Science</a:t>
            </a:r>
          </a:p>
        </p:txBody>
      </p:sp>
      <p:sp>
        <p:nvSpPr>
          <p:cNvPr id="60419" name="Rectangle 3">
            <a:extLst>
              <a:ext uri="{FF2B5EF4-FFF2-40B4-BE49-F238E27FC236}">
                <a16:creationId xmlns:a16="http://schemas.microsoft.com/office/drawing/2014/main" id="{7111BBBC-0C0D-A8B9-E2A0-B7A2BCD3A4E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30881131-2A8B-7949-B9D0-801ED7E39AE2}" type="datetime3">
              <a:rPr lang="en-US" altLang="en-US" smtClean="0">
                <a:latin typeface="Times New Roman" panose="02020603050405020304" pitchFamily="18" charset="0"/>
              </a:rPr>
              <a:pPr/>
              <a:t>10 September 2026</a:t>
            </a:fld>
            <a:endParaRPr lang="en-US" altLang="en-US">
              <a:latin typeface="Times New Roman" panose="02020603050405020304" pitchFamily="18" charset="0"/>
            </a:endParaRPr>
          </a:p>
        </p:txBody>
      </p:sp>
      <p:sp>
        <p:nvSpPr>
          <p:cNvPr id="60420" name="Rectangle 6">
            <a:extLst>
              <a:ext uri="{FF2B5EF4-FFF2-40B4-BE49-F238E27FC236}">
                <a16:creationId xmlns:a16="http://schemas.microsoft.com/office/drawing/2014/main" id="{DAC687C0-F1F0-0796-BAE2-E91D5AF742A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2 — Instructions: Language of the Computer</a:t>
            </a:r>
          </a:p>
        </p:txBody>
      </p:sp>
      <p:sp>
        <p:nvSpPr>
          <p:cNvPr id="60421" name="Rectangle 7">
            <a:extLst>
              <a:ext uri="{FF2B5EF4-FFF2-40B4-BE49-F238E27FC236}">
                <a16:creationId xmlns:a16="http://schemas.microsoft.com/office/drawing/2014/main" id="{4366530E-84A1-6858-E02E-E2FFB7021B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B38DF864-9837-3048-85A0-F109A790C0DA}"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60422" name="Rectangle 2">
            <a:extLst>
              <a:ext uri="{FF2B5EF4-FFF2-40B4-BE49-F238E27FC236}">
                <a16:creationId xmlns:a16="http://schemas.microsoft.com/office/drawing/2014/main" id="{145C71DA-FCB6-6F03-A3C0-196E33C42E98}"/>
              </a:ext>
            </a:extLst>
          </p:cNvPr>
          <p:cNvSpPr>
            <a:spLocks noGrp="1" noRot="1" noChangeAspect="1" noChangeArrowheads="1" noTextEdit="1"/>
          </p:cNvSpPr>
          <p:nvPr>
            <p:ph type="sldImg"/>
          </p:nvPr>
        </p:nvSpPr>
        <p:spPr>
          <a:ln/>
        </p:spPr>
      </p:sp>
      <p:sp>
        <p:nvSpPr>
          <p:cNvPr id="60423" name="Rectangle 3">
            <a:extLst>
              <a:ext uri="{FF2B5EF4-FFF2-40B4-BE49-F238E27FC236}">
                <a16:creationId xmlns:a16="http://schemas.microsoft.com/office/drawing/2014/main" id="{48402287-FA57-40BC-6A78-E903489CC3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8D1565BA-526B-9130-AE92-A6C1838B093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The University of Adelaide, School of Computer Science</a:t>
            </a:r>
          </a:p>
        </p:txBody>
      </p:sp>
      <p:sp>
        <p:nvSpPr>
          <p:cNvPr id="62467" name="Rectangle 3">
            <a:extLst>
              <a:ext uri="{FF2B5EF4-FFF2-40B4-BE49-F238E27FC236}">
                <a16:creationId xmlns:a16="http://schemas.microsoft.com/office/drawing/2014/main" id="{D81A4D37-BD1F-1007-734A-91C56948B11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1FA73B67-CB7D-F249-BF92-4442B5D6ED28}" type="datetime3">
              <a:rPr lang="en-US" altLang="en-US" smtClean="0">
                <a:latin typeface="Times New Roman" panose="02020603050405020304" pitchFamily="18" charset="0"/>
              </a:rPr>
              <a:pPr/>
              <a:t>10 September 2026</a:t>
            </a:fld>
            <a:endParaRPr lang="en-US" altLang="en-US">
              <a:latin typeface="Times New Roman" panose="02020603050405020304" pitchFamily="18" charset="0"/>
            </a:endParaRPr>
          </a:p>
        </p:txBody>
      </p:sp>
      <p:sp>
        <p:nvSpPr>
          <p:cNvPr id="62468" name="Rectangle 6">
            <a:extLst>
              <a:ext uri="{FF2B5EF4-FFF2-40B4-BE49-F238E27FC236}">
                <a16:creationId xmlns:a16="http://schemas.microsoft.com/office/drawing/2014/main" id="{A1C436E4-8724-6C9F-1385-D3358980017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2 — Instructions: Language of the Computer</a:t>
            </a:r>
          </a:p>
        </p:txBody>
      </p:sp>
      <p:sp>
        <p:nvSpPr>
          <p:cNvPr id="62469" name="Rectangle 7">
            <a:extLst>
              <a:ext uri="{FF2B5EF4-FFF2-40B4-BE49-F238E27FC236}">
                <a16:creationId xmlns:a16="http://schemas.microsoft.com/office/drawing/2014/main" id="{FC5CB005-4177-EBF6-AD33-004CA1365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E482A150-55A9-4E42-A06A-F5BC602A6B4E}"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62470" name="Rectangle 2">
            <a:extLst>
              <a:ext uri="{FF2B5EF4-FFF2-40B4-BE49-F238E27FC236}">
                <a16:creationId xmlns:a16="http://schemas.microsoft.com/office/drawing/2014/main" id="{C4E49EF0-F9D0-124F-577E-B83CFA8B5825}"/>
              </a:ext>
            </a:extLst>
          </p:cNvPr>
          <p:cNvSpPr>
            <a:spLocks noGrp="1" noRot="1" noChangeAspect="1" noChangeArrowheads="1" noTextEdit="1"/>
          </p:cNvSpPr>
          <p:nvPr>
            <p:ph type="sldImg"/>
          </p:nvPr>
        </p:nvSpPr>
        <p:spPr>
          <a:ln/>
        </p:spPr>
      </p:sp>
      <p:sp>
        <p:nvSpPr>
          <p:cNvPr id="62471" name="Rectangle 3">
            <a:extLst>
              <a:ext uri="{FF2B5EF4-FFF2-40B4-BE49-F238E27FC236}">
                <a16:creationId xmlns:a16="http://schemas.microsoft.com/office/drawing/2014/main" id="{6EE255AB-52C5-DD72-7019-F982B2B858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BADFB-1805-3A1E-3931-C2031E602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FC38D-C692-9223-AF7D-3DE529BB8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A85CB-FB82-177D-BC5B-5A94C07A1E06}"/>
              </a:ext>
            </a:extLst>
          </p:cNvPr>
          <p:cNvSpPr>
            <a:spLocks noGrp="1"/>
          </p:cNvSpPr>
          <p:nvPr>
            <p:ph type="body" idx="1"/>
          </p:nvPr>
        </p:nvSpPr>
        <p:spPr/>
        <p:txBody>
          <a:bodyPr>
            <a:normAutofit/>
          </a:bodyPr>
          <a:lstStyle/>
          <a:p>
            <a:r>
              <a:rPr lang="en-US" dirty="0"/>
              <a:t>Here are some of the most commonly used arithmetic-logic operations. They take either two source registers or a source register and a signed 12-bit immediate value. The add instruction calculates the value of the source 1 register plus the source 2 register, and puts the result in the destination register. This is the same in all the arithmetic instructions. Noticeably absent is multiplication, which we may revisit later. </a:t>
            </a:r>
            <a:r>
              <a:rPr lang="en-US" dirty="0" err="1"/>
              <a:t>Sll</a:t>
            </a:r>
            <a:r>
              <a:rPr lang="en-US" dirty="0"/>
              <a:t> is shift left logical, which bit shifts the source 1 operand left by the number of spaces specified by source 2, filling with zeroes from the right. Likewise, shift arithmetic right does a right-shift of </a:t>
            </a:r>
            <a:r>
              <a:rPr lang="en-US" dirty="0" err="1"/>
              <a:t>dest</a:t>
            </a:r>
            <a:r>
              <a:rPr lang="en-US" dirty="0"/>
              <a:t> by the number of bits specified in the source, but it fills in from the left with whatever value the most significant bit has. So if the most significant bit is 1, the shift will fill in 1s. Same for 0s. Filling in the most significant bit preserves the value of the destination when interpreted as a 2s complement integer. If you didn’t know that, you might want to review 2s complement arithmetic. The last shift instruction is shift right logical, which shifts the source 1 register to the right by source 2 bits and always fills with zeroes. The </a:t>
            </a:r>
            <a:r>
              <a:rPr lang="en-US" dirty="0" err="1"/>
              <a:t>xor</a:t>
            </a:r>
            <a:r>
              <a:rPr lang="en-US" dirty="0"/>
              <a:t> instruction does bitwise exclusive-or of the two source operands. This means each bit of source 1 is </a:t>
            </a:r>
            <a:r>
              <a:rPr lang="en-US" dirty="0" err="1"/>
              <a:t>xored</a:t>
            </a:r>
            <a:r>
              <a:rPr lang="en-US" dirty="0"/>
              <a:t> with the bit in the same location in source 2, and the result gets written to the destination. The and does bitwise-and, and the or does bitwise-inclusive or. Noticeably absent is multiplication and division, which are actually not in the base RISC-V instruction set and we may discuss them later. Also missing is a logical NOT instruction. Logical complement of a register can actually be done by </a:t>
            </a:r>
            <a:r>
              <a:rPr lang="en-US" dirty="0" err="1"/>
              <a:t>XOR’ing</a:t>
            </a:r>
            <a:r>
              <a:rPr lang="en-US" dirty="0"/>
              <a:t> it with 0, so a specific instruction for logical NOT is logically not needed.</a:t>
            </a:r>
          </a:p>
        </p:txBody>
      </p:sp>
      <p:sp>
        <p:nvSpPr>
          <p:cNvPr id="4" name="Slide Number Placeholder 3">
            <a:extLst>
              <a:ext uri="{FF2B5EF4-FFF2-40B4-BE49-F238E27FC236}">
                <a16:creationId xmlns:a16="http://schemas.microsoft.com/office/drawing/2014/main" id="{F5A05F39-ABF9-7AA2-BF83-32FFD3376304}"/>
              </a:ext>
            </a:extLst>
          </p:cNvPr>
          <p:cNvSpPr>
            <a:spLocks noGrp="1"/>
          </p:cNvSpPr>
          <p:nvPr>
            <p:ph type="sldNum" sz="quarter" idx="5"/>
          </p:nvPr>
        </p:nvSpPr>
        <p:spPr/>
        <p:txBody>
          <a:bodyPr/>
          <a:lstStyle/>
          <a:p>
            <a:fld id="{0EE34500-BB8F-47C6-8EB6-733711EA6A42}" type="slidenum">
              <a:rPr lang="en-US" smtClean="0"/>
              <a:pPr/>
              <a:t>31</a:t>
            </a:fld>
            <a:endParaRPr lang="en-US"/>
          </a:p>
        </p:txBody>
      </p:sp>
    </p:spTree>
    <p:extLst>
      <p:ext uri="{BB962C8B-B14F-4D97-AF65-F5344CB8AC3E}">
        <p14:creationId xmlns:p14="http://schemas.microsoft.com/office/powerpoint/2010/main" val="2025923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this example that calculates an absolute value without using a conditional statement? Let’s quickly walk through it again before we look at a version using conditionals.</a:t>
            </a:r>
          </a:p>
        </p:txBody>
      </p:sp>
      <p:sp>
        <p:nvSpPr>
          <p:cNvPr id="4" name="Slide Number Placeholder 3"/>
          <p:cNvSpPr>
            <a:spLocks noGrp="1"/>
          </p:cNvSpPr>
          <p:nvPr>
            <p:ph type="sldNum" sz="quarter" idx="5"/>
          </p:nvPr>
        </p:nvSpPr>
        <p:spPr/>
        <p:txBody>
          <a:bodyPr/>
          <a:lstStyle/>
          <a:p>
            <a:fld id="{0EE34500-BB8F-47C6-8EB6-733711EA6A42}" type="slidenum">
              <a:rPr lang="en-US" smtClean="0"/>
              <a:pPr/>
              <a:t>32</a:t>
            </a:fld>
            <a:endParaRPr lang="en-US"/>
          </a:p>
        </p:txBody>
      </p:sp>
    </p:spTree>
    <p:extLst>
      <p:ext uri="{BB962C8B-B14F-4D97-AF65-F5344CB8AC3E}">
        <p14:creationId xmlns:p14="http://schemas.microsoft.com/office/powerpoint/2010/main" val="6553534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CEAE5-AF2D-9B2D-F755-7819525BF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AC083-9DB8-BE77-C475-80ED37D2FA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004374-F372-07B0-E4FC-00B7E78E849F}"/>
              </a:ext>
            </a:extLst>
          </p:cNvPr>
          <p:cNvSpPr>
            <a:spLocks noGrp="1"/>
          </p:cNvSpPr>
          <p:nvPr>
            <p:ph type="body" idx="1"/>
          </p:nvPr>
        </p:nvSpPr>
        <p:spPr/>
        <p:txBody>
          <a:bodyPr/>
          <a:lstStyle/>
          <a:p>
            <a:r>
              <a:rPr lang="en-US" dirty="0"/>
              <a:t>Remember this example that calculates an absolute value without using a conditional statement? Let’s quickly walk through it again before we look at a version using conditionals.</a:t>
            </a:r>
          </a:p>
        </p:txBody>
      </p:sp>
      <p:sp>
        <p:nvSpPr>
          <p:cNvPr id="4" name="Slide Number Placeholder 3">
            <a:extLst>
              <a:ext uri="{FF2B5EF4-FFF2-40B4-BE49-F238E27FC236}">
                <a16:creationId xmlns:a16="http://schemas.microsoft.com/office/drawing/2014/main" id="{314C94E3-F4A9-F10F-ED53-55F9AE3D0BEF}"/>
              </a:ext>
            </a:extLst>
          </p:cNvPr>
          <p:cNvSpPr>
            <a:spLocks noGrp="1"/>
          </p:cNvSpPr>
          <p:nvPr>
            <p:ph type="sldNum" sz="quarter" idx="5"/>
          </p:nvPr>
        </p:nvSpPr>
        <p:spPr/>
        <p:txBody>
          <a:bodyPr/>
          <a:lstStyle/>
          <a:p>
            <a:fld id="{0EE34500-BB8F-47C6-8EB6-733711EA6A42}" type="slidenum">
              <a:rPr lang="en-US" smtClean="0"/>
              <a:pPr/>
              <a:t>33</a:t>
            </a:fld>
            <a:endParaRPr lang="en-US"/>
          </a:p>
        </p:txBody>
      </p:sp>
    </p:spTree>
    <p:extLst>
      <p:ext uri="{BB962C8B-B14F-4D97-AF65-F5344CB8AC3E}">
        <p14:creationId xmlns:p14="http://schemas.microsoft.com/office/powerpoint/2010/main" val="1751997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983DF-3881-B0DF-B7F1-475F1B23F3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41F924-99D1-5878-208E-AD80DB9B98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60B61A-D83F-1529-1D3A-5484BC67AA8F}"/>
              </a:ext>
            </a:extLst>
          </p:cNvPr>
          <p:cNvSpPr>
            <a:spLocks noGrp="1"/>
          </p:cNvSpPr>
          <p:nvPr>
            <p:ph type="body" idx="1"/>
          </p:nvPr>
        </p:nvSpPr>
        <p:spPr/>
        <p:txBody>
          <a:bodyPr/>
          <a:lstStyle/>
          <a:p>
            <a:r>
              <a:rPr lang="en-US" dirty="0"/>
              <a:t>Remember this example that calculates an absolute value without using a conditional statement? Let’s quickly walk through it again before we look at a version using conditionals.</a:t>
            </a:r>
          </a:p>
        </p:txBody>
      </p:sp>
      <p:sp>
        <p:nvSpPr>
          <p:cNvPr id="4" name="Slide Number Placeholder 3">
            <a:extLst>
              <a:ext uri="{FF2B5EF4-FFF2-40B4-BE49-F238E27FC236}">
                <a16:creationId xmlns:a16="http://schemas.microsoft.com/office/drawing/2014/main" id="{DBC5D6E2-F436-B147-0504-353204B6273F}"/>
              </a:ext>
            </a:extLst>
          </p:cNvPr>
          <p:cNvSpPr>
            <a:spLocks noGrp="1"/>
          </p:cNvSpPr>
          <p:nvPr>
            <p:ph type="sldNum" sz="quarter" idx="5"/>
          </p:nvPr>
        </p:nvSpPr>
        <p:spPr/>
        <p:txBody>
          <a:bodyPr/>
          <a:lstStyle/>
          <a:p>
            <a:fld id="{0EE34500-BB8F-47C6-8EB6-733711EA6A42}" type="slidenum">
              <a:rPr lang="en-US" smtClean="0"/>
              <a:pPr/>
              <a:t>34</a:t>
            </a:fld>
            <a:endParaRPr lang="en-US"/>
          </a:p>
        </p:txBody>
      </p:sp>
    </p:spTree>
    <p:extLst>
      <p:ext uri="{BB962C8B-B14F-4D97-AF65-F5344CB8AC3E}">
        <p14:creationId xmlns:p14="http://schemas.microsoft.com/office/powerpoint/2010/main" val="3501910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DD90E-2A1B-1D68-6757-24BB9971B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E6258-352F-BB24-F5F1-B3DFE08ACB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CA0E3-96C8-9798-1E5F-847C053917B1}"/>
              </a:ext>
            </a:extLst>
          </p:cNvPr>
          <p:cNvSpPr>
            <a:spLocks noGrp="1"/>
          </p:cNvSpPr>
          <p:nvPr>
            <p:ph type="body" idx="1"/>
          </p:nvPr>
        </p:nvSpPr>
        <p:spPr/>
        <p:txBody>
          <a:bodyPr/>
          <a:lstStyle/>
          <a:p>
            <a:r>
              <a:rPr lang="en-US" dirty="0"/>
              <a:t>Remember this example that calculates an absolute value without using a conditional statement? Let’s quickly walk through it again before we look at a version using conditionals.</a:t>
            </a:r>
          </a:p>
        </p:txBody>
      </p:sp>
      <p:sp>
        <p:nvSpPr>
          <p:cNvPr id="4" name="Slide Number Placeholder 3">
            <a:extLst>
              <a:ext uri="{FF2B5EF4-FFF2-40B4-BE49-F238E27FC236}">
                <a16:creationId xmlns:a16="http://schemas.microsoft.com/office/drawing/2014/main" id="{FBCA65FA-38C8-202E-ACF5-CDC4665528E9}"/>
              </a:ext>
            </a:extLst>
          </p:cNvPr>
          <p:cNvSpPr>
            <a:spLocks noGrp="1"/>
          </p:cNvSpPr>
          <p:nvPr>
            <p:ph type="sldNum" sz="quarter" idx="5"/>
          </p:nvPr>
        </p:nvSpPr>
        <p:spPr/>
        <p:txBody>
          <a:bodyPr/>
          <a:lstStyle/>
          <a:p>
            <a:fld id="{0EE34500-BB8F-47C6-8EB6-733711EA6A42}" type="slidenum">
              <a:rPr lang="en-US" smtClean="0"/>
              <a:pPr/>
              <a:t>35</a:t>
            </a:fld>
            <a:endParaRPr lang="en-US"/>
          </a:p>
        </p:txBody>
      </p:sp>
    </p:spTree>
    <p:extLst>
      <p:ext uri="{BB962C8B-B14F-4D97-AF65-F5344CB8AC3E}">
        <p14:creationId xmlns:p14="http://schemas.microsoft.com/office/powerpoint/2010/main" val="4205605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of C code becomes one instruction to shift the sign bit through the entire temporary register t0.</a:t>
            </a:r>
          </a:p>
        </p:txBody>
      </p:sp>
      <p:sp>
        <p:nvSpPr>
          <p:cNvPr id="4" name="Slide Number Placeholder 3"/>
          <p:cNvSpPr>
            <a:spLocks noGrp="1"/>
          </p:cNvSpPr>
          <p:nvPr>
            <p:ph type="sldNum" sz="quarter" idx="5"/>
          </p:nvPr>
        </p:nvSpPr>
        <p:spPr/>
        <p:txBody>
          <a:bodyPr/>
          <a:lstStyle/>
          <a:p>
            <a:fld id="{0EE34500-BB8F-47C6-8EB6-733711EA6A42}" type="slidenum">
              <a:rPr lang="en-US" smtClean="0"/>
              <a:pPr/>
              <a:t>36</a:t>
            </a:fld>
            <a:endParaRPr lang="en-US"/>
          </a:p>
        </p:txBody>
      </p:sp>
    </p:spTree>
    <p:extLst>
      <p:ext uri="{BB962C8B-B14F-4D97-AF65-F5344CB8AC3E}">
        <p14:creationId xmlns:p14="http://schemas.microsoft.com/office/powerpoint/2010/main" val="36002943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input parameter is added to the mask before </a:t>
            </a:r>
            <a:r>
              <a:rPr lang="en-US" dirty="0" err="1"/>
              <a:t>xor’ing</a:t>
            </a:r>
            <a:r>
              <a:rPr lang="en-US" dirty="0"/>
              <a:t> with the mask, putting the result in to a0 to return it.</a:t>
            </a:r>
          </a:p>
        </p:txBody>
      </p:sp>
      <p:sp>
        <p:nvSpPr>
          <p:cNvPr id="4" name="Slide Number Placeholder 3"/>
          <p:cNvSpPr>
            <a:spLocks noGrp="1"/>
          </p:cNvSpPr>
          <p:nvPr>
            <p:ph type="sldNum" sz="quarter" idx="5"/>
          </p:nvPr>
        </p:nvSpPr>
        <p:spPr/>
        <p:txBody>
          <a:bodyPr/>
          <a:lstStyle/>
          <a:p>
            <a:fld id="{0EE34500-BB8F-47C6-8EB6-733711EA6A42}" type="slidenum">
              <a:rPr lang="en-US" smtClean="0"/>
              <a:pPr/>
              <a:t>37</a:t>
            </a:fld>
            <a:endParaRPr lang="en-US"/>
          </a:p>
        </p:txBody>
      </p:sp>
    </p:spTree>
    <p:extLst>
      <p:ext uri="{BB962C8B-B14F-4D97-AF65-F5344CB8AC3E}">
        <p14:creationId xmlns:p14="http://schemas.microsoft.com/office/powerpoint/2010/main" val="13466025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returns with the return value in a0.</a:t>
            </a:r>
          </a:p>
        </p:txBody>
      </p:sp>
      <p:sp>
        <p:nvSpPr>
          <p:cNvPr id="4" name="Slide Number Placeholder 3"/>
          <p:cNvSpPr>
            <a:spLocks noGrp="1"/>
          </p:cNvSpPr>
          <p:nvPr>
            <p:ph type="sldNum" sz="quarter" idx="5"/>
          </p:nvPr>
        </p:nvSpPr>
        <p:spPr/>
        <p:txBody>
          <a:bodyPr/>
          <a:lstStyle/>
          <a:p>
            <a:fld id="{0EE34500-BB8F-47C6-8EB6-733711EA6A42}" type="slidenum">
              <a:rPr lang="en-US" smtClean="0"/>
              <a:pPr/>
              <a:t>38</a:t>
            </a:fld>
            <a:endParaRPr lang="en-US"/>
          </a:p>
        </p:txBody>
      </p:sp>
    </p:spTree>
    <p:extLst>
      <p:ext uri="{BB962C8B-B14F-4D97-AF65-F5344CB8AC3E}">
        <p14:creationId xmlns:p14="http://schemas.microsoft.com/office/powerpoint/2010/main" val="23009364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little more direct way to find an absolute value using a conditional expression. This shows us a few new instructions. Let’s walk through this example.</a:t>
            </a:r>
          </a:p>
        </p:txBody>
      </p:sp>
      <p:sp>
        <p:nvSpPr>
          <p:cNvPr id="4" name="Slide Number Placeholder 3"/>
          <p:cNvSpPr>
            <a:spLocks noGrp="1"/>
          </p:cNvSpPr>
          <p:nvPr>
            <p:ph type="sldNum" sz="quarter" idx="5"/>
          </p:nvPr>
        </p:nvSpPr>
        <p:spPr/>
        <p:txBody>
          <a:bodyPr/>
          <a:lstStyle/>
          <a:p>
            <a:fld id="{0EE34500-BB8F-47C6-8EB6-733711EA6A42}" type="slidenum">
              <a:rPr lang="en-US" smtClean="0"/>
              <a:pPr/>
              <a:t>39</a:t>
            </a:fld>
            <a:endParaRPr lang="en-US"/>
          </a:p>
        </p:txBody>
      </p:sp>
    </p:spTree>
    <p:extLst>
      <p:ext uri="{BB962C8B-B14F-4D97-AF65-F5344CB8AC3E}">
        <p14:creationId xmlns:p14="http://schemas.microsoft.com/office/powerpoint/2010/main" val="41356581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691FD-C3E1-39AA-5FE0-79F6A8B312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2204E-CD60-33A8-1D1B-AD628D2475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7C2FA-C68B-A925-8627-A7F9079884DE}"/>
              </a:ext>
            </a:extLst>
          </p:cNvPr>
          <p:cNvSpPr>
            <a:spLocks noGrp="1"/>
          </p:cNvSpPr>
          <p:nvPr>
            <p:ph type="body" idx="1"/>
          </p:nvPr>
        </p:nvSpPr>
        <p:spPr/>
        <p:txBody>
          <a:bodyPr/>
          <a:lstStyle/>
          <a:p>
            <a:r>
              <a:rPr lang="en-US" dirty="0"/>
              <a:t>Here’s a little more direct way to find an absolute value using a conditional expression. This shows us a few new instructions. Let’s walk through this example.</a:t>
            </a:r>
          </a:p>
        </p:txBody>
      </p:sp>
      <p:sp>
        <p:nvSpPr>
          <p:cNvPr id="4" name="Slide Number Placeholder 3">
            <a:extLst>
              <a:ext uri="{FF2B5EF4-FFF2-40B4-BE49-F238E27FC236}">
                <a16:creationId xmlns:a16="http://schemas.microsoft.com/office/drawing/2014/main" id="{59FE6653-B204-0B7D-E096-7E48714C9A97}"/>
              </a:ext>
            </a:extLst>
          </p:cNvPr>
          <p:cNvSpPr>
            <a:spLocks noGrp="1"/>
          </p:cNvSpPr>
          <p:nvPr>
            <p:ph type="sldNum" sz="quarter" idx="5"/>
          </p:nvPr>
        </p:nvSpPr>
        <p:spPr/>
        <p:txBody>
          <a:bodyPr/>
          <a:lstStyle/>
          <a:p>
            <a:fld id="{0EE34500-BB8F-47C6-8EB6-733711EA6A42}" type="slidenum">
              <a:rPr lang="en-US" smtClean="0"/>
              <a:pPr/>
              <a:t>40</a:t>
            </a:fld>
            <a:endParaRPr lang="en-US"/>
          </a:p>
        </p:txBody>
      </p:sp>
    </p:spTree>
    <p:extLst>
      <p:ext uri="{BB962C8B-B14F-4D97-AF65-F5344CB8AC3E}">
        <p14:creationId xmlns:p14="http://schemas.microsoft.com/office/powerpoint/2010/main" val="8441099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slt</a:t>
            </a:r>
            <a:r>
              <a:rPr lang="en-US" dirty="0"/>
              <a:t> mnemonic means set-less-than. This instruction sets the destination register to 1 if src1 is less than src2, and 0 otherwise. We have a direct check here to compare if v is less than 0, that is, if it is negative. So t0 will be set if v is negative, and cleared if v is non-negative. We’ll take a closer look at other ways to use </a:t>
            </a:r>
            <a:r>
              <a:rPr lang="en-US" dirty="0" err="1"/>
              <a:t>slt</a:t>
            </a:r>
            <a:r>
              <a:rPr lang="en-US" dirty="0"/>
              <a:t> after this example.</a:t>
            </a:r>
          </a:p>
        </p:txBody>
      </p:sp>
      <p:sp>
        <p:nvSpPr>
          <p:cNvPr id="4" name="Slide Number Placeholder 3"/>
          <p:cNvSpPr>
            <a:spLocks noGrp="1"/>
          </p:cNvSpPr>
          <p:nvPr>
            <p:ph type="sldNum" sz="quarter" idx="5"/>
          </p:nvPr>
        </p:nvSpPr>
        <p:spPr/>
        <p:txBody>
          <a:bodyPr/>
          <a:lstStyle/>
          <a:p>
            <a:fld id="{0EE34500-BB8F-47C6-8EB6-733711EA6A42}" type="slidenum">
              <a:rPr lang="en-US" smtClean="0"/>
              <a:pPr/>
              <a:t>41</a:t>
            </a:fld>
            <a:endParaRPr lang="en-US"/>
          </a:p>
        </p:txBody>
      </p:sp>
    </p:spTree>
    <p:extLst>
      <p:ext uri="{BB962C8B-B14F-4D97-AF65-F5344CB8AC3E}">
        <p14:creationId xmlns:p14="http://schemas.microsoft.com/office/powerpoint/2010/main" val="31910730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C code we see it is a ternary operator. If you’re not familiar with this operator, it encodes an if-else condition in one line. The if-block follows the question mark, and the else block follows the colon. So, if v is less than zero the statement should result in the negative unsigned long of v, and if v is greater-than-or-equal to zero the statement should result in v. The condition used in the assembly here is the less-than inequality. We know that we have a zero in t0 if v is non-negative, we can use a branch-if-equal or </a:t>
            </a:r>
            <a:r>
              <a:rPr lang="en-US" dirty="0" err="1"/>
              <a:t>beq</a:t>
            </a:r>
            <a:r>
              <a:rPr lang="en-US" dirty="0"/>
              <a:t> instruction to compare t0 with 0, if the two registers are equal, then the program counter will become the address of the instruction located at the label provided in the branch instruction, here that is L2. Otherwise, if t0 is not zero, then the next instruction in program order will be fetched as usual. This means the program execution will branch if v is negative. From the C code, that means jumping to the code that follows the question mark, which will return the negation of the unsigned cast of v. The branch target is .L2, which is an assembler label that identifies the address of the instruction following the L2 label. If v is not negative, the PC will be advanced to the address of the next straight-line instruction, which is what follows the colon, here just to return v. This instruction happens to also be labeled, but for now the L1 label is ignored. </a:t>
            </a:r>
          </a:p>
        </p:txBody>
      </p:sp>
      <p:sp>
        <p:nvSpPr>
          <p:cNvPr id="4" name="Slide Number Placeholder 3"/>
          <p:cNvSpPr>
            <a:spLocks noGrp="1"/>
          </p:cNvSpPr>
          <p:nvPr>
            <p:ph type="sldNum" sz="quarter" idx="5"/>
          </p:nvPr>
        </p:nvSpPr>
        <p:spPr/>
        <p:txBody>
          <a:bodyPr/>
          <a:lstStyle/>
          <a:p>
            <a:fld id="{0EE34500-BB8F-47C6-8EB6-733711EA6A42}" type="slidenum">
              <a:rPr lang="en-US" smtClean="0"/>
              <a:pPr/>
              <a:t>42</a:t>
            </a:fld>
            <a:endParaRPr lang="en-US"/>
          </a:p>
        </p:txBody>
      </p:sp>
    </p:spTree>
    <p:extLst>
      <p:ext uri="{BB962C8B-B14F-4D97-AF65-F5344CB8AC3E}">
        <p14:creationId xmlns:p14="http://schemas.microsoft.com/office/powerpoint/2010/main" val="12119120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the branch-taken case. Jumping to L2 sets the PC to the address of the first instruction in the assembly code after the label. You’ll usually see this written either on the same line as the label, or sometimes the label is written on a line by itself with the instruction on the next line. The label itself does not take up any space in the program. Adding a newline after the label does not change the instruction of the jump target. Anyway, the first instruction after the label uses sub to negate a0, which holds v, putting the result into a0 so it is ready to return. Now a0 holds the positive of v, that is, its absolute value.</a:t>
            </a:r>
          </a:p>
        </p:txBody>
      </p:sp>
      <p:sp>
        <p:nvSpPr>
          <p:cNvPr id="4" name="Slide Number Placeholder 3"/>
          <p:cNvSpPr>
            <a:spLocks noGrp="1"/>
          </p:cNvSpPr>
          <p:nvPr>
            <p:ph type="sldNum" sz="quarter" idx="5"/>
          </p:nvPr>
        </p:nvSpPr>
        <p:spPr/>
        <p:txBody>
          <a:bodyPr/>
          <a:lstStyle/>
          <a:p>
            <a:fld id="{0EE34500-BB8F-47C6-8EB6-733711EA6A42}" type="slidenum">
              <a:rPr lang="en-US" smtClean="0"/>
              <a:pPr/>
              <a:t>43</a:t>
            </a:fld>
            <a:endParaRPr lang="en-US"/>
          </a:p>
        </p:txBody>
      </p:sp>
    </p:spTree>
    <p:extLst>
      <p:ext uri="{BB962C8B-B14F-4D97-AF65-F5344CB8AC3E}">
        <p14:creationId xmlns:p14="http://schemas.microsoft.com/office/powerpoint/2010/main" val="28036468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execution of ret will return the negation of v, because that was written into a0 by the code at L2.</a:t>
            </a:r>
          </a:p>
        </p:txBody>
      </p:sp>
      <p:sp>
        <p:nvSpPr>
          <p:cNvPr id="4" name="Slide Number Placeholder 3"/>
          <p:cNvSpPr>
            <a:spLocks noGrp="1"/>
          </p:cNvSpPr>
          <p:nvPr>
            <p:ph type="sldNum" sz="quarter" idx="5"/>
          </p:nvPr>
        </p:nvSpPr>
        <p:spPr/>
        <p:txBody>
          <a:bodyPr/>
          <a:lstStyle/>
          <a:p>
            <a:fld id="{0EE34500-BB8F-47C6-8EB6-733711EA6A42}" type="slidenum">
              <a:rPr lang="en-US" smtClean="0"/>
              <a:pPr/>
              <a:t>44</a:t>
            </a:fld>
            <a:endParaRPr lang="en-US"/>
          </a:p>
        </p:txBody>
      </p:sp>
    </p:spTree>
    <p:extLst>
      <p:ext uri="{BB962C8B-B14F-4D97-AF65-F5344CB8AC3E}">
        <p14:creationId xmlns:p14="http://schemas.microsoft.com/office/powerpoint/2010/main" val="3720047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204" y="1371607"/>
            <a:ext cx="11785597" cy="4876793"/>
          </a:xfrm>
          <a:prstGeom prst="rect">
            <a:avLst/>
          </a:prstGeom>
        </p:spPr>
        <p:txBody>
          <a:bodyPr/>
          <a:lstStyle>
            <a:lvl1pPr>
              <a:defRPr sz="3200">
                <a:solidFill>
                  <a:schemeClr val="tx1"/>
                </a:solidFill>
                <a:latin typeface="+mn-lt"/>
                <a:cs typeface="Arial"/>
              </a:defRPr>
            </a:lvl1pPr>
            <a:lvl2pPr>
              <a:defRPr sz="2400">
                <a:latin typeface="+mn-lt"/>
                <a:cs typeface="Arial"/>
              </a:defRPr>
            </a:lvl2pPr>
            <a:lvl3pPr>
              <a:defRPr sz="2200">
                <a:latin typeface="+mn-lt"/>
                <a:cs typeface="Arial"/>
              </a:defRPr>
            </a:lvl3pPr>
            <a:lvl4pPr>
              <a:defRPr>
                <a:latin typeface="Arial"/>
                <a:cs typeface="Arial"/>
              </a:defRPr>
            </a:lvl4pPr>
            <a:lvl5pPr>
              <a:defRPr>
                <a:latin typeface="Arial"/>
                <a:cs typeface="Arial"/>
              </a:defRPr>
            </a:lvl5pPr>
          </a:lstStyle>
          <a:p>
            <a:pPr lvl="0"/>
            <a:r>
              <a:rPr lang="en-US" dirty="0"/>
              <a:t>Click to edit Master text styles</a:t>
            </a:r>
          </a:p>
          <a:p>
            <a:pPr lvl="1"/>
            <a:endParaRPr lang="en-US" dirty="0"/>
          </a:p>
          <a:p>
            <a:pPr lvl="2"/>
            <a:endParaRPr lang="en-US" dirty="0"/>
          </a:p>
        </p:txBody>
      </p:sp>
      <p:sp>
        <p:nvSpPr>
          <p:cNvPr id="11" name="Title 10"/>
          <p:cNvSpPr>
            <a:spLocks noGrp="1"/>
          </p:cNvSpPr>
          <p:nvPr>
            <p:ph type="title"/>
          </p:nvPr>
        </p:nvSpPr>
        <p:spPr>
          <a:xfrm>
            <a:off x="203201" y="152400"/>
            <a:ext cx="11764083" cy="1054250"/>
          </a:xfrm>
          <a:prstGeom prst="rect">
            <a:avLst/>
          </a:prstGeom>
        </p:spPr>
        <p:txBody>
          <a:bodyPr/>
          <a:lstStyle>
            <a:lvl1pPr algn="l">
              <a:defRPr sz="4400" b="1">
                <a:solidFill>
                  <a:schemeClr val="tx2"/>
                </a:solidFill>
                <a:latin typeface="+mj-lt"/>
                <a:cs typeface="Arial"/>
              </a:defRPr>
            </a:lvl1pPr>
          </a:lstStyle>
          <a:p>
            <a:r>
              <a:rPr lang="en-US" dirty="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8" name="Content Placeholder 7"/>
          <p:cNvSpPr>
            <a:spLocks noGrp="1"/>
          </p:cNvSpPr>
          <p:nvPr>
            <p:ph sz="quarter" idx="13"/>
          </p:nvPr>
        </p:nvSpPr>
        <p:spPr>
          <a:xfrm>
            <a:off x="203200" y="1371600"/>
            <a:ext cx="4638421" cy="5029200"/>
          </a:xfrm>
          <a:prstGeom prst="rect">
            <a:avLst/>
          </a:prstGeom>
        </p:spPr>
        <p:txBody>
          <a:bodyPr>
            <a:normAutofit/>
          </a:bodyPr>
          <a:lstStyle>
            <a:lvl1pPr>
              <a:defRPr sz="2800">
                <a:solidFill>
                  <a:schemeClr val="tx1"/>
                </a:solidFill>
                <a:latin typeface="+mn-lt"/>
                <a:cs typeface="Arial"/>
              </a:defRPr>
            </a:lvl1pPr>
            <a:lvl2pPr>
              <a:defRPr sz="2400"/>
            </a:lvl2pPr>
          </a:lstStyle>
          <a:p>
            <a:pPr lvl="0"/>
            <a:r>
              <a:rPr lang="en-US" dirty="0"/>
              <a:t>Click to edit Master text styles</a:t>
            </a:r>
          </a:p>
          <a:p>
            <a:pPr lvl="1"/>
            <a:endParaRPr lang="en-US" dirty="0"/>
          </a:p>
        </p:txBody>
      </p:sp>
      <p:sp>
        <p:nvSpPr>
          <p:cNvPr id="10" name="Content Placeholder 9"/>
          <p:cNvSpPr>
            <a:spLocks noGrp="1"/>
          </p:cNvSpPr>
          <p:nvPr>
            <p:ph sz="quarter" idx="14"/>
          </p:nvPr>
        </p:nvSpPr>
        <p:spPr>
          <a:xfrm>
            <a:off x="4953000" y="1371600"/>
            <a:ext cx="4648200" cy="5029200"/>
          </a:xfrm>
          <a:prstGeom prst="rect">
            <a:avLst/>
          </a:prstGeom>
        </p:spPr>
        <p:txBody>
          <a:bodyPr>
            <a:normAutofit/>
          </a:bodyPr>
          <a:lstStyle>
            <a:lvl1pPr>
              <a:defRPr sz="2800">
                <a:solidFill>
                  <a:schemeClr val="tx1"/>
                </a:solidFill>
                <a:latin typeface="+mn-lt"/>
                <a:cs typeface="Arial"/>
              </a:defRPr>
            </a:lvl1pPr>
            <a:lvl2pPr>
              <a:defRPr sz="2400"/>
            </a:lvl2pPr>
          </a:lstStyle>
          <a:p>
            <a:pPr lvl="0"/>
            <a:r>
              <a:rPr lang="en-US" dirty="0"/>
              <a:t>Click to edit Master text styles</a:t>
            </a:r>
          </a:p>
          <a:p>
            <a:pPr lvl="1"/>
            <a:endParaRPr lang="en-US" dirty="0"/>
          </a:p>
        </p:txBody>
      </p:sp>
      <p:sp>
        <p:nvSpPr>
          <p:cNvPr id="11" name="Title 10"/>
          <p:cNvSpPr>
            <a:spLocks noGrp="1"/>
          </p:cNvSpPr>
          <p:nvPr>
            <p:ph type="title"/>
          </p:nvPr>
        </p:nvSpPr>
        <p:spPr>
          <a:xfrm>
            <a:off x="203201" y="152400"/>
            <a:ext cx="11764083" cy="1054250"/>
          </a:xfrm>
          <a:prstGeom prst="rect">
            <a:avLst/>
          </a:prstGeom>
        </p:spPr>
        <p:txBody>
          <a:bodyPr/>
          <a:lstStyle>
            <a:lvl1pPr algn="l">
              <a:defRPr sz="4400" b="1">
                <a:solidFill>
                  <a:schemeClr val="tx2"/>
                </a:solidFill>
                <a:latin typeface="+mj-lt"/>
                <a:cs typeface="Arial"/>
              </a:defRPr>
            </a:lvl1pPr>
          </a:lstStyle>
          <a:p>
            <a:r>
              <a:rPr lang="en-US" dirty="0"/>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2838" y="1447800"/>
            <a:ext cx="4788622" cy="658368"/>
          </a:xfrm>
          <a:prstGeom prst="rect">
            <a:avLst/>
          </a:prstGeom>
        </p:spPr>
        <p:txBody>
          <a:bodyPr anchor="b">
            <a:noAutofit/>
          </a:bodyPr>
          <a:lstStyle>
            <a:lvl1pPr marL="0" indent="0" algn="l">
              <a:buNone/>
              <a:defRPr sz="2800" b="1">
                <a:solidFill>
                  <a:schemeClr val="tx1"/>
                </a:solidFill>
                <a:latin typeface="+mn-lt"/>
                <a:cs typeface="Aria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03206" y="2209801"/>
            <a:ext cx="4788624" cy="4270426"/>
          </a:xfrm>
          <a:prstGeom prst="rect">
            <a:avLst/>
          </a:prstGeom>
        </p:spPr>
        <p:txBody>
          <a:bodyPr>
            <a:normAutofit/>
          </a:bodyPr>
          <a:lstStyle>
            <a:lvl1pPr>
              <a:defRPr sz="2800">
                <a:solidFill>
                  <a:schemeClr val="tx1"/>
                </a:solidFill>
                <a:latin typeface="+mn-lt"/>
                <a:cs typeface="Arial"/>
              </a:defRPr>
            </a:lvl1pPr>
            <a:lvl2pPr>
              <a:defRPr sz="2400">
                <a:latin typeface="+mn-lt"/>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dirty="0"/>
              <a:t>Click to edit Master text styles</a:t>
            </a:r>
          </a:p>
          <a:p>
            <a:pPr lvl="1"/>
            <a:endParaRPr lang="en-US" dirty="0"/>
          </a:p>
        </p:txBody>
      </p:sp>
      <p:sp>
        <p:nvSpPr>
          <p:cNvPr id="5" name="Text Placeholder 4"/>
          <p:cNvSpPr>
            <a:spLocks noGrp="1"/>
          </p:cNvSpPr>
          <p:nvPr>
            <p:ph type="body" sz="quarter" idx="3"/>
          </p:nvPr>
        </p:nvSpPr>
        <p:spPr>
          <a:xfrm>
            <a:off x="5125029" y="1447800"/>
            <a:ext cx="4826607" cy="658368"/>
          </a:xfrm>
          <a:prstGeom prst="rect">
            <a:avLst/>
          </a:prstGeom>
        </p:spPr>
        <p:txBody>
          <a:bodyPr anchor="b">
            <a:noAutofit/>
          </a:bodyPr>
          <a:lstStyle>
            <a:lvl1pPr marL="0" indent="0" algn="l">
              <a:buNone/>
              <a:defRPr sz="2800" b="1">
                <a:solidFill>
                  <a:schemeClr val="tx1"/>
                </a:solidFill>
                <a:latin typeface="+mn-lt"/>
                <a:cs typeface="Aria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105400" y="2206574"/>
            <a:ext cx="4820229" cy="4270426"/>
          </a:xfrm>
          <a:prstGeom prst="rect">
            <a:avLst/>
          </a:prstGeom>
        </p:spPr>
        <p:txBody>
          <a:bodyPr>
            <a:normAutofit/>
          </a:bodyPr>
          <a:lstStyle>
            <a:lvl1pPr>
              <a:defRPr sz="2800">
                <a:solidFill>
                  <a:schemeClr val="tx1"/>
                </a:solidFill>
                <a:latin typeface="+mn-lt"/>
                <a:cs typeface="Arial"/>
              </a:defRPr>
            </a:lvl1pPr>
            <a:lvl2pPr>
              <a:defRPr sz="24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endParaRPr lang="en-US" dirty="0"/>
          </a:p>
        </p:txBody>
      </p:sp>
      <p:sp>
        <p:nvSpPr>
          <p:cNvPr id="11" name="Title 10"/>
          <p:cNvSpPr>
            <a:spLocks noGrp="1"/>
          </p:cNvSpPr>
          <p:nvPr>
            <p:ph type="title"/>
          </p:nvPr>
        </p:nvSpPr>
        <p:spPr>
          <a:xfrm>
            <a:off x="203201" y="152400"/>
            <a:ext cx="11764083" cy="1054250"/>
          </a:xfrm>
          <a:prstGeom prst="rect">
            <a:avLst/>
          </a:prstGeom>
        </p:spPr>
        <p:txBody>
          <a:bodyPr/>
          <a:lstStyle>
            <a:lvl1pPr algn="l">
              <a:defRPr sz="4400" b="1">
                <a:solidFill>
                  <a:schemeClr val="tx2"/>
                </a:solidFill>
                <a:latin typeface="+mj-lt"/>
                <a:cs typeface="Arial"/>
              </a:defRPr>
            </a:lvl1pPr>
          </a:lstStyle>
          <a:p>
            <a:r>
              <a:rPr lang="en-US" dirty="0"/>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TextBox 8"/>
          <p:cNvSpPr txBox="1"/>
          <p:nvPr/>
        </p:nvSpPr>
        <p:spPr>
          <a:xfrm>
            <a:off x="5529433" y="2887580"/>
            <a:ext cx="1143691" cy="923330"/>
          </a:xfrm>
          <a:prstGeom prst="rect">
            <a:avLst/>
          </a:prstGeom>
          <a:noFill/>
        </p:spPr>
        <p:txBody>
          <a:bodyPr wrap="square" rtlCol="0">
            <a:spAutoFit/>
          </a:bodyPr>
          <a:lstStyle/>
          <a:p>
            <a:endParaRPr lang="en-US" sz="5400" dirty="0">
              <a:solidFill>
                <a:schemeClr val="tx2">
                  <a:lumMod val="60000"/>
                  <a:lumOff val="40000"/>
                </a:schemeClr>
              </a:solidFill>
              <a:latin typeface="Wingdings" pitchFamily="2" charset="2"/>
            </a:endParaRPr>
          </a:p>
        </p:txBody>
      </p:sp>
      <p:sp>
        <p:nvSpPr>
          <p:cNvPr id="2" name="Title 1"/>
          <p:cNvSpPr>
            <a:spLocks noGrp="1"/>
          </p:cNvSpPr>
          <p:nvPr>
            <p:ph type="title"/>
          </p:nvPr>
        </p:nvSpPr>
        <p:spPr>
          <a:xfrm>
            <a:off x="920058" y="1204857"/>
            <a:ext cx="10339617" cy="1910716"/>
          </a:xfrm>
          <a:prstGeom prst="rect">
            <a:avLst/>
          </a:prstGeom>
        </p:spPr>
        <p:txBody>
          <a:bodyPr anchor="b"/>
          <a:lstStyle>
            <a:lvl1pPr algn="ctr">
              <a:defRPr sz="4400" b="1" cap="none" baseline="0">
                <a:solidFill>
                  <a:schemeClr val="tx2"/>
                </a:solidFill>
                <a:latin typeface="+mj-lt"/>
                <a:cs typeface="Arial"/>
              </a:defRPr>
            </a:lvl1pPr>
          </a:lstStyle>
          <a:p>
            <a:r>
              <a:rPr lang="en-US" dirty="0"/>
              <a:t>Click to edit Master title style</a:t>
            </a:r>
          </a:p>
        </p:txBody>
      </p:sp>
      <p:sp>
        <p:nvSpPr>
          <p:cNvPr id="3" name="Text Placeholder 2"/>
          <p:cNvSpPr>
            <a:spLocks noGrp="1"/>
          </p:cNvSpPr>
          <p:nvPr>
            <p:ph type="body" idx="1"/>
          </p:nvPr>
        </p:nvSpPr>
        <p:spPr>
          <a:xfrm>
            <a:off x="932331" y="3324435"/>
            <a:ext cx="10312996" cy="1500187"/>
          </a:xfrm>
          <a:prstGeom prst="rect">
            <a:avLst/>
          </a:prstGeom>
        </p:spPr>
        <p:txBody>
          <a:bodyPr anchor="t"/>
          <a:lstStyle>
            <a:lvl1pPr marL="0" indent="0" algn="ctr">
              <a:buNone/>
              <a:defRPr sz="2400">
                <a:solidFill>
                  <a:srgbClr val="595959"/>
                </a:solidFill>
                <a:latin typeface="+mn-lt"/>
                <a:cs typeface="Aria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dirty="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50901" y="1362075"/>
            <a:ext cx="5162551" cy="4972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6651" y="1362075"/>
            <a:ext cx="5162549" cy="4972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7286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77017" y="445070"/>
            <a:ext cx="10121900" cy="762000"/>
          </a:xfrm>
        </p:spPr>
        <p:txBody>
          <a:bodyPr/>
          <a:lstStyle/>
          <a:p>
            <a:r>
              <a:rPr lang="en-US"/>
              <a:t>Click to edit Master title style</a:t>
            </a:r>
          </a:p>
        </p:txBody>
      </p:sp>
    </p:spTree>
    <p:extLst>
      <p:ext uri="{BB962C8B-B14F-4D97-AF65-F5344CB8AC3E}">
        <p14:creationId xmlns:p14="http://schemas.microsoft.com/office/powerpoint/2010/main" val="3207847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D88813A-9329-426C-8047-01C1395FFE36}" type="datetime1">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B98ED8-9146-4BE6-B540-8347B7D3438C}" type="datetime1">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C3B9B1-624C-4443-9E49-4AE5E8C13226}" type="datetime1">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8E5804C-B05D-4C85-95DC-ACD6E58FC5CF}" type="datetime1">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0F878C0-F05B-4E10-BEA1-D8C122382F74}" type="datetime1">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8E8022-ABBB-4C19-AC05-69F05BDFBB5D}" type="datetime1">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303E2-840D-4389-90AF-4B66070F5592}" type="datetime1">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D37C5A-9E50-49CC-95CE-AA003F394609}" type="datetime1">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5E9019-D333-4149-8780-C872D9CA9A8F}" type="datetime1">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AD8753-E8D8-4E4B-8EC0-E06A258A09C0}" type="datetime1">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FAC97C-B3CE-4D72-BCA1-C99A1B0D10C7}" type="datetime1">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wo Columns with Subtitle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2838" y="1447800"/>
            <a:ext cx="4788622" cy="658368"/>
          </a:xfrm>
          <a:prstGeom prst="rect">
            <a:avLst/>
          </a:prstGeom>
        </p:spPr>
        <p:txBody>
          <a:bodyPr anchor="b">
            <a:noAutofit/>
          </a:bodyPr>
          <a:lstStyle>
            <a:lvl1pPr marL="0" indent="0" algn="l">
              <a:buNone/>
              <a:defRPr sz="2800" b="1">
                <a:solidFill>
                  <a:schemeClr val="tx1"/>
                </a:solidFill>
                <a:latin typeface="+mn-lt"/>
                <a:cs typeface="Aria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203206" y="2209801"/>
            <a:ext cx="4788624" cy="4270426"/>
          </a:xfrm>
          <a:prstGeom prst="rect">
            <a:avLst/>
          </a:prstGeom>
        </p:spPr>
        <p:txBody>
          <a:bodyPr>
            <a:normAutofit/>
          </a:bodyPr>
          <a:lstStyle>
            <a:lvl1pPr>
              <a:defRPr sz="2800">
                <a:solidFill>
                  <a:schemeClr val="tx1"/>
                </a:solidFill>
                <a:latin typeface="+mn-lt"/>
                <a:cs typeface="Arial"/>
              </a:defRPr>
            </a:lvl1pPr>
            <a:lvl2pPr>
              <a:defRPr sz="2400">
                <a:latin typeface="+mn-lt"/>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a:p>
            <a:pPr lvl="1"/>
            <a:endParaRPr lang="en-US"/>
          </a:p>
        </p:txBody>
      </p:sp>
      <p:sp>
        <p:nvSpPr>
          <p:cNvPr id="5" name="Text Placeholder 4"/>
          <p:cNvSpPr>
            <a:spLocks noGrp="1"/>
          </p:cNvSpPr>
          <p:nvPr>
            <p:ph type="body" sz="quarter" idx="3"/>
          </p:nvPr>
        </p:nvSpPr>
        <p:spPr>
          <a:xfrm>
            <a:off x="5125029" y="1447800"/>
            <a:ext cx="4826607" cy="658368"/>
          </a:xfrm>
          <a:prstGeom prst="rect">
            <a:avLst/>
          </a:prstGeom>
        </p:spPr>
        <p:txBody>
          <a:bodyPr anchor="b">
            <a:noAutofit/>
          </a:bodyPr>
          <a:lstStyle>
            <a:lvl1pPr marL="0" indent="0" algn="l">
              <a:buNone/>
              <a:defRPr sz="2800" b="1">
                <a:solidFill>
                  <a:schemeClr val="tx1"/>
                </a:solidFill>
                <a:latin typeface="+mn-lt"/>
                <a:cs typeface="Aria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05400" y="2206574"/>
            <a:ext cx="4820229" cy="4270426"/>
          </a:xfrm>
          <a:prstGeom prst="rect">
            <a:avLst/>
          </a:prstGeom>
        </p:spPr>
        <p:txBody>
          <a:bodyPr>
            <a:normAutofit/>
          </a:bodyPr>
          <a:lstStyle>
            <a:lvl1pPr>
              <a:defRPr sz="2800">
                <a:solidFill>
                  <a:schemeClr val="tx1"/>
                </a:solidFill>
                <a:latin typeface="+mn-lt"/>
                <a:cs typeface="Arial"/>
              </a:defRPr>
            </a:lvl1pPr>
            <a:lvl2pPr>
              <a:defRPr sz="24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endParaRPr lang="en-US"/>
          </a:p>
        </p:txBody>
      </p:sp>
      <p:sp>
        <p:nvSpPr>
          <p:cNvPr id="11" name="Title 10"/>
          <p:cNvSpPr>
            <a:spLocks noGrp="1"/>
          </p:cNvSpPr>
          <p:nvPr>
            <p:ph type="title"/>
          </p:nvPr>
        </p:nvSpPr>
        <p:spPr>
          <a:xfrm>
            <a:off x="203201" y="152400"/>
            <a:ext cx="11764083" cy="1054250"/>
          </a:xfrm>
          <a:prstGeom prst="rect">
            <a:avLst/>
          </a:prstGeom>
        </p:spPr>
        <p:txBody>
          <a:bodyPr/>
          <a:lstStyle>
            <a:lvl1pPr algn="l">
              <a:defRPr sz="4400" b="1">
                <a:solidFill>
                  <a:schemeClr val="tx2"/>
                </a:solidFill>
                <a:latin typeface="+mj-lt"/>
                <a:cs typeface="Arial"/>
              </a:defRPr>
            </a:lvl1pPr>
          </a:lstStyle>
          <a:p>
            <a:r>
              <a:rPr lang="en-US"/>
              <a:t>Click to edit Master title style</a:t>
            </a:r>
          </a:p>
        </p:txBody>
      </p:sp>
    </p:spTree>
    <p:extLst>
      <p:ext uri="{BB962C8B-B14F-4D97-AF65-F5344CB8AC3E}">
        <p14:creationId xmlns:p14="http://schemas.microsoft.com/office/powerpoint/2010/main" val="25032239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wo Content Areas">
    <p:spTree>
      <p:nvGrpSpPr>
        <p:cNvPr id="1" name=""/>
        <p:cNvGrpSpPr/>
        <p:nvPr/>
      </p:nvGrpSpPr>
      <p:grpSpPr>
        <a:xfrm>
          <a:off x="0" y="0"/>
          <a:ext cx="0" cy="0"/>
          <a:chOff x="0" y="0"/>
          <a:chExt cx="0" cy="0"/>
        </a:xfrm>
      </p:grpSpPr>
      <p:sp>
        <p:nvSpPr>
          <p:cNvPr id="8" name="Content Placeholder 7"/>
          <p:cNvSpPr>
            <a:spLocks noGrp="1"/>
          </p:cNvSpPr>
          <p:nvPr>
            <p:ph sz="quarter" idx="13"/>
          </p:nvPr>
        </p:nvSpPr>
        <p:spPr>
          <a:xfrm>
            <a:off x="203200" y="1371600"/>
            <a:ext cx="4638421" cy="5029200"/>
          </a:xfrm>
          <a:prstGeom prst="rect">
            <a:avLst/>
          </a:prstGeom>
        </p:spPr>
        <p:txBody>
          <a:bodyPr>
            <a:normAutofit/>
          </a:bodyPr>
          <a:lstStyle>
            <a:lvl1pPr>
              <a:defRPr sz="2800">
                <a:solidFill>
                  <a:schemeClr val="tx1"/>
                </a:solidFill>
                <a:latin typeface="+mn-lt"/>
                <a:cs typeface="Arial"/>
              </a:defRPr>
            </a:lvl1pPr>
            <a:lvl2pPr>
              <a:defRPr sz="2400"/>
            </a:lvl2pPr>
          </a:lstStyle>
          <a:p>
            <a:pPr lvl="0"/>
            <a:r>
              <a:rPr lang="en-US"/>
              <a:t>Click to edit Master text styles</a:t>
            </a:r>
          </a:p>
          <a:p>
            <a:pPr lvl="1"/>
            <a:endParaRPr lang="en-US"/>
          </a:p>
        </p:txBody>
      </p:sp>
      <p:sp>
        <p:nvSpPr>
          <p:cNvPr id="10" name="Content Placeholder 9"/>
          <p:cNvSpPr>
            <a:spLocks noGrp="1"/>
          </p:cNvSpPr>
          <p:nvPr>
            <p:ph sz="quarter" idx="14"/>
          </p:nvPr>
        </p:nvSpPr>
        <p:spPr>
          <a:xfrm>
            <a:off x="4953000" y="1371600"/>
            <a:ext cx="4648200" cy="5029200"/>
          </a:xfrm>
          <a:prstGeom prst="rect">
            <a:avLst/>
          </a:prstGeom>
        </p:spPr>
        <p:txBody>
          <a:bodyPr>
            <a:normAutofit/>
          </a:bodyPr>
          <a:lstStyle>
            <a:lvl1pPr>
              <a:defRPr sz="2800">
                <a:solidFill>
                  <a:schemeClr val="tx1"/>
                </a:solidFill>
                <a:latin typeface="+mn-lt"/>
                <a:cs typeface="Arial"/>
              </a:defRPr>
            </a:lvl1pPr>
            <a:lvl2pPr>
              <a:defRPr sz="2400"/>
            </a:lvl2pPr>
          </a:lstStyle>
          <a:p>
            <a:pPr lvl="0"/>
            <a:r>
              <a:rPr lang="en-US"/>
              <a:t>Click to edit Master text styles</a:t>
            </a:r>
          </a:p>
          <a:p>
            <a:pPr lvl="1"/>
            <a:endParaRPr lang="en-US"/>
          </a:p>
        </p:txBody>
      </p:sp>
      <p:sp>
        <p:nvSpPr>
          <p:cNvPr id="11" name="Title 10"/>
          <p:cNvSpPr>
            <a:spLocks noGrp="1"/>
          </p:cNvSpPr>
          <p:nvPr>
            <p:ph type="title"/>
          </p:nvPr>
        </p:nvSpPr>
        <p:spPr>
          <a:xfrm>
            <a:off x="203201" y="152400"/>
            <a:ext cx="11764083" cy="1054250"/>
          </a:xfrm>
          <a:prstGeom prst="rect">
            <a:avLst/>
          </a:prstGeom>
        </p:spPr>
        <p:txBody>
          <a:bodyPr/>
          <a:lstStyle>
            <a:lvl1pPr algn="l">
              <a:defRPr sz="4400" b="1">
                <a:solidFill>
                  <a:schemeClr val="tx2"/>
                </a:solidFill>
                <a:latin typeface="+mj-lt"/>
                <a:cs typeface="Arial"/>
              </a:defRPr>
            </a:lvl1pPr>
          </a:lstStyle>
          <a:p>
            <a:r>
              <a:rPr lang="en-US"/>
              <a:t>Click to edit Master title style</a:t>
            </a:r>
          </a:p>
        </p:txBody>
      </p:sp>
    </p:spTree>
    <p:extLst>
      <p:ext uri="{BB962C8B-B14F-4D97-AF65-F5344CB8AC3E}">
        <p14:creationId xmlns:p14="http://schemas.microsoft.com/office/powerpoint/2010/main" val="21959964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895D1D"/>
                </a:solidFill>
                <a:latin typeface="Calibri"/>
                <a:cs typeface="Calibri"/>
              </a:defRPr>
            </a:lvl1pPr>
          </a:lstStyle>
          <a:p>
            <a:endParaRPr/>
          </a:p>
        </p:txBody>
      </p:sp>
      <p:sp>
        <p:nvSpPr>
          <p:cNvPr id="3" name="Holder 3"/>
          <p:cNvSpPr>
            <a:spLocks noGrp="1"/>
          </p:cNvSpPr>
          <p:nvPr>
            <p:ph sz="half" idx="2"/>
          </p:nvPr>
        </p:nvSpPr>
        <p:spPr>
          <a:xfrm>
            <a:off x="839787" y="1148493"/>
            <a:ext cx="2597785" cy="3529965"/>
          </a:xfrm>
          <a:prstGeom prst="rect">
            <a:avLst/>
          </a:prstGeom>
        </p:spPr>
        <p:txBody>
          <a:bodyPr wrap="square" lIns="0" tIns="0" rIns="0" bIns="0">
            <a:spAutoFit/>
          </a:bodyPr>
          <a:lstStyle>
            <a:lvl1pPr>
              <a:defRPr sz="3200" b="0" i="0">
                <a:solidFill>
                  <a:srgbClr val="895D1D"/>
                </a:solidFill>
                <a:latin typeface="Calibri"/>
                <a:cs typeface="Calibri"/>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62663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F9B38D-0C2C-467B-B327-8E5937302185}"/>
              </a:ext>
            </a:extLst>
          </p:cNvPr>
          <p:cNvSpPr txBox="1"/>
          <p:nvPr userDrawn="1"/>
        </p:nvSpPr>
        <p:spPr>
          <a:xfrm>
            <a:off x="11277600" y="0"/>
            <a:ext cx="914400" cy="369332"/>
          </a:xfrm>
          <a:prstGeom prst="rect">
            <a:avLst/>
          </a:prstGeom>
          <a:noFill/>
        </p:spPr>
        <p:txBody>
          <a:bodyPr wrap="square" rtlCol="0">
            <a:spAutoFit/>
          </a:bodyPr>
          <a:lstStyle/>
          <a:p>
            <a:pPr algn="r"/>
            <a:fld id="{91B1F5BA-E7B0-4ADC-8E3A-0FABFF1CB3B9}" type="slidenum">
              <a:rPr lang="en-US" sz="1800" smtClean="0">
                <a:solidFill>
                  <a:schemeClr val="tx2"/>
                </a:solidFill>
              </a:rPr>
              <a:pPr algn="r"/>
              <a:t>‹#›</a:t>
            </a:fld>
            <a:endParaRPr lang="en-US" sz="1800" dirty="0">
              <a:solidFill>
                <a:schemeClr val="tx2"/>
              </a:solidFill>
            </a:endParaRPr>
          </a:p>
        </p:txBody>
      </p:sp>
    </p:spTree>
  </p:cSld>
  <p:clrMap bg1="lt1" tx1="dk1" bg2="lt2" tx2="dk2" accent1="accent1" accent2="accent2" accent3="accent3" accent4="accent4" accent5="accent5" accent6="accent6" hlink="hlink" folHlink="folHlink"/>
  <p:sldLayoutIdLst>
    <p:sldLayoutId id="2147483679" r:id="rId1"/>
    <p:sldLayoutId id="2147483681" r:id="rId2"/>
    <p:sldLayoutId id="2147483682" r:id="rId3"/>
    <p:sldLayoutId id="2147483680" r:id="rId4"/>
    <p:sldLayoutId id="2147483678" r:id="rId5"/>
    <p:sldLayoutId id="2147483683" r:id="rId6"/>
    <p:sldLayoutId id="2147483684" r:id="rId7"/>
  </p:sldLayoutIdLst>
  <p:hf sldNum="0" hdr="0" ftr="0" dt="0"/>
  <p:txStyles>
    <p:titleStyle>
      <a:lvl1pPr algn="ctr" defTabSz="914377"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14377" rtl="0" eaLnBrk="1" latinLnBrk="0" hangingPunct="1">
        <a:spcBef>
          <a:spcPct val="20000"/>
        </a:spcBef>
        <a:buClr>
          <a:schemeClr val="accent1"/>
        </a:buClr>
        <a:buFont typeface="Wingdings" pitchFamily="2" charset="2"/>
        <a:buNone/>
        <a:defRPr sz="2400" kern="1200">
          <a:solidFill>
            <a:schemeClr val="tx1">
              <a:lumMod val="85000"/>
              <a:lumOff val="15000"/>
            </a:schemeClr>
          </a:solidFill>
          <a:latin typeface="+mn-lt"/>
          <a:ea typeface="+mn-ea"/>
          <a:cs typeface="+mn-cs"/>
        </a:defRPr>
      </a:lvl1pPr>
      <a:lvl2pPr marL="411470" indent="0" algn="l" defTabSz="914377" rtl="0" eaLnBrk="1" latinLnBrk="0" hangingPunct="1">
        <a:spcBef>
          <a:spcPct val="20000"/>
        </a:spcBef>
        <a:buClr>
          <a:schemeClr val="accent1"/>
        </a:buClr>
        <a:buFont typeface="Wingdings" pitchFamily="2" charset="2"/>
        <a:buNone/>
        <a:defRPr sz="2200" kern="1200">
          <a:solidFill>
            <a:schemeClr val="tx1">
              <a:lumMod val="85000"/>
              <a:lumOff val="15000"/>
            </a:schemeClr>
          </a:solidFill>
          <a:latin typeface="+mn-lt"/>
          <a:ea typeface="+mn-ea"/>
          <a:cs typeface="+mn-cs"/>
        </a:defRPr>
      </a:lvl2pPr>
      <a:lvl3pPr marL="777221" indent="0" algn="l" defTabSz="914377" rtl="0" eaLnBrk="1" latinLnBrk="0" hangingPunct="1">
        <a:spcBef>
          <a:spcPct val="20000"/>
        </a:spcBef>
        <a:buClr>
          <a:schemeClr val="accent1"/>
        </a:buClr>
        <a:buFont typeface="Wingdings" pitchFamily="2" charset="2"/>
        <a:buNone/>
        <a:defRPr sz="2000" kern="1200">
          <a:solidFill>
            <a:schemeClr val="tx1">
              <a:lumMod val="85000"/>
              <a:lumOff val="15000"/>
            </a:schemeClr>
          </a:solidFill>
          <a:latin typeface="+mn-lt"/>
          <a:ea typeface="+mn-ea"/>
          <a:cs typeface="+mn-cs"/>
        </a:defRPr>
      </a:lvl3pPr>
      <a:lvl4pPr marL="1188690" indent="0" algn="l" defTabSz="914377" rtl="0" eaLnBrk="1" latinLnBrk="0" hangingPunct="1">
        <a:spcBef>
          <a:spcPct val="20000"/>
        </a:spcBef>
        <a:buClr>
          <a:schemeClr val="accent1"/>
        </a:buClr>
        <a:buFont typeface="Wingdings" pitchFamily="2" charset="2"/>
        <a:buNone/>
        <a:defRPr sz="1800" kern="1200">
          <a:solidFill>
            <a:schemeClr val="tx1">
              <a:lumMod val="85000"/>
              <a:lumOff val="15000"/>
            </a:schemeClr>
          </a:solidFill>
          <a:latin typeface="+mn-lt"/>
          <a:ea typeface="+mn-ea"/>
          <a:cs typeface="+mn-cs"/>
        </a:defRPr>
      </a:lvl4pPr>
      <a:lvl5pPr marL="1508722" indent="0" algn="l" defTabSz="914377" rtl="0" eaLnBrk="1" latinLnBrk="0" hangingPunct="1">
        <a:spcBef>
          <a:spcPct val="20000"/>
        </a:spcBef>
        <a:buClr>
          <a:schemeClr val="accent1"/>
        </a:buClr>
        <a:buFont typeface="Wingdings" pitchFamily="2" charset="2"/>
        <a:buNone/>
        <a:defRPr sz="1600" kern="1200">
          <a:solidFill>
            <a:schemeClr val="tx1">
              <a:lumMod val="85000"/>
              <a:lumOff val="15000"/>
            </a:schemeClr>
          </a:solidFill>
          <a:latin typeface="+mn-lt"/>
          <a:ea typeface="+mn-ea"/>
          <a:cs typeface="+mn-cs"/>
        </a:defRPr>
      </a:lvl5pPr>
      <a:lvl6pPr marL="2148786"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18"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850"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882"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5E7E88-3F9E-4598-A06E-B6F43CDC37BA}" type="datetime1">
              <a:rPr lang="en-US" smtClean="0"/>
              <a:t>9/10/2026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hthakur@uccs.edu" TargetMode="Externa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494"/>
            <a:ext cx="12197675" cy="3431494"/>
          </a:xfrm>
        </p:spPr>
        <p:txBody>
          <a:bodyPr vert="horz" lIns="91440" tIns="45720" rIns="91440" bIns="45720" rtlCol="0" anchor="ctr">
            <a:normAutofit/>
          </a:bodyPr>
          <a:lstStyle/>
          <a:p>
            <a:r>
              <a:rPr lang="en-US" sz="3600" b="1" dirty="0">
                <a:ea typeface="+mj-lt"/>
                <a:cs typeface="+mj-lt"/>
              </a:rPr>
              <a:t>CS 2160</a:t>
            </a:r>
            <a:br>
              <a:rPr lang="en-US" sz="3600" b="1" dirty="0">
                <a:ea typeface="+mj-lt"/>
                <a:cs typeface="+mj-lt"/>
              </a:rPr>
            </a:br>
            <a:r>
              <a:rPr lang="en-US" sz="3600" dirty="0"/>
              <a:t>Introduction to Assembly Programming and</a:t>
            </a:r>
            <a:br>
              <a:rPr lang="en-US" sz="3600" dirty="0"/>
            </a:br>
            <a:r>
              <a:rPr lang="en-US" sz="3600" dirty="0"/>
              <a:t>Computer Organization</a:t>
            </a:r>
            <a:br>
              <a:rPr lang="en-US" sz="3600" dirty="0"/>
            </a:br>
            <a:br>
              <a:rPr lang="en-US" sz="3600" dirty="0">
                <a:ea typeface="+mj-lt"/>
                <a:cs typeface="+mj-lt"/>
              </a:rPr>
            </a:br>
            <a:r>
              <a:rPr lang="en-US" sz="3200" b="1" dirty="0">
                <a:ea typeface="+mj-lt"/>
                <a:cs typeface="+mj-lt"/>
              </a:rPr>
              <a:t>Lecture 04</a:t>
            </a:r>
            <a:r>
              <a:rPr lang="en-US" sz="3200" dirty="0">
                <a:ea typeface="+mj-lt"/>
                <a:cs typeface="+mj-lt"/>
              </a:rPr>
              <a:t>: Logical Operations</a:t>
            </a:r>
          </a:p>
        </p:txBody>
      </p:sp>
      <p:sp>
        <p:nvSpPr>
          <p:cNvPr id="3" name="Subtitle 2"/>
          <p:cNvSpPr>
            <a:spLocks noGrp="1"/>
          </p:cNvSpPr>
          <p:nvPr>
            <p:ph type="subTitle" idx="1"/>
          </p:nvPr>
        </p:nvSpPr>
        <p:spPr>
          <a:xfrm>
            <a:off x="21140" y="3424813"/>
            <a:ext cx="12175382" cy="2981681"/>
          </a:xfrm>
        </p:spPr>
        <p:txBody>
          <a:bodyPr vert="horz" lIns="91440" tIns="45720" rIns="91440" bIns="45720" rtlCol="0" anchor="t">
            <a:normAutofit/>
          </a:bodyPr>
          <a:lstStyle/>
          <a:p>
            <a:r>
              <a:rPr lang="en-US" b="1">
                <a:latin typeface="Aptos"/>
                <a:ea typeface="Calibri"/>
                <a:cs typeface="Calibri"/>
              </a:rPr>
              <a:t>Fall 2026</a:t>
            </a:r>
            <a:endParaRPr lang="en-US">
              <a:latin typeface="Aptos"/>
              <a:ea typeface="Calibri"/>
              <a:cs typeface="Calibri"/>
            </a:endParaRPr>
          </a:p>
          <a:p>
            <a:pPr>
              <a:spcBef>
                <a:spcPts val="0"/>
              </a:spcBef>
            </a:pPr>
            <a:endParaRPr lang="en-US" b="1">
              <a:latin typeface="Calibri"/>
              <a:ea typeface="Calibri"/>
              <a:cs typeface="Calibri"/>
            </a:endParaRPr>
          </a:p>
          <a:p>
            <a:pPr>
              <a:spcBef>
                <a:spcPts val="0"/>
              </a:spcBef>
            </a:pPr>
            <a:endParaRPr lang="en-US" b="1">
              <a:latin typeface="Calibri"/>
              <a:ea typeface="Calibri"/>
              <a:cs typeface="Calibri"/>
            </a:endParaRPr>
          </a:p>
          <a:p>
            <a:pPr>
              <a:spcBef>
                <a:spcPts val="0"/>
              </a:spcBef>
            </a:pPr>
            <a:r>
              <a:rPr lang="en-US" b="1">
                <a:latin typeface="Calibri"/>
                <a:ea typeface="Calibri"/>
                <a:cs typeface="Calibri"/>
              </a:rPr>
              <a:t>Instructor</a:t>
            </a:r>
            <a:r>
              <a:rPr lang="en-US">
                <a:latin typeface="Calibri"/>
                <a:ea typeface="Calibri"/>
                <a:cs typeface="Calibri"/>
              </a:rPr>
              <a:t>: Himon Thakur</a:t>
            </a:r>
            <a:endParaRPr lang="en-US"/>
          </a:p>
          <a:p>
            <a:pPr>
              <a:spcBef>
                <a:spcPts val="0"/>
              </a:spcBef>
            </a:pPr>
            <a:r>
              <a:rPr lang="en-US" b="1">
                <a:latin typeface="Calibri"/>
                <a:ea typeface="Calibri"/>
                <a:cs typeface="Calibri"/>
              </a:rPr>
              <a:t>TA: </a:t>
            </a:r>
            <a:r>
              <a:rPr lang="en-US">
                <a:latin typeface="Calibri"/>
                <a:ea typeface="Calibri"/>
                <a:cs typeface="Calibri"/>
              </a:rPr>
              <a:t>Hassan Shakil</a:t>
            </a:r>
          </a:p>
          <a:p>
            <a:pPr>
              <a:spcBef>
                <a:spcPts val="0"/>
              </a:spcBef>
            </a:pPr>
            <a:endParaRPr lang="en-US" b="1">
              <a:latin typeface="Calibri"/>
              <a:ea typeface="Calibri"/>
              <a:cs typeface="Calibri"/>
            </a:endParaRPr>
          </a:p>
          <a:p>
            <a:pPr>
              <a:spcBef>
                <a:spcPts val="0"/>
              </a:spcBef>
            </a:pPr>
            <a:endParaRPr lang="en-US" b="1">
              <a:latin typeface="Calibri"/>
              <a:ea typeface="Calibri"/>
              <a:cs typeface="Calibri"/>
            </a:endParaRPr>
          </a:p>
          <a:p>
            <a:pPr>
              <a:spcBef>
                <a:spcPts val="0"/>
              </a:spcBef>
            </a:pPr>
            <a:r>
              <a:rPr lang="en-US"/>
              <a:t>University of Colorado </a:t>
            </a:r>
            <a:r>
              <a:rPr lang="en-US" err="1"/>
              <a:t>Colorado</a:t>
            </a:r>
            <a:r>
              <a:rPr lang="en-US"/>
              <a:t> Springs (UCCS)</a:t>
            </a:r>
            <a:endParaRPr lang="en-US" b="1">
              <a:latin typeface="Calibri"/>
              <a:ea typeface="Calibri"/>
              <a:cs typeface="Calibri"/>
            </a:endParaRPr>
          </a:p>
        </p:txBody>
      </p:sp>
      <p:sp>
        <p:nvSpPr>
          <p:cNvPr id="4" name="TextBox 1">
            <a:extLst>
              <a:ext uri="{FF2B5EF4-FFF2-40B4-BE49-F238E27FC236}">
                <a16:creationId xmlns:a16="http://schemas.microsoft.com/office/drawing/2014/main" id="{23017D99-3D2A-E0CE-054E-E32FE8E968E6}"/>
              </a:ext>
            </a:extLst>
          </p:cNvPr>
          <p:cNvSpPr txBox="1"/>
          <p:nvPr/>
        </p:nvSpPr>
        <p:spPr>
          <a:xfrm>
            <a:off x="20320" y="6407876"/>
            <a:ext cx="12181838" cy="438582"/>
          </a:xfrm>
          <a:prstGeom prst="rect">
            <a:avLst/>
          </a:prstGeom>
          <a:noFill/>
        </p:spPr>
        <p:txBody>
          <a:bodyPr rot="0" spcFirstLastPara="0" vert="horz" wrap="square" lIns="91440" tIns="45720" rIns="91440" bIns="4572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a:solidFill>
                  <a:srgbClr val="767676"/>
                </a:solidFill>
                <a:latin typeface="Aptos Display"/>
                <a:ea typeface="Calibri"/>
                <a:cs typeface="Calibri"/>
              </a:rPr>
              <a:t>Himon Thakur</a:t>
            </a:r>
            <a:r>
              <a:rPr lang="en-US" sz="1200">
                <a:solidFill>
                  <a:srgbClr val="767676"/>
                </a:solidFill>
                <a:latin typeface="Aptos Display"/>
                <a:ea typeface="Calibri"/>
                <a:cs typeface="Calibri"/>
              </a:rPr>
              <a:t> (</a:t>
            </a:r>
            <a:r>
              <a:rPr lang="en-US" sz="1200">
                <a:solidFill>
                  <a:srgbClr val="767676"/>
                </a:solidFill>
                <a:latin typeface="Aptos Display"/>
                <a:ea typeface="Calibri"/>
                <a:cs typeface="Calibri"/>
                <a:hlinkClick r:id="rId2"/>
              </a:rPr>
              <a:t>hthakur@uccs.edu</a:t>
            </a:r>
            <a:r>
              <a:rPr lang="en-US" sz="1200" i="1">
                <a:solidFill>
                  <a:srgbClr val="767676"/>
                </a:solidFill>
                <a:latin typeface="Aptos Display"/>
                <a:ea typeface="Calibri"/>
                <a:cs typeface="Calibri"/>
              </a:rPr>
              <a:t>); </a:t>
            </a:r>
            <a:r>
              <a:rPr lang="en-US" sz="1200" b="1">
                <a:solidFill>
                  <a:srgbClr val="767676"/>
                </a:solidFill>
                <a:latin typeface="Aptos Display"/>
                <a:ea typeface="Calibri"/>
                <a:cs typeface="Calibri"/>
              </a:rPr>
              <a:t>CC BY-NC-SA 4.0;</a:t>
            </a:r>
            <a:endParaRPr lang="en-US" sz="1200">
              <a:solidFill>
                <a:srgbClr val="000000"/>
              </a:solidFill>
              <a:latin typeface="Aptos Display"/>
              <a:ea typeface="Calibri"/>
              <a:cs typeface="Calibri"/>
            </a:endParaRPr>
          </a:p>
          <a:p>
            <a:pPr algn="ctr"/>
            <a:r>
              <a:rPr lang="en-US" sz="1050" i="1">
                <a:solidFill>
                  <a:srgbClr val="767676"/>
                </a:solidFill>
                <a:latin typeface="Aptos Display"/>
                <a:ea typeface="Calibri"/>
                <a:cs typeface="Calibri"/>
              </a:rPr>
              <a:t>Special Thanks to Dr. Keith Paarpong and Dr. Xi Tan.</a:t>
            </a:r>
            <a:endParaRPr lang="en-US" sz="1050">
              <a:latin typeface="Aptos Display"/>
              <a:ea typeface="Calibri"/>
              <a:cs typeface="Calibri"/>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6786A-DB79-C2E9-C26B-F79D3B6651A5}"/>
              </a:ext>
            </a:extLst>
          </p:cNvPr>
          <p:cNvSpPr>
            <a:spLocks noGrp="1"/>
          </p:cNvSpPr>
          <p:nvPr>
            <p:ph type="title"/>
          </p:nvPr>
        </p:nvSpPr>
        <p:spPr>
          <a:xfrm>
            <a:off x="838199" y="-2960"/>
            <a:ext cx="11355091" cy="1299733"/>
          </a:xfrm>
        </p:spPr>
        <p:txBody>
          <a:bodyPr>
            <a:normAutofit/>
          </a:bodyPr>
          <a:lstStyle/>
          <a:p>
            <a:r>
              <a:rPr lang="en-US" sz="4500" b="1">
                <a:ea typeface="Calibri"/>
                <a:cs typeface="Calibri"/>
              </a:rPr>
              <a:t>Today’s Agenda.</a:t>
            </a:r>
          </a:p>
        </p:txBody>
      </p:sp>
      <p:sp>
        <p:nvSpPr>
          <p:cNvPr id="7" name="Slide Number Placeholder 6">
            <a:extLst>
              <a:ext uri="{FF2B5EF4-FFF2-40B4-BE49-F238E27FC236}">
                <a16:creationId xmlns:a16="http://schemas.microsoft.com/office/drawing/2014/main" id="{10FD16EA-AC3F-5FE5-C0A6-85FAB868C35B}"/>
              </a:ext>
            </a:extLst>
          </p:cNvPr>
          <p:cNvSpPr>
            <a:spLocks noGrp="1"/>
          </p:cNvSpPr>
          <p:nvPr>
            <p:ph type="sldNum" sz="quarter" idx="12"/>
          </p:nvPr>
        </p:nvSpPr>
        <p:spPr/>
        <p:txBody>
          <a:bodyPr/>
          <a:lstStyle/>
          <a:p>
            <a:fld id="{330EA680-D336-4FF7-8B7A-9848BB0A1C32}" type="slidenum">
              <a:rPr lang="en-US" smtClean="0"/>
              <a:t>2</a:t>
            </a:fld>
            <a:endParaRPr lang="en-US"/>
          </a:p>
        </p:txBody>
      </p:sp>
      <p:sp>
        <p:nvSpPr>
          <p:cNvPr id="25" name="TextBox 24">
            <a:extLst>
              <a:ext uri="{FF2B5EF4-FFF2-40B4-BE49-F238E27FC236}">
                <a16:creationId xmlns:a16="http://schemas.microsoft.com/office/drawing/2014/main" id="{D22DD545-B3A4-BBE9-77EB-C7F4C36452AF}"/>
              </a:ext>
            </a:extLst>
          </p:cNvPr>
          <p:cNvSpPr txBox="1"/>
          <p:nvPr/>
        </p:nvSpPr>
        <p:spPr>
          <a:xfrm>
            <a:off x="846030" y="1294312"/>
            <a:ext cx="10504655" cy="50623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457200" indent="-457200">
              <a:spcBef>
                <a:spcPct val="20000"/>
              </a:spcBef>
              <a:buFont typeface="Arial"/>
              <a:buChar char="•"/>
            </a:pPr>
            <a:r>
              <a:rPr lang="en-US" sz="2800" dirty="0">
                <a:latin typeface="Aptos"/>
                <a:ea typeface="Calibri"/>
                <a:cs typeface="Calibri"/>
              </a:rPr>
              <a:t>Understand RISC-V basic Assembly logical and </a:t>
            </a:r>
            <a:r>
              <a:rPr lang="en-US" sz="2800" dirty="0" err="1">
                <a:latin typeface="Aptos"/>
                <a:ea typeface="Calibri"/>
                <a:cs typeface="Calibri"/>
              </a:rPr>
              <a:t>arihtmetic</a:t>
            </a:r>
            <a:r>
              <a:rPr lang="en-US" sz="2800" dirty="0">
                <a:latin typeface="Aptos"/>
                <a:ea typeface="Calibri"/>
                <a:cs typeface="Calibri"/>
              </a:rPr>
              <a:t> operations.</a:t>
            </a:r>
            <a:endParaRPr lang="en-US" sz="2800" dirty="0">
              <a:solidFill>
                <a:srgbClr val="000000"/>
              </a:solidFill>
              <a:latin typeface="Aptos"/>
              <a:ea typeface="Calibri"/>
              <a:cs typeface="Calibri"/>
            </a:endParaRPr>
          </a:p>
          <a:p>
            <a:pPr marL="457200" indent="-457200">
              <a:buFont typeface="Arial"/>
              <a:buChar char="•"/>
            </a:pPr>
            <a:r>
              <a:rPr lang="en-US" sz="2800" dirty="0">
                <a:ea typeface="+mn-lt"/>
                <a:cs typeface="+mn-lt"/>
              </a:rPr>
              <a:t>Signed and unsigned numbers</a:t>
            </a:r>
            <a:endParaRPr lang="en-US" dirty="0">
              <a:ea typeface="+mn-lt"/>
              <a:cs typeface="+mn-lt"/>
            </a:endParaRPr>
          </a:p>
          <a:p>
            <a:pPr marL="457200" indent="-457200">
              <a:buFont typeface="Arial"/>
              <a:buChar char="•"/>
            </a:pPr>
            <a:r>
              <a:rPr lang="en-US" sz="2800" dirty="0">
                <a:ea typeface="+mn-lt"/>
                <a:cs typeface="+mn-lt"/>
              </a:rPr>
              <a:t>1's and 2's complement</a:t>
            </a:r>
          </a:p>
          <a:p>
            <a:pPr marL="285750" indent="-285750">
              <a:buFont typeface="Arial"/>
              <a:buChar char="•"/>
            </a:pPr>
            <a:endParaRPr lang="en-US"/>
          </a:p>
        </p:txBody>
      </p:sp>
    </p:spTree>
    <p:extLst>
      <p:ext uri="{BB962C8B-B14F-4D97-AF65-F5344CB8AC3E}">
        <p14:creationId xmlns:p14="http://schemas.microsoft.com/office/powerpoint/2010/main" val="2096135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8">
            <a:extLst>
              <a:ext uri="{FF2B5EF4-FFF2-40B4-BE49-F238E27FC236}">
                <a16:creationId xmlns:a16="http://schemas.microsoft.com/office/drawing/2014/main" id="{BE25FA21-A741-A2C3-3086-72BCC738E657}"/>
              </a:ext>
            </a:extLst>
          </p:cNvPr>
          <p:cNvSpPr>
            <a:spLocks noGrp="1" noChangeArrowheads="1"/>
          </p:cNvSpPr>
          <p:nvPr>
            <p:ph type="title"/>
          </p:nvPr>
        </p:nvSpPr>
        <p:spPr/>
        <p:txBody>
          <a:bodyPr lIns="91440" tIns="45720" rIns="91440" bIns="45720" anchor="t"/>
          <a:lstStyle/>
          <a:p>
            <a:r>
              <a:rPr lang="en-US" altLang="en-US" dirty="0">
                <a:solidFill>
                  <a:schemeClr val="tx1"/>
                </a:solidFill>
              </a:rPr>
              <a:t>Unsigned Binary Integers (§ 2.4)</a:t>
            </a:r>
            <a:endParaRPr lang="en-AU" altLang="en-US">
              <a:solidFill>
                <a:schemeClr val="tx1"/>
              </a:solidFill>
              <a:ea typeface="Calibri"/>
            </a:endParaRPr>
          </a:p>
        </p:txBody>
      </p:sp>
      <p:sp>
        <p:nvSpPr>
          <p:cNvPr id="28676" name="Rectangle 9">
            <a:extLst>
              <a:ext uri="{FF2B5EF4-FFF2-40B4-BE49-F238E27FC236}">
                <a16:creationId xmlns:a16="http://schemas.microsoft.com/office/drawing/2014/main" id="{F5BBC03C-98DC-0F8E-976A-396F35003294}"/>
              </a:ext>
            </a:extLst>
          </p:cNvPr>
          <p:cNvSpPr>
            <a:spLocks noGrp="1" noChangeArrowheads="1"/>
          </p:cNvSpPr>
          <p:nvPr>
            <p:ph type="body" idx="1"/>
          </p:nvPr>
        </p:nvSpPr>
        <p:spPr>
          <a:xfrm>
            <a:off x="383104" y="1125538"/>
            <a:ext cx="10095986" cy="647700"/>
          </a:xfrm>
        </p:spPr>
        <p:txBody>
          <a:bodyPr/>
          <a:lstStyle/>
          <a:p>
            <a:pPr eaLnBrk="1" hangingPunct="1"/>
            <a:r>
              <a:rPr lang="en-US" altLang="en-US" dirty="0"/>
              <a:t>Given an n-bit number, x</a:t>
            </a:r>
            <a:r>
              <a:rPr lang="en-US" altLang="en-US" baseline="-25000" dirty="0"/>
              <a:t>i</a:t>
            </a:r>
            <a:r>
              <a:rPr lang="en-US" altLang="en-US" dirty="0"/>
              <a:t> = 0 or 1</a:t>
            </a:r>
            <a:endParaRPr lang="en-AU" altLang="en-US" dirty="0"/>
          </a:p>
        </p:txBody>
      </p:sp>
      <p:graphicFrame>
        <p:nvGraphicFramePr>
          <p:cNvPr id="28677" name="Object 4">
            <a:extLst>
              <a:ext uri="{FF2B5EF4-FFF2-40B4-BE49-F238E27FC236}">
                <a16:creationId xmlns:a16="http://schemas.microsoft.com/office/drawing/2014/main" id="{010A6A6A-EC93-CAB4-95BA-F35D48935016}"/>
              </a:ext>
            </a:extLst>
          </p:cNvPr>
          <p:cNvGraphicFramePr>
            <a:graphicFrameLocks noChangeAspect="1"/>
          </p:cNvGraphicFramePr>
          <p:nvPr>
            <p:extLst>
              <p:ext uri="{D42A27DB-BD31-4B8C-83A1-F6EECF244321}">
                <p14:modId xmlns:p14="http://schemas.microsoft.com/office/powerpoint/2010/main" val="3953303954"/>
              </p:ext>
            </p:extLst>
          </p:nvPr>
        </p:nvGraphicFramePr>
        <p:xfrm>
          <a:off x="2971801" y="1844675"/>
          <a:ext cx="6010275" cy="579438"/>
        </p:xfrm>
        <a:graphic>
          <a:graphicData uri="http://schemas.openxmlformats.org/presentationml/2006/ole">
            <mc:AlternateContent xmlns:mc="http://schemas.openxmlformats.org/markup-compatibility/2006">
              <mc:Choice xmlns:v="urn:schemas-microsoft-com:vml" Requires="v">
                <p:oleObj name="Equation" r:id="rId3" imgW="57632600" imgH="5562600" progId="Equation.3">
                  <p:embed/>
                </p:oleObj>
              </mc:Choice>
              <mc:Fallback>
                <p:oleObj name="Equation" r:id="rId3" imgW="57632600" imgH="5562600" progId="Equation.3">
                  <p:embed/>
                  <p:pic>
                    <p:nvPicPr>
                      <p:cNvPr id="28677" name="Object 4">
                        <a:extLst>
                          <a:ext uri="{FF2B5EF4-FFF2-40B4-BE49-F238E27FC236}">
                            <a16:creationId xmlns:a16="http://schemas.microsoft.com/office/drawing/2014/main" id="{010A6A6A-EC93-CAB4-95BA-F35D489350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1" y="1844675"/>
                        <a:ext cx="6010275" cy="579438"/>
                      </a:xfrm>
                      <a:prstGeom prst="rect">
                        <a:avLst/>
                      </a:prstGeom>
                      <a:solidFill>
                        <a:schemeClr val="accent2"/>
                      </a:solidFill>
                      <a:ln>
                        <a:noFill/>
                      </a:ln>
                      <a:effectLst/>
                    </p:spPr>
                  </p:pic>
                </p:oleObj>
              </mc:Fallback>
            </mc:AlternateContent>
          </a:graphicData>
        </a:graphic>
      </p:graphicFrame>
      <p:sp>
        <p:nvSpPr>
          <p:cNvPr id="28678" name="Rectangle 5">
            <a:extLst>
              <a:ext uri="{FF2B5EF4-FFF2-40B4-BE49-F238E27FC236}">
                <a16:creationId xmlns:a16="http://schemas.microsoft.com/office/drawing/2014/main" id="{1C67EA23-7EE0-21CA-8296-6D9B51236DAE}"/>
              </a:ext>
            </a:extLst>
          </p:cNvPr>
          <p:cNvSpPr>
            <a:spLocks noChangeArrowheads="1"/>
          </p:cNvSpPr>
          <p:nvPr/>
        </p:nvSpPr>
        <p:spPr bwMode="auto">
          <a:xfrm>
            <a:off x="381000" y="2565401"/>
            <a:ext cx="10107613"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eaLnBrk="1" hangingPunct="1">
              <a:buClr>
                <a:schemeClr val="tx2"/>
              </a:buClr>
            </a:pPr>
            <a:r>
              <a:rPr lang="en-US" altLang="en-US" dirty="0">
                <a:latin typeface="+mn-lt"/>
              </a:rPr>
              <a:t>Range: 0 to +2</a:t>
            </a:r>
            <a:r>
              <a:rPr lang="en-US" altLang="en-US" baseline="30000" dirty="0">
                <a:latin typeface="+mn-lt"/>
              </a:rPr>
              <a:t>n</a:t>
            </a:r>
            <a:r>
              <a:rPr lang="en-US" altLang="en-US" dirty="0">
                <a:latin typeface="+mn-lt"/>
              </a:rPr>
              <a:t> – 1</a:t>
            </a:r>
          </a:p>
          <a:p>
            <a:pPr eaLnBrk="1" hangingPunct="1">
              <a:buClr>
                <a:schemeClr val="tx2"/>
              </a:buClr>
            </a:pPr>
            <a:r>
              <a:rPr lang="en-US" altLang="en-US" dirty="0">
                <a:latin typeface="+mn-lt"/>
              </a:rPr>
              <a:t>Example</a:t>
            </a:r>
          </a:p>
          <a:p>
            <a:pPr lvl="1" eaLnBrk="1" hangingPunct="1">
              <a:buClr>
                <a:schemeClr val="tx2"/>
              </a:buClr>
            </a:pPr>
            <a:r>
              <a:rPr lang="en-US" altLang="en-US" sz="2400" dirty="0">
                <a:latin typeface="+mn-lt"/>
              </a:rPr>
              <a:t>0000 0000 … 0000 1011</a:t>
            </a:r>
            <a:r>
              <a:rPr lang="en-US" altLang="en-US" sz="2400" baseline="-25000" dirty="0">
                <a:latin typeface="+mn-lt"/>
              </a:rPr>
              <a:t>2</a:t>
            </a:r>
            <a:br>
              <a:rPr lang="en-US" altLang="en-US" sz="2400" dirty="0">
                <a:latin typeface="+mn-lt"/>
              </a:rPr>
            </a:br>
            <a:r>
              <a:rPr lang="en-US" altLang="en-US" sz="2400" dirty="0">
                <a:latin typeface="+mn-lt"/>
              </a:rPr>
              <a:t>= 0 + … + 1×2</a:t>
            </a:r>
            <a:r>
              <a:rPr lang="en-US" altLang="en-US" sz="2400" baseline="30000" dirty="0">
                <a:latin typeface="+mn-lt"/>
              </a:rPr>
              <a:t>3</a:t>
            </a:r>
            <a:r>
              <a:rPr lang="en-US" altLang="en-US" sz="2400" dirty="0">
                <a:latin typeface="+mn-lt"/>
              </a:rPr>
              <a:t> + 0×2</a:t>
            </a:r>
            <a:r>
              <a:rPr lang="en-US" altLang="en-US" sz="2400" baseline="30000" dirty="0">
                <a:latin typeface="+mn-lt"/>
              </a:rPr>
              <a:t>2</a:t>
            </a:r>
            <a:r>
              <a:rPr lang="en-US" altLang="en-US" sz="2400" dirty="0">
                <a:latin typeface="+mn-lt"/>
              </a:rPr>
              <a:t> +1×2</a:t>
            </a:r>
            <a:r>
              <a:rPr lang="en-US" altLang="en-US" sz="2400" baseline="30000" dirty="0">
                <a:latin typeface="+mn-lt"/>
              </a:rPr>
              <a:t>1</a:t>
            </a:r>
            <a:r>
              <a:rPr lang="en-US" altLang="en-US" sz="2400" dirty="0">
                <a:latin typeface="+mn-lt"/>
              </a:rPr>
              <a:t> +1×2</a:t>
            </a:r>
            <a:r>
              <a:rPr lang="en-US" altLang="en-US" sz="2400" baseline="30000" dirty="0">
                <a:latin typeface="+mn-lt"/>
              </a:rPr>
              <a:t>0</a:t>
            </a:r>
            <a:br>
              <a:rPr lang="en-US" altLang="en-US" sz="2400" dirty="0">
                <a:latin typeface="+mn-lt"/>
              </a:rPr>
            </a:br>
            <a:r>
              <a:rPr lang="en-US" altLang="en-US" sz="2400" dirty="0">
                <a:latin typeface="+mn-lt"/>
              </a:rPr>
              <a:t>= 0 + … + 8 + 0 + 2 + 1 = 11</a:t>
            </a:r>
            <a:r>
              <a:rPr lang="en-US" altLang="en-US" sz="2400" baseline="-25000" dirty="0">
                <a:latin typeface="+mn-lt"/>
              </a:rPr>
              <a:t>10</a:t>
            </a:r>
            <a:endParaRPr lang="en-US" altLang="en-US" sz="2400"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67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678">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8AAF9-6077-792C-3D54-E99E3B7ECDDE}"/>
            </a:ext>
          </a:extLst>
        </p:cNvPr>
        <p:cNvGrpSpPr/>
        <p:nvPr/>
      </p:nvGrpSpPr>
      <p:grpSpPr>
        <a:xfrm>
          <a:off x="0" y="0"/>
          <a:ext cx="0" cy="0"/>
          <a:chOff x="0" y="0"/>
          <a:chExt cx="0" cy="0"/>
        </a:xfrm>
      </p:grpSpPr>
      <p:sp>
        <p:nvSpPr>
          <p:cNvPr id="28675" name="Rectangle 8">
            <a:extLst>
              <a:ext uri="{FF2B5EF4-FFF2-40B4-BE49-F238E27FC236}">
                <a16:creationId xmlns:a16="http://schemas.microsoft.com/office/drawing/2014/main" id="{F36DD168-0A14-BB4A-F32D-F32CA02E8C2B}"/>
              </a:ext>
            </a:extLst>
          </p:cNvPr>
          <p:cNvSpPr>
            <a:spLocks noGrp="1" noChangeArrowheads="1"/>
          </p:cNvSpPr>
          <p:nvPr>
            <p:ph type="title"/>
          </p:nvPr>
        </p:nvSpPr>
        <p:spPr/>
        <p:txBody>
          <a:bodyPr lIns="91440" tIns="45720" rIns="91440" bIns="45720" anchor="t"/>
          <a:lstStyle/>
          <a:p>
            <a:r>
              <a:rPr lang="en-US" altLang="en-US" sz="4400" dirty="0">
                <a:solidFill>
                  <a:schemeClr val="tx1"/>
                </a:solidFill>
              </a:rPr>
              <a:t>2s-Complement Signed Integers</a:t>
            </a:r>
            <a:endParaRPr lang="en-AU" altLang="en-US">
              <a:solidFill>
                <a:schemeClr val="tx1"/>
              </a:solidFill>
              <a:ea typeface="Calibri"/>
            </a:endParaRPr>
          </a:p>
        </p:txBody>
      </p:sp>
      <p:sp>
        <p:nvSpPr>
          <p:cNvPr id="28676" name="Rectangle 9">
            <a:extLst>
              <a:ext uri="{FF2B5EF4-FFF2-40B4-BE49-F238E27FC236}">
                <a16:creationId xmlns:a16="http://schemas.microsoft.com/office/drawing/2014/main" id="{4A5DF4C5-C87C-B903-D9AE-0A292A442F76}"/>
              </a:ext>
            </a:extLst>
          </p:cNvPr>
          <p:cNvSpPr>
            <a:spLocks noGrp="1" noChangeArrowheads="1"/>
          </p:cNvSpPr>
          <p:nvPr>
            <p:ph type="body" idx="1"/>
          </p:nvPr>
        </p:nvSpPr>
        <p:spPr>
          <a:xfrm>
            <a:off x="383104" y="1125538"/>
            <a:ext cx="10095986" cy="647700"/>
          </a:xfrm>
        </p:spPr>
        <p:txBody>
          <a:bodyPr/>
          <a:lstStyle/>
          <a:p>
            <a:pPr eaLnBrk="1" hangingPunct="1"/>
            <a:r>
              <a:rPr lang="en-US" altLang="en-US" dirty="0"/>
              <a:t>Given an n-bit number, x</a:t>
            </a:r>
            <a:r>
              <a:rPr lang="en-US" altLang="en-US" baseline="-25000" dirty="0"/>
              <a:t>i</a:t>
            </a:r>
            <a:r>
              <a:rPr lang="en-US" altLang="en-US" dirty="0"/>
              <a:t> = 0 or 1</a:t>
            </a:r>
            <a:endParaRPr lang="en-AU" altLang="en-US" dirty="0"/>
          </a:p>
        </p:txBody>
      </p:sp>
      <p:sp>
        <p:nvSpPr>
          <p:cNvPr id="28678" name="Rectangle 5">
            <a:extLst>
              <a:ext uri="{FF2B5EF4-FFF2-40B4-BE49-F238E27FC236}">
                <a16:creationId xmlns:a16="http://schemas.microsoft.com/office/drawing/2014/main" id="{F0354DF9-960C-B8D0-D631-DA13EA2D6868}"/>
              </a:ext>
            </a:extLst>
          </p:cNvPr>
          <p:cNvSpPr>
            <a:spLocks noChangeArrowheads="1"/>
          </p:cNvSpPr>
          <p:nvPr/>
        </p:nvSpPr>
        <p:spPr bwMode="auto">
          <a:xfrm>
            <a:off x="381000" y="2565401"/>
            <a:ext cx="10107613"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eaLnBrk="1" hangingPunct="1">
              <a:buClr>
                <a:schemeClr val="tx2"/>
              </a:buClr>
            </a:pPr>
            <a:r>
              <a:rPr lang="en-US" altLang="en-US" dirty="0">
                <a:latin typeface="+mn-lt"/>
              </a:rPr>
              <a:t>Range: –2</a:t>
            </a:r>
            <a:r>
              <a:rPr lang="en-US" altLang="en-US" baseline="30000" dirty="0">
                <a:latin typeface="+mn-lt"/>
              </a:rPr>
              <a:t>n – 1</a:t>
            </a:r>
            <a:r>
              <a:rPr lang="en-US" altLang="en-US" dirty="0">
                <a:latin typeface="+mn-lt"/>
              </a:rPr>
              <a:t> to +2</a:t>
            </a:r>
            <a:r>
              <a:rPr lang="en-US" altLang="en-US" baseline="30000" dirty="0">
                <a:latin typeface="+mn-lt"/>
              </a:rPr>
              <a:t>n – 1</a:t>
            </a:r>
            <a:r>
              <a:rPr lang="en-US" altLang="en-US" dirty="0">
                <a:latin typeface="+mn-lt"/>
              </a:rPr>
              <a:t> – 1</a:t>
            </a:r>
          </a:p>
          <a:p>
            <a:pPr eaLnBrk="1" hangingPunct="1">
              <a:buClr>
                <a:schemeClr val="tx2"/>
              </a:buClr>
            </a:pPr>
            <a:r>
              <a:rPr lang="en-US" altLang="en-US" dirty="0">
                <a:latin typeface="+mn-lt"/>
              </a:rPr>
              <a:t>Example</a:t>
            </a:r>
          </a:p>
          <a:p>
            <a:pPr lvl="1" eaLnBrk="1" hangingPunct="1">
              <a:buClr>
                <a:schemeClr val="tx2"/>
              </a:buClr>
            </a:pPr>
            <a:r>
              <a:rPr lang="en-US" altLang="en-US" sz="2400" dirty="0">
                <a:latin typeface="+mn-lt"/>
              </a:rPr>
              <a:t>1111 1111 … 1111 1100</a:t>
            </a:r>
            <a:r>
              <a:rPr lang="en-US" altLang="en-US" sz="2400" baseline="-25000" dirty="0">
                <a:latin typeface="+mn-lt"/>
              </a:rPr>
              <a:t>2</a:t>
            </a:r>
            <a:br>
              <a:rPr lang="en-US" altLang="en-US" sz="2400" dirty="0">
                <a:latin typeface="+mn-lt"/>
              </a:rPr>
            </a:br>
            <a:r>
              <a:rPr lang="en-US" altLang="en-US" sz="2400" dirty="0">
                <a:latin typeface="+mn-lt"/>
              </a:rPr>
              <a:t>= –1×2</a:t>
            </a:r>
            <a:r>
              <a:rPr lang="en-US" altLang="en-US" sz="2400" baseline="30000" dirty="0">
                <a:latin typeface="+mn-lt"/>
              </a:rPr>
              <a:t>31</a:t>
            </a:r>
            <a:r>
              <a:rPr lang="en-US" altLang="en-US" sz="2400" dirty="0">
                <a:latin typeface="+mn-lt"/>
              </a:rPr>
              <a:t> + 1×2</a:t>
            </a:r>
            <a:r>
              <a:rPr lang="en-US" altLang="en-US" sz="2400" baseline="30000" dirty="0">
                <a:latin typeface="+mn-lt"/>
              </a:rPr>
              <a:t>30</a:t>
            </a:r>
            <a:r>
              <a:rPr lang="en-US" altLang="en-US" sz="2400" dirty="0">
                <a:latin typeface="+mn-lt"/>
              </a:rPr>
              <a:t> + … + 1×2</a:t>
            </a:r>
            <a:r>
              <a:rPr lang="en-US" altLang="en-US" sz="2400" baseline="30000" dirty="0">
                <a:latin typeface="+mn-lt"/>
              </a:rPr>
              <a:t>2</a:t>
            </a:r>
            <a:r>
              <a:rPr lang="en-US" altLang="en-US" sz="2400" dirty="0">
                <a:latin typeface="+mn-lt"/>
              </a:rPr>
              <a:t> +0×2</a:t>
            </a:r>
            <a:r>
              <a:rPr lang="en-US" altLang="en-US" sz="2400" baseline="30000" dirty="0">
                <a:latin typeface="+mn-lt"/>
              </a:rPr>
              <a:t>1</a:t>
            </a:r>
            <a:r>
              <a:rPr lang="en-US" altLang="en-US" sz="2400" dirty="0">
                <a:latin typeface="+mn-lt"/>
              </a:rPr>
              <a:t> +0×2</a:t>
            </a:r>
            <a:r>
              <a:rPr lang="en-US" altLang="en-US" sz="2400" baseline="30000" dirty="0">
                <a:latin typeface="+mn-lt"/>
              </a:rPr>
              <a:t>0</a:t>
            </a:r>
            <a:br>
              <a:rPr lang="en-US" altLang="en-US" sz="2400" dirty="0">
                <a:latin typeface="+mn-lt"/>
              </a:rPr>
            </a:br>
            <a:r>
              <a:rPr lang="en-US" altLang="en-US" sz="2400" dirty="0">
                <a:latin typeface="+mn-lt"/>
              </a:rPr>
              <a:t>= –2,147,483,648 + 2,147,483,644 = –4</a:t>
            </a:r>
            <a:r>
              <a:rPr lang="en-US" altLang="en-US" sz="2400" baseline="-25000" dirty="0">
                <a:latin typeface="+mn-lt"/>
              </a:rPr>
              <a:t>10</a:t>
            </a:r>
            <a:endParaRPr lang="en-US" altLang="en-US" sz="2400" dirty="0">
              <a:latin typeface="+mn-lt"/>
            </a:endParaRPr>
          </a:p>
        </p:txBody>
      </p:sp>
      <p:graphicFrame>
        <p:nvGraphicFramePr>
          <p:cNvPr id="3" name="Object 4">
            <a:extLst>
              <a:ext uri="{FF2B5EF4-FFF2-40B4-BE49-F238E27FC236}">
                <a16:creationId xmlns:a16="http://schemas.microsoft.com/office/drawing/2014/main" id="{C9ED0E6D-6D90-D9F4-B30A-C9E9D52A72C0}"/>
              </a:ext>
            </a:extLst>
          </p:cNvPr>
          <p:cNvGraphicFramePr>
            <a:graphicFrameLocks noChangeAspect="1"/>
          </p:cNvGraphicFramePr>
          <p:nvPr>
            <p:extLst>
              <p:ext uri="{D42A27DB-BD31-4B8C-83A1-F6EECF244321}">
                <p14:modId xmlns:p14="http://schemas.microsoft.com/office/powerpoint/2010/main" val="1257058945"/>
              </p:ext>
            </p:extLst>
          </p:nvPr>
        </p:nvGraphicFramePr>
        <p:xfrm>
          <a:off x="2957513" y="1844675"/>
          <a:ext cx="6223000" cy="579438"/>
        </p:xfrm>
        <a:graphic>
          <a:graphicData uri="http://schemas.openxmlformats.org/presentationml/2006/ole">
            <mc:AlternateContent xmlns:mc="http://schemas.openxmlformats.org/markup-compatibility/2006">
              <mc:Choice xmlns:v="urn:schemas-microsoft-com:vml" Requires="v">
                <p:oleObj name="Equation" r:id="rId3" imgW="59690000" imgH="5562600" progId="Equation.3">
                  <p:embed/>
                </p:oleObj>
              </mc:Choice>
              <mc:Fallback>
                <p:oleObj name="Equation" r:id="rId3" imgW="59690000" imgH="5562600" progId="Equation.3">
                  <p:embed/>
                  <p:pic>
                    <p:nvPicPr>
                      <p:cNvPr id="3" name="Object 4">
                        <a:extLst>
                          <a:ext uri="{FF2B5EF4-FFF2-40B4-BE49-F238E27FC236}">
                            <a16:creationId xmlns:a16="http://schemas.microsoft.com/office/drawing/2014/main" id="{C9ED0E6D-6D90-D9F4-B30A-C9E9D52A72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7513" y="1844675"/>
                        <a:ext cx="6223000" cy="579438"/>
                      </a:xfrm>
                      <a:prstGeom prst="rect">
                        <a:avLst/>
                      </a:prstGeom>
                      <a:solidFill>
                        <a:schemeClr val="accent2"/>
                      </a:solidFill>
                      <a:ln>
                        <a:noFill/>
                      </a:ln>
                      <a:effectLst/>
                    </p:spPr>
                  </p:pic>
                </p:oleObj>
              </mc:Fallback>
            </mc:AlternateContent>
          </a:graphicData>
        </a:graphic>
      </p:graphicFrame>
    </p:spTree>
    <p:extLst>
      <p:ext uri="{BB962C8B-B14F-4D97-AF65-F5344CB8AC3E}">
        <p14:creationId xmlns:p14="http://schemas.microsoft.com/office/powerpoint/2010/main" val="4199242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67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678">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DF06-D8EF-2B26-8240-371137AB8C7C}"/>
            </a:ext>
          </a:extLst>
        </p:cNvPr>
        <p:cNvGrpSpPr/>
        <p:nvPr/>
      </p:nvGrpSpPr>
      <p:grpSpPr>
        <a:xfrm>
          <a:off x="0" y="0"/>
          <a:ext cx="0" cy="0"/>
          <a:chOff x="0" y="0"/>
          <a:chExt cx="0" cy="0"/>
        </a:xfrm>
      </p:grpSpPr>
      <p:sp>
        <p:nvSpPr>
          <p:cNvPr id="28675" name="Rectangle 8">
            <a:extLst>
              <a:ext uri="{FF2B5EF4-FFF2-40B4-BE49-F238E27FC236}">
                <a16:creationId xmlns:a16="http://schemas.microsoft.com/office/drawing/2014/main" id="{63270F8F-9BF0-71FE-82F1-ED7067A39E31}"/>
              </a:ext>
            </a:extLst>
          </p:cNvPr>
          <p:cNvSpPr>
            <a:spLocks noGrp="1" noChangeArrowheads="1"/>
          </p:cNvSpPr>
          <p:nvPr>
            <p:ph type="title"/>
          </p:nvPr>
        </p:nvSpPr>
        <p:spPr/>
        <p:txBody>
          <a:bodyPr lIns="91440" tIns="45720" rIns="91440" bIns="45720" anchor="t"/>
          <a:lstStyle/>
          <a:p>
            <a:r>
              <a:rPr lang="en-US" altLang="en-US" sz="4400" dirty="0">
                <a:solidFill>
                  <a:schemeClr val="tx1"/>
                </a:solidFill>
              </a:rPr>
              <a:t>2s-Complement Signed Integers</a:t>
            </a:r>
            <a:endParaRPr lang="en-AU" altLang="en-US">
              <a:solidFill>
                <a:schemeClr val="tx1"/>
              </a:solidFill>
              <a:ea typeface="Calibri"/>
            </a:endParaRPr>
          </a:p>
        </p:txBody>
      </p:sp>
      <p:sp>
        <p:nvSpPr>
          <p:cNvPr id="28676" name="Rectangle 9">
            <a:extLst>
              <a:ext uri="{FF2B5EF4-FFF2-40B4-BE49-F238E27FC236}">
                <a16:creationId xmlns:a16="http://schemas.microsoft.com/office/drawing/2014/main" id="{82843740-7368-6BFF-305F-4C9891C7CD7F}"/>
              </a:ext>
            </a:extLst>
          </p:cNvPr>
          <p:cNvSpPr>
            <a:spLocks noGrp="1" noChangeArrowheads="1"/>
          </p:cNvSpPr>
          <p:nvPr>
            <p:ph type="body" idx="1"/>
          </p:nvPr>
        </p:nvSpPr>
        <p:spPr>
          <a:xfrm>
            <a:off x="383104" y="1125538"/>
            <a:ext cx="11275496" cy="5046662"/>
          </a:xfrm>
        </p:spPr>
        <p:txBody>
          <a:bodyPr/>
          <a:lstStyle/>
          <a:p>
            <a:pPr>
              <a:lnSpc>
                <a:spcPct val="90000"/>
              </a:lnSpc>
              <a:tabLst>
                <a:tab pos="1341438" algn="l"/>
                <a:tab pos="2874963" algn="l"/>
              </a:tabLst>
            </a:pPr>
            <a:r>
              <a:rPr lang="en-US" altLang="en-US" sz="2800" dirty="0"/>
              <a:t>Bit 31 is sign bit</a:t>
            </a:r>
          </a:p>
          <a:p>
            <a:pPr lvl="1">
              <a:lnSpc>
                <a:spcPct val="90000"/>
              </a:lnSpc>
              <a:tabLst>
                <a:tab pos="1341438" algn="l"/>
                <a:tab pos="2874963" algn="l"/>
              </a:tabLst>
            </a:pPr>
            <a:r>
              <a:rPr lang="en-US" altLang="en-US" dirty="0"/>
              <a:t>1 for negative numbers</a:t>
            </a:r>
          </a:p>
          <a:p>
            <a:pPr lvl="1">
              <a:lnSpc>
                <a:spcPct val="90000"/>
              </a:lnSpc>
              <a:tabLst>
                <a:tab pos="1341438" algn="l"/>
                <a:tab pos="2874963" algn="l"/>
              </a:tabLst>
            </a:pPr>
            <a:r>
              <a:rPr lang="en-US" altLang="en-US" dirty="0"/>
              <a:t>0 for non-negative numbers</a:t>
            </a:r>
          </a:p>
          <a:p>
            <a:pPr>
              <a:lnSpc>
                <a:spcPct val="90000"/>
              </a:lnSpc>
              <a:tabLst>
                <a:tab pos="1341438" algn="l"/>
                <a:tab pos="2874963" algn="l"/>
              </a:tabLst>
            </a:pPr>
            <a:r>
              <a:rPr lang="en-AU" altLang="en-US" sz="2800" dirty="0"/>
              <a:t>–(–2</a:t>
            </a:r>
            <a:r>
              <a:rPr lang="en-AU" altLang="en-US" sz="2800" baseline="30000" dirty="0"/>
              <a:t>n – 1</a:t>
            </a:r>
            <a:r>
              <a:rPr lang="en-AU" altLang="en-US" sz="2800" dirty="0"/>
              <a:t>) can’t be represented</a:t>
            </a:r>
          </a:p>
          <a:p>
            <a:pPr>
              <a:lnSpc>
                <a:spcPct val="90000"/>
              </a:lnSpc>
              <a:tabLst>
                <a:tab pos="1341438" algn="l"/>
                <a:tab pos="2874963" algn="l"/>
              </a:tabLst>
            </a:pPr>
            <a:r>
              <a:rPr lang="en-US" altLang="en-US" sz="2800" dirty="0"/>
              <a:t>Non-negative numbers have the same unsigned and 2s-complement representation</a:t>
            </a:r>
            <a:endParaRPr lang="en-AU" altLang="en-US" sz="2800" dirty="0"/>
          </a:p>
          <a:p>
            <a:pPr>
              <a:lnSpc>
                <a:spcPct val="90000"/>
              </a:lnSpc>
              <a:tabLst>
                <a:tab pos="1341438" algn="l"/>
                <a:tab pos="2874963" algn="l"/>
              </a:tabLst>
            </a:pPr>
            <a:r>
              <a:rPr lang="en-US" altLang="en-US" sz="2800" dirty="0"/>
              <a:t>Some specific numbers</a:t>
            </a:r>
          </a:p>
          <a:p>
            <a:pPr lvl="1">
              <a:lnSpc>
                <a:spcPct val="90000"/>
              </a:lnSpc>
              <a:tabLst>
                <a:tab pos="1341438" algn="l"/>
                <a:tab pos="2874963" algn="l"/>
              </a:tabLst>
            </a:pPr>
            <a:r>
              <a:rPr lang="en-US" altLang="en-US" dirty="0"/>
              <a:t>  0:	0000 0000 … 0000</a:t>
            </a:r>
          </a:p>
          <a:p>
            <a:pPr lvl="1">
              <a:lnSpc>
                <a:spcPct val="90000"/>
              </a:lnSpc>
              <a:tabLst>
                <a:tab pos="1341438" algn="l"/>
                <a:tab pos="2874963" algn="l"/>
              </a:tabLst>
            </a:pPr>
            <a:r>
              <a:rPr lang="en-AU" altLang="en-US" dirty="0"/>
              <a:t>–1:	1111 1111 … 1111</a:t>
            </a:r>
          </a:p>
          <a:p>
            <a:pPr lvl="1">
              <a:lnSpc>
                <a:spcPct val="90000"/>
              </a:lnSpc>
              <a:tabLst>
                <a:tab pos="1341438" algn="l"/>
                <a:tab pos="2874963" algn="l"/>
              </a:tabLst>
            </a:pPr>
            <a:r>
              <a:rPr lang="en-US" altLang="en-US" dirty="0"/>
              <a:t>Most-negative:	1000 0000 … 0000</a:t>
            </a:r>
          </a:p>
          <a:p>
            <a:pPr lvl="1">
              <a:lnSpc>
                <a:spcPct val="90000"/>
              </a:lnSpc>
              <a:tabLst>
                <a:tab pos="1341438" algn="l"/>
                <a:tab pos="2874963" algn="l"/>
              </a:tabLst>
            </a:pPr>
            <a:r>
              <a:rPr lang="en-US" altLang="en-US" dirty="0"/>
              <a:t>Most-positive:	0111 1111 … 1111</a:t>
            </a:r>
            <a:endParaRPr lang="en-AU" altLang="en-US" dirty="0"/>
          </a:p>
        </p:txBody>
      </p:sp>
    </p:spTree>
    <p:extLst>
      <p:ext uri="{BB962C8B-B14F-4D97-AF65-F5344CB8AC3E}">
        <p14:creationId xmlns:p14="http://schemas.microsoft.com/office/powerpoint/2010/main" val="166144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6">
            <a:extLst>
              <a:ext uri="{FF2B5EF4-FFF2-40B4-BE49-F238E27FC236}">
                <a16:creationId xmlns:a16="http://schemas.microsoft.com/office/drawing/2014/main" id="{BC5FCB4A-859D-F6A4-C90E-5E07EC3A142D}"/>
              </a:ext>
            </a:extLst>
          </p:cNvPr>
          <p:cNvSpPr>
            <a:spLocks noGrp="1" noChangeArrowheads="1"/>
          </p:cNvSpPr>
          <p:nvPr>
            <p:ph type="title"/>
          </p:nvPr>
        </p:nvSpPr>
        <p:spPr/>
        <p:txBody>
          <a:bodyPr lIns="91440" tIns="45720" rIns="91440" bIns="45720" anchor="t"/>
          <a:lstStyle/>
          <a:p>
            <a:pPr eaLnBrk="1" hangingPunct="1"/>
            <a:r>
              <a:rPr lang="en-US" altLang="en-US" dirty="0">
                <a:solidFill>
                  <a:schemeClr val="tx1"/>
                </a:solidFill>
              </a:rPr>
              <a:t>Signed Negation</a:t>
            </a:r>
            <a:endParaRPr lang="en-AU" altLang="en-US" dirty="0">
              <a:solidFill>
                <a:schemeClr val="tx1"/>
              </a:solidFill>
              <a:ea typeface="Calibri"/>
            </a:endParaRPr>
          </a:p>
        </p:txBody>
      </p:sp>
      <p:sp>
        <p:nvSpPr>
          <p:cNvPr id="34820" name="Rectangle 7">
            <a:extLst>
              <a:ext uri="{FF2B5EF4-FFF2-40B4-BE49-F238E27FC236}">
                <a16:creationId xmlns:a16="http://schemas.microsoft.com/office/drawing/2014/main" id="{DCE1AB02-31EA-7365-6076-02A0617AE3C3}"/>
              </a:ext>
            </a:extLst>
          </p:cNvPr>
          <p:cNvSpPr>
            <a:spLocks noGrp="1" noChangeArrowheads="1"/>
          </p:cNvSpPr>
          <p:nvPr>
            <p:ph type="body" idx="1"/>
          </p:nvPr>
        </p:nvSpPr>
        <p:spPr>
          <a:xfrm>
            <a:off x="457200" y="1125538"/>
            <a:ext cx="10021889" cy="1295400"/>
          </a:xfrm>
        </p:spPr>
        <p:txBody>
          <a:bodyPr/>
          <a:lstStyle/>
          <a:p>
            <a:pPr eaLnBrk="1" hangingPunct="1"/>
            <a:r>
              <a:rPr lang="en-US" altLang="en-US" dirty="0"/>
              <a:t>Complement and add 1</a:t>
            </a:r>
          </a:p>
          <a:p>
            <a:pPr lvl="1" eaLnBrk="1" hangingPunct="1"/>
            <a:r>
              <a:rPr lang="en-US" altLang="en-US" dirty="0"/>
              <a:t>Complement means 1 </a:t>
            </a:r>
            <a:r>
              <a:rPr lang="en-US" altLang="en-US" dirty="0">
                <a:cs typeface="Arial" panose="020B0604020202020204" pitchFamily="34" charset="0"/>
              </a:rPr>
              <a:t>→ </a:t>
            </a:r>
            <a:r>
              <a:rPr lang="en-US" altLang="en-US" dirty="0"/>
              <a:t>0, 0 </a:t>
            </a:r>
            <a:r>
              <a:rPr lang="en-US" altLang="en-US" dirty="0">
                <a:cs typeface="Arial" panose="020B0604020202020204" pitchFamily="34" charset="0"/>
              </a:rPr>
              <a:t>→</a:t>
            </a:r>
            <a:r>
              <a:rPr lang="en-US" altLang="en-US" dirty="0"/>
              <a:t> 1</a:t>
            </a:r>
          </a:p>
        </p:txBody>
      </p:sp>
      <p:graphicFrame>
        <p:nvGraphicFramePr>
          <p:cNvPr id="34821" name="Object 4">
            <a:extLst>
              <a:ext uri="{FF2B5EF4-FFF2-40B4-BE49-F238E27FC236}">
                <a16:creationId xmlns:a16="http://schemas.microsoft.com/office/drawing/2014/main" id="{3929F1EC-ED0E-2939-A365-36AAD4C4DD06}"/>
              </a:ext>
            </a:extLst>
          </p:cNvPr>
          <p:cNvGraphicFramePr>
            <a:graphicFrameLocks noChangeAspect="1"/>
          </p:cNvGraphicFramePr>
          <p:nvPr>
            <p:extLst>
              <p:ext uri="{D42A27DB-BD31-4B8C-83A1-F6EECF244321}">
                <p14:modId xmlns:p14="http://schemas.microsoft.com/office/powerpoint/2010/main" val="1602832536"/>
              </p:ext>
            </p:extLst>
          </p:nvPr>
        </p:nvGraphicFramePr>
        <p:xfrm>
          <a:off x="3116264" y="2536825"/>
          <a:ext cx="3514725" cy="1143000"/>
        </p:xfrm>
        <a:graphic>
          <a:graphicData uri="http://schemas.openxmlformats.org/presentationml/2006/ole">
            <mc:AlternateContent xmlns:mc="http://schemas.openxmlformats.org/markup-compatibility/2006">
              <mc:Choice xmlns:v="urn:schemas-microsoft-com:vml" Requires="v">
                <p:oleObj name="Equation" r:id="rId3" imgW="35991800" imgH="11696700" progId="Equation.3">
                  <p:embed/>
                </p:oleObj>
              </mc:Choice>
              <mc:Fallback>
                <p:oleObj name="Equation" r:id="rId3" imgW="35991800" imgH="11696700" progId="Equation.3">
                  <p:embed/>
                  <p:pic>
                    <p:nvPicPr>
                      <p:cNvPr id="34821" name="Object 4">
                        <a:extLst>
                          <a:ext uri="{FF2B5EF4-FFF2-40B4-BE49-F238E27FC236}">
                            <a16:creationId xmlns:a16="http://schemas.microsoft.com/office/drawing/2014/main" id="{3929F1EC-ED0E-2939-A365-36AAD4C4DD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6264" y="2536825"/>
                        <a:ext cx="3514725" cy="1143000"/>
                      </a:xfrm>
                      <a:prstGeom prst="rect">
                        <a:avLst/>
                      </a:prstGeom>
                      <a:solidFill>
                        <a:schemeClr val="accent2"/>
                      </a:solidFill>
                      <a:ln>
                        <a:noFill/>
                      </a:ln>
                      <a:effectLst/>
                    </p:spPr>
                  </p:pic>
                </p:oleObj>
              </mc:Fallback>
            </mc:AlternateContent>
          </a:graphicData>
        </a:graphic>
      </p:graphicFrame>
      <p:sp>
        <p:nvSpPr>
          <p:cNvPr id="34822" name="Rectangle 5">
            <a:extLst>
              <a:ext uri="{FF2B5EF4-FFF2-40B4-BE49-F238E27FC236}">
                <a16:creationId xmlns:a16="http://schemas.microsoft.com/office/drawing/2014/main" id="{3CC084A9-E749-AB99-4118-B6FCAADBB2CB}"/>
              </a:ext>
            </a:extLst>
          </p:cNvPr>
          <p:cNvSpPr>
            <a:spLocks noChangeArrowheads="1"/>
          </p:cNvSpPr>
          <p:nvPr/>
        </p:nvSpPr>
        <p:spPr bwMode="auto">
          <a:xfrm>
            <a:off x="457200" y="3933826"/>
            <a:ext cx="10021889"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eaLnBrk="1" hangingPunct="1">
              <a:buClr>
                <a:schemeClr val="tx2"/>
              </a:buClr>
            </a:pPr>
            <a:r>
              <a:rPr lang="en-US" altLang="en-US" dirty="0"/>
              <a:t>Example: negate +2</a:t>
            </a:r>
          </a:p>
          <a:p>
            <a:pPr lvl="1" eaLnBrk="1" hangingPunct="1">
              <a:buClr>
                <a:schemeClr val="tx2"/>
              </a:buClr>
            </a:pPr>
            <a:r>
              <a:rPr lang="en-US" altLang="en-US" dirty="0"/>
              <a:t>+2 = 0000 0000 … 0010</a:t>
            </a:r>
            <a:r>
              <a:rPr lang="en-US" altLang="en-US" baseline="-25000" dirty="0"/>
              <a:t>two</a:t>
            </a:r>
            <a:endParaRPr lang="en-US" altLang="en-US" dirty="0"/>
          </a:p>
          <a:p>
            <a:pPr lvl="1" eaLnBrk="1" hangingPunct="1">
              <a:buClr>
                <a:schemeClr val="tx2"/>
              </a:buClr>
            </a:pPr>
            <a:r>
              <a:rPr lang="en-US" altLang="en-US" dirty="0"/>
              <a:t>–2 = 1111 1111 … 1101</a:t>
            </a:r>
            <a:r>
              <a:rPr lang="en-US" altLang="en-US" baseline="-25000" dirty="0"/>
              <a:t>two</a:t>
            </a:r>
            <a:r>
              <a:rPr lang="en-US" altLang="en-US" dirty="0"/>
              <a:t> + 1</a:t>
            </a:r>
            <a:br>
              <a:rPr lang="en-US" altLang="en-US" dirty="0"/>
            </a:br>
            <a:r>
              <a:rPr lang="en-US" altLang="en-US" dirty="0"/>
              <a:t>     = 1111 1111 … 1110</a:t>
            </a:r>
            <a:r>
              <a:rPr lang="en-US" altLang="en-US" baseline="-25000" dirty="0"/>
              <a:t>two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6">
            <a:extLst>
              <a:ext uri="{FF2B5EF4-FFF2-40B4-BE49-F238E27FC236}">
                <a16:creationId xmlns:a16="http://schemas.microsoft.com/office/drawing/2014/main" id="{FE0F7FDC-9C27-3A2A-2315-DBB4B0B75C2B}"/>
              </a:ext>
            </a:extLst>
          </p:cNvPr>
          <p:cNvSpPr>
            <a:spLocks noGrp="1" noChangeArrowheads="1"/>
          </p:cNvSpPr>
          <p:nvPr>
            <p:ph type="title"/>
          </p:nvPr>
        </p:nvSpPr>
        <p:spPr/>
        <p:txBody>
          <a:bodyPr lIns="91440" tIns="45720" rIns="91440" bIns="45720" anchor="t"/>
          <a:lstStyle/>
          <a:p>
            <a:pPr eaLnBrk="1" hangingPunct="1"/>
            <a:r>
              <a:rPr lang="en-US" altLang="en-US" dirty="0">
                <a:solidFill>
                  <a:schemeClr val="tx1"/>
                </a:solidFill>
              </a:rPr>
              <a:t>Sign Extension</a:t>
            </a:r>
            <a:endParaRPr lang="en-AU" altLang="en-US" dirty="0">
              <a:solidFill>
                <a:schemeClr val="tx1"/>
              </a:solidFill>
              <a:ea typeface="Calibri"/>
            </a:endParaRPr>
          </a:p>
        </p:txBody>
      </p:sp>
      <p:sp>
        <p:nvSpPr>
          <p:cNvPr id="36868" name="Rectangle 7">
            <a:extLst>
              <a:ext uri="{FF2B5EF4-FFF2-40B4-BE49-F238E27FC236}">
                <a16:creationId xmlns:a16="http://schemas.microsoft.com/office/drawing/2014/main" id="{4869C428-E579-D66F-3CC3-804FF3BA35E6}"/>
              </a:ext>
            </a:extLst>
          </p:cNvPr>
          <p:cNvSpPr>
            <a:spLocks noGrp="1" noChangeArrowheads="1"/>
          </p:cNvSpPr>
          <p:nvPr>
            <p:ph type="body" idx="1"/>
          </p:nvPr>
        </p:nvSpPr>
        <p:spPr/>
        <p:txBody>
          <a:bodyPr/>
          <a:lstStyle/>
          <a:p>
            <a:pPr eaLnBrk="1" hangingPunct="1">
              <a:lnSpc>
                <a:spcPct val="90000"/>
              </a:lnSpc>
            </a:pPr>
            <a:r>
              <a:rPr lang="en-US" altLang="en-US" sz="2800"/>
              <a:t>Representing a number using more bits</a:t>
            </a:r>
          </a:p>
          <a:p>
            <a:pPr lvl="1" eaLnBrk="1" hangingPunct="1">
              <a:lnSpc>
                <a:spcPct val="90000"/>
              </a:lnSpc>
            </a:pPr>
            <a:r>
              <a:rPr lang="en-US" altLang="en-US"/>
              <a:t>Preserve the numeric value</a:t>
            </a:r>
          </a:p>
          <a:p>
            <a:pPr eaLnBrk="1" hangingPunct="1">
              <a:lnSpc>
                <a:spcPct val="90000"/>
              </a:lnSpc>
            </a:pPr>
            <a:r>
              <a:rPr lang="en-US" altLang="en-US" sz="2800"/>
              <a:t>Replicate the sign bit to the left</a:t>
            </a:r>
          </a:p>
          <a:p>
            <a:pPr lvl="1" eaLnBrk="1" hangingPunct="1">
              <a:lnSpc>
                <a:spcPct val="90000"/>
              </a:lnSpc>
            </a:pPr>
            <a:r>
              <a:rPr lang="en-US" altLang="en-US"/>
              <a:t>c.f. unsigned values: extend with 0s</a:t>
            </a:r>
          </a:p>
          <a:p>
            <a:pPr eaLnBrk="1" hangingPunct="1">
              <a:lnSpc>
                <a:spcPct val="90000"/>
              </a:lnSpc>
            </a:pPr>
            <a:r>
              <a:rPr lang="en-US" altLang="en-US" sz="2800"/>
              <a:t>Examples: 8-bit to 16-bit</a:t>
            </a:r>
          </a:p>
          <a:p>
            <a:pPr lvl="1" eaLnBrk="1" hangingPunct="1">
              <a:lnSpc>
                <a:spcPct val="90000"/>
              </a:lnSpc>
            </a:pPr>
            <a:r>
              <a:rPr lang="en-US" altLang="en-US"/>
              <a:t>+2: </a:t>
            </a:r>
            <a:r>
              <a:rPr lang="en-US" altLang="en-US">
                <a:solidFill>
                  <a:schemeClr val="hlink"/>
                </a:solidFill>
              </a:rPr>
              <a:t>0</a:t>
            </a:r>
            <a:r>
              <a:rPr lang="en-US" altLang="en-US"/>
              <a:t>000 0010 =&gt; </a:t>
            </a:r>
            <a:r>
              <a:rPr lang="en-US" altLang="en-US">
                <a:solidFill>
                  <a:schemeClr val="hlink"/>
                </a:solidFill>
              </a:rPr>
              <a:t>0000 0000</a:t>
            </a:r>
            <a:r>
              <a:rPr lang="en-US" altLang="en-US"/>
              <a:t> </a:t>
            </a:r>
            <a:r>
              <a:rPr lang="en-US" altLang="en-US">
                <a:solidFill>
                  <a:schemeClr val="hlink"/>
                </a:solidFill>
              </a:rPr>
              <a:t>0</a:t>
            </a:r>
            <a:r>
              <a:rPr lang="en-US" altLang="en-US"/>
              <a:t>000 0010</a:t>
            </a:r>
          </a:p>
          <a:p>
            <a:pPr lvl="1" eaLnBrk="1" hangingPunct="1">
              <a:lnSpc>
                <a:spcPct val="90000"/>
              </a:lnSpc>
            </a:pPr>
            <a:r>
              <a:rPr lang="en-AU" altLang="en-US"/>
              <a:t>–2: </a:t>
            </a:r>
            <a:r>
              <a:rPr lang="en-AU" altLang="en-US">
                <a:solidFill>
                  <a:schemeClr val="hlink"/>
                </a:solidFill>
              </a:rPr>
              <a:t>1</a:t>
            </a:r>
            <a:r>
              <a:rPr lang="en-AU" altLang="en-US"/>
              <a:t>111 1110 =&gt; </a:t>
            </a:r>
            <a:r>
              <a:rPr lang="en-AU" altLang="en-US">
                <a:solidFill>
                  <a:schemeClr val="hlink"/>
                </a:solidFill>
              </a:rPr>
              <a:t>1111 1111</a:t>
            </a:r>
            <a:r>
              <a:rPr lang="en-AU" altLang="en-US"/>
              <a:t> </a:t>
            </a:r>
            <a:r>
              <a:rPr lang="en-AU" altLang="en-US">
                <a:solidFill>
                  <a:schemeClr val="hlink"/>
                </a:solidFill>
              </a:rPr>
              <a:t>1</a:t>
            </a:r>
            <a:r>
              <a:rPr lang="en-AU" altLang="en-US"/>
              <a:t>111 1110</a:t>
            </a:r>
          </a:p>
          <a:p>
            <a:pPr lvl="1" eaLnBrk="1" hangingPunct="1">
              <a:lnSpc>
                <a:spcPct val="90000"/>
              </a:lnSpc>
            </a:pPr>
            <a:endParaRPr lang="en-AU" altLang="en-US"/>
          </a:p>
          <a:p>
            <a:pPr eaLnBrk="1" hangingPunct="1">
              <a:lnSpc>
                <a:spcPct val="90000"/>
              </a:lnSpc>
            </a:pPr>
            <a:r>
              <a:rPr lang="en-US" altLang="en-US" sz="2800"/>
              <a:t>In RISC-V instruction set</a:t>
            </a:r>
          </a:p>
          <a:p>
            <a:pPr lvl="1" eaLnBrk="1" hangingPunct="1">
              <a:lnSpc>
                <a:spcPct val="90000"/>
              </a:lnSpc>
            </a:pPr>
            <a:r>
              <a:rPr lang="en-US" altLang="en-US">
                <a:latin typeface="Lucida Console" panose="020B0609040504020204" pitchFamily="49" charset="0"/>
              </a:rPr>
              <a:t>lb</a:t>
            </a:r>
            <a:r>
              <a:rPr lang="en-US" altLang="en-US"/>
              <a:t>:  sign-extend loaded byte</a:t>
            </a:r>
          </a:p>
          <a:p>
            <a:pPr lvl="1" eaLnBrk="1" hangingPunct="1">
              <a:lnSpc>
                <a:spcPct val="90000"/>
              </a:lnSpc>
            </a:pPr>
            <a:r>
              <a:rPr lang="en-US" altLang="en-US">
                <a:latin typeface="Lucida Console" panose="020B0609040504020204" pitchFamily="49" charset="0"/>
              </a:rPr>
              <a:t>lbu</a:t>
            </a:r>
            <a:r>
              <a:rPr lang="en-US" altLang="en-US"/>
              <a:t>: zero-extend loaded byte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a:extLst>
              <a:ext uri="{FF2B5EF4-FFF2-40B4-BE49-F238E27FC236}">
                <a16:creationId xmlns:a16="http://schemas.microsoft.com/office/drawing/2014/main" id="{8DE22166-A09E-80AD-CFD1-CEF61144AAB2}"/>
              </a:ext>
            </a:extLst>
          </p:cNvPr>
          <p:cNvSpPr>
            <a:spLocks noGrp="1" noChangeArrowheads="1"/>
          </p:cNvSpPr>
          <p:nvPr>
            <p:ph type="title"/>
          </p:nvPr>
        </p:nvSpPr>
        <p:spPr/>
        <p:txBody>
          <a:bodyPr lIns="91440" tIns="45720" rIns="91440" bIns="45720" anchor="t"/>
          <a:lstStyle/>
          <a:p>
            <a:r>
              <a:rPr lang="en-US" altLang="en-US" dirty="0">
                <a:solidFill>
                  <a:schemeClr val="tx1"/>
                </a:solidFill>
              </a:rPr>
              <a:t>Logical Operations (§2.6 )</a:t>
            </a:r>
            <a:endParaRPr lang="en-AU" altLang="en-US">
              <a:solidFill>
                <a:schemeClr val="tx1"/>
              </a:solidFill>
              <a:ea typeface="Calibri"/>
            </a:endParaRPr>
          </a:p>
        </p:txBody>
      </p:sp>
      <p:sp>
        <p:nvSpPr>
          <p:cNvPr id="53252" name="Rectangle 3">
            <a:extLst>
              <a:ext uri="{FF2B5EF4-FFF2-40B4-BE49-F238E27FC236}">
                <a16:creationId xmlns:a16="http://schemas.microsoft.com/office/drawing/2014/main" id="{E28EE17A-4B0E-79E8-0803-DE6D1DD47226}"/>
              </a:ext>
            </a:extLst>
          </p:cNvPr>
          <p:cNvSpPr>
            <a:spLocks noGrp="1" noChangeArrowheads="1"/>
          </p:cNvSpPr>
          <p:nvPr>
            <p:ph type="body" idx="1"/>
          </p:nvPr>
        </p:nvSpPr>
        <p:spPr>
          <a:xfrm>
            <a:off x="344902" y="1125538"/>
            <a:ext cx="11389898" cy="1054250"/>
          </a:xfrm>
        </p:spPr>
        <p:txBody>
          <a:bodyPr/>
          <a:lstStyle/>
          <a:p>
            <a:pPr eaLnBrk="1" hangingPunct="1"/>
            <a:r>
              <a:rPr lang="en-US" altLang="en-US" dirty="0"/>
              <a:t>Operate on fields of bits within a word or even on individual bits</a:t>
            </a:r>
          </a:p>
          <a:p>
            <a:pPr eaLnBrk="1" hangingPunct="1"/>
            <a:endParaRPr lang="en-US" altLang="en-US" dirty="0"/>
          </a:p>
        </p:txBody>
      </p:sp>
      <p:graphicFrame>
        <p:nvGraphicFramePr>
          <p:cNvPr id="2" name="Table 5">
            <a:extLst>
              <a:ext uri="{FF2B5EF4-FFF2-40B4-BE49-F238E27FC236}">
                <a16:creationId xmlns:a16="http://schemas.microsoft.com/office/drawing/2014/main" id="{6BE94D85-1E04-F5A0-1F70-8547BBF75EB1}"/>
              </a:ext>
            </a:extLst>
          </p:cNvPr>
          <p:cNvGraphicFramePr>
            <a:graphicFrameLocks/>
          </p:cNvGraphicFramePr>
          <p:nvPr>
            <p:extLst>
              <p:ext uri="{D42A27DB-BD31-4B8C-83A1-F6EECF244321}">
                <p14:modId xmlns:p14="http://schemas.microsoft.com/office/powerpoint/2010/main" val="1490651174"/>
              </p:ext>
            </p:extLst>
          </p:nvPr>
        </p:nvGraphicFramePr>
        <p:xfrm>
          <a:off x="832530" y="2259003"/>
          <a:ext cx="10526939" cy="3657600"/>
        </p:xfrm>
        <a:graphic>
          <a:graphicData uri="http://schemas.openxmlformats.org/drawingml/2006/table">
            <a:tbl>
              <a:tblPr firstRow="1" bandRow="1">
                <a:tableStyleId>{5C22544A-7EE6-4342-B048-85BDC9FD1C3A}</a:tableStyleId>
              </a:tblPr>
              <a:tblGrid>
                <a:gridCol w="3445428">
                  <a:extLst>
                    <a:ext uri="{9D8B030D-6E8A-4147-A177-3AD203B41FA5}">
                      <a16:colId xmlns:a16="http://schemas.microsoft.com/office/drawing/2014/main" val="1977576593"/>
                    </a:ext>
                  </a:extLst>
                </a:gridCol>
                <a:gridCol w="2057400">
                  <a:extLst>
                    <a:ext uri="{9D8B030D-6E8A-4147-A177-3AD203B41FA5}">
                      <a16:colId xmlns:a16="http://schemas.microsoft.com/office/drawing/2014/main" val="201068949"/>
                    </a:ext>
                  </a:extLst>
                </a:gridCol>
                <a:gridCol w="1874191">
                  <a:extLst>
                    <a:ext uri="{9D8B030D-6E8A-4147-A177-3AD203B41FA5}">
                      <a16:colId xmlns:a16="http://schemas.microsoft.com/office/drawing/2014/main" val="2416821355"/>
                    </a:ext>
                  </a:extLst>
                </a:gridCol>
                <a:gridCol w="3149920">
                  <a:extLst>
                    <a:ext uri="{9D8B030D-6E8A-4147-A177-3AD203B41FA5}">
                      <a16:colId xmlns:a16="http://schemas.microsoft.com/office/drawing/2014/main" val="1205110489"/>
                    </a:ext>
                  </a:extLst>
                </a:gridCol>
              </a:tblGrid>
              <a:tr h="419463">
                <a:tc>
                  <a:txBody>
                    <a:bodyPr/>
                    <a:lstStyle/>
                    <a:p>
                      <a:pPr algn="ctr"/>
                      <a:r>
                        <a:rPr lang="en-US" sz="2400" b="1" dirty="0">
                          <a:latin typeface="+mn-lt"/>
                        </a:rPr>
                        <a:t>Operation</a:t>
                      </a:r>
                    </a:p>
                  </a:txBody>
                  <a:tcPr/>
                </a:tc>
                <a:tc>
                  <a:txBody>
                    <a:bodyPr/>
                    <a:lstStyle/>
                    <a:p>
                      <a:pPr algn="ctr"/>
                      <a:r>
                        <a:rPr lang="en-US" sz="2400" b="1" dirty="0">
                          <a:latin typeface="+mn-lt"/>
                        </a:rPr>
                        <a:t>C</a:t>
                      </a:r>
                    </a:p>
                  </a:txBody>
                  <a:tcPr/>
                </a:tc>
                <a:tc>
                  <a:txBody>
                    <a:bodyPr/>
                    <a:lstStyle/>
                    <a:p>
                      <a:pPr algn="ctr"/>
                      <a:r>
                        <a:rPr lang="en-US" sz="2400" b="1" dirty="0">
                          <a:latin typeface="+mn-lt"/>
                        </a:rPr>
                        <a:t>Java</a:t>
                      </a:r>
                    </a:p>
                  </a:txBody>
                  <a:tcPr/>
                </a:tc>
                <a:tc>
                  <a:txBody>
                    <a:bodyPr/>
                    <a:lstStyle/>
                    <a:p>
                      <a:pPr algn="ctr"/>
                      <a:r>
                        <a:rPr lang="en-US" sz="2400" b="1" dirty="0">
                          <a:latin typeface="+mn-lt"/>
                        </a:rPr>
                        <a:t>RISC-V</a:t>
                      </a:r>
                    </a:p>
                  </a:txBody>
                  <a:tcPr/>
                </a:tc>
                <a:extLst>
                  <a:ext uri="{0D108BD9-81ED-4DB2-BD59-A6C34878D82A}">
                    <a16:rowId xmlns:a16="http://schemas.microsoft.com/office/drawing/2014/main" val="2427392817"/>
                  </a:ext>
                </a:extLst>
              </a:tr>
              <a:tr h="4194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Shift left logical</a:t>
                      </a:r>
                      <a:endParaRPr kumimoji="0" lang="en-AU" sz="2400" b="0" i="0" u="none" strike="noStrike" cap="none" normalizeH="0" baseline="0" dirty="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&lt;&lt;</a:t>
                      </a:r>
                      <a:endParaRPr kumimoji="0" lang="en-AU" sz="2400" b="0" i="0" u="none" strike="noStrike" cap="none" normalizeH="0" baseline="0" dirty="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mn-lt"/>
                        </a:rPr>
                        <a:t>&lt;&lt;</a:t>
                      </a:r>
                      <a:endParaRPr kumimoji="0" lang="en-AU" sz="2400" b="0" i="0" u="none" strike="noStrike" cap="none" normalizeH="0" baseline="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err="1">
                          <a:ln>
                            <a:noFill/>
                          </a:ln>
                          <a:solidFill>
                            <a:schemeClr val="tx1"/>
                          </a:solidFill>
                          <a:effectLst/>
                          <a:latin typeface="+mn-lt"/>
                        </a:rPr>
                        <a:t>sll</a:t>
                      </a:r>
                      <a:r>
                        <a:rPr kumimoji="0" lang="en-US" sz="2400" b="0" i="0" u="none" strike="noStrike" cap="none" normalizeH="0" baseline="0" dirty="0">
                          <a:ln>
                            <a:noFill/>
                          </a:ln>
                          <a:solidFill>
                            <a:schemeClr val="tx1"/>
                          </a:solidFill>
                          <a:effectLst/>
                          <a:latin typeface="+mn-lt"/>
                        </a:rPr>
                        <a:t>, </a:t>
                      </a:r>
                      <a:r>
                        <a:rPr kumimoji="0" lang="en-US" sz="2400" b="0" i="0" u="none" strike="noStrike" cap="none" normalizeH="0" baseline="0" dirty="0" err="1">
                          <a:ln>
                            <a:noFill/>
                          </a:ln>
                          <a:solidFill>
                            <a:schemeClr val="tx1"/>
                          </a:solidFill>
                          <a:effectLst/>
                          <a:latin typeface="+mn-lt"/>
                        </a:rPr>
                        <a:t>slli</a:t>
                      </a:r>
                      <a:endParaRPr kumimoji="0" lang="en-AU" sz="24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132036693"/>
                  </a:ext>
                </a:extLst>
              </a:tr>
              <a:tr h="4194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Shift right logical</a:t>
                      </a:r>
                      <a:endParaRPr kumimoji="0" lang="en-AU" sz="2400" b="0" i="0" u="none" strike="noStrike" cap="none" normalizeH="0" baseline="0" dirty="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&gt;&gt;</a:t>
                      </a:r>
                      <a:endParaRPr kumimoji="0" lang="en-AU" sz="2400" b="0" i="0" u="none" strike="noStrike" cap="none" normalizeH="0" baseline="0" dirty="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&gt;&gt;&gt;</a:t>
                      </a:r>
                      <a:endParaRPr kumimoji="0" lang="en-AU" sz="2400" b="0" i="0" u="none" strike="noStrike" cap="none" normalizeH="0" baseline="0" dirty="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err="1">
                          <a:ln>
                            <a:noFill/>
                          </a:ln>
                          <a:solidFill>
                            <a:schemeClr val="tx1"/>
                          </a:solidFill>
                          <a:effectLst/>
                          <a:latin typeface="+mn-lt"/>
                        </a:rPr>
                        <a:t>srl</a:t>
                      </a:r>
                      <a:r>
                        <a:rPr kumimoji="0" lang="en-US" sz="2400" b="0" i="0" u="none" strike="noStrike" cap="none" normalizeH="0" baseline="0" dirty="0">
                          <a:ln>
                            <a:noFill/>
                          </a:ln>
                          <a:solidFill>
                            <a:schemeClr val="tx1"/>
                          </a:solidFill>
                          <a:effectLst/>
                          <a:latin typeface="+mn-lt"/>
                        </a:rPr>
                        <a:t>, </a:t>
                      </a:r>
                      <a:r>
                        <a:rPr kumimoji="0" lang="en-US" sz="2400" b="0" i="0" u="none" strike="noStrike" cap="none" normalizeH="0" baseline="0" dirty="0" err="1">
                          <a:ln>
                            <a:noFill/>
                          </a:ln>
                          <a:solidFill>
                            <a:schemeClr val="tx1"/>
                          </a:solidFill>
                          <a:effectLst/>
                          <a:latin typeface="+mn-lt"/>
                        </a:rPr>
                        <a:t>srli</a:t>
                      </a:r>
                      <a:endParaRPr kumimoji="0" lang="en-AU" sz="24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1706415382"/>
                  </a:ext>
                </a:extLst>
              </a:tr>
              <a:tr h="4194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a:ln>
                            <a:noFill/>
                          </a:ln>
                          <a:solidFill>
                            <a:schemeClr val="tx1"/>
                          </a:solidFill>
                          <a:effectLst/>
                          <a:latin typeface="+mn-lt"/>
                        </a:rPr>
                        <a:t>Shift right arithmetic</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a:ln>
                            <a:noFill/>
                          </a:ln>
                          <a:solidFill>
                            <a:schemeClr val="tx1"/>
                          </a:solidFill>
                          <a:effectLst/>
                          <a:latin typeface="+mn-lt"/>
                        </a:rPr>
                        <a:t>&gt;&gt;</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a:ln>
                            <a:noFill/>
                          </a:ln>
                          <a:solidFill>
                            <a:schemeClr val="tx1"/>
                          </a:solidFill>
                          <a:effectLst/>
                          <a:latin typeface="+mn-lt"/>
                        </a:rPr>
                        <a:t>&gt;&gt;</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err="1">
                          <a:ln>
                            <a:noFill/>
                          </a:ln>
                          <a:solidFill>
                            <a:schemeClr val="tx1"/>
                          </a:solidFill>
                          <a:effectLst/>
                          <a:latin typeface="+mn-lt"/>
                        </a:rPr>
                        <a:t>sra</a:t>
                      </a:r>
                      <a:r>
                        <a:rPr kumimoji="0" lang="en-AU" sz="2400" b="0" i="0" u="none" strike="noStrike" cap="none" normalizeH="0" baseline="0" dirty="0">
                          <a:ln>
                            <a:noFill/>
                          </a:ln>
                          <a:solidFill>
                            <a:schemeClr val="tx1"/>
                          </a:solidFill>
                          <a:effectLst/>
                          <a:latin typeface="+mn-lt"/>
                        </a:rPr>
                        <a:t>, </a:t>
                      </a:r>
                      <a:r>
                        <a:rPr kumimoji="0" lang="en-AU" sz="2400" b="0" i="0" u="none" strike="noStrike" cap="none" normalizeH="0" baseline="0" dirty="0" err="1">
                          <a:ln>
                            <a:noFill/>
                          </a:ln>
                          <a:solidFill>
                            <a:schemeClr val="tx1"/>
                          </a:solidFill>
                          <a:effectLst/>
                          <a:latin typeface="+mn-lt"/>
                        </a:rPr>
                        <a:t>srai</a:t>
                      </a:r>
                      <a:endParaRPr kumimoji="0" lang="en-AU" sz="24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650804240"/>
                  </a:ext>
                </a:extLst>
              </a:tr>
              <a:tr h="4194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Bit-by-bit AND</a:t>
                      </a:r>
                      <a:endParaRPr kumimoji="0" lang="en-AU" sz="2400" b="0" i="0" u="none" strike="noStrike" cap="none" normalizeH="0" baseline="0" dirty="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&amp;</a:t>
                      </a:r>
                      <a:endParaRPr kumimoji="0" lang="en-AU" sz="2400" b="0" i="0" u="none" strike="noStrike" cap="none" normalizeH="0" baseline="0" dirty="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&amp;</a:t>
                      </a:r>
                      <a:endParaRPr kumimoji="0" lang="en-AU" sz="2400" b="0" i="0" u="none" strike="noStrike" cap="none" normalizeH="0" baseline="0" dirty="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and, </a:t>
                      </a:r>
                      <a:r>
                        <a:rPr kumimoji="0" lang="en-US" sz="2400" b="0" i="0" u="none" strike="noStrike" cap="none" normalizeH="0" baseline="0" dirty="0" err="1">
                          <a:ln>
                            <a:noFill/>
                          </a:ln>
                          <a:solidFill>
                            <a:schemeClr val="tx1"/>
                          </a:solidFill>
                          <a:effectLst/>
                          <a:latin typeface="+mn-lt"/>
                        </a:rPr>
                        <a:t>andi</a:t>
                      </a:r>
                      <a:endParaRPr kumimoji="0" lang="en-AU" sz="24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2355005957"/>
                  </a:ext>
                </a:extLst>
              </a:tr>
              <a:tr h="4194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mn-lt"/>
                        </a:rPr>
                        <a:t>Bit-by-bit OR</a:t>
                      </a:r>
                      <a:endParaRPr kumimoji="0" lang="en-AU" sz="2400" b="0" i="0" u="none" strike="noStrike" cap="none" normalizeH="0" baseline="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mn-lt"/>
                        </a:rPr>
                        <a:t>|</a:t>
                      </a:r>
                      <a:endParaRPr kumimoji="0" lang="en-AU" sz="2400" b="0" i="0" u="none" strike="noStrike" cap="none" normalizeH="0" baseline="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a:t>
                      </a:r>
                      <a:endParaRPr kumimoji="0" lang="en-AU" sz="2400" b="0" i="0" u="none" strike="noStrike" cap="none" normalizeH="0" baseline="0" dirty="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or, </a:t>
                      </a:r>
                      <a:r>
                        <a:rPr kumimoji="0" lang="en-US" sz="2400" b="0" i="0" u="none" strike="noStrike" cap="none" normalizeH="0" baseline="0" dirty="0" err="1">
                          <a:ln>
                            <a:noFill/>
                          </a:ln>
                          <a:solidFill>
                            <a:schemeClr val="tx1"/>
                          </a:solidFill>
                          <a:effectLst/>
                          <a:latin typeface="+mn-lt"/>
                        </a:rPr>
                        <a:t>ori</a:t>
                      </a:r>
                      <a:endParaRPr kumimoji="0" lang="en-AU" sz="24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2272138693"/>
                  </a:ext>
                </a:extLst>
              </a:tr>
              <a:tr h="4194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Bit-by-bit XOR</a:t>
                      </a:r>
                      <a:endParaRPr kumimoji="0" lang="en-AU" sz="2400" b="0" i="0" u="none" strike="noStrike" cap="none" normalizeH="0" baseline="0" dirty="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a:t>
                      </a:r>
                      <a:endParaRPr kumimoji="0" lang="en-AU" sz="2400" b="0" i="0" u="none" strike="noStrike" cap="none" normalizeH="0" baseline="0" dirty="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mn-lt"/>
                        </a:rPr>
                        <a:t>^</a:t>
                      </a:r>
                      <a:endParaRPr kumimoji="0" lang="en-AU" sz="2400" b="0" i="0" u="none" strike="noStrike" cap="none" normalizeH="0" baseline="0" dirty="0">
                        <a:ln>
                          <a:noFill/>
                        </a:ln>
                        <a:solidFill>
                          <a:schemeClr val="tx1"/>
                        </a:solidFill>
                        <a:effectLst/>
                        <a:latin typeface="+mn-lt"/>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err="1">
                          <a:ln>
                            <a:noFill/>
                          </a:ln>
                          <a:solidFill>
                            <a:schemeClr val="tx1"/>
                          </a:solidFill>
                          <a:effectLst/>
                          <a:latin typeface="+mn-lt"/>
                        </a:rPr>
                        <a:t>xor</a:t>
                      </a:r>
                      <a:r>
                        <a:rPr kumimoji="0" lang="en-US" sz="2400" b="0" i="0" u="none" strike="noStrike" cap="none" normalizeH="0" baseline="0" dirty="0">
                          <a:ln>
                            <a:noFill/>
                          </a:ln>
                          <a:solidFill>
                            <a:schemeClr val="tx1"/>
                          </a:solidFill>
                          <a:effectLst/>
                          <a:latin typeface="+mn-lt"/>
                        </a:rPr>
                        <a:t>, </a:t>
                      </a:r>
                      <a:r>
                        <a:rPr kumimoji="0" lang="en-US" sz="2400" b="0" i="0" u="none" strike="noStrike" cap="none" normalizeH="0" baseline="0" dirty="0" err="1">
                          <a:ln>
                            <a:noFill/>
                          </a:ln>
                          <a:solidFill>
                            <a:schemeClr val="tx1"/>
                          </a:solidFill>
                          <a:effectLst/>
                          <a:latin typeface="+mn-lt"/>
                        </a:rPr>
                        <a:t>xori</a:t>
                      </a:r>
                      <a:endParaRPr kumimoji="0" lang="en-AU" sz="2400" b="0" i="0" u="none" strike="noStrike" cap="none" normalizeH="0" baseline="0" dirty="0">
                        <a:ln>
                          <a:noFill/>
                        </a:ln>
                        <a:solidFill>
                          <a:schemeClr val="tx1"/>
                        </a:solidFill>
                        <a:effectLst/>
                        <a:latin typeface="+mn-lt"/>
                      </a:endParaRPr>
                    </a:p>
                  </a:txBody>
                  <a:tcPr anchor="ctr" horzOverflow="overflow"/>
                </a:tc>
                <a:extLst>
                  <a:ext uri="{0D108BD9-81ED-4DB2-BD59-A6C34878D82A}">
                    <a16:rowId xmlns:a16="http://schemas.microsoft.com/office/drawing/2014/main" val="2891222632"/>
                  </a:ext>
                </a:extLst>
              </a:tr>
              <a:tr h="4194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a:ln>
                            <a:noFill/>
                          </a:ln>
                          <a:solidFill>
                            <a:schemeClr val="tx1"/>
                          </a:solidFill>
                          <a:effectLst/>
                          <a:latin typeface="+mn-lt"/>
                        </a:rPr>
                        <a:t>Bit-by-bit NOT</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a:ln>
                            <a:noFill/>
                          </a:ln>
                          <a:solidFill>
                            <a:schemeClr val="tx1"/>
                          </a:solidFill>
                          <a:effectLst/>
                          <a:latin typeface="+mn-lt"/>
                        </a:rPr>
                        <a:t>~</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a:ln>
                            <a:noFill/>
                          </a:ln>
                          <a:solidFill>
                            <a:schemeClr val="tx1"/>
                          </a:solidFill>
                          <a:effectLst/>
                          <a:latin typeface="+mn-lt"/>
                        </a:rPr>
                        <a:t>~</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err="1">
                          <a:ln>
                            <a:noFill/>
                          </a:ln>
                          <a:solidFill>
                            <a:schemeClr val="tx1"/>
                          </a:solidFill>
                          <a:effectLst/>
                          <a:latin typeface="+mn-lt"/>
                        </a:rPr>
                        <a:t>xori</a:t>
                      </a:r>
                      <a:endParaRPr kumimoji="0" lang="en-AU" sz="2400" b="0" i="0" u="none" strike="noStrike" cap="none" normalizeH="0" baseline="0" dirty="0">
                        <a:ln>
                          <a:noFill/>
                        </a:ln>
                        <a:solidFill>
                          <a:schemeClr val="tx1"/>
                        </a:solidFill>
                        <a:effectLst/>
                        <a:latin typeface="+mn-lt"/>
                      </a:endParaRPr>
                    </a:p>
                  </a:txBody>
                  <a:tcPr anchor="ctr" horzOverflow="overflow"/>
                </a:tc>
                <a:extLst>
                  <a:ext uri="{0D108BD9-81ED-4DB2-BD59-A6C34878D82A}">
                    <a16:rowId xmlns:a16="http://schemas.microsoft.com/office/drawing/2014/main" val="3842163448"/>
                  </a:ext>
                </a:extLst>
              </a:tr>
            </a:tbl>
          </a:graphicData>
        </a:graphic>
      </p:graphicFrame>
      <p:sp>
        <p:nvSpPr>
          <p:cNvPr id="4" name="TextBox 3">
            <a:extLst>
              <a:ext uri="{FF2B5EF4-FFF2-40B4-BE49-F238E27FC236}">
                <a16:creationId xmlns:a16="http://schemas.microsoft.com/office/drawing/2014/main" id="{12ACACC0-0872-753B-8C86-1FB9A8238573}"/>
              </a:ext>
            </a:extLst>
          </p:cNvPr>
          <p:cNvSpPr txBox="1"/>
          <p:nvPr/>
        </p:nvSpPr>
        <p:spPr>
          <a:xfrm>
            <a:off x="832529" y="5955268"/>
            <a:ext cx="10526939" cy="461665"/>
          </a:xfrm>
          <a:prstGeom prst="rect">
            <a:avLst/>
          </a:prstGeom>
          <a:noFill/>
        </p:spPr>
        <p:txBody>
          <a:bodyPr wrap="square">
            <a:spAutoFit/>
          </a:bodyPr>
          <a:lstStyle/>
          <a:p>
            <a:pPr algn="ctr" eaLnBrk="1" hangingPunct="1"/>
            <a:r>
              <a:rPr lang="en-US" altLang="en-US" sz="2400" dirty="0"/>
              <a:t>Table: C and Java logical operators and their corresponding RISC-V instructions</a:t>
            </a:r>
            <a:endParaRPr lang="en-AU"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a:extLst>
              <a:ext uri="{FF2B5EF4-FFF2-40B4-BE49-F238E27FC236}">
                <a16:creationId xmlns:a16="http://schemas.microsoft.com/office/drawing/2014/main" id="{0706A940-2EAC-8691-E218-694B74BC46B7}"/>
              </a:ext>
            </a:extLst>
          </p:cNvPr>
          <p:cNvSpPr>
            <a:spLocks noGrp="1" noChangeArrowheads="1"/>
          </p:cNvSpPr>
          <p:nvPr>
            <p:ph type="title"/>
          </p:nvPr>
        </p:nvSpPr>
        <p:spPr/>
        <p:txBody>
          <a:bodyPr lIns="91440" tIns="45720" rIns="91440" bIns="45720" anchor="t"/>
          <a:lstStyle/>
          <a:p>
            <a:pPr eaLnBrk="1" hangingPunct="1"/>
            <a:r>
              <a:rPr lang="en-US" altLang="en-US" dirty="0">
                <a:solidFill>
                  <a:schemeClr val="tx1"/>
                </a:solidFill>
              </a:rPr>
              <a:t>Shift Operations</a:t>
            </a:r>
            <a:endParaRPr lang="en-AU" altLang="en-US" dirty="0">
              <a:solidFill>
                <a:schemeClr val="tx1"/>
              </a:solidFill>
              <a:ea typeface="Calibri"/>
            </a:endParaRPr>
          </a:p>
        </p:txBody>
      </p:sp>
      <p:sp>
        <p:nvSpPr>
          <p:cNvPr id="55300" name="Rectangle 3">
            <a:extLst>
              <a:ext uri="{FF2B5EF4-FFF2-40B4-BE49-F238E27FC236}">
                <a16:creationId xmlns:a16="http://schemas.microsoft.com/office/drawing/2014/main" id="{370B3086-57C0-7933-79B0-CEC504AE8321}"/>
              </a:ext>
            </a:extLst>
          </p:cNvPr>
          <p:cNvSpPr>
            <a:spLocks noGrp="1" noChangeArrowheads="1"/>
          </p:cNvSpPr>
          <p:nvPr>
            <p:ph type="body" idx="1"/>
          </p:nvPr>
        </p:nvSpPr>
        <p:spPr>
          <a:xfrm>
            <a:off x="1905000" y="2349500"/>
            <a:ext cx="8574089" cy="3887788"/>
          </a:xfrm>
        </p:spPr>
        <p:txBody>
          <a:bodyPr/>
          <a:lstStyle/>
          <a:p>
            <a:pPr eaLnBrk="1" hangingPunct="1">
              <a:lnSpc>
                <a:spcPct val="90000"/>
              </a:lnSpc>
            </a:pPr>
            <a:r>
              <a:rPr lang="en-US" altLang="en-US" dirty="0" err="1"/>
              <a:t>immed</a:t>
            </a:r>
            <a:r>
              <a:rPr lang="en-US" altLang="en-US" dirty="0"/>
              <a:t>: how many positions to shift </a:t>
            </a:r>
          </a:p>
          <a:p>
            <a:pPr eaLnBrk="1" hangingPunct="1">
              <a:lnSpc>
                <a:spcPct val="90000"/>
              </a:lnSpc>
            </a:pPr>
            <a:r>
              <a:rPr lang="en-US" altLang="en-US" dirty="0"/>
              <a:t>Shift left logical</a:t>
            </a:r>
          </a:p>
          <a:p>
            <a:pPr lvl="1" eaLnBrk="1" hangingPunct="1">
              <a:lnSpc>
                <a:spcPct val="90000"/>
              </a:lnSpc>
            </a:pPr>
            <a:r>
              <a:rPr lang="en-US" altLang="en-US" dirty="0"/>
              <a:t>Shift left and fill with 0 bits</a:t>
            </a:r>
          </a:p>
          <a:p>
            <a:pPr lvl="1" eaLnBrk="1" hangingPunct="1">
              <a:lnSpc>
                <a:spcPct val="90000"/>
              </a:lnSpc>
            </a:pPr>
            <a:r>
              <a:rPr lang="en-US" altLang="en-US" b="1" dirty="0" err="1">
                <a:solidFill>
                  <a:schemeClr val="accent1"/>
                </a:solidFill>
                <a:latin typeface="Courier New" panose="02070309020205020404" pitchFamily="49" charset="0"/>
                <a:cs typeface="Courier New" panose="02070309020205020404" pitchFamily="49" charset="0"/>
              </a:rPr>
              <a:t>slli</a:t>
            </a:r>
            <a:r>
              <a:rPr lang="en-US" altLang="en-US" dirty="0"/>
              <a:t> by </a:t>
            </a:r>
            <a:r>
              <a:rPr lang="en-US" altLang="en-US" i="1" dirty="0" err="1"/>
              <a:t>i</a:t>
            </a:r>
            <a:r>
              <a:rPr lang="en-US" altLang="en-US" dirty="0"/>
              <a:t> bits multiplies by </a:t>
            </a:r>
            <a:r>
              <a:rPr lang="en-US" altLang="en-US" dirty="0">
                <a:solidFill>
                  <a:schemeClr val="accent1"/>
                </a:solidFill>
              </a:rPr>
              <a:t>2</a:t>
            </a:r>
            <a:r>
              <a:rPr lang="en-US" altLang="en-US" i="1" baseline="30000" dirty="0">
                <a:solidFill>
                  <a:schemeClr val="accent1"/>
                </a:solidFill>
              </a:rPr>
              <a:t>i</a:t>
            </a:r>
          </a:p>
          <a:p>
            <a:pPr eaLnBrk="1" hangingPunct="1">
              <a:lnSpc>
                <a:spcPct val="90000"/>
              </a:lnSpc>
            </a:pPr>
            <a:r>
              <a:rPr lang="en-US" altLang="en-US" dirty="0"/>
              <a:t>Shift right logical</a:t>
            </a:r>
          </a:p>
          <a:p>
            <a:pPr lvl="1" eaLnBrk="1" hangingPunct="1">
              <a:lnSpc>
                <a:spcPct val="90000"/>
              </a:lnSpc>
            </a:pPr>
            <a:r>
              <a:rPr lang="en-US" altLang="en-US" dirty="0"/>
              <a:t>Shift right and fill with 0 bits</a:t>
            </a:r>
          </a:p>
          <a:p>
            <a:pPr lvl="1" eaLnBrk="1" hangingPunct="1">
              <a:lnSpc>
                <a:spcPct val="90000"/>
              </a:lnSpc>
            </a:pPr>
            <a:r>
              <a:rPr lang="en-US" altLang="en-US" b="1" dirty="0" err="1">
                <a:solidFill>
                  <a:schemeClr val="accent1"/>
                </a:solidFill>
                <a:latin typeface="Courier New" panose="02070309020205020404" pitchFamily="49" charset="0"/>
                <a:cs typeface="Courier New" panose="02070309020205020404" pitchFamily="49" charset="0"/>
              </a:rPr>
              <a:t>srli</a:t>
            </a:r>
            <a:r>
              <a:rPr lang="en-US" altLang="en-US" dirty="0"/>
              <a:t> by </a:t>
            </a:r>
            <a:r>
              <a:rPr lang="en-US" altLang="en-US" i="1" dirty="0" err="1">
                <a:solidFill>
                  <a:schemeClr val="accent1"/>
                </a:solidFill>
              </a:rPr>
              <a:t>i</a:t>
            </a:r>
            <a:r>
              <a:rPr lang="en-US" altLang="en-US" dirty="0"/>
              <a:t> bits divides by </a:t>
            </a:r>
            <a:r>
              <a:rPr lang="en-US" altLang="en-US" dirty="0">
                <a:solidFill>
                  <a:schemeClr val="accent1"/>
                </a:solidFill>
              </a:rPr>
              <a:t>2</a:t>
            </a:r>
            <a:r>
              <a:rPr lang="en-US" altLang="en-US" i="1" baseline="30000" dirty="0">
                <a:solidFill>
                  <a:schemeClr val="accent1"/>
                </a:solidFill>
              </a:rPr>
              <a:t>i</a:t>
            </a:r>
            <a:r>
              <a:rPr lang="en-US" altLang="en-US" dirty="0"/>
              <a:t> (unsigned only)</a:t>
            </a:r>
            <a:endParaRPr lang="en-AU" altLang="en-US" dirty="0"/>
          </a:p>
        </p:txBody>
      </p:sp>
      <p:sp>
        <p:nvSpPr>
          <p:cNvPr id="55301" name="Text Box 7">
            <a:extLst>
              <a:ext uri="{FF2B5EF4-FFF2-40B4-BE49-F238E27FC236}">
                <a16:creationId xmlns:a16="http://schemas.microsoft.com/office/drawing/2014/main" id="{86530792-9F75-9D72-9B77-439F19AF4827}"/>
              </a:ext>
            </a:extLst>
          </p:cNvPr>
          <p:cNvSpPr txBox="1">
            <a:spLocks noChangeArrowheads="1"/>
          </p:cNvSpPr>
          <p:nvPr/>
        </p:nvSpPr>
        <p:spPr bwMode="auto">
          <a:xfrm>
            <a:off x="5232400" y="1389064"/>
            <a:ext cx="1079500"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2000"/>
              <a:t>rs1</a:t>
            </a:r>
            <a:endParaRPr lang="en-AU" altLang="en-US" sz="2000"/>
          </a:p>
        </p:txBody>
      </p:sp>
      <p:sp>
        <p:nvSpPr>
          <p:cNvPr id="55302" name="Text Box 8">
            <a:extLst>
              <a:ext uri="{FF2B5EF4-FFF2-40B4-BE49-F238E27FC236}">
                <a16:creationId xmlns:a16="http://schemas.microsoft.com/office/drawing/2014/main" id="{603ACE36-4B9A-C303-F111-7F435ABE83E7}"/>
              </a:ext>
            </a:extLst>
          </p:cNvPr>
          <p:cNvSpPr txBox="1">
            <a:spLocks noChangeArrowheads="1"/>
          </p:cNvSpPr>
          <p:nvPr/>
        </p:nvSpPr>
        <p:spPr bwMode="auto">
          <a:xfrm>
            <a:off x="7251700" y="1389064"/>
            <a:ext cx="1079500"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2000"/>
              <a:t>rd</a:t>
            </a:r>
            <a:endParaRPr lang="en-AU" altLang="en-US" sz="2000"/>
          </a:p>
        </p:txBody>
      </p:sp>
      <p:sp>
        <p:nvSpPr>
          <p:cNvPr id="55303" name="Text Box 9">
            <a:extLst>
              <a:ext uri="{FF2B5EF4-FFF2-40B4-BE49-F238E27FC236}">
                <a16:creationId xmlns:a16="http://schemas.microsoft.com/office/drawing/2014/main" id="{6AD352A0-5A6D-96F7-F2E1-062815C8E564}"/>
              </a:ext>
            </a:extLst>
          </p:cNvPr>
          <p:cNvSpPr txBox="1">
            <a:spLocks noChangeArrowheads="1"/>
          </p:cNvSpPr>
          <p:nvPr/>
        </p:nvSpPr>
        <p:spPr bwMode="auto">
          <a:xfrm>
            <a:off x="6313489" y="1389064"/>
            <a:ext cx="936625"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2000"/>
              <a:t>funct3</a:t>
            </a:r>
            <a:endParaRPr lang="en-AU" altLang="en-US" sz="2000"/>
          </a:p>
        </p:txBody>
      </p:sp>
      <p:sp>
        <p:nvSpPr>
          <p:cNvPr id="55304" name="Text Box 10">
            <a:extLst>
              <a:ext uri="{FF2B5EF4-FFF2-40B4-BE49-F238E27FC236}">
                <a16:creationId xmlns:a16="http://schemas.microsoft.com/office/drawing/2014/main" id="{2C05F60E-BFE5-187A-61F8-070DE245D9BC}"/>
              </a:ext>
            </a:extLst>
          </p:cNvPr>
          <p:cNvSpPr txBox="1">
            <a:spLocks noChangeArrowheads="1"/>
          </p:cNvSpPr>
          <p:nvPr/>
        </p:nvSpPr>
        <p:spPr bwMode="auto">
          <a:xfrm>
            <a:off x="8331200" y="1389064"/>
            <a:ext cx="1296988"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2000"/>
              <a:t>opcode</a:t>
            </a:r>
            <a:endParaRPr lang="en-AU" altLang="en-US" sz="2000"/>
          </a:p>
        </p:txBody>
      </p:sp>
      <p:sp>
        <p:nvSpPr>
          <p:cNvPr id="55305" name="Text Box 11">
            <a:extLst>
              <a:ext uri="{FF2B5EF4-FFF2-40B4-BE49-F238E27FC236}">
                <a16:creationId xmlns:a16="http://schemas.microsoft.com/office/drawing/2014/main" id="{2A77E15C-D0CC-3F40-1B2E-82B61118A375}"/>
              </a:ext>
            </a:extLst>
          </p:cNvPr>
          <p:cNvSpPr txBox="1">
            <a:spLocks noChangeArrowheads="1"/>
          </p:cNvSpPr>
          <p:nvPr/>
        </p:nvSpPr>
        <p:spPr bwMode="auto">
          <a:xfrm>
            <a:off x="3189289" y="1828800"/>
            <a:ext cx="6762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00"/>
              <a:t>6 bits</a:t>
            </a:r>
            <a:endParaRPr lang="en-AU" altLang="en-US" sz="1600"/>
          </a:p>
        </p:txBody>
      </p:sp>
      <p:sp>
        <p:nvSpPr>
          <p:cNvPr id="55306" name="Text Box 12">
            <a:extLst>
              <a:ext uri="{FF2B5EF4-FFF2-40B4-BE49-F238E27FC236}">
                <a16:creationId xmlns:a16="http://schemas.microsoft.com/office/drawing/2014/main" id="{0FDC601E-3C0D-4A16-3BAE-FDDB2413CD90}"/>
              </a:ext>
            </a:extLst>
          </p:cNvPr>
          <p:cNvSpPr txBox="1">
            <a:spLocks noChangeArrowheads="1"/>
          </p:cNvSpPr>
          <p:nvPr/>
        </p:nvSpPr>
        <p:spPr bwMode="auto">
          <a:xfrm>
            <a:off x="8618539" y="1830389"/>
            <a:ext cx="6746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00"/>
              <a:t>7 bits</a:t>
            </a:r>
            <a:endParaRPr lang="en-AU" altLang="en-US" sz="1600"/>
          </a:p>
        </p:txBody>
      </p:sp>
      <p:sp>
        <p:nvSpPr>
          <p:cNvPr id="55307" name="Text Box 14">
            <a:extLst>
              <a:ext uri="{FF2B5EF4-FFF2-40B4-BE49-F238E27FC236}">
                <a16:creationId xmlns:a16="http://schemas.microsoft.com/office/drawing/2014/main" id="{393F70D4-EB48-1022-EE90-75B1C5AD0581}"/>
              </a:ext>
            </a:extLst>
          </p:cNvPr>
          <p:cNvSpPr txBox="1">
            <a:spLocks noChangeArrowheads="1"/>
          </p:cNvSpPr>
          <p:nvPr/>
        </p:nvSpPr>
        <p:spPr bwMode="auto">
          <a:xfrm>
            <a:off x="5451476" y="1828800"/>
            <a:ext cx="669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00"/>
              <a:t>5 bits</a:t>
            </a:r>
            <a:endParaRPr lang="en-AU" altLang="en-US" sz="1600"/>
          </a:p>
        </p:txBody>
      </p:sp>
      <p:sp>
        <p:nvSpPr>
          <p:cNvPr id="55308" name="Text Box 15">
            <a:extLst>
              <a:ext uri="{FF2B5EF4-FFF2-40B4-BE49-F238E27FC236}">
                <a16:creationId xmlns:a16="http://schemas.microsoft.com/office/drawing/2014/main" id="{E51F5279-4ABD-04E3-EBEC-C04F89A0A483}"/>
              </a:ext>
            </a:extLst>
          </p:cNvPr>
          <p:cNvSpPr txBox="1">
            <a:spLocks noChangeArrowheads="1"/>
          </p:cNvSpPr>
          <p:nvPr/>
        </p:nvSpPr>
        <p:spPr bwMode="auto">
          <a:xfrm>
            <a:off x="7470776" y="1830388"/>
            <a:ext cx="669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00"/>
              <a:t>5 bits</a:t>
            </a:r>
            <a:endParaRPr lang="en-AU" altLang="en-US" sz="1600"/>
          </a:p>
        </p:txBody>
      </p:sp>
      <p:sp>
        <p:nvSpPr>
          <p:cNvPr id="55309" name="Text Box 16">
            <a:extLst>
              <a:ext uri="{FF2B5EF4-FFF2-40B4-BE49-F238E27FC236}">
                <a16:creationId xmlns:a16="http://schemas.microsoft.com/office/drawing/2014/main" id="{CCE61E4F-317F-B406-7F9C-F634E678C192}"/>
              </a:ext>
            </a:extLst>
          </p:cNvPr>
          <p:cNvSpPr txBox="1">
            <a:spLocks noChangeArrowheads="1"/>
          </p:cNvSpPr>
          <p:nvPr/>
        </p:nvSpPr>
        <p:spPr bwMode="auto">
          <a:xfrm>
            <a:off x="6384925" y="1828800"/>
            <a:ext cx="6746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00"/>
              <a:t>3 bits</a:t>
            </a:r>
            <a:endParaRPr lang="en-AU" altLang="en-US" sz="1600"/>
          </a:p>
        </p:txBody>
      </p:sp>
      <p:sp>
        <p:nvSpPr>
          <p:cNvPr id="55310" name="Text Box 7">
            <a:extLst>
              <a:ext uri="{FF2B5EF4-FFF2-40B4-BE49-F238E27FC236}">
                <a16:creationId xmlns:a16="http://schemas.microsoft.com/office/drawing/2014/main" id="{550D4EC6-A654-CF63-3054-74E55AD26F4B}"/>
              </a:ext>
            </a:extLst>
          </p:cNvPr>
          <p:cNvSpPr txBox="1">
            <a:spLocks noChangeArrowheads="1"/>
          </p:cNvSpPr>
          <p:nvPr/>
        </p:nvSpPr>
        <p:spPr bwMode="auto">
          <a:xfrm>
            <a:off x="2924176" y="1389064"/>
            <a:ext cx="1154113"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2000"/>
              <a:t>funct6</a:t>
            </a:r>
            <a:endParaRPr lang="en-AU" altLang="en-US" sz="2000"/>
          </a:p>
        </p:txBody>
      </p:sp>
      <p:sp>
        <p:nvSpPr>
          <p:cNvPr id="55311" name="Text Box 7">
            <a:extLst>
              <a:ext uri="{FF2B5EF4-FFF2-40B4-BE49-F238E27FC236}">
                <a16:creationId xmlns:a16="http://schemas.microsoft.com/office/drawing/2014/main" id="{7D1301F0-79B1-0A4F-547C-E600C74AF75A}"/>
              </a:ext>
            </a:extLst>
          </p:cNvPr>
          <p:cNvSpPr txBox="1">
            <a:spLocks noChangeArrowheads="1"/>
          </p:cNvSpPr>
          <p:nvPr/>
        </p:nvSpPr>
        <p:spPr bwMode="auto">
          <a:xfrm>
            <a:off x="4078289" y="1389064"/>
            <a:ext cx="1152525"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2000"/>
              <a:t>immed</a:t>
            </a:r>
            <a:endParaRPr lang="en-AU" altLang="en-US" sz="2000"/>
          </a:p>
        </p:txBody>
      </p:sp>
      <p:sp>
        <p:nvSpPr>
          <p:cNvPr id="55312" name="Text Box 11">
            <a:extLst>
              <a:ext uri="{FF2B5EF4-FFF2-40B4-BE49-F238E27FC236}">
                <a16:creationId xmlns:a16="http://schemas.microsoft.com/office/drawing/2014/main" id="{D5C808F4-889B-D86D-3DB0-0F9CE8DF3526}"/>
              </a:ext>
            </a:extLst>
          </p:cNvPr>
          <p:cNvSpPr txBox="1">
            <a:spLocks noChangeArrowheads="1"/>
          </p:cNvSpPr>
          <p:nvPr/>
        </p:nvSpPr>
        <p:spPr bwMode="auto">
          <a:xfrm>
            <a:off x="4357689" y="1828800"/>
            <a:ext cx="6746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00"/>
              <a:t>6 bits</a:t>
            </a:r>
            <a:endParaRPr lang="en-AU" alt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ECAF2-C0E5-F2B5-14A8-D1E1306CE66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3355B38-11A2-6473-BC95-FEAD3CD2DE3B}"/>
              </a:ext>
            </a:extLst>
          </p:cNvPr>
          <p:cNvSpPr>
            <a:spLocks noGrp="1"/>
          </p:cNvSpPr>
          <p:nvPr>
            <p:ph idx="1"/>
          </p:nvPr>
        </p:nvSpPr>
        <p:spPr/>
        <p:txBody>
          <a:bodyPr/>
          <a:lstStyle/>
          <a:p>
            <a:pPr eaLnBrk="1" hangingPunct="1"/>
            <a:r>
              <a:rPr lang="en-US" altLang="en-US" dirty="0"/>
              <a:t>move all the bits in a doubleword to the left or right, filling the emptied bits with 0s</a:t>
            </a:r>
          </a:p>
          <a:p>
            <a:pPr eaLnBrk="1" hangingPunct="1"/>
            <a:endParaRPr lang="en-US" altLang="en-US" dirty="0"/>
          </a:p>
          <a:p>
            <a:pPr eaLnBrk="1" hangingPunct="1"/>
            <a:r>
              <a:rPr lang="en-US" altLang="en-US" dirty="0"/>
              <a:t>Example: x19 has a value of 9</a:t>
            </a:r>
          </a:p>
          <a:p>
            <a:pPr eaLnBrk="1" hangingPunct="1"/>
            <a:r>
              <a:rPr lang="en-US" altLang="en-US" dirty="0"/>
              <a:t>00000000 00000000 00000000 00000000 00000000 00000000 00000000 00001001</a:t>
            </a:r>
            <a:r>
              <a:rPr lang="en-US" altLang="en-US" baseline="-25000" dirty="0"/>
              <a:t>two</a:t>
            </a:r>
            <a:r>
              <a:rPr lang="en-US" altLang="en-US" dirty="0"/>
              <a:t> = 9</a:t>
            </a:r>
            <a:r>
              <a:rPr lang="en-US" altLang="en-US" baseline="-25000" dirty="0"/>
              <a:t>ten</a:t>
            </a:r>
          </a:p>
          <a:p>
            <a:pPr eaLnBrk="1" hangingPunct="1"/>
            <a:r>
              <a:rPr lang="en-US" altLang="en-US" b="1" dirty="0" err="1">
                <a:solidFill>
                  <a:schemeClr val="accent1"/>
                </a:solidFill>
                <a:latin typeface="Courier New" panose="02070309020205020404" pitchFamily="49" charset="0"/>
                <a:cs typeface="Courier New" panose="02070309020205020404" pitchFamily="49" charset="0"/>
              </a:rPr>
              <a:t>slli</a:t>
            </a:r>
            <a:r>
              <a:rPr lang="en-US" altLang="en-US" b="1" dirty="0">
                <a:solidFill>
                  <a:schemeClr val="accent1"/>
                </a:solidFill>
                <a:latin typeface="Courier New" panose="02070309020205020404" pitchFamily="49" charset="0"/>
                <a:cs typeface="Courier New" panose="02070309020205020404" pitchFamily="49" charset="0"/>
              </a:rPr>
              <a:t> x11, x19, 4</a:t>
            </a:r>
          </a:p>
          <a:p>
            <a:pPr eaLnBrk="1" hangingPunct="1"/>
            <a:r>
              <a:rPr lang="en-US" altLang="en-US" dirty="0"/>
              <a:t>00000000 00000000 00000000 00000000 00000000 00000000 00000000 10010000</a:t>
            </a:r>
            <a:r>
              <a:rPr lang="en-US" altLang="en-US" baseline="-25000" dirty="0"/>
              <a:t>two</a:t>
            </a:r>
            <a:r>
              <a:rPr lang="en-US" altLang="en-US" dirty="0"/>
              <a:t> = 144</a:t>
            </a:r>
            <a:r>
              <a:rPr lang="en-US" altLang="en-US" baseline="-25000" dirty="0"/>
              <a:t>ten</a:t>
            </a:r>
            <a:r>
              <a:rPr lang="en-US" altLang="en-US" dirty="0"/>
              <a:t> </a:t>
            </a:r>
          </a:p>
        </p:txBody>
      </p:sp>
      <p:sp>
        <p:nvSpPr>
          <p:cNvPr id="4" name="Title 3">
            <a:extLst>
              <a:ext uri="{FF2B5EF4-FFF2-40B4-BE49-F238E27FC236}">
                <a16:creationId xmlns:a16="http://schemas.microsoft.com/office/drawing/2014/main" id="{570CF80B-7E9F-4C6F-3737-168FF386C455}"/>
              </a:ext>
            </a:extLst>
          </p:cNvPr>
          <p:cNvSpPr>
            <a:spLocks noGrp="1"/>
          </p:cNvSpPr>
          <p:nvPr>
            <p:ph type="title"/>
          </p:nvPr>
        </p:nvSpPr>
        <p:spPr/>
        <p:txBody>
          <a:bodyPr lIns="91440" tIns="45720" rIns="91440" bIns="45720" anchor="t"/>
          <a:lstStyle/>
          <a:p>
            <a:r>
              <a:rPr lang="en-US" dirty="0">
                <a:solidFill>
                  <a:schemeClr val="tx1"/>
                </a:solidFill>
              </a:rPr>
              <a:t>Shift Operations – shift left/right logical</a:t>
            </a:r>
            <a:endParaRPr lang="en-US" dirty="0">
              <a:solidFill>
                <a:schemeClr val="tx1"/>
              </a:solidFill>
              <a:ea typeface="Calibri"/>
            </a:endParaRPr>
          </a:p>
        </p:txBody>
      </p:sp>
    </p:spTree>
    <p:extLst>
      <p:ext uri="{BB962C8B-B14F-4D97-AF65-F5344CB8AC3E}">
        <p14:creationId xmlns:p14="http://schemas.microsoft.com/office/powerpoint/2010/main" val="4080127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6549D-8145-B748-0BC6-31F9A544DFB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D50131D-C29D-016A-42A4-64934C13750B}"/>
              </a:ext>
            </a:extLst>
          </p:cNvPr>
          <p:cNvSpPr>
            <a:spLocks noGrp="1"/>
          </p:cNvSpPr>
          <p:nvPr>
            <p:ph idx="1"/>
          </p:nvPr>
        </p:nvSpPr>
        <p:spPr/>
        <p:txBody>
          <a:bodyPr/>
          <a:lstStyle/>
          <a:p>
            <a:pPr eaLnBrk="1" hangingPunct="1"/>
            <a:r>
              <a:rPr lang="en-US" altLang="en-US" dirty="0"/>
              <a:t>it fills the vacated bits on the left with copies of the old sign bit</a:t>
            </a:r>
          </a:p>
          <a:p>
            <a:pPr eaLnBrk="1" hangingPunct="1"/>
            <a:endParaRPr lang="en-US" altLang="en-US" dirty="0"/>
          </a:p>
          <a:p>
            <a:pPr eaLnBrk="1" hangingPunct="1"/>
            <a:r>
              <a:rPr lang="en-US" altLang="en-US" dirty="0"/>
              <a:t>Example: x19 has a value of -9</a:t>
            </a:r>
          </a:p>
          <a:p>
            <a:pPr eaLnBrk="1" hangingPunct="1"/>
            <a:r>
              <a:rPr lang="en-US" altLang="en-US" b="1" dirty="0" err="1">
                <a:solidFill>
                  <a:schemeClr val="accent1"/>
                </a:solidFill>
                <a:latin typeface="Courier New" panose="02070309020205020404" pitchFamily="49" charset="0"/>
                <a:cs typeface="Courier New" panose="02070309020205020404" pitchFamily="49" charset="0"/>
              </a:rPr>
              <a:t>srai</a:t>
            </a:r>
            <a:r>
              <a:rPr lang="en-US" altLang="en-US" b="1" dirty="0">
                <a:solidFill>
                  <a:schemeClr val="accent1"/>
                </a:solidFill>
                <a:latin typeface="Courier New" panose="02070309020205020404" pitchFamily="49" charset="0"/>
                <a:cs typeface="Courier New" panose="02070309020205020404" pitchFamily="49" charset="0"/>
              </a:rPr>
              <a:t> x11, x19, 4</a:t>
            </a:r>
          </a:p>
          <a:p>
            <a:pPr eaLnBrk="1" hangingPunct="1"/>
            <a:r>
              <a:rPr lang="en-US" altLang="en-US" dirty="0"/>
              <a:t>00000000 00000000 00000000 00000000 00000000 00000000 00000000 10010000</a:t>
            </a:r>
            <a:r>
              <a:rPr lang="en-US" altLang="en-US" baseline="-25000" dirty="0"/>
              <a:t>two</a:t>
            </a:r>
            <a:r>
              <a:rPr lang="en-US" altLang="en-US" dirty="0"/>
              <a:t> = 144</a:t>
            </a:r>
            <a:r>
              <a:rPr lang="en-US" altLang="en-US" baseline="-25000" dirty="0"/>
              <a:t>ten</a:t>
            </a:r>
            <a:endParaRPr lang="en-US" altLang="en-US" dirty="0"/>
          </a:p>
        </p:txBody>
      </p:sp>
      <p:sp>
        <p:nvSpPr>
          <p:cNvPr id="4" name="Title 3">
            <a:extLst>
              <a:ext uri="{FF2B5EF4-FFF2-40B4-BE49-F238E27FC236}">
                <a16:creationId xmlns:a16="http://schemas.microsoft.com/office/drawing/2014/main" id="{8914E598-22E5-0277-E282-59D8028F515C}"/>
              </a:ext>
            </a:extLst>
          </p:cNvPr>
          <p:cNvSpPr>
            <a:spLocks noGrp="1"/>
          </p:cNvSpPr>
          <p:nvPr>
            <p:ph type="title"/>
          </p:nvPr>
        </p:nvSpPr>
        <p:spPr/>
        <p:txBody>
          <a:bodyPr lIns="91440" tIns="45720" rIns="91440" bIns="45720" anchor="t"/>
          <a:lstStyle/>
          <a:p>
            <a:r>
              <a:rPr lang="en-US" dirty="0">
                <a:solidFill>
                  <a:schemeClr val="tx1"/>
                </a:solidFill>
              </a:rPr>
              <a:t>Shift Operations – shift right arithmetic </a:t>
            </a:r>
            <a:endParaRPr lang="en-US" dirty="0">
              <a:solidFill>
                <a:schemeClr val="tx1"/>
              </a:solidFill>
              <a:ea typeface="Calibri"/>
            </a:endParaRPr>
          </a:p>
        </p:txBody>
      </p:sp>
    </p:spTree>
    <p:extLst>
      <p:ext uri="{BB962C8B-B14F-4D97-AF65-F5344CB8AC3E}">
        <p14:creationId xmlns:p14="http://schemas.microsoft.com/office/powerpoint/2010/main" val="3604260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a:extLst>
              <a:ext uri="{FF2B5EF4-FFF2-40B4-BE49-F238E27FC236}">
                <a16:creationId xmlns:a16="http://schemas.microsoft.com/office/drawing/2014/main" id="{AA64E85E-2F2B-E572-B9F9-AF7E08D9C566}"/>
              </a:ext>
            </a:extLst>
          </p:cNvPr>
          <p:cNvSpPr>
            <a:spLocks noChangeArrowheads="1"/>
          </p:cNvSpPr>
          <p:nvPr/>
        </p:nvSpPr>
        <p:spPr bwMode="auto">
          <a:xfrm>
            <a:off x="8759825" y="3362326"/>
            <a:ext cx="431800" cy="16049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7348" name="Rectangle 3">
            <a:extLst>
              <a:ext uri="{FF2B5EF4-FFF2-40B4-BE49-F238E27FC236}">
                <a16:creationId xmlns:a16="http://schemas.microsoft.com/office/drawing/2014/main" id="{6952890A-76A0-04D1-8CD7-9D30E128FBED}"/>
              </a:ext>
            </a:extLst>
          </p:cNvPr>
          <p:cNvSpPr>
            <a:spLocks noGrp="1" noChangeArrowheads="1"/>
          </p:cNvSpPr>
          <p:nvPr>
            <p:ph type="title"/>
          </p:nvPr>
        </p:nvSpPr>
        <p:spPr/>
        <p:txBody>
          <a:bodyPr lIns="91440" tIns="45720" rIns="91440" bIns="45720" anchor="t"/>
          <a:lstStyle/>
          <a:p>
            <a:pPr eaLnBrk="1" hangingPunct="1"/>
            <a:r>
              <a:rPr lang="en-US" altLang="en-US" dirty="0">
                <a:solidFill>
                  <a:schemeClr val="tx1"/>
                </a:solidFill>
              </a:rPr>
              <a:t>AND Operations</a:t>
            </a:r>
            <a:endParaRPr lang="en-AU" altLang="en-US" dirty="0">
              <a:solidFill>
                <a:schemeClr val="tx1"/>
              </a:solidFill>
              <a:ea typeface="Calibri"/>
            </a:endParaRPr>
          </a:p>
        </p:txBody>
      </p:sp>
      <p:sp>
        <p:nvSpPr>
          <p:cNvPr id="57349" name="Rectangle 4">
            <a:extLst>
              <a:ext uri="{FF2B5EF4-FFF2-40B4-BE49-F238E27FC236}">
                <a16:creationId xmlns:a16="http://schemas.microsoft.com/office/drawing/2014/main" id="{0FB92932-A018-5034-F001-12645E8ED7D1}"/>
              </a:ext>
            </a:extLst>
          </p:cNvPr>
          <p:cNvSpPr>
            <a:spLocks noGrp="1" noChangeArrowheads="1"/>
          </p:cNvSpPr>
          <p:nvPr>
            <p:ph type="body" idx="1"/>
          </p:nvPr>
        </p:nvSpPr>
        <p:spPr>
          <a:xfrm>
            <a:off x="2208214" y="1125539"/>
            <a:ext cx="8270875" cy="2073275"/>
          </a:xfrm>
        </p:spPr>
        <p:txBody>
          <a:bodyPr/>
          <a:lstStyle/>
          <a:p>
            <a:pPr eaLnBrk="1" hangingPunct="1"/>
            <a:r>
              <a:rPr lang="en-US" altLang="en-US" dirty="0"/>
              <a:t>Useful to mask bits in a word</a:t>
            </a:r>
          </a:p>
          <a:p>
            <a:pPr lvl="1" eaLnBrk="1" hangingPunct="1"/>
            <a:r>
              <a:rPr lang="en-US" altLang="en-US" dirty="0"/>
              <a:t>Select some bits, clear others to 0</a:t>
            </a:r>
          </a:p>
          <a:p>
            <a:pPr eaLnBrk="1" hangingPunct="1">
              <a:spcBef>
                <a:spcPct val="50000"/>
              </a:spcBef>
              <a:spcAft>
                <a:spcPct val="30000"/>
              </a:spcAft>
              <a:buFont typeface="Wingdings" pitchFamily="2" charset="2"/>
              <a:buNone/>
            </a:pPr>
            <a:r>
              <a:rPr lang="en-US" altLang="en-US" sz="2800" b="1" dirty="0">
                <a:solidFill>
                  <a:schemeClr val="accent1"/>
                </a:solidFill>
                <a:latin typeface="Courier New" panose="02070309020205020404" pitchFamily="49" charset="0"/>
                <a:cs typeface="Courier New" panose="02070309020205020404" pitchFamily="49" charset="0"/>
              </a:rPr>
              <a:t>	and x9,x10,x11</a:t>
            </a:r>
            <a:endParaRPr lang="en-AU" altLang="en-US" sz="2800" b="1" dirty="0">
              <a:solidFill>
                <a:schemeClr val="accent1"/>
              </a:solidFill>
              <a:latin typeface="Courier New" panose="02070309020205020404" pitchFamily="49" charset="0"/>
              <a:cs typeface="Courier New" panose="02070309020205020404" pitchFamily="49" charset="0"/>
            </a:endParaRPr>
          </a:p>
        </p:txBody>
      </p:sp>
      <p:sp>
        <p:nvSpPr>
          <p:cNvPr id="57350" name="Text Box 5">
            <a:extLst>
              <a:ext uri="{FF2B5EF4-FFF2-40B4-BE49-F238E27FC236}">
                <a16:creationId xmlns:a16="http://schemas.microsoft.com/office/drawing/2014/main" id="{DE8E0234-2961-7413-B2AC-C30F87A1BD42}"/>
              </a:ext>
            </a:extLst>
          </p:cNvPr>
          <p:cNvSpPr txBox="1">
            <a:spLocks noChangeArrowheads="1"/>
          </p:cNvSpPr>
          <p:nvPr/>
        </p:nvSpPr>
        <p:spPr bwMode="auto">
          <a:xfrm>
            <a:off x="2705101" y="3403600"/>
            <a:ext cx="7783513" cy="338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600"/>
              <a:t>00000000 00000000 00000000 00000000 00000000 00000000 00001101 11000000</a:t>
            </a:r>
            <a:endParaRPr lang="en-AU" altLang="en-US" sz="1600"/>
          </a:p>
        </p:txBody>
      </p:sp>
      <p:sp>
        <p:nvSpPr>
          <p:cNvPr id="57351" name="Text Box 7">
            <a:extLst>
              <a:ext uri="{FF2B5EF4-FFF2-40B4-BE49-F238E27FC236}">
                <a16:creationId xmlns:a16="http://schemas.microsoft.com/office/drawing/2014/main" id="{BEB83376-1E2D-1C93-34A5-BE2AD33FABA7}"/>
              </a:ext>
            </a:extLst>
          </p:cNvPr>
          <p:cNvSpPr txBox="1">
            <a:spLocks noChangeArrowheads="1"/>
          </p:cNvSpPr>
          <p:nvPr/>
        </p:nvSpPr>
        <p:spPr bwMode="auto">
          <a:xfrm>
            <a:off x="2063750" y="3403600"/>
            <a:ext cx="598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2000"/>
              <a:t>x10</a:t>
            </a:r>
            <a:endParaRPr lang="en-AU" altLang="en-US" sz="2000"/>
          </a:p>
        </p:txBody>
      </p:sp>
      <p:sp>
        <p:nvSpPr>
          <p:cNvPr id="57352" name="Text Box 8">
            <a:extLst>
              <a:ext uri="{FF2B5EF4-FFF2-40B4-BE49-F238E27FC236}">
                <a16:creationId xmlns:a16="http://schemas.microsoft.com/office/drawing/2014/main" id="{F4AF00F1-7419-2C1B-C80E-C0D131CD529B}"/>
              </a:ext>
            </a:extLst>
          </p:cNvPr>
          <p:cNvSpPr txBox="1">
            <a:spLocks noChangeArrowheads="1"/>
          </p:cNvSpPr>
          <p:nvPr/>
        </p:nvSpPr>
        <p:spPr bwMode="auto">
          <a:xfrm>
            <a:off x="2063750" y="3963988"/>
            <a:ext cx="579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2000"/>
              <a:t>x11</a:t>
            </a:r>
            <a:endParaRPr lang="en-AU" altLang="en-US" sz="2000"/>
          </a:p>
        </p:txBody>
      </p:sp>
      <p:sp>
        <p:nvSpPr>
          <p:cNvPr id="57353" name="Text Box 10">
            <a:extLst>
              <a:ext uri="{FF2B5EF4-FFF2-40B4-BE49-F238E27FC236}">
                <a16:creationId xmlns:a16="http://schemas.microsoft.com/office/drawing/2014/main" id="{1C5D62BE-F1C0-BDC8-FEC6-0653548FC651}"/>
              </a:ext>
            </a:extLst>
          </p:cNvPr>
          <p:cNvSpPr txBox="1">
            <a:spLocks noChangeArrowheads="1"/>
          </p:cNvSpPr>
          <p:nvPr/>
        </p:nvSpPr>
        <p:spPr bwMode="auto">
          <a:xfrm>
            <a:off x="2063751" y="4611688"/>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2000"/>
              <a:t>x9</a:t>
            </a:r>
            <a:endParaRPr lang="en-AU" altLang="en-US" sz="2000"/>
          </a:p>
        </p:txBody>
      </p:sp>
      <p:sp>
        <p:nvSpPr>
          <p:cNvPr id="57354" name="Text Box 5">
            <a:extLst>
              <a:ext uri="{FF2B5EF4-FFF2-40B4-BE49-F238E27FC236}">
                <a16:creationId xmlns:a16="http://schemas.microsoft.com/office/drawing/2014/main" id="{F5051784-ABCE-F3EA-F8BB-04860778280D}"/>
              </a:ext>
            </a:extLst>
          </p:cNvPr>
          <p:cNvSpPr txBox="1">
            <a:spLocks noChangeArrowheads="1"/>
          </p:cNvSpPr>
          <p:nvPr/>
        </p:nvSpPr>
        <p:spPr bwMode="auto">
          <a:xfrm>
            <a:off x="2705101" y="3987800"/>
            <a:ext cx="7783513" cy="338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600"/>
              <a:t>00000000 00000000 00000000 00000000 00000000 00000000 00111100 00000000</a:t>
            </a:r>
            <a:endParaRPr lang="en-AU" altLang="en-US" sz="1600"/>
          </a:p>
        </p:txBody>
      </p:sp>
      <p:sp>
        <p:nvSpPr>
          <p:cNvPr id="57355" name="Text Box 5">
            <a:extLst>
              <a:ext uri="{FF2B5EF4-FFF2-40B4-BE49-F238E27FC236}">
                <a16:creationId xmlns:a16="http://schemas.microsoft.com/office/drawing/2014/main" id="{3604D064-A60B-76A8-77C4-118043FD76E4}"/>
              </a:ext>
            </a:extLst>
          </p:cNvPr>
          <p:cNvSpPr txBox="1">
            <a:spLocks noChangeArrowheads="1"/>
          </p:cNvSpPr>
          <p:nvPr/>
        </p:nvSpPr>
        <p:spPr bwMode="auto">
          <a:xfrm>
            <a:off x="2705101" y="4568825"/>
            <a:ext cx="7783513" cy="338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600"/>
              <a:t>00000000 00000000 00000000 00000000 00000000 00000000 00001100 00000000</a:t>
            </a:r>
            <a:endParaRPr lang="en-AU" altLang="en-US"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a:extLst>
              <a:ext uri="{FF2B5EF4-FFF2-40B4-BE49-F238E27FC236}">
                <a16:creationId xmlns:a16="http://schemas.microsoft.com/office/drawing/2014/main" id="{AB38D36F-EF36-4EFF-56A0-70B56A3691AD}"/>
              </a:ext>
            </a:extLst>
          </p:cNvPr>
          <p:cNvSpPr>
            <a:spLocks noChangeArrowheads="1"/>
          </p:cNvSpPr>
          <p:nvPr/>
        </p:nvSpPr>
        <p:spPr bwMode="auto">
          <a:xfrm>
            <a:off x="8759826" y="3362326"/>
            <a:ext cx="936625" cy="16049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59396" name="Rectangle 3">
            <a:extLst>
              <a:ext uri="{FF2B5EF4-FFF2-40B4-BE49-F238E27FC236}">
                <a16:creationId xmlns:a16="http://schemas.microsoft.com/office/drawing/2014/main" id="{14018FEB-F885-E072-0FDC-9EE116DDC26C}"/>
              </a:ext>
            </a:extLst>
          </p:cNvPr>
          <p:cNvSpPr>
            <a:spLocks noGrp="1" noChangeArrowheads="1"/>
          </p:cNvSpPr>
          <p:nvPr>
            <p:ph type="title"/>
          </p:nvPr>
        </p:nvSpPr>
        <p:spPr/>
        <p:txBody>
          <a:bodyPr lIns="91440" tIns="45720" rIns="91440" bIns="45720" anchor="t"/>
          <a:lstStyle/>
          <a:p>
            <a:pPr eaLnBrk="1" hangingPunct="1"/>
            <a:r>
              <a:rPr lang="en-US" altLang="en-US" dirty="0">
                <a:solidFill>
                  <a:schemeClr val="tx1"/>
                </a:solidFill>
              </a:rPr>
              <a:t>OR Operations</a:t>
            </a:r>
            <a:endParaRPr lang="en-AU" altLang="en-US" dirty="0">
              <a:solidFill>
                <a:schemeClr val="tx1"/>
              </a:solidFill>
              <a:ea typeface="Calibri"/>
            </a:endParaRPr>
          </a:p>
        </p:txBody>
      </p:sp>
      <p:sp>
        <p:nvSpPr>
          <p:cNvPr id="59397" name="Rectangle 4">
            <a:extLst>
              <a:ext uri="{FF2B5EF4-FFF2-40B4-BE49-F238E27FC236}">
                <a16:creationId xmlns:a16="http://schemas.microsoft.com/office/drawing/2014/main" id="{54DE1100-299D-BBF6-7BDB-EEB70D5B4ABE}"/>
              </a:ext>
            </a:extLst>
          </p:cNvPr>
          <p:cNvSpPr>
            <a:spLocks noGrp="1" noChangeArrowheads="1"/>
          </p:cNvSpPr>
          <p:nvPr>
            <p:ph type="body" idx="1"/>
          </p:nvPr>
        </p:nvSpPr>
        <p:spPr>
          <a:xfrm>
            <a:off x="2208214" y="1125539"/>
            <a:ext cx="8270875" cy="2073275"/>
          </a:xfrm>
        </p:spPr>
        <p:txBody>
          <a:bodyPr/>
          <a:lstStyle/>
          <a:p>
            <a:pPr eaLnBrk="1" hangingPunct="1"/>
            <a:r>
              <a:rPr lang="en-US" altLang="en-US" dirty="0"/>
              <a:t>Useful to include bits in a word</a:t>
            </a:r>
          </a:p>
          <a:p>
            <a:pPr lvl="1" eaLnBrk="1" hangingPunct="1"/>
            <a:r>
              <a:rPr lang="en-US" altLang="en-US" dirty="0"/>
              <a:t>Set some bits to 1, leave others unchanged</a:t>
            </a:r>
          </a:p>
          <a:p>
            <a:pPr eaLnBrk="1" hangingPunct="1">
              <a:spcBef>
                <a:spcPct val="50000"/>
              </a:spcBef>
              <a:spcAft>
                <a:spcPct val="30000"/>
              </a:spcAft>
              <a:buFont typeface="Wingdings" pitchFamily="2" charset="2"/>
              <a:buNone/>
            </a:pPr>
            <a:r>
              <a:rPr lang="en-US" altLang="en-US" sz="2800" b="1" dirty="0">
                <a:solidFill>
                  <a:schemeClr val="accent1"/>
                </a:solidFill>
                <a:latin typeface="Courier New" panose="02070309020205020404" pitchFamily="49" charset="0"/>
                <a:cs typeface="Courier New" panose="02070309020205020404" pitchFamily="49" charset="0"/>
              </a:rPr>
              <a:t>	or x9,x10,x11</a:t>
            </a:r>
            <a:endParaRPr lang="en-AU" altLang="en-US" sz="2800" b="1" dirty="0">
              <a:solidFill>
                <a:schemeClr val="accent1"/>
              </a:solidFill>
              <a:latin typeface="Courier New" panose="02070309020205020404" pitchFamily="49" charset="0"/>
              <a:cs typeface="Courier New" panose="02070309020205020404" pitchFamily="49" charset="0"/>
            </a:endParaRPr>
          </a:p>
        </p:txBody>
      </p:sp>
      <p:sp>
        <p:nvSpPr>
          <p:cNvPr id="59398" name="Text Box 5">
            <a:extLst>
              <a:ext uri="{FF2B5EF4-FFF2-40B4-BE49-F238E27FC236}">
                <a16:creationId xmlns:a16="http://schemas.microsoft.com/office/drawing/2014/main" id="{5239973D-55E9-1E21-108C-27F8A043FCB5}"/>
              </a:ext>
            </a:extLst>
          </p:cNvPr>
          <p:cNvSpPr txBox="1">
            <a:spLocks noChangeArrowheads="1"/>
          </p:cNvSpPr>
          <p:nvPr/>
        </p:nvSpPr>
        <p:spPr bwMode="auto">
          <a:xfrm>
            <a:off x="2705101" y="3403600"/>
            <a:ext cx="7783513" cy="338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600"/>
              <a:t>00000000 00000000 00000000 00000000 00000000 00000000 00001101 11000000</a:t>
            </a:r>
            <a:endParaRPr lang="en-AU" altLang="en-US" sz="1600"/>
          </a:p>
        </p:txBody>
      </p:sp>
      <p:sp>
        <p:nvSpPr>
          <p:cNvPr id="59399" name="Text Box 7">
            <a:extLst>
              <a:ext uri="{FF2B5EF4-FFF2-40B4-BE49-F238E27FC236}">
                <a16:creationId xmlns:a16="http://schemas.microsoft.com/office/drawing/2014/main" id="{88062EDA-1B82-1036-2695-63B6F0851B73}"/>
              </a:ext>
            </a:extLst>
          </p:cNvPr>
          <p:cNvSpPr txBox="1">
            <a:spLocks noChangeArrowheads="1"/>
          </p:cNvSpPr>
          <p:nvPr/>
        </p:nvSpPr>
        <p:spPr bwMode="auto">
          <a:xfrm>
            <a:off x="2063750" y="3403600"/>
            <a:ext cx="598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2000"/>
              <a:t>x10</a:t>
            </a:r>
            <a:endParaRPr lang="en-AU" altLang="en-US" sz="2000"/>
          </a:p>
        </p:txBody>
      </p:sp>
      <p:sp>
        <p:nvSpPr>
          <p:cNvPr id="59400" name="Text Box 8">
            <a:extLst>
              <a:ext uri="{FF2B5EF4-FFF2-40B4-BE49-F238E27FC236}">
                <a16:creationId xmlns:a16="http://schemas.microsoft.com/office/drawing/2014/main" id="{0384D4DF-4FAE-BA58-1370-56A3394FC365}"/>
              </a:ext>
            </a:extLst>
          </p:cNvPr>
          <p:cNvSpPr txBox="1">
            <a:spLocks noChangeArrowheads="1"/>
          </p:cNvSpPr>
          <p:nvPr/>
        </p:nvSpPr>
        <p:spPr bwMode="auto">
          <a:xfrm>
            <a:off x="2063750" y="3963988"/>
            <a:ext cx="579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2000"/>
              <a:t>x11</a:t>
            </a:r>
            <a:endParaRPr lang="en-AU" altLang="en-US" sz="2000"/>
          </a:p>
        </p:txBody>
      </p:sp>
      <p:sp>
        <p:nvSpPr>
          <p:cNvPr id="59401" name="Text Box 10">
            <a:extLst>
              <a:ext uri="{FF2B5EF4-FFF2-40B4-BE49-F238E27FC236}">
                <a16:creationId xmlns:a16="http://schemas.microsoft.com/office/drawing/2014/main" id="{27E658F9-F813-9640-8C6D-D0B8742D641E}"/>
              </a:ext>
            </a:extLst>
          </p:cNvPr>
          <p:cNvSpPr txBox="1">
            <a:spLocks noChangeArrowheads="1"/>
          </p:cNvSpPr>
          <p:nvPr/>
        </p:nvSpPr>
        <p:spPr bwMode="auto">
          <a:xfrm>
            <a:off x="2063751" y="4611688"/>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2000"/>
              <a:t>x9</a:t>
            </a:r>
            <a:endParaRPr lang="en-AU" altLang="en-US" sz="2000"/>
          </a:p>
        </p:txBody>
      </p:sp>
      <p:sp>
        <p:nvSpPr>
          <p:cNvPr id="59402" name="Text Box 5">
            <a:extLst>
              <a:ext uri="{FF2B5EF4-FFF2-40B4-BE49-F238E27FC236}">
                <a16:creationId xmlns:a16="http://schemas.microsoft.com/office/drawing/2014/main" id="{251D1C7B-8E05-4350-0BAA-0B591881BE4D}"/>
              </a:ext>
            </a:extLst>
          </p:cNvPr>
          <p:cNvSpPr txBox="1">
            <a:spLocks noChangeArrowheads="1"/>
          </p:cNvSpPr>
          <p:nvPr/>
        </p:nvSpPr>
        <p:spPr bwMode="auto">
          <a:xfrm>
            <a:off x="2705101" y="3987800"/>
            <a:ext cx="7783513" cy="338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600"/>
              <a:t>00000000 00000000 00000000 00000000 00000000 00000000 00111100 00000000</a:t>
            </a:r>
            <a:endParaRPr lang="en-AU" altLang="en-US" sz="1600"/>
          </a:p>
        </p:txBody>
      </p:sp>
      <p:sp>
        <p:nvSpPr>
          <p:cNvPr id="59403" name="Text Box 5">
            <a:extLst>
              <a:ext uri="{FF2B5EF4-FFF2-40B4-BE49-F238E27FC236}">
                <a16:creationId xmlns:a16="http://schemas.microsoft.com/office/drawing/2014/main" id="{61076684-87A2-39D5-4D49-D107750A4EF1}"/>
              </a:ext>
            </a:extLst>
          </p:cNvPr>
          <p:cNvSpPr txBox="1">
            <a:spLocks noChangeArrowheads="1"/>
          </p:cNvSpPr>
          <p:nvPr/>
        </p:nvSpPr>
        <p:spPr bwMode="auto">
          <a:xfrm>
            <a:off x="2705101" y="4568825"/>
            <a:ext cx="7783513" cy="338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600"/>
              <a:t>00000000 00000000 00000000 00000000 00000000 00000000 00111101 11000000</a:t>
            </a:r>
            <a:endParaRPr lang="en-AU" altLang="en-US"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3">
            <a:extLst>
              <a:ext uri="{FF2B5EF4-FFF2-40B4-BE49-F238E27FC236}">
                <a16:creationId xmlns:a16="http://schemas.microsoft.com/office/drawing/2014/main" id="{5C736248-0988-5528-2F3B-9C0220CE8CE0}"/>
              </a:ext>
            </a:extLst>
          </p:cNvPr>
          <p:cNvSpPr>
            <a:spLocks noGrp="1"/>
          </p:cNvSpPr>
          <p:nvPr>
            <p:ph type="ftr" sz="quarter" idx="10"/>
          </p:nvPr>
        </p:nvSpPr>
        <p:spPr bwMode="auto">
          <a:xfrm>
            <a:off x="1692275" y="6381750"/>
            <a:ext cx="7272338" cy="3587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ClrTx/>
              <a:buSzTx/>
              <a:buFontTx/>
              <a:buNone/>
              <a:defRPr/>
            </a:pPr>
            <a:r>
              <a:rPr lang="en-AU" altLang="en-US" dirty="0"/>
              <a:t>Chapter 2 — Instructions: Language of the Computer — </a:t>
            </a:r>
            <a:fld id="{4677188C-8A83-8B44-9CA7-BB6E57797B22}" type="slidenum">
              <a:rPr lang="en-AU" altLang="en-US" smtClean="0"/>
              <a:pPr>
                <a:spcBef>
                  <a:spcPct val="0"/>
                </a:spcBef>
                <a:buClrTx/>
                <a:buSzTx/>
                <a:buFontTx/>
                <a:buNone/>
                <a:defRPr/>
              </a:pPr>
              <a:t>14</a:t>
            </a:fld>
            <a:endParaRPr lang="en-AU" altLang="en-US" sz="1400" dirty="0"/>
          </a:p>
        </p:txBody>
      </p:sp>
      <p:sp>
        <p:nvSpPr>
          <p:cNvPr id="61443" name="Rectangle 2">
            <a:extLst>
              <a:ext uri="{FF2B5EF4-FFF2-40B4-BE49-F238E27FC236}">
                <a16:creationId xmlns:a16="http://schemas.microsoft.com/office/drawing/2014/main" id="{84C36E30-1305-C7AD-177E-CD2E4074D6C3}"/>
              </a:ext>
            </a:extLst>
          </p:cNvPr>
          <p:cNvSpPr>
            <a:spLocks noChangeArrowheads="1"/>
          </p:cNvSpPr>
          <p:nvPr/>
        </p:nvSpPr>
        <p:spPr bwMode="auto">
          <a:xfrm>
            <a:off x="8975726" y="3362326"/>
            <a:ext cx="792163" cy="16049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61444" name="Rectangle 3">
            <a:extLst>
              <a:ext uri="{FF2B5EF4-FFF2-40B4-BE49-F238E27FC236}">
                <a16:creationId xmlns:a16="http://schemas.microsoft.com/office/drawing/2014/main" id="{3A33F3A9-CDDF-78C0-0E63-77D40A23BF91}"/>
              </a:ext>
            </a:extLst>
          </p:cNvPr>
          <p:cNvSpPr>
            <a:spLocks noGrp="1" noChangeArrowheads="1"/>
          </p:cNvSpPr>
          <p:nvPr>
            <p:ph type="title"/>
          </p:nvPr>
        </p:nvSpPr>
        <p:spPr/>
        <p:txBody>
          <a:bodyPr lIns="91440" tIns="45720" rIns="91440" bIns="45720" anchor="t"/>
          <a:lstStyle/>
          <a:p>
            <a:pPr eaLnBrk="1" hangingPunct="1"/>
            <a:r>
              <a:rPr lang="en-US" altLang="en-US" dirty="0">
                <a:solidFill>
                  <a:schemeClr val="tx1"/>
                </a:solidFill>
              </a:rPr>
              <a:t>XOR Operations</a:t>
            </a:r>
            <a:endParaRPr lang="en-AU" altLang="en-US">
              <a:solidFill>
                <a:schemeClr val="tx1"/>
              </a:solidFill>
              <a:ea typeface="Calibri"/>
            </a:endParaRPr>
          </a:p>
        </p:txBody>
      </p:sp>
      <p:sp>
        <p:nvSpPr>
          <p:cNvPr id="61445" name="Rectangle 4">
            <a:extLst>
              <a:ext uri="{FF2B5EF4-FFF2-40B4-BE49-F238E27FC236}">
                <a16:creationId xmlns:a16="http://schemas.microsoft.com/office/drawing/2014/main" id="{0D74ABE8-DF49-5599-79E4-7A303EBC489B}"/>
              </a:ext>
            </a:extLst>
          </p:cNvPr>
          <p:cNvSpPr>
            <a:spLocks noGrp="1" noChangeArrowheads="1"/>
          </p:cNvSpPr>
          <p:nvPr>
            <p:ph type="body" idx="1"/>
          </p:nvPr>
        </p:nvSpPr>
        <p:spPr>
          <a:xfrm>
            <a:off x="2208214" y="1125539"/>
            <a:ext cx="8270875" cy="2073275"/>
          </a:xfrm>
        </p:spPr>
        <p:txBody>
          <a:bodyPr/>
          <a:lstStyle/>
          <a:p>
            <a:pPr eaLnBrk="1" hangingPunct="1"/>
            <a:r>
              <a:rPr lang="en-US" altLang="en-US" dirty="0"/>
              <a:t>Differencing operation</a:t>
            </a:r>
          </a:p>
          <a:p>
            <a:pPr lvl="1" eaLnBrk="1" hangingPunct="1"/>
            <a:r>
              <a:rPr lang="en-US" altLang="en-US" dirty="0"/>
              <a:t>Set some bits to 1, leave others unchanged</a:t>
            </a:r>
          </a:p>
          <a:p>
            <a:pPr eaLnBrk="1" hangingPunct="1">
              <a:spcBef>
                <a:spcPct val="50000"/>
              </a:spcBef>
              <a:spcAft>
                <a:spcPct val="30000"/>
              </a:spcAft>
              <a:buFont typeface="Wingdings" pitchFamily="2" charset="2"/>
              <a:buNone/>
            </a:pPr>
            <a:r>
              <a:rPr lang="en-US" altLang="en-US" sz="2800" b="1" dirty="0">
                <a:solidFill>
                  <a:schemeClr val="accent1"/>
                </a:solidFill>
                <a:latin typeface="Courier New" panose="02070309020205020404" pitchFamily="49" charset="0"/>
                <a:cs typeface="Courier New" panose="02070309020205020404" pitchFamily="49" charset="0"/>
              </a:rPr>
              <a:t>	</a:t>
            </a:r>
            <a:r>
              <a:rPr lang="en-US" altLang="en-US" sz="2800" b="1" dirty="0" err="1">
                <a:solidFill>
                  <a:schemeClr val="accent1"/>
                </a:solidFill>
                <a:latin typeface="Courier New" panose="02070309020205020404" pitchFamily="49" charset="0"/>
                <a:cs typeface="Courier New" panose="02070309020205020404" pitchFamily="49" charset="0"/>
              </a:rPr>
              <a:t>xor</a:t>
            </a:r>
            <a:r>
              <a:rPr lang="en-US" altLang="en-US" sz="2800" b="1" dirty="0">
                <a:solidFill>
                  <a:schemeClr val="accent1"/>
                </a:solidFill>
                <a:latin typeface="Courier New" panose="02070309020205020404" pitchFamily="49" charset="0"/>
                <a:cs typeface="Courier New" panose="02070309020205020404" pitchFamily="49" charset="0"/>
              </a:rPr>
              <a:t> x9,x10,x12  // NOT operation</a:t>
            </a:r>
            <a:endParaRPr lang="en-AU" altLang="en-US" sz="2800" b="1" dirty="0">
              <a:solidFill>
                <a:schemeClr val="accent1"/>
              </a:solidFill>
              <a:latin typeface="Courier New" panose="02070309020205020404" pitchFamily="49" charset="0"/>
              <a:cs typeface="Courier New" panose="02070309020205020404" pitchFamily="49" charset="0"/>
            </a:endParaRPr>
          </a:p>
        </p:txBody>
      </p:sp>
      <p:sp>
        <p:nvSpPr>
          <p:cNvPr id="61446" name="Text Box 5">
            <a:extLst>
              <a:ext uri="{FF2B5EF4-FFF2-40B4-BE49-F238E27FC236}">
                <a16:creationId xmlns:a16="http://schemas.microsoft.com/office/drawing/2014/main" id="{7D76F29C-2E75-4094-5CD6-79041E058538}"/>
              </a:ext>
            </a:extLst>
          </p:cNvPr>
          <p:cNvSpPr txBox="1">
            <a:spLocks noChangeArrowheads="1"/>
          </p:cNvSpPr>
          <p:nvPr/>
        </p:nvSpPr>
        <p:spPr bwMode="auto">
          <a:xfrm>
            <a:off x="2705100" y="3403600"/>
            <a:ext cx="7854950" cy="338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600"/>
              <a:t>00000000 00000000 00000000 00000000 00000000 00000000 00001101  11000000</a:t>
            </a:r>
            <a:endParaRPr lang="en-AU" altLang="en-US" sz="1600"/>
          </a:p>
        </p:txBody>
      </p:sp>
      <p:sp>
        <p:nvSpPr>
          <p:cNvPr id="61447" name="Text Box 7">
            <a:extLst>
              <a:ext uri="{FF2B5EF4-FFF2-40B4-BE49-F238E27FC236}">
                <a16:creationId xmlns:a16="http://schemas.microsoft.com/office/drawing/2014/main" id="{1EF0D618-32AD-3871-DFB4-2AE76449085B}"/>
              </a:ext>
            </a:extLst>
          </p:cNvPr>
          <p:cNvSpPr txBox="1">
            <a:spLocks noChangeArrowheads="1"/>
          </p:cNvSpPr>
          <p:nvPr/>
        </p:nvSpPr>
        <p:spPr bwMode="auto">
          <a:xfrm>
            <a:off x="2063750" y="3403600"/>
            <a:ext cx="598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2000"/>
              <a:t>x10</a:t>
            </a:r>
            <a:endParaRPr lang="en-AU" altLang="en-US" sz="2000"/>
          </a:p>
        </p:txBody>
      </p:sp>
      <p:sp>
        <p:nvSpPr>
          <p:cNvPr id="61448" name="Text Box 8">
            <a:extLst>
              <a:ext uri="{FF2B5EF4-FFF2-40B4-BE49-F238E27FC236}">
                <a16:creationId xmlns:a16="http://schemas.microsoft.com/office/drawing/2014/main" id="{4F8CF841-5071-F3EE-57C0-735260FACC2D}"/>
              </a:ext>
            </a:extLst>
          </p:cNvPr>
          <p:cNvSpPr txBox="1">
            <a:spLocks noChangeArrowheads="1"/>
          </p:cNvSpPr>
          <p:nvPr/>
        </p:nvSpPr>
        <p:spPr bwMode="auto">
          <a:xfrm>
            <a:off x="2063750" y="3963988"/>
            <a:ext cx="598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2000"/>
              <a:t>x12</a:t>
            </a:r>
            <a:endParaRPr lang="en-AU" altLang="en-US" sz="2000"/>
          </a:p>
        </p:txBody>
      </p:sp>
      <p:sp>
        <p:nvSpPr>
          <p:cNvPr id="61449" name="Text Box 10">
            <a:extLst>
              <a:ext uri="{FF2B5EF4-FFF2-40B4-BE49-F238E27FC236}">
                <a16:creationId xmlns:a16="http://schemas.microsoft.com/office/drawing/2014/main" id="{B73C63A9-3F9C-770C-5F0B-5E3B535DA237}"/>
              </a:ext>
            </a:extLst>
          </p:cNvPr>
          <p:cNvSpPr txBox="1">
            <a:spLocks noChangeArrowheads="1"/>
          </p:cNvSpPr>
          <p:nvPr/>
        </p:nvSpPr>
        <p:spPr bwMode="auto">
          <a:xfrm>
            <a:off x="2063751" y="4611688"/>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2000"/>
              <a:t>x9</a:t>
            </a:r>
            <a:endParaRPr lang="en-AU" altLang="en-US" sz="2000"/>
          </a:p>
        </p:txBody>
      </p:sp>
      <p:sp>
        <p:nvSpPr>
          <p:cNvPr id="61450" name="Text Box 5">
            <a:extLst>
              <a:ext uri="{FF2B5EF4-FFF2-40B4-BE49-F238E27FC236}">
                <a16:creationId xmlns:a16="http://schemas.microsoft.com/office/drawing/2014/main" id="{C1F7DA34-814F-B57D-DABC-13A189134237}"/>
              </a:ext>
            </a:extLst>
          </p:cNvPr>
          <p:cNvSpPr txBox="1">
            <a:spLocks noChangeArrowheads="1"/>
          </p:cNvSpPr>
          <p:nvPr/>
        </p:nvSpPr>
        <p:spPr bwMode="auto">
          <a:xfrm>
            <a:off x="2705100" y="3987800"/>
            <a:ext cx="7854950" cy="338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600"/>
              <a:t>11111111    11111111  11111111   11111111   11111111   11111111   11111111   11111111</a:t>
            </a:r>
            <a:endParaRPr lang="en-AU" altLang="en-US" sz="1600"/>
          </a:p>
        </p:txBody>
      </p:sp>
      <p:sp>
        <p:nvSpPr>
          <p:cNvPr id="61451" name="Text Box 5">
            <a:extLst>
              <a:ext uri="{FF2B5EF4-FFF2-40B4-BE49-F238E27FC236}">
                <a16:creationId xmlns:a16="http://schemas.microsoft.com/office/drawing/2014/main" id="{653EFC96-309F-DA5D-2334-A49F70E624E3}"/>
              </a:ext>
            </a:extLst>
          </p:cNvPr>
          <p:cNvSpPr txBox="1">
            <a:spLocks noChangeArrowheads="1"/>
          </p:cNvSpPr>
          <p:nvPr/>
        </p:nvSpPr>
        <p:spPr bwMode="auto">
          <a:xfrm>
            <a:off x="2705100" y="4568825"/>
            <a:ext cx="7854950" cy="338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600"/>
              <a:t>11111111    11111111  11111111   11111111   11111111   11111111   11110010  00111111</a:t>
            </a:r>
            <a:endParaRPr lang="en-AU" altLang="en-US"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48AEE-FDD8-1287-5105-78FAD764EEC9}"/>
            </a:ext>
          </a:extLst>
        </p:cNvPr>
        <p:cNvGrpSpPr/>
        <p:nvPr/>
      </p:nvGrpSpPr>
      <p:grpSpPr>
        <a:xfrm>
          <a:off x="0" y="0"/>
          <a:ext cx="0" cy="0"/>
          <a:chOff x="0" y="0"/>
          <a:chExt cx="0" cy="0"/>
        </a:xfrm>
      </p:grpSpPr>
      <p:sp>
        <p:nvSpPr>
          <p:cNvPr id="15362" name="Rectangle 2">
            <a:extLst>
              <a:ext uri="{FF2B5EF4-FFF2-40B4-BE49-F238E27FC236}">
                <a16:creationId xmlns:a16="http://schemas.microsoft.com/office/drawing/2014/main" id="{ADB382D1-AFE6-AB1C-B777-8BF8289E5D7D}"/>
              </a:ext>
            </a:extLst>
          </p:cNvPr>
          <p:cNvSpPr>
            <a:spLocks/>
          </p:cNvSpPr>
          <p:nvPr/>
        </p:nvSpPr>
        <p:spPr bwMode="auto">
          <a:xfrm>
            <a:off x="9586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15364" name="Rectangle 4">
            <a:extLst>
              <a:ext uri="{FF2B5EF4-FFF2-40B4-BE49-F238E27FC236}">
                <a16:creationId xmlns:a16="http://schemas.microsoft.com/office/drawing/2014/main" id="{8525588B-4A22-CB50-559A-214A17F8D200}"/>
              </a:ext>
            </a:extLst>
          </p:cNvPr>
          <p:cNvSpPr>
            <a:spLocks noGrp="1" noChangeArrowheads="1"/>
          </p:cNvSpPr>
          <p:nvPr>
            <p:ph idx="1"/>
          </p:nvPr>
        </p:nvSpPr>
        <p:spPr>
          <a:ln/>
        </p:spPr>
        <p:txBody>
          <a:bodyPr/>
          <a:lstStyle/>
          <a:p>
            <a:pPr marL="0" lvl="1">
              <a:tabLst>
                <a:tab pos="1409700" algn="l"/>
                <a:tab pos="1409700" algn="l"/>
                <a:tab pos="1409700" algn="l"/>
                <a:tab pos="1409700" algn="l"/>
                <a:tab pos="1409700" algn="l"/>
                <a:tab pos="1409700" algn="l"/>
                <a:tab pos="1409700" algn="l"/>
                <a:tab pos="1409700" algn="l"/>
                <a:tab pos="1409700" algn="l"/>
                <a:tab pos="1604963" algn="l"/>
              </a:tabLst>
            </a:pPr>
            <a:r>
              <a:rPr lang="en-US" dirty="0">
                <a:solidFill>
                  <a:srgbClr val="980002"/>
                </a:solidFill>
                <a:latin typeface="Calibri Bold Italic" charset="0"/>
                <a:ea typeface="Calibri Bold Italic" charset="0"/>
                <a:cs typeface="Calibri Bold Italic" charset="0"/>
                <a:sym typeface="Calibri Bold Italic" charset="0"/>
              </a:rPr>
              <a:t>Format</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a:solidFill>
                  <a:srgbClr val="980002"/>
                </a:solidFill>
                <a:latin typeface="Calibri Bold Italic" charset="0"/>
                <a:ea typeface="Calibri Bold Italic" charset="0"/>
                <a:cs typeface="Calibri Bold Italic" charset="0"/>
                <a:sym typeface="Calibri Bold Italic" charset="0"/>
              </a:rPr>
              <a:t>Computation</a:t>
            </a:r>
            <a:endParaRPr lang="en-US" dirty="0">
              <a:solidFill>
                <a:srgbClr val="980002"/>
              </a:solidFill>
              <a:latin typeface="Calibri Bold Italic" charset="0"/>
              <a:ea typeface="ヒラギノ角ゴ ProN W6" charset="0"/>
              <a:cs typeface="ヒラギノ角ゴ ProN W6" charset="0"/>
              <a:sym typeface="Calibri Bold Italic" charset="0"/>
            </a:endParaRPr>
          </a:p>
          <a:p>
            <a:pPr marL="285750" lvl="2">
              <a:tabLst>
                <a:tab pos="1409700" algn="l"/>
                <a:tab pos="1409700" algn="l"/>
                <a:tab pos="1409700" algn="l"/>
                <a:tab pos="1409700" algn="l"/>
                <a:tab pos="1409700" algn="l"/>
                <a:tab pos="1409700" algn="l"/>
                <a:tab pos="1409700" algn="l"/>
                <a:tab pos="1409700" algn="l"/>
                <a:tab pos="1409700" algn="l"/>
                <a:tab pos="1604963" algn="l"/>
              </a:tabLst>
            </a:pPr>
            <a:r>
              <a:rPr lang="en-US" dirty="0">
                <a:latin typeface="Courier New" pitchFamily="49" charset="0"/>
                <a:cs typeface="Courier New" pitchFamily="49" charset="0"/>
                <a:sym typeface="Courier New Bold" charset="0"/>
              </a:rPr>
              <a:t>add</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ea typeface="Calibri Italic" charset="0"/>
                <a:cs typeface="Calibri Italic" charset="0"/>
                <a:sym typeface="Calibri Italic" charset="0"/>
              </a:rPr>
              <a:t>, Src1, Src2</a:t>
            </a:r>
            <a:r>
              <a:rPr lang="en-US" dirty="0"/>
              <a:t>	</a:t>
            </a:r>
            <a:r>
              <a:rPr lang="en-US" dirty="0" err="1"/>
              <a:t>Dest</a:t>
            </a:r>
            <a:r>
              <a:rPr lang="en-US" dirty="0"/>
              <a:t> = Src1 + Src2</a:t>
            </a:r>
          </a:p>
          <a:p>
            <a:pPr marL="285750" lvl="2">
              <a:tabLst>
                <a:tab pos="1409700" algn="l"/>
                <a:tab pos="1409700" algn="l"/>
                <a:tab pos="1409700" algn="l"/>
                <a:tab pos="1409700" algn="l"/>
                <a:tab pos="1409700" algn="l"/>
                <a:tab pos="1409700" algn="l"/>
                <a:tab pos="1409700" algn="l"/>
                <a:tab pos="1409700" algn="l"/>
                <a:tab pos="1409700" algn="l"/>
                <a:tab pos="1604963" algn="l"/>
              </a:tabLst>
            </a:pPr>
            <a:r>
              <a:rPr lang="en-US" dirty="0">
                <a:latin typeface="Courier New" pitchFamily="49" charset="0"/>
                <a:cs typeface="Courier New" pitchFamily="49" charset="0"/>
                <a:sym typeface="Courier New Bold" charset="0"/>
              </a:rPr>
              <a:t>sub</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ea typeface="Calibri Italic" charset="0"/>
                <a:cs typeface="Calibri Italic" charset="0"/>
                <a:sym typeface="Calibri Italic" charset="0"/>
              </a:rPr>
              <a:t>, Src1, Src2</a:t>
            </a:r>
            <a:r>
              <a:rPr lang="en-US" dirty="0"/>
              <a:t>	</a:t>
            </a:r>
            <a:r>
              <a:rPr lang="en-US" dirty="0" err="1"/>
              <a:t>Dest</a:t>
            </a:r>
            <a:r>
              <a:rPr lang="en-US" dirty="0"/>
              <a:t> = Src1 </a:t>
            </a:r>
            <a:r>
              <a:rPr lang="en-US" dirty="0">
                <a:latin typeface="Calibri Italic" charset="0"/>
                <a:ea typeface="Calibri Italic" charset="0"/>
                <a:cs typeface="Calibri Italic" charset="0"/>
                <a:sym typeface="Symbol"/>
              </a:rPr>
              <a:t></a:t>
            </a:r>
            <a:r>
              <a:rPr lang="en-US" dirty="0"/>
              <a:t> Src2</a:t>
            </a:r>
          </a:p>
          <a:p>
            <a:pPr marL="285750" lvl="2">
              <a:tabLst>
                <a:tab pos="1409700" algn="l"/>
                <a:tab pos="1409700" algn="l"/>
                <a:tab pos="1409700" algn="l"/>
                <a:tab pos="1409700" algn="l"/>
                <a:tab pos="1409700" algn="l"/>
                <a:tab pos="1409700" algn="l"/>
                <a:tab pos="1409700" algn="l"/>
                <a:tab pos="1409700" algn="l"/>
                <a:tab pos="1409700" algn="l"/>
                <a:tab pos="1604963" algn="l"/>
              </a:tabLst>
            </a:pPr>
            <a:r>
              <a:rPr lang="en-US" dirty="0" err="1">
                <a:latin typeface="Courier New" pitchFamily="49" charset="0"/>
                <a:cs typeface="Courier New" pitchFamily="49" charset="0"/>
                <a:sym typeface="Courier New Bold" charset="0"/>
              </a:rPr>
              <a:t>sll</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ea typeface="Calibri Italic" charset="0"/>
                <a:cs typeface="Calibri Italic" charset="0"/>
                <a:sym typeface="Calibri Italic" charset="0"/>
              </a:rPr>
              <a:t>, Src1, Src2</a:t>
            </a:r>
            <a:r>
              <a:rPr lang="en-US" dirty="0"/>
              <a:t>	</a:t>
            </a:r>
            <a:r>
              <a:rPr lang="en-US" dirty="0" err="1"/>
              <a:t>Dest</a:t>
            </a:r>
            <a:r>
              <a:rPr lang="en-US" dirty="0"/>
              <a:t> = Src1 &lt;&lt; Src2	</a:t>
            </a:r>
            <a:r>
              <a:rPr lang="en-US" dirty="0">
                <a:solidFill>
                  <a:srgbClr val="980002"/>
                </a:solidFill>
                <a:latin typeface="Calibri Bold Italic" charset="0"/>
                <a:ea typeface="Calibri Bold Italic" charset="0"/>
                <a:cs typeface="Calibri Bold Italic" charset="0"/>
                <a:sym typeface="Calibri Bold Italic" charset="0"/>
              </a:rPr>
              <a:t>Inserts 0 in the </a:t>
            </a:r>
            <a:r>
              <a:rPr lang="en-US" dirty="0" err="1">
                <a:solidFill>
                  <a:srgbClr val="980002"/>
                </a:solidFill>
                <a:latin typeface="Calibri Bold Italic" charset="0"/>
                <a:ea typeface="Calibri Bold Italic" charset="0"/>
                <a:cs typeface="Calibri Bold Italic" charset="0"/>
                <a:sym typeface="Calibri Bold Italic" charset="0"/>
              </a:rPr>
              <a:t>lsb</a:t>
            </a:r>
            <a:endParaRPr lang="en-US" dirty="0"/>
          </a:p>
          <a:p>
            <a:pPr marL="285750" lvl="2">
              <a:tabLst>
                <a:tab pos="1409700" algn="l"/>
                <a:tab pos="1409700" algn="l"/>
                <a:tab pos="1409700" algn="l"/>
                <a:tab pos="1409700" algn="l"/>
                <a:tab pos="1409700" algn="l"/>
                <a:tab pos="1409700" algn="l"/>
                <a:tab pos="1409700" algn="l"/>
                <a:tab pos="1409700" algn="l"/>
                <a:tab pos="1409700" algn="l"/>
                <a:tab pos="1604963" algn="l"/>
              </a:tabLst>
            </a:pPr>
            <a:r>
              <a:rPr lang="en-US" dirty="0" err="1">
                <a:latin typeface="Courier New" pitchFamily="49" charset="0"/>
                <a:cs typeface="Courier New" pitchFamily="49" charset="0"/>
                <a:sym typeface="Courier New Bold" charset="0"/>
              </a:rPr>
              <a:t>sra</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a:latin typeface="Calibri Italic" charset="0"/>
                <a:ea typeface="Calibri Italic" charset="0"/>
                <a:cs typeface="Calibri Italic" charset="0"/>
                <a:sym typeface="Calibri Italic" charset="0"/>
              </a:rPr>
              <a:t>Dest, Src1, Src2</a:t>
            </a:r>
            <a:r>
              <a:rPr lang="en-US" dirty="0"/>
              <a:t>	Dest = Src1 &gt;&gt; Src2	</a:t>
            </a:r>
            <a:r>
              <a:rPr lang="en-US" dirty="0">
                <a:solidFill>
                  <a:srgbClr val="980002"/>
                </a:solidFill>
                <a:latin typeface="Calibri Bold Italic" charset="0"/>
                <a:cs typeface="Calibri Bold Italic" charset="0"/>
                <a:sym typeface="Calibri Bold Italic" charset="0"/>
              </a:rPr>
              <a:t>Shift arithmetic preserves sign bit</a:t>
            </a:r>
            <a:endParaRPr lang="en-US" dirty="0"/>
          </a:p>
          <a:p>
            <a:pPr marL="285750" lvl="2">
              <a:tabLst>
                <a:tab pos="1409700" algn="l"/>
                <a:tab pos="1409700" algn="l"/>
                <a:tab pos="1409700" algn="l"/>
                <a:tab pos="1409700" algn="l"/>
                <a:tab pos="1409700" algn="l"/>
                <a:tab pos="1409700" algn="l"/>
                <a:tab pos="1409700" algn="l"/>
                <a:tab pos="1409700" algn="l"/>
                <a:tab pos="1409700" algn="l"/>
                <a:tab pos="1604963" algn="l"/>
              </a:tabLst>
            </a:pPr>
            <a:r>
              <a:rPr lang="en-US" dirty="0" err="1">
                <a:latin typeface="Courier New" pitchFamily="49" charset="0"/>
                <a:cs typeface="Courier New" pitchFamily="49" charset="0"/>
                <a:sym typeface="Courier New Bold" charset="0"/>
              </a:rPr>
              <a:t>srl</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a:latin typeface="Calibri Italic" charset="0"/>
                <a:ea typeface="Calibri Italic" charset="0"/>
                <a:cs typeface="Calibri Italic" charset="0"/>
                <a:sym typeface="Calibri Italic" charset="0"/>
              </a:rPr>
              <a:t>Dest, Src1, Src2</a:t>
            </a:r>
            <a:r>
              <a:rPr lang="en-US" dirty="0"/>
              <a:t>	Dest = Src1 &gt;&gt; Src2	</a:t>
            </a:r>
            <a:r>
              <a:rPr lang="en-US" dirty="0">
                <a:solidFill>
                  <a:srgbClr val="980002"/>
                </a:solidFill>
                <a:latin typeface="Calibri Bold Italic" charset="0"/>
                <a:ea typeface="Calibri Bold Italic" charset="0"/>
                <a:cs typeface="Calibri Bold Italic" charset="0"/>
                <a:sym typeface="Calibri Bold Italic" charset="0"/>
              </a:rPr>
              <a:t>Shift logical adds 0 bit in the </a:t>
            </a:r>
            <a:r>
              <a:rPr lang="en-US" dirty="0" err="1">
                <a:solidFill>
                  <a:srgbClr val="980002"/>
                </a:solidFill>
                <a:latin typeface="Calibri Bold Italic" charset="0"/>
                <a:ea typeface="Calibri Bold Italic" charset="0"/>
                <a:cs typeface="Calibri Bold Italic" charset="0"/>
                <a:sym typeface="Calibri Bold Italic" charset="0"/>
              </a:rPr>
              <a:t>msb</a:t>
            </a:r>
            <a:endParaRPr lang="en-US" dirty="0"/>
          </a:p>
          <a:p>
            <a:pPr marL="285750" lvl="2">
              <a:tabLst>
                <a:tab pos="1409700" algn="l"/>
                <a:tab pos="1409700" algn="l"/>
                <a:tab pos="1409700" algn="l"/>
                <a:tab pos="1409700" algn="l"/>
                <a:tab pos="1409700" algn="l"/>
                <a:tab pos="1409700" algn="l"/>
                <a:tab pos="1409700" algn="l"/>
                <a:tab pos="1409700" algn="l"/>
                <a:tab pos="1409700" algn="l"/>
                <a:tab pos="1604963" algn="l"/>
              </a:tabLst>
            </a:pPr>
            <a:r>
              <a:rPr lang="en-US" dirty="0" err="1">
                <a:latin typeface="Courier New" pitchFamily="49" charset="0"/>
                <a:cs typeface="Courier New" pitchFamily="49" charset="0"/>
                <a:sym typeface="Courier New Bold" charset="0"/>
              </a:rPr>
              <a:t>xor</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ea typeface="Calibri Italic" charset="0"/>
                <a:cs typeface="Calibri Italic" charset="0"/>
                <a:sym typeface="Calibri Italic" charset="0"/>
              </a:rPr>
              <a:t>, Src1, Src2 </a:t>
            </a:r>
            <a:r>
              <a:rPr lang="en-US" dirty="0"/>
              <a:t>	</a:t>
            </a:r>
            <a:r>
              <a:rPr lang="en-US" dirty="0" err="1"/>
              <a:t>Dest</a:t>
            </a:r>
            <a:r>
              <a:rPr lang="en-US" dirty="0"/>
              <a:t> = </a:t>
            </a:r>
            <a:r>
              <a:rPr lang="en-US" dirty="0" err="1"/>
              <a:t>Dest</a:t>
            </a:r>
            <a:r>
              <a:rPr lang="en-US" dirty="0"/>
              <a:t> ^ </a:t>
            </a:r>
            <a:r>
              <a:rPr lang="en-US" dirty="0" err="1"/>
              <a:t>Src</a:t>
            </a:r>
            <a:endParaRPr lang="en-US" dirty="0"/>
          </a:p>
          <a:p>
            <a:pPr marL="285750" lvl="2">
              <a:tabLst>
                <a:tab pos="1409700" algn="l"/>
                <a:tab pos="1409700" algn="l"/>
                <a:tab pos="1409700" algn="l"/>
                <a:tab pos="1409700" algn="l"/>
                <a:tab pos="1409700" algn="l"/>
                <a:tab pos="1409700" algn="l"/>
                <a:tab pos="1409700" algn="l"/>
                <a:tab pos="1409700" algn="l"/>
                <a:tab pos="1409700" algn="l"/>
                <a:tab pos="1604963" algn="l"/>
              </a:tabLst>
            </a:pPr>
            <a:r>
              <a:rPr lang="en-US" dirty="0">
                <a:latin typeface="Courier New" pitchFamily="49" charset="0"/>
                <a:cs typeface="Courier New" pitchFamily="49" charset="0"/>
                <a:sym typeface="Courier New Bold" charset="0"/>
              </a:rPr>
              <a:t>and</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ea typeface="Calibri Italic" charset="0"/>
                <a:cs typeface="Calibri Italic" charset="0"/>
                <a:sym typeface="Calibri Italic" charset="0"/>
              </a:rPr>
              <a:t>, Src1, Src2 </a:t>
            </a:r>
            <a:r>
              <a:rPr lang="en-US" dirty="0"/>
              <a:t>	</a:t>
            </a:r>
            <a:r>
              <a:rPr lang="en-US" dirty="0" err="1"/>
              <a:t>Dest</a:t>
            </a:r>
            <a:r>
              <a:rPr lang="en-US" dirty="0"/>
              <a:t> = </a:t>
            </a:r>
            <a:r>
              <a:rPr lang="en-US" dirty="0" err="1"/>
              <a:t>Dest</a:t>
            </a:r>
            <a:r>
              <a:rPr lang="en-US" dirty="0"/>
              <a:t> &amp; </a:t>
            </a:r>
            <a:r>
              <a:rPr lang="en-US" dirty="0" err="1"/>
              <a:t>Src</a:t>
            </a:r>
            <a:endParaRPr lang="en-US" dirty="0"/>
          </a:p>
          <a:p>
            <a:pPr marL="285750" lvl="2">
              <a:tabLst>
                <a:tab pos="1409700" algn="l"/>
                <a:tab pos="1409700" algn="l"/>
                <a:tab pos="1409700" algn="l"/>
                <a:tab pos="1409700" algn="l"/>
                <a:tab pos="1409700" algn="l"/>
                <a:tab pos="1409700" algn="l"/>
                <a:tab pos="1409700" algn="l"/>
                <a:tab pos="1409700" algn="l"/>
                <a:tab pos="1409700" algn="l"/>
                <a:tab pos="1604963" algn="l"/>
              </a:tabLst>
            </a:pPr>
            <a:r>
              <a:rPr lang="en-US" dirty="0">
                <a:latin typeface="Courier New" pitchFamily="49" charset="0"/>
                <a:cs typeface="Courier New" pitchFamily="49" charset="0"/>
                <a:sym typeface="Courier New Bold" charset="0"/>
              </a:rPr>
              <a:t>or</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a:latin typeface="Calibri Italic" charset="0"/>
                <a:ea typeface="Calibri Italic" charset="0"/>
                <a:cs typeface="Calibri Italic" charset="0"/>
                <a:sym typeface="Calibri Italic" charset="0"/>
              </a:rPr>
              <a:t>Dest, Src1, Src2</a:t>
            </a:r>
            <a:r>
              <a:rPr lang="en-US" dirty="0"/>
              <a:t>	Dest = Dest | </a:t>
            </a:r>
            <a:r>
              <a:rPr lang="en-US" dirty="0" err="1"/>
              <a:t>Src</a:t>
            </a:r>
            <a:endParaRPr lang="en-US" dirty="0"/>
          </a:p>
          <a:p>
            <a:pPr lvl="1">
              <a:tabLst>
                <a:tab pos="1409700" algn="l"/>
                <a:tab pos="1409700" algn="l"/>
                <a:tab pos="1409700" algn="l"/>
                <a:tab pos="1409700" algn="l"/>
                <a:tab pos="1409700" algn="l"/>
                <a:tab pos="1409700" algn="l"/>
                <a:tab pos="1409700" algn="l"/>
                <a:tab pos="1409700" algn="l"/>
                <a:tab pos="1409700" algn="l"/>
                <a:tab pos="1604963" algn="l"/>
              </a:tabLst>
            </a:pPr>
            <a:r>
              <a:rPr lang="en-US" dirty="0"/>
              <a:t>These are all available with immediate versions (except sub):</a:t>
            </a:r>
          </a:p>
          <a:p>
            <a:pPr lvl="1">
              <a:tabLst>
                <a:tab pos="1409700" algn="l"/>
                <a:tab pos="1409700" algn="l"/>
                <a:tab pos="1409700" algn="l"/>
                <a:tab pos="1409700" algn="l"/>
                <a:tab pos="1409700" algn="l"/>
                <a:tab pos="1409700" algn="l"/>
                <a:tab pos="1409700" algn="l"/>
                <a:tab pos="1409700" algn="l"/>
                <a:tab pos="1409700" algn="l"/>
                <a:tab pos="1604963" algn="l"/>
              </a:tabLst>
            </a:pPr>
            <a:r>
              <a:rPr lang="en-US" dirty="0" err="1">
                <a:latin typeface="Courier New" pitchFamily="49" charset="0"/>
                <a:cs typeface="Courier New" pitchFamily="49" charset="0"/>
                <a:sym typeface="Courier New Bold" charset="0"/>
              </a:rPr>
              <a:t>addi</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ea typeface="Calibri Italic" charset="0"/>
                <a:cs typeface="Calibri Italic" charset="0"/>
                <a:sym typeface="Calibri Italic" charset="0"/>
              </a:rPr>
              <a:t>, Src1, </a:t>
            </a:r>
            <a:r>
              <a:rPr lang="en-US" dirty="0" err="1">
                <a:latin typeface="Calibri Italic" charset="0"/>
                <a:ea typeface="Calibri Italic" charset="0"/>
                <a:cs typeface="Calibri Italic" charset="0"/>
                <a:sym typeface="Calibri Italic" charset="0"/>
              </a:rPr>
              <a:t>Imm</a:t>
            </a:r>
            <a:r>
              <a:rPr lang="en-US" dirty="0"/>
              <a:t>	</a:t>
            </a:r>
            <a:r>
              <a:rPr lang="en-US" dirty="0" err="1"/>
              <a:t>Dest</a:t>
            </a:r>
            <a:r>
              <a:rPr lang="en-US" dirty="0"/>
              <a:t> = Src1 + </a:t>
            </a:r>
            <a:r>
              <a:rPr lang="en-US" dirty="0" err="1"/>
              <a:t>Imm</a:t>
            </a:r>
            <a:endParaRPr lang="en-US" dirty="0"/>
          </a:p>
        </p:txBody>
      </p:sp>
      <p:sp>
        <p:nvSpPr>
          <p:cNvPr id="15363" name="Rectangle 3">
            <a:extLst>
              <a:ext uri="{FF2B5EF4-FFF2-40B4-BE49-F238E27FC236}">
                <a16:creationId xmlns:a16="http://schemas.microsoft.com/office/drawing/2014/main" id="{356D2F3A-B26C-9770-EE6A-531C478863D1}"/>
              </a:ext>
            </a:extLst>
          </p:cNvPr>
          <p:cNvSpPr>
            <a:spLocks noGrp="1" noChangeArrowheads="1"/>
          </p:cNvSpPr>
          <p:nvPr>
            <p:ph type="title"/>
          </p:nvPr>
        </p:nvSpPr>
        <p:spPr>
          <a:ln/>
        </p:spPr>
        <p:txBody>
          <a:bodyPr lIns="91440" tIns="45720" rIns="91440" bIns="45720" anchor="t"/>
          <a:lstStyle/>
          <a:p>
            <a:pPr marL="118745" indent="-118745"/>
            <a:r>
              <a:rPr lang="en-US" dirty="0">
                <a:solidFill>
                  <a:schemeClr val="tx1"/>
                </a:solidFill>
              </a:rPr>
              <a:t>Summary: Some Arithmetic Operations</a:t>
            </a:r>
            <a:endParaRPr lang="en-US" dirty="0">
              <a:solidFill>
                <a:schemeClr val="tx1"/>
              </a:solidFill>
              <a:ea typeface="Calibri"/>
            </a:endParaRPr>
          </a:p>
        </p:txBody>
      </p:sp>
    </p:spTree>
    <p:extLst>
      <p:ext uri="{BB962C8B-B14F-4D97-AF65-F5344CB8AC3E}">
        <p14:creationId xmlns:p14="http://schemas.microsoft.com/office/powerpoint/2010/main" val="9717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4">
                                            <p:txEl>
                                              <p:pRg st="2" end="2"/>
                                            </p:txEl>
                                          </p:spTgt>
                                        </p:tgtEl>
                                        <p:attrNameLst>
                                          <p:attrName>style.visibility</p:attrName>
                                        </p:attrNameLst>
                                      </p:cBhvr>
                                      <p:to>
                                        <p:strVal val="visible"/>
                                      </p:to>
                                    </p:set>
                                    <p:animEffect transition="in" filter="fade">
                                      <p:cBhvr>
                                        <p:cTn id="7" dur="500"/>
                                        <p:tgtEl>
                                          <p:spTgt spid="1536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4">
                                            <p:txEl>
                                              <p:pRg st="3" end="3"/>
                                            </p:txEl>
                                          </p:spTgt>
                                        </p:tgtEl>
                                        <p:attrNameLst>
                                          <p:attrName>style.visibility</p:attrName>
                                        </p:attrNameLst>
                                      </p:cBhvr>
                                      <p:to>
                                        <p:strVal val="visible"/>
                                      </p:to>
                                    </p:set>
                                    <p:animEffect transition="in" filter="fade">
                                      <p:cBhvr>
                                        <p:cTn id="12" dur="500"/>
                                        <p:tgtEl>
                                          <p:spTgt spid="1536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364">
                                            <p:txEl>
                                              <p:pRg st="4" end="4"/>
                                            </p:txEl>
                                          </p:spTgt>
                                        </p:tgtEl>
                                        <p:attrNameLst>
                                          <p:attrName>style.visibility</p:attrName>
                                        </p:attrNameLst>
                                      </p:cBhvr>
                                      <p:to>
                                        <p:strVal val="visible"/>
                                      </p:to>
                                    </p:set>
                                    <p:animEffect transition="in" filter="fade">
                                      <p:cBhvr>
                                        <p:cTn id="17" dur="500"/>
                                        <p:tgtEl>
                                          <p:spTgt spid="1536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364">
                                            <p:txEl>
                                              <p:pRg st="5" end="5"/>
                                            </p:txEl>
                                          </p:spTgt>
                                        </p:tgtEl>
                                        <p:attrNameLst>
                                          <p:attrName>style.visibility</p:attrName>
                                        </p:attrNameLst>
                                      </p:cBhvr>
                                      <p:to>
                                        <p:strVal val="visible"/>
                                      </p:to>
                                    </p:set>
                                    <p:animEffect transition="in" filter="fade">
                                      <p:cBhvr>
                                        <p:cTn id="22" dur="500"/>
                                        <p:tgtEl>
                                          <p:spTgt spid="1536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364">
                                            <p:txEl>
                                              <p:pRg st="6" end="6"/>
                                            </p:txEl>
                                          </p:spTgt>
                                        </p:tgtEl>
                                        <p:attrNameLst>
                                          <p:attrName>style.visibility</p:attrName>
                                        </p:attrNameLst>
                                      </p:cBhvr>
                                      <p:to>
                                        <p:strVal val="visible"/>
                                      </p:to>
                                    </p:set>
                                    <p:animEffect transition="in" filter="fade">
                                      <p:cBhvr>
                                        <p:cTn id="27" dur="500"/>
                                        <p:tgtEl>
                                          <p:spTgt spid="1536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364">
                                            <p:txEl>
                                              <p:pRg st="7" end="7"/>
                                            </p:txEl>
                                          </p:spTgt>
                                        </p:tgtEl>
                                        <p:attrNameLst>
                                          <p:attrName>style.visibility</p:attrName>
                                        </p:attrNameLst>
                                      </p:cBhvr>
                                      <p:to>
                                        <p:strVal val="visible"/>
                                      </p:to>
                                    </p:set>
                                    <p:animEffect transition="in" filter="fade">
                                      <p:cBhvr>
                                        <p:cTn id="32" dur="500"/>
                                        <p:tgtEl>
                                          <p:spTgt spid="1536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364">
                                            <p:txEl>
                                              <p:pRg st="8" end="8"/>
                                            </p:txEl>
                                          </p:spTgt>
                                        </p:tgtEl>
                                        <p:attrNameLst>
                                          <p:attrName>style.visibility</p:attrName>
                                        </p:attrNameLst>
                                      </p:cBhvr>
                                      <p:to>
                                        <p:strVal val="visible"/>
                                      </p:to>
                                    </p:set>
                                    <p:animEffect transition="in" filter="fade">
                                      <p:cBhvr>
                                        <p:cTn id="37" dur="500"/>
                                        <p:tgtEl>
                                          <p:spTgt spid="15364">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364">
                                            <p:txEl>
                                              <p:pRg st="9" end="9"/>
                                            </p:txEl>
                                          </p:spTgt>
                                        </p:tgtEl>
                                        <p:attrNameLst>
                                          <p:attrName>style.visibility</p:attrName>
                                        </p:attrNameLst>
                                      </p:cBhvr>
                                      <p:to>
                                        <p:strVal val="visible"/>
                                      </p:to>
                                    </p:set>
                                    <p:animEffect transition="in" filter="fade">
                                      <p:cBhvr>
                                        <p:cTn id="42" dur="500"/>
                                        <p:tgtEl>
                                          <p:spTgt spid="15364">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364">
                                            <p:txEl>
                                              <p:pRg st="10" end="10"/>
                                            </p:txEl>
                                          </p:spTgt>
                                        </p:tgtEl>
                                        <p:attrNameLst>
                                          <p:attrName>style.visibility</p:attrName>
                                        </p:attrNameLst>
                                      </p:cBhvr>
                                      <p:to>
                                        <p:strVal val="visible"/>
                                      </p:to>
                                    </p:set>
                                    <p:animEffect transition="in" filter="fade">
                                      <p:cBhvr>
                                        <p:cTn id="47" dur="500"/>
                                        <p:tgtEl>
                                          <p:spTgt spid="1536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1186989-8B87-4039-ADF4-0E0648CC5D21}"/>
              </a:ext>
            </a:extLst>
          </p:cNvPr>
          <p:cNvSpPr>
            <a:spLocks noGrp="1"/>
          </p:cNvSpPr>
          <p:nvPr>
            <p:ph type="title"/>
          </p:nvPr>
        </p:nvSpPr>
        <p:spPr/>
        <p:txBody>
          <a:bodyPr lIns="91440" tIns="45720" rIns="91440" bIns="45720" anchor="t"/>
          <a:lstStyle/>
          <a:p>
            <a:r>
              <a:rPr lang="en-US" dirty="0">
                <a:solidFill>
                  <a:schemeClr val="tx1"/>
                </a:solidFill>
              </a:rPr>
              <a:t>Absolute Value by Bit Twiddling</a:t>
            </a:r>
            <a:endParaRPr lang="en-US" dirty="0">
              <a:solidFill>
                <a:schemeClr val="tx1"/>
              </a:solidFill>
              <a:ea typeface="Calibri"/>
            </a:endParaRPr>
          </a:p>
        </p:txBody>
      </p:sp>
      <p:sp>
        <p:nvSpPr>
          <p:cNvPr id="5" name="Content Placeholder 2">
            <a:extLst>
              <a:ext uri="{FF2B5EF4-FFF2-40B4-BE49-F238E27FC236}">
                <a16:creationId xmlns:a16="http://schemas.microsoft.com/office/drawing/2014/main" id="{D6AD4006-A666-65F4-BC19-898610FB5A82}"/>
              </a:ext>
            </a:extLst>
          </p:cNvPr>
          <p:cNvSpPr txBox="1">
            <a:spLocks/>
          </p:cNvSpPr>
          <p:nvPr/>
        </p:nvSpPr>
        <p:spPr>
          <a:xfrm>
            <a:off x="203200" y="4038600"/>
            <a:ext cx="11455400" cy="2286000"/>
          </a:xfrm>
          <a:prstGeom prst="rect">
            <a:avLst/>
          </a:prstGeom>
        </p:spPr>
        <p:txBody>
          <a:bodyPr>
            <a:normAutofit/>
          </a:bodyPr>
          <a:lstStyle>
            <a:lvl1pPr marL="0" indent="0" algn="l" defTabSz="914377" rtl="0" eaLnBrk="1" latinLnBrk="0" hangingPunct="1">
              <a:spcBef>
                <a:spcPct val="20000"/>
              </a:spcBef>
              <a:buClr>
                <a:schemeClr val="accent1"/>
              </a:buClr>
              <a:buFont typeface="Wingdings" pitchFamily="2" charset="2"/>
              <a:buNone/>
              <a:defRPr sz="2800" kern="1200">
                <a:solidFill>
                  <a:schemeClr val="tx1"/>
                </a:solidFill>
                <a:latin typeface="+mn-lt"/>
                <a:ea typeface="+mn-ea"/>
                <a:cs typeface="Arial"/>
              </a:defRPr>
            </a:lvl1pPr>
            <a:lvl2pPr marL="411470" indent="0" algn="l" defTabSz="914377" rtl="0" eaLnBrk="1" latinLnBrk="0" hangingPunct="1">
              <a:spcBef>
                <a:spcPct val="20000"/>
              </a:spcBef>
              <a:buClr>
                <a:schemeClr val="accent1"/>
              </a:buClr>
              <a:buFont typeface="Wingdings" pitchFamily="2" charset="2"/>
              <a:buNone/>
              <a:defRPr sz="2400" kern="1200">
                <a:solidFill>
                  <a:schemeClr val="tx1">
                    <a:lumMod val="85000"/>
                    <a:lumOff val="15000"/>
                  </a:schemeClr>
                </a:solidFill>
                <a:latin typeface="+mn-lt"/>
                <a:ea typeface="+mn-ea"/>
                <a:cs typeface="+mn-cs"/>
              </a:defRPr>
            </a:lvl2pPr>
            <a:lvl3pPr marL="777221" indent="0" algn="l" defTabSz="914377" rtl="0" eaLnBrk="1" latinLnBrk="0" hangingPunct="1">
              <a:spcBef>
                <a:spcPct val="20000"/>
              </a:spcBef>
              <a:buClr>
                <a:schemeClr val="accent1"/>
              </a:buClr>
              <a:buFont typeface="Wingdings" pitchFamily="2" charset="2"/>
              <a:buNone/>
              <a:defRPr sz="2000" kern="1200">
                <a:solidFill>
                  <a:schemeClr val="tx1">
                    <a:lumMod val="85000"/>
                    <a:lumOff val="15000"/>
                  </a:schemeClr>
                </a:solidFill>
                <a:latin typeface="+mn-lt"/>
                <a:ea typeface="+mn-ea"/>
                <a:cs typeface="+mn-cs"/>
              </a:defRPr>
            </a:lvl3pPr>
            <a:lvl4pPr marL="1188690" indent="0" algn="l" defTabSz="914377" rtl="0" eaLnBrk="1" latinLnBrk="0" hangingPunct="1">
              <a:spcBef>
                <a:spcPct val="20000"/>
              </a:spcBef>
              <a:buClr>
                <a:schemeClr val="accent1"/>
              </a:buClr>
              <a:buFont typeface="Wingdings" pitchFamily="2" charset="2"/>
              <a:buNone/>
              <a:defRPr sz="1800" kern="1200">
                <a:solidFill>
                  <a:schemeClr val="tx1">
                    <a:lumMod val="85000"/>
                    <a:lumOff val="15000"/>
                  </a:schemeClr>
                </a:solidFill>
                <a:latin typeface="+mn-lt"/>
                <a:ea typeface="+mn-ea"/>
                <a:cs typeface="+mn-cs"/>
              </a:defRPr>
            </a:lvl4pPr>
            <a:lvl5pPr marL="1508722" indent="0" algn="l" defTabSz="914377" rtl="0" eaLnBrk="1" latinLnBrk="0" hangingPunct="1">
              <a:spcBef>
                <a:spcPct val="20000"/>
              </a:spcBef>
              <a:buClr>
                <a:schemeClr val="accent1"/>
              </a:buClr>
              <a:buFont typeface="Wingdings" pitchFamily="2" charset="2"/>
              <a:buNone/>
              <a:defRPr sz="1600" kern="1200">
                <a:solidFill>
                  <a:schemeClr val="tx1">
                    <a:lumMod val="85000"/>
                    <a:lumOff val="15000"/>
                  </a:schemeClr>
                </a:solidFill>
                <a:latin typeface="+mn-lt"/>
                <a:ea typeface="+mn-ea"/>
                <a:cs typeface="+mn-cs"/>
              </a:defRPr>
            </a:lvl5pPr>
            <a:lvl6pPr marL="2148786"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18"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850"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882"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r>
              <a:rPr lang="en-US" dirty="0">
                <a:cs typeface="Courier New" panose="02070309020205020404" pitchFamily="49" charset="0"/>
              </a:rPr>
              <a:t>Operator precedence:</a:t>
            </a:r>
          </a:p>
          <a:p>
            <a:r>
              <a:rPr lang="en-US" dirty="0">
                <a:cs typeface="Courier New" panose="02070309020205020404" pitchFamily="49" charset="0"/>
              </a:rPr>
              <a:t>	</a:t>
            </a:r>
            <a:r>
              <a:rPr lang="en-US" b="1" dirty="0"/>
              <a:t>Multiplication (*)</a:t>
            </a:r>
            <a:r>
              <a:rPr lang="en-US" dirty="0"/>
              <a:t> → Precedence: </a:t>
            </a:r>
            <a:r>
              <a:rPr lang="en-US" b="1" dirty="0"/>
              <a:t>3</a:t>
            </a:r>
            <a:r>
              <a:rPr lang="en-US" dirty="0"/>
              <a:t>, Left-to-right associativity</a:t>
            </a:r>
          </a:p>
          <a:p>
            <a:r>
              <a:rPr lang="en-US" b="1" dirty="0"/>
              <a:t>	Subtraction (-)</a:t>
            </a:r>
            <a:r>
              <a:rPr lang="en-US" dirty="0"/>
              <a:t> → Precedence: </a:t>
            </a:r>
            <a:r>
              <a:rPr lang="en-US" b="1" dirty="0"/>
              <a:t>4</a:t>
            </a:r>
            <a:r>
              <a:rPr lang="en-US" dirty="0"/>
              <a:t>, Left-to-right associativity</a:t>
            </a:r>
          </a:p>
          <a:p>
            <a:r>
              <a:rPr lang="en-US" b="1" dirty="0"/>
              <a:t>	Bitwise right shift (&gt;&gt;)</a:t>
            </a:r>
            <a:r>
              <a:rPr lang="en-US" dirty="0"/>
              <a:t> → Precedence: </a:t>
            </a:r>
            <a:r>
              <a:rPr lang="en-US" b="1" dirty="0"/>
              <a:t>5</a:t>
            </a:r>
            <a:r>
              <a:rPr lang="en-US" dirty="0"/>
              <a:t>, Left-to-right associativity</a:t>
            </a:r>
          </a:p>
        </p:txBody>
      </p:sp>
      <p:sp>
        <p:nvSpPr>
          <p:cNvPr id="7" name="TextBox 6">
            <a:extLst>
              <a:ext uri="{FF2B5EF4-FFF2-40B4-BE49-F238E27FC236}">
                <a16:creationId xmlns:a16="http://schemas.microsoft.com/office/drawing/2014/main" id="{D064A055-8BAC-F2A8-5D20-24D5E931EF2C}"/>
              </a:ext>
            </a:extLst>
          </p:cNvPr>
          <p:cNvSpPr txBox="1"/>
          <p:nvPr/>
        </p:nvSpPr>
        <p:spPr>
          <a:xfrm>
            <a:off x="7391400" y="6468452"/>
            <a:ext cx="4800600" cy="307777"/>
          </a:xfrm>
          <a:prstGeom prst="rect">
            <a:avLst/>
          </a:prstGeom>
          <a:noFill/>
        </p:spPr>
        <p:txBody>
          <a:bodyPr wrap="square">
            <a:spAutoFit/>
          </a:bodyPr>
          <a:lstStyle/>
          <a:p>
            <a:r>
              <a:rPr lang="en-US" sz="1400" i="1" dirty="0">
                <a:solidFill>
                  <a:schemeClr val="bg1">
                    <a:lumMod val="75000"/>
                  </a:schemeClr>
                </a:solidFill>
                <a:latin typeface="Times New Roman" panose="02020603050405020304" pitchFamily="18" charset="0"/>
                <a:cs typeface="Times New Roman" panose="02020603050405020304" pitchFamily="18" charset="0"/>
              </a:rPr>
              <a:t>https://</a:t>
            </a:r>
            <a:r>
              <a:rPr lang="en-US" sz="1400" i="1" dirty="0" err="1">
                <a:solidFill>
                  <a:schemeClr val="bg1">
                    <a:lumMod val="75000"/>
                  </a:schemeClr>
                </a:solidFill>
                <a:latin typeface="Times New Roman" panose="02020603050405020304" pitchFamily="18" charset="0"/>
                <a:cs typeface="Times New Roman" panose="02020603050405020304" pitchFamily="18" charset="0"/>
              </a:rPr>
              <a:t>en.cppreference.com</a:t>
            </a:r>
            <a:r>
              <a:rPr lang="en-US" sz="1400" i="1" dirty="0">
                <a:solidFill>
                  <a:schemeClr val="bg1">
                    <a:lumMod val="75000"/>
                  </a:schemeClr>
                </a:solidFill>
                <a:latin typeface="Times New Roman" panose="02020603050405020304" pitchFamily="18" charset="0"/>
                <a:cs typeface="Times New Roman" panose="02020603050405020304" pitchFamily="18" charset="0"/>
              </a:rPr>
              <a:t>/w/c/language/</a:t>
            </a:r>
            <a:r>
              <a:rPr lang="en-US" sz="1400" i="1" dirty="0" err="1">
                <a:solidFill>
                  <a:schemeClr val="bg1">
                    <a:lumMod val="75000"/>
                  </a:schemeClr>
                </a:solidFill>
                <a:latin typeface="Times New Roman" panose="02020603050405020304" pitchFamily="18" charset="0"/>
                <a:cs typeface="Times New Roman" panose="02020603050405020304" pitchFamily="18" charset="0"/>
              </a:rPr>
              <a:t>operator_precedence</a:t>
            </a:r>
            <a:endParaRPr lang="en-US" sz="1400" i="1"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13" name="Content Placeholder 1">
            <a:extLst>
              <a:ext uri="{FF2B5EF4-FFF2-40B4-BE49-F238E27FC236}">
                <a16:creationId xmlns:a16="http://schemas.microsoft.com/office/drawing/2014/main" id="{5887A688-3802-9FD4-C31B-49EB927BFCBF}"/>
              </a:ext>
            </a:extLst>
          </p:cNvPr>
          <p:cNvSpPr>
            <a:spLocks noGrp="1"/>
          </p:cNvSpPr>
          <p:nvPr>
            <p:ph sz="quarter" idx="13"/>
          </p:nvPr>
        </p:nvSpPr>
        <p:spPr>
          <a:xfrm>
            <a:off x="203200" y="1371600"/>
            <a:ext cx="7772400" cy="2438400"/>
          </a:xfrm>
          <a:solidFill>
            <a:schemeClr val="accent3">
              <a:lumMod val="40000"/>
              <a:lumOff val="60000"/>
            </a:schemeClr>
          </a:solidFill>
          <a:ln>
            <a:solidFill>
              <a:schemeClr val="tx1"/>
            </a:solidFill>
          </a:ln>
        </p:spPr>
        <p:txBody>
          <a:bodyPr>
            <a:noAutofit/>
          </a:bodyPr>
          <a:lstStyle/>
          <a:p>
            <a:r>
              <a:rPr lang="en-US" sz="2400" b="1" dirty="0">
                <a:latin typeface="Courier New" panose="02070309020205020404" pitchFamily="49" charset="0"/>
                <a:cs typeface="Courier New" panose="02070309020205020404" pitchFamily="49" charset="0"/>
              </a:rPr>
              <a:t>int abs(int v)</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int mask = v &gt;&gt; 4 * 8 - 1;</a:t>
            </a:r>
          </a:p>
          <a:p>
            <a:r>
              <a:rPr lang="en-US" sz="2400" b="1" dirty="0">
                <a:latin typeface="Courier New" panose="02070309020205020404" pitchFamily="49" charset="0"/>
                <a:cs typeface="Courier New" panose="02070309020205020404" pitchFamily="49" charset="0"/>
              </a:rPr>
              <a:t>  return (v + mask) ^ mask;</a:t>
            </a:r>
          </a:p>
          <a:p>
            <a:r>
              <a:rPr lang="en-US" sz="2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9558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6DEBA-40D2-78FF-43CB-B97AE54288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4E6BE1-F5CC-AE27-DF1A-DBB83D05E509}"/>
              </a:ext>
            </a:extLst>
          </p:cNvPr>
          <p:cNvSpPr>
            <a:spLocks noGrp="1"/>
          </p:cNvSpPr>
          <p:nvPr>
            <p:ph type="title"/>
          </p:nvPr>
        </p:nvSpPr>
        <p:spPr/>
        <p:txBody>
          <a:bodyPr lIns="91440" tIns="45720" rIns="91440" bIns="45720" anchor="t"/>
          <a:lstStyle/>
          <a:p>
            <a:r>
              <a:rPr lang="en-US" dirty="0">
                <a:solidFill>
                  <a:schemeClr val="tx1"/>
                </a:solidFill>
              </a:rPr>
              <a:t>Absolute Value by Bit Twiddling</a:t>
            </a:r>
            <a:endParaRPr lang="en-US" dirty="0">
              <a:solidFill>
                <a:schemeClr val="tx1"/>
              </a:solidFill>
              <a:ea typeface="Calibri"/>
            </a:endParaRPr>
          </a:p>
        </p:txBody>
      </p:sp>
      <p:sp>
        <p:nvSpPr>
          <p:cNvPr id="7" name="TextBox 6">
            <a:extLst>
              <a:ext uri="{FF2B5EF4-FFF2-40B4-BE49-F238E27FC236}">
                <a16:creationId xmlns:a16="http://schemas.microsoft.com/office/drawing/2014/main" id="{F8B98C9E-D49A-B87E-3C1A-FA816EB9167A}"/>
              </a:ext>
            </a:extLst>
          </p:cNvPr>
          <p:cNvSpPr txBox="1"/>
          <p:nvPr/>
        </p:nvSpPr>
        <p:spPr>
          <a:xfrm>
            <a:off x="7391400" y="6468452"/>
            <a:ext cx="4800600" cy="307777"/>
          </a:xfrm>
          <a:prstGeom prst="rect">
            <a:avLst/>
          </a:prstGeom>
          <a:noFill/>
        </p:spPr>
        <p:txBody>
          <a:bodyPr wrap="square">
            <a:spAutoFit/>
          </a:bodyPr>
          <a:lstStyle/>
          <a:p>
            <a:r>
              <a:rPr lang="en-US" sz="1400" i="1" dirty="0">
                <a:solidFill>
                  <a:schemeClr val="bg1">
                    <a:lumMod val="75000"/>
                  </a:schemeClr>
                </a:solidFill>
                <a:latin typeface="Times New Roman" panose="02020603050405020304" pitchFamily="18" charset="0"/>
                <a:cs typeface="Times New Roman" panose="02020603050405020304" pitchFamily="18" charset="0"/>
              </a:rPr>
              <a:t>https://</a:t>
            </a:r>
            <a:r>
              <a:rPr lang="en-US" sz="1400" i="1" dirty="0" err="1">
                <a:solidFill>
                  <a:schemeClr val="bg1">
                    <a:lumMod val="75000"/>
                  </a:schemeClr>
                </a:solidFill>
                <a:latin typeface="Times New Roman" panose="02020603050405020304" pitchFamily="18" charset="0"/>
                <a:cs typeface="Times New Roman" panose="02020603050405020304" pitchFamily="18" charset="0"/>
              </a:rPr>
              <a:t>en.cppreference.com</a:t>
            </a:r>
            <a:r>
              <a:rPr lang="en-US" sz="1400" i="1" dirty="0">
                <a:solidFill>
                  <a:schemeClr val="bg1">
                    <a:lumMod val="75000"/>
                  </a:schemeClr>
                </a:solidFill>
                <a:latin typeface="Times New Roman" panose="02020603050405020304" pitchFamily="18" charset="0"/>
                <a:cs typeface="Times New Roman" panose="02020603050405020304" pitchFamily="18" charset="0"/>
              </a:rPr>
              <a:t>/w/c/language/</a:t>
            </a:r>
            <a:r>
              <a:rPr lang="en-US" sz="1400" i="1" dirty="0" err="1">
                <a:solidFill>
                  <a:schemeClr val="bg1">
                    <a:lumMod val="75000"/>
                  </a:schemeClr>
                </a:solidFill>
                <a:latin typeface="Times New Roman" panose="02020603050405020304" pitchFamily="18" charset="0"/>
                <a:cs typeface="Times New Roman" panose="02020603050405020304" pitchFamily="18" charset="0"/>
              </a:rPr>
              <a:t>operator_precedence</a:t>
            </a:r>
            <a:endParaRPr lang="en-US" sz="1400" i="1"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13" name="Content Placeholder 1">
            <a:extLst>
              <a:ext uri="{FF2B5EF4-FFF2-40B4-BE49-F238E27FC236}">
                <a16:creationId xmlns:a16="http://schemas.microsoft.com/office/drawing/2014/main" id="{09C2A3EE-7632-5A2E-4ADE-5E4C245D6EDB}"/>
              </a:ext>
            </a:extLst>
          </p:cNvPr>
          <p:cNvSpPr>
            <a:spLocks noGrp="1"/>
          </p:cNvSpPr>
          <p:nvPr>
            <p:ph sz="quarter" idx="13"/>
          </p:nvPr>
        </p:nvSpPr>
        <p:spPr>
          <a:xfrm>
            <a:off x="203200" y="1371600"/>
            <a:ext cx="7772400" cy="2438400"/>
          </a:xfrm>
          <a:solidFill>
            <a:schemeClr val="accent3">
              <a:lumMod val="40000"/>
              <a:lumOff val="60000"/>
            </a:schemeClr>
          </a:solidFill>
          <a:ln>
            <a:solidFill>
              <a:schemeClr val="tx1"/>
            </a:solidFill>
          </a:ln>
        </p:spPr>
        <p:txBody>
          <a:bodyPr>
            <a:noAutofit/>
          </a:bodyPr>
          <a:lstStyle/>
          <a:p>
            <a:r>
              <a:rPr lang="en-US" sz="2400" b="1" dirty="0">
                <a:latin typeface="Courier New" panose="02070309020205020404" pitchFamily="49" charset="0"/>
                <a:cs typeface="Courier New" panose="02070309020205020404" pitchFamily="49" charset="0"/>
              </a:rPr>
              <a:t>int abs(int v)</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int mask = </a:t>
            </a:r>
            <a:r>
              <a:rPr lang="en-US" sz="2400" b="1" strike="sngStrike" dirty="0">
                <a:latin typeface="Courier New" panose="02070309020205020404" pitchFamily="49" charset="0"/>
                <a:cs typeface="Courier New" panose="02070309020205020404" pitchFamily="49" charset="0"/>
              </a:rPr>
              <a:t>v &gt;&gt; 4 * 8 - 1</a:t>
            </a:r>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return (v + mask) ^ mask;</a:t>
            </a:r>
          </a:p>
          <a:p>
            <a:r>
              <a:rPr lang="en-US" sz="2400" b="1" dirty="0">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285AEBAE-11AE-AD69-06D3-F0B73E4BD700}"/>
              </a:ext>
            </a:extLst>
          </p:cNvPr>
          <p:cNvSpPr txBox="1"/>
          <p:nvPr/>
        </p:nvSpPr>
        <p:spPr>
          <a:xfrm>
            <a:off x="2590800" y="1930127"/>
            <a:ext cx="3733800" cy="461665"/>
          </a:xfrm>
          <a:prstGeom prst="rect">
            <a:avLst/>
          </a:prstGeom>
          <a:noFill/>
        </p:spPr>
        <p:txBody>
          <a:bodyPr wrap="square">
            <a:spAutoFit/>
          </a:bodyPr>
          <a:lstStyle/>
          <a:p>
            <a:r>
              <a:rPr lang="en-US" sz="2400" b="1" dirty="0">
                <a:solidFill>
                  <a:srgbClr val="FF0000"/>
                </a:solidFill>
                <a:latin typeface="Courier New" panose="02070309020205020404" pitchFamily="49" charset="0"/>
                <a:cs typeface="Courier New" panose="02070309020205020404" pitchFamily="49" charset="0"/>
              </a:rPr>
              <a:t>v &gt;&gt; (4 * 8 – 1)</a:t>
            </a:r>
            <a:endParaRPr lang="en-US" sz="2400" dirty="0">
              <a:solidFill>
                <a:srgbClr val="FF0000"/>
              </a:solidFill>
            </a:endParaRPr>
          </a:p>
        </p:txBody>
      </p:sp>
    </p:spTree>
    <p:extLst>
      <p:ext uri="{BB962C8B-B14F-4D97-AF65-F5344CB8AC3E}">
        <p14:creationId xmlns:p14="http://schemas.microsoft.com/office/powerpoint/2010/main" val="3199286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2543A-EDAB-42BF-6479-800E3AB0E9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A1F3D4-5F70-F7AF-21C9-FE0F3FC5C20E}"/>
              </a:ext>
            </a:extLst>
          </p:cNvPr>
          <p:cNvSpPr>
            <a:spLocks noGrp="1"/>
          </p:cNvSpPr>
          <p:nvPr>
            <p:ph type="title"/>
          </p:nvPr>
        </p:nvSpPr>
        <p:spPr/>
        <p:txBody>
          <a:bodyPr lIns="91440" tIns="45720" rIns="91440" bIns="45720" anchor="t"/>
          <a:lstStyle/>
          <a:p>
            <a:r>
              <a:rPr lang="en-US" dirty="0">
                <a:solidFill>
                  <a:schemeClr val="tx1"/>
                </a:solidFill>
              </a:rPr>
              <a:t>Absolute Value by Bit Twiddling</a:t>
            </a:r>
            <a:endParaRPr lang="en-US" dirty="0">
              <a:solidFill>
                <a:schemeClr val="tx1"/>
              </a:solidFill>
              <a:ea typeface="Calibri"/>
            </a:endParaRPr>
          </a:p>
        </p:txBody>
      </p:sp>
      <p:sp>
        <p:nvSpPr>
          <p:cNvPr id="7" name="TextBox 6">
            <a:extLst>
              <a:ext uri="{FF2B5EF4-FFF2-40B4-BE49-F238E27FC236}">
                <a16:creationId xmlns:a16="http://schemas.microsoft.com/office/drawing/2014/main" id="{CBFA619C-4902-4615-989C-069D10397449}"/>
              </a:ext>
            </a:extLst>
          </p:cNvPr>
          <p:cNvSpPr txBox="1"/>
          <p:nvPr/>
        </p:nvSpPr>
        <p:spPr>
          <a:xfrm>
            <a:off x="7391400" y="6468452"/>
            <a:ext cx="4800600" cy="307777"/>
          </a:xfrm>
          <a:prstGeom prst="rect">
            <a:avLst/>
          </a:prstGeom>
          <a:noFill/>
        </p:spPr>
        <p:txBody>
          <a:bodyPr wrap="square">
            <a:spAutoFit/>
          </a:bodyPr>
          <a:lstStyle/>
          <a:p>
            <a:r>
              <a:rPr lang="en-US" sz="1400" i="1" dirty="0">
                <a:solidFill>
                  <a:schemeClr val="bg1">
                    <a:lumMod val="75000"/>
                  </a:schemeClr>
                </a:solidFill>
                <a:latin typeface="Times New Roman" panose="02020603050405020304" pitchFamily="18" charset="0"/>
                <a:cs typeface="Times New Roman" panose="02020603050405020304" pitchFamily="18" charset="0"/>
              </a:rPr>
              <a:t>https://</a:t>
            </a:r>
            <a:r>
              <a:rPr lang="en-US" sz="1400" i="1" dirty="0" err="1">
                <a:solidFill>
                  <a:schemeClr val="bg1">
                    <a:lumMod val="75000"/>
                  </a:schemeClr>
                </a:solidFill>
                <a:latin typeface="Times New Roman" panose="02020603050405020304" pitchFamily="18" charset="0"/>
                <a:cs typeface="Times New Roman" panose="02020603050405020304" pitchFamily="18" charset="0"/>
              </a:rPr>
              <a:t>en.cppreference.com</a:t>
            </a:r>
            <a:r>
              <a:rPr lang="en-US" sz="1400" i="1" dirty="0">
                <a:solidFill>
                  <a:schemeClr val="bg1">
                    <a:lumMod val="75000"/>
                  </a:schemeClr>
                </a:solidFill>
                <a:latin typeface="Times New Roman" panose="02020603050405020304" pitchFamily="18" charset="0"/>
                <a:cs typeface="Times New Roman" panose="02020603050405020304" pitchFamily="18" charset="0"/>
              </a:rPr>
              <a:t>/w/c/language/</a:t>
            </a:r>
            <a:r>
              <a:rPr lang="en-US" sz="1400" i="1" dirty="0" err="1">
                <a:solidFill>
                  <a:schemeClr val="bg1">
                    <a:lumMod val="75000"/>
                  </a:schemeClr>
                </a:solidFill>
                <a:latin typeface="Times New Roman" panose="02020603050405020304" pitchFamily="18" charset="0"/>
                <a:cs typeface="Times New Roman" panose="02020603050405020304" pitchFamily="18" charset="0"/>
              </a:rPr>
              <a:t>operator_precedence</a:t>
            </a:r>
            <a:endParaRPr lang="en-US" sz="1400" i="1"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13" name="Content Placeholder 1">
            <a:extLst>
              <a:ext uri="{FF2B5EF4-FFF2-40B4-BE49-F238E27FC236}">
                <a16:creationId xmlns:a16="http://schemas.microsoft.com/office/drawing/2014/main" id="{7D13FEB8-604F-6B0D-4284-CA9A76E5CACA}"/>
              </a:ext>
            </a:extLst>
          </p:cNvPr>
          <p:cNvSpPr>
            <a:spLocks noGrp="1"/>
          </p:cNvSpPr>
          <p:nvPr>
            <p:ph sz="quarter" idx="13"/>
          </p:nvPr>
        </p:nvSpPr>
        <p:spPr>
          <a:xfrm>
            <a:off x="203200" y="1371600"/>
            <a:ext cx="7772400" cy="2438400"/>
          </a:xfrm>
          <a:solidFill>
            <a:schemeClr val="accent3">
              <a:lumMod val="40000"/>
              <a:lumOff val="60000"/>
            </a:schemeClr>
          </a:solidFill>
          <a:ln>
            <a:solidFill>
              <a:schemeClr val="tx1"/>
            </a:solidFill>
          </a:ln>
        </p:spPr>
        <p:txBody>
          <a:bodyPr>
            <a:noAutofit/>
          </a:bodyPr>
          <a:lstStyle/>
          <a:p>
            <a:r>
              <a:rPr lang="en-US" sz="2400" b="1" dirty="0">
                <a:latin typeface="Courier New" panose="02070309020205020404" pitchFamily="49" charset="0"/>
                <a:cs typeface="Courier New" panose="02070309020205020404" pitchFamily="49" charset="0"/>
              </a:rPr>
              <a:t>int abs(int v)</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int mask = </a:t>
            </a:r>
            <a:r>
              <a:rPr lang="en-US" sz="2400" b="1" strike="sngStrike" dirty="0">
                <a:latin typeface="Courier New" panose="02070309020205020404" pitchFamily="49" charset="0"/>
                <a:cs typeface="Courier New" panose="02070309020205020404" pitchFamily="49" charset="0"/>
              </a:rPr>
              <a:t>v &gt;&gt; 4 * 8 - 1</a:t>
            </a:r>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return (v + mask) ^ mask;</a:t>
            </a:r>
          </a:p>
          <a:p>
            <a:r>
              <a:rPr lang="en-US" sz="2400" b="1" dirty="0">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A612C12D-539A-A3B3-66F8-FB7B7A4B7DCA}"/>
              </a:ext>
            </a:extLst>
          </p:cNvPr>
          <p:cNvSpPr txBox="1"/>
          <p:nvPr/>
        </p:nvSpPr>
        <p:spPr>
          <a:xfrm>
            <a:off x="2590800" y="1930127"/>
            <a:ext cx="3733800" cy="461665"/>
          </a:xfrm>
          <a:prstGeom prst="rect">
            <a:avLst/>
          </a:prstGeom>
          <a:noFill/>
        </p:spPr>
        <p:txBody>
          <a:bodyPr wrap="square">
            <a:spAutoFit/>
          </a:bodyPr>
          <a:lstStyle/>
          <a:p>
            <a:r>
              <a:rPr lang="en-US" sz="2400" b="1" strike="sngStrike" dirty="0">
                <a:solidFill>
                  <a:srgbClr val="FF0000"/>
                </a:solidFill>
                <a:latin typeface="Courier New" panose="02070309020205020404" pitchFamily="49" charset="0"/>
                <a:cs typeface="Courier New" panose="02070309020205020404" pitchFamily="49" charset="0"/>
              </a:rPr>
              <a:t>v &gt;&gt; (4 * 8 – 1)</a:t>
            </a:r>
            <a:endParaRPr lang="en-US" sz="2400" strike="sngStrike" dirty="0">
              <a:solidFill>
                <a:srgbClr val="FF0000"/>
              </a:solidFill>
            </a:endParaRPr>
          </a:p>
        </p:txBody>
      </p:sp>
      <p:sp>
        <p:nvSpPr>
          <p:cNvPr id="2" name="TextBox 1">
            <a:extLst>
              <a:ext uri="{FF2B5EF4-FFF2-40B4-BE49-F238E27FC236}">
                <a16:creationId xmlns:a16="http://schemas.microsoft.com/office/drawing/2014/main" id="{9FED6545-1AF0-D25A-7453-99BD111499EC}"/>
              </a:ext>
            </a:extLst>
          </p:cNvPr>
          <p:cNvSpPr txBox="1"/>
          <p:nvPr/>
        </p:nvSpPr>
        <p:spPr>
          <a:xfrm>
            <a:off x="2590800" y="1652264"/>
            <a:ext cx="3733800" cy="461665"/>
          </a:xfrm>
          <a:prstGeom prst="rect">
            <a:avLst/>
          </a:prstGeom>
          <a:noFill/>
        </p:spPr>
        <p:txBody>
          <a:bodyPr wrap="square">
            <a:spAutoFit/>
          </a:bodyPr>
          <a:lstStyle/>
          <a:p>
            <a:r>
              <a:rPr lang="en-US" sz="2400" b="1" dirty="0">
                <a:solidFill>
                  <a:srgbClr val="FF0000"/>
                </a:solidFill>
                <a:latin typeface="Courier New" panose="02070309020205020404" pitchFamily="49" charset="0"/>
                <a:cs typeface="Courier New" panose="02070309020205020404" pitchFamily="49" charset="0"/>
              </a:rPr>
              <a:t>v &gt;&gt; 31</a:t>
            </a:r>
            <a:endParaRPr lang="en-US" sz="2400" dirty="0">
              <a:solidFill>
                <a:srgbClr val="FF0000"/>
              </a:solidFill>
            </a:endParaRPr>
          </a:p>
        </p:txBody>
      </p:sp>
    </p:spTree>
    <p:extLst>
      <p:ext uri="{BB962C8B-B14F-4D97-AF65-F5344CB8AC3E}">
        <p14:creationId xmlns:p14="http://schemas.microsoft.com/office/powerpoint/2010/main" val="614718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4D628-80DF-4503-1E42-70BD7451CBF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65C05D-72C0-306D-1FD8-BFFFAEF9174A}"/>
              </a:ext>
            </a:extLst>
          </p:cNvPr>
          <p:cNvSpPr>
            <a:spLocks noGrp="1"/>
          </p:cNvSpPr>
          <p:nvPr>
            <p:ph sz="quarter" idx="13"/>
          </p:nvPr>
        </p:nvSpPr>
        <p:spPr>
          <a:xfrm>
            <a:off x="203200" y="1371600"/>
            <a:ext cx="7772400" cy="2438400"/>
          </a:xfrm>
          <a:solidFill>
            <a:schemeClr val="accent3">
              <a:lumMod val="40000"/>
              <a:lumOff val="60000"/>
            </a:schemeClr>
          </a:solidFill>
          <a:ln>
            <a:solidFill>
              <a:schemeClr val="tx1"/>
            </a:solidFill>
          </a:ln>
        </p:spPr>
        <p:txBody>
          <a:bodyPr>
            <a:noAutofit/>
          </a:bodyPr>
          <a:lstStyle/>
          <a:p>
            <a:r>
              <a:rPr lang="en-US" sz="2400" b="1" dirty="0">
                <a:latin typeface="Courier New" panose="02070309020205020404" pitchFamily="49" charset="0"/>
                <a:cs typeface="Courier New" panose="02070309020205020404" pitchFamily="49" charset="0"/>
              </a:rPr>
              <a:t>int abs(int v)</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int mask = v &gt;&gt; 4 * 8 - 1;</a:t>
            </a:r>
          </a:p>
          <a:p>
            <a:r>
              <a:rPr lang="en-US" sz="2400" b="1" dirty="0">
                <a:latin typeface="Courier New" panose="02070309020205020404" pitchFamily="49" charset="0"/>
                <a:cs typeface="Courier New" panose="02070309020205020404" pitchFamily="49" charset="0"/>
              </a:rPr>
              <a:t>  return (v + mask) ^ mask;</a:t>
            </a:r>
          </a:p>
          <a:p>
            <a:r>
              <a:rPr lang="en-US" sz="2400" b="1" dirty="0">
                <a:latin typeface="Courier New" panose="02070309020205020404" pitchFamily="49" charset="0"/>
                <a:cs typeface="Courier New" panose="02070309020205020404" pitchFamily="49" charset="0"/>
              </a:rPr>
              <a:t>}</a:t>
            </a:r>
          </a:p>
        </p:txBody>
      </p:sp>
      <p:sp>
        <p:nvSpPr>
          <p:cNvPr id="3" name="Content Placeholder 2">
            <a:extLst>
              <a:ext uri="{FF2B5EF4-FFF2-40B4-BE49-F238E27FC236}">
                <a16:creationId xmlns:a16="http://schemas.microsoft.com/office/drawing/2014/main" id="{29BC9882-D231-7172-252C-5C391435736A}"/>
              </a:ext>
            </a:extLst>
          </p:cNvPr>
          <p:cNvSpPr>
            <a:spLocks noGrp="1"/>
          </p:cNvSpPr>
          <p:nvPr>
            <p:ph sz="quarter" idx="14"/>
          </p:nvPr>
        </p:nvSpPr>
        <p:spPr>
          <a:xfrm>
            <a:off x="203200" y="4038600"/>
            <a:ext cx="5791200" cy="2819400"/>
          </a:xfrm>
        </p:spPr>
        <p:txBody>
          <a:bodyPr/>
          <a:lstStyle/>
          <a:p>
            <a:pPr>
              <a:spcBef>
                <a:spcPts val="600"/>
              </a:spcBef>
            </a:pPr>
            <a:r>
              <a:rPr lang="en-US" b="1" dirty="0">
                <a:latin typeface="Courier New" panose="02070309020205020404" pitchFamily="49" charset="0"/>
                <a:cs typeface="Courier New" panose="02070309020205020404" pitchFamily="49" charset="0"/>
              </a:rPr>
              <a:t>abs:</a:t>
            </a:r>
            <a:br>
              <a:rPr lang="en-US" b="1" dirty="0">
                <a:latin typeface="Courier New" panose="02070309020205020404" pitchFamily="49" charset="0"/>
                <a:cs typeface="Courier New" panose="02070309020205020404" pitchFamily="49" charset="0"/>
              </a:rPr>
            </a:br>
            <a:r>
              <a:rPr lang="en-US" b="1" dirty="0" err="1">
                <a:latin typeface="Courier New" panose="02070309020205020404" pitchFamily="49" charset="0"/>
                <a:cs typeface="Courier New" panose="02070309020205020404" pitchFamily="49" charset="0"/>
              </a:rPr>
              <a:t>srai</a:t>
            </a:r>
            <a:r>
              <a:rPr lang="en-US" b="1" dirty="0">
                <a:latin typeface="Courier New" panose="02070309020205020404" pitchFamily="49" charset="0"/>
                <a:cs typeface="Courier New" panose="02070309020205020404" pitchFamily="49" charset="0"/>
              </a:rPr>
              <a:t>    t0, a0, 31</a:t>
            </a:r>
          </a:p>
          <a:p>
            <a:pPr>
              <a:spcBef>
                <a:spcPts val="600"/>
              </a:spcBef>
            </a:pPr>
            <a:r>
              <a:rPr lang="en-US" b="1" dirty="0">
                <a:latin typeface="Courier New" panose="02070309020205020404" pitchFamily="49" charset="0"/>
                <a:cs typeface="Courier New" panose="02070309020205020404" pitchFamily="49" charset="0"/>
              </a:rPr>
              <a:t>add     a0, a0, t0</a:t>
            </a:r>
          </a:p>
          <a:p>
            <a:pPr>
              <a:spcBef>
                <a:spcPts val="600"/>
              </a:spcBef>
            </a:pPr>
            <a:r>
              <a:rPr lang="en-US" b="1" dirty="0" err="1">
                <a:latin typeface="Courier New" panose="02070309020205020404" pitchFamily="49" charset="0"/>
                <a:cs typeface="Courier New" panose="02070309020205020404" pitchFamily="49" charset="0"/>
              </a:rPr>
              <a:t>xor</a:t>
            </a:r>
            <a:r>
              <a:rPr lang="en-US" b="1" dirty="0">
                <a:latin typeface="Courier New" panose="02070309020205020404" pitchFamily="49" charset="0"/>
                <a:cs typeface="Courier New" panose="02070309020205020404" pitchFamily="49" charset="0"/>
              </a:rPr>
              <a:t>     a0, a0, t0</a:t>
            </a:r>
          </a:p>
          <a:p>
            <a:pPr>
              <a:spcBef>
                <a:spcPts val="600"/>
              </a:spcBef>
            </a:pPr>
            <a:r>
              <a:rPr lang="en-US" b="1" dirty="0">
                <a:latin typeface="Courier New" panose="02070309020205020404" pitchFamily="49" charset="0"/>
                <a:cs typeface="Courier New" panose="02070309020205020404" pitchFamily="49" charset="0"/>
              </a:rPr>
              <a:t>ret</a:t>
            </a:r>
          </a:p>
        </p:txBody>
      </p:sp>
      <p:sp>
        <p:nvSpPr>
          <p:cNvPr id="4" name="Title 3">
            <a:extLst>
              <a:ext uri="{FF2B5EF4-FFF2-40B4-BE49-F238E27FC236}">
                <a16:creationId xmlns:a16="http://schemas.microsoft.com/office/drawing/2014/main" id="{5969A705-E545-49F1-B55D-E5A605C5A191}"/>
              </a:ext>
            </a:extLst>
          </p:cNvPr>
          <p:cNvSpPr>
            <a:spLocks noGrp="1"/>
          </p:cNvSpPr>
          <p:nvPr>
            <p:ph type="title"/>
          </p:nvPr>
        </p:nvSpPr>
        <p:spPr/>
        <p:txBody>
          <a:bodyPr lIns="91440" tIns="45720" rIns="91440" bIns="45720" anchor="t"/>
          <a:lstStyle/>
          <a:p>
            <a:r>
              <a:rPr lang="en-US" dirty="0">
                <a:solidFill>
                  <a:schemeClr val="tx1"/>
                </a:solidFill>
              </a:rPr>
              <a:t>Absolute Value by Bit Twiddling</a:t>
            </a:r>
            <a:endParaRPr lang="en-US" dirty="0">
              <a:solidFill>
                <a:schemeClr val="tx1"/>
              </a:solidFill>
              <a:ea typeface="Calibri"/>
            </a:endParaRPr>
          </a:p>
        </p:txBody>
      </p:sp>
    </p:spTree>
    <p:extLst>
      <p:ext uri="{BB962C8B-B14F-4D97-AF65-F5344CB8AC3E}">
        <p14:creationId xmlns:p14="http://schemas.microsoft.com/office/powerpoint/2010/main" val="212249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2012C1-98FF-4438-8683-09CFD5C037C4}"/>
              </a:ext>
            </a:extLst>
          </p:cNvPr>
          <p:cNvSpPr>
            <a:spLocks noGrp="1"/>
          </p:cNvSpPr>
          <p:nvPr>
            <p:ph sz="quarter" idx="13"/>
          </p:nvPr>
        </p:nvSpPr>
        <p:spPr>
          <a:xfrm>
            <a:off x="203200" y="1371600"/>
            <a:ext cx="7772400" cy="2438400"/>
          </a:xfrm>
          <a:solidFill>
            <a:schemeClr val="accent3">
              <a:lumMod val="40000"/>
              <a:lumOff val="60000"/>
            </a:schemeClr>
          </a:solidFill>
          <a:ln>
            <a:solidFill>
              <a:schemeClr val="tx1"/>
            </a:solidFill>
          </a:ln>
        </p:spPr>
        <p:txBody>
          <a:bodyPr>
            <a:noAutofit/>
          </a:bodyPr>
          <a:lstStyle/>
          <a:p>
            <a:r>
              <a:rPr lang="en-US" sz="2400" b="1" dirty="0">
                <a:latin typeface="Courier New" panose="02070309020205020404" pitchFamily="49" charset="0"/>
                <a:cs typeface="Courier New" panose="02070309020205020404" pitchFamily="49" charset="0"/>
              </a:rPr>
              <a:t>int abs(int v)</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a:t>
            </a:r>
            <a:r>
              <a:rPr lang="en-US" sz="2400" b="1" dirty="0">
                <a:solidFill>
                  <a:srgbClr val="FF0000"/>
                </a:solidFill>
                <a:latin typeface="Courier New" panose="02070309020205020404" pitchFamily="49" charset="0"/>
                <a:cs typeface="Courier New" panose="02070309020205020404" pitchFamily="49" charset="0"/>
              </a:rPr>
              <a:t>int mask = v &gt;&gt; 4 * 8 - 1;</a:t>
            </a:r>
          </a:p>
          <a:p>
            <a:r>
              <a:rPr lang="en-US" sz="2400" b="1" dirty="0">
                <a:latin typeface="Courier New" panose="02070309020205020404" pitchFamily="49" charset="0"/>
                <a:cs typeface="Courier New" panose="02070309020205020404" pitchFamily="49" charset="0"/>
              </a:rPr>
              <a:t>  return (v + mask) ^ mask;</a:t>
            </a:r>
          </a:p>
          <a:p>
            <a:r>
              <a:rPr lang="en-US" sz="2400" b="1" dirty="0">
                <a:latin typeface="Courier New" panose="02070309020205020404" pitchFamily="49" charset="0"/>
                <a:cs typeface="Courier New" panose="02070309020205020404" pitchFamily="49" charset="0"/>
              </a:rPr>
              <a:t>}</a:t>
            </a:r>
          </a:p>
        </p:txBody>
      </p:sp>
      <p:sp>
        <p:nvSpPr>
          <p:cNvPr id="3" name="Content Placeholder 2">
            <a:extLst>
              <a:ext uri="{FF2B5EF4-FFF2-40B4-BE49-F238E27FC236}">
                <a16:creationId xmlns:a16="http://schemas.microsoft.com/office/drawing/2014/main" id="{25E30AD0-BD16-4BA6-AF77-EF0F44060BB7}"/>
              </a:ext>
            </a:extLst>
          </p:cNvPr>
          <p:cNvSpPr>
            <a:spLocks noGrp="1"/>
          </p:cNvSpPr>
          <p:nvPr>
            <p:ph sz="quarter" idx="14"/>
          </p:nvPr>
        </p:nvSpPr>
        <p:spPr>
          <a:xfrm>
            <a:off x="203200" y="4038600"/>
            <a:ext cx="5791200" cy="2819400"/>
          </a:xfrm>
        </p:spPr>
        <p:txBody>
          <a:bodyPr/>
          <a:lstStyle/>
          <a:p>
            <a:pPr>
              <a:spcBef>
                <a:spcPts val="600"/>
              </a:spcBef>
            </a:pPr>
            <a:r>
              <a:rPr lang="en-US" b="1" dirty="0">
                <a:latin typeface="Courier New" panose="02070309020205020404" pitchFamily="49" charset="0"/>
                <a:cs typeface="Courier New" panose="02070309020205020404" pitchFamily="49" charset="0"/>
              </a:rPr>
              <a:t>abs:</a:t>
            </a:r>
            <a:br>
              <a:rPr lang="en-US" b="1" dirty="0">
                <a:latin typeface="Courier New" panose="02070309020205020404" pitchFamily="49" charset="0"/>
                <a:cs typeface="Courier New" panose="02070309020205020404" pitchFamily="49" charset="0"/>
              </a:rPr>
            </a:br>
            <a:r>
              <a:rPr lang="en-US" b="1" dirty="0" err="1">
                <a:solidFill>
                  <a:srgbClr val="FF0000"/>
                </a:solidFill>
                <a:latin typeface="Courier New" panose="02070309020205020404" pitchFamily="49" charset="0"/>
                <a:cs typeface="Courier New" panose="02070309020205020404" pitchFamily="49" charset="0"/>
              </a:rPr>
              <a:t>srai</a:t>
            </a:r>
            <a:r>
              <a:rPr lang="en-US" b="1" dirty="0">
                <a:solidFill>
                  <a:srgbClr val="FF0000"/>
                </a:solidFill>
                <a:latin typeface="Courier New" panose="02070309020205020404" pitchFamily="49" charset="0"/>
                <a:cs typeface="Courier New" panose="02070309020205020404" pitchFamily="49" charset="0"/>
              </a:rPr>
              <a:t>    t0, a0, 31</a:t>
            </a:r>
          </a:p>
        </p:txBody>
      </p:sp>
      <p:sp>
        <p:nvSpPr>
          <p:cNvPr id="4" name="Title 3">
            <a:extLst>
              <a:ext uri="{FF2B5EF4-FFF2-40B4-BE49-F238E27FC236}">
                <a16:creationId xmlns:a16="http://schemas.microsoft.com/office/drawing/2014/main" id="{71186989-8B87-4039-ADF4-0E0648CC5D21}"/>
              </a:ext>
            </a:extLst>
          </p:cNvPr>
          <p:cNvSpPr>
            <a:spLocks noGrp="1"/>
          </p:cNvSpPr>
          <p:nvPr>
            <p:ph type="title"/>
          </p:nvPr>
        </p:nvSpPr>
        <p:spPr/>
        <p:txBody>
          <a:bodyPr lIns="91440" tIns="45720" rIns="91440" bIns="45720" anchor="t"/>
          <a:lstStyle/>
          <a:p>
            <a:r>
              <a:rPr lang="en-US" dirty="0">
                <a:solidFill>
                  <a:schemeClr val="tx1"/>
                </a:solidFill>
              </a:rPr>
              <a:t>Absolute Value by Bit Twiddling</a:t>
            </a:r>
            <a:endParaRPr lang="en-US" dirty="0">
              <a:solidFill>
                <a:schemeClr val="tx1"/>
              </a:solidFill>
              <a:ea typeface="Calibri"/>
            </a:endParaRPr>
          </a:p>
        </p:txBody>
      </p:sp>
    </p:spTree>
    <p:extLst>
      <p:ext uri="{BB962C8B-B14F-4D97-AF65-F5344CB8AC3E}">
        <p14:creationId xmlns:p14="http://schemas.microsoft.com/office/powerpoint/2010/main" val="531798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2012C1-98FF-4438-8683-09CFD5C037C4}"/>
              </a:ext>
            </a:extLst>
          </p:cNvPr>
          <p:cNvSpPr>
            <a:spLocks noGrp="1"/>
          </p:cNvSpPr>
          <p:nvPr>
            <p:ph sz="quarter" idx="13"/>
          </p:nvPr>
        </p:nvSpPr>
        <p:spPr>
          <a:xfrm>
            <a:off x="203200" y="1371600"/>
            <a:ext cx="7772400" cy="2438400"/>
          </a:xfrm>
          <a:solidFill>
            <a:schemeClr val="accent3">
              <a:lumMod val="40000"/>
              <a:lumOff val="60000"/>
            </a:schemeClr>
          </a:solidFill>
          <a:ln>
            <a:solidFill>
              <a:schemeClr val="tx1"/>
            </a:solidFill>
          </a:ln>
        </p:spPr>
        <p:txBody>
          <a:bodyPr>
            <a:noAutofit/>
          </a:bodyPr>
          <a:lstStyle/>
          <a:p>
            <a:r>
              <a:rPr lang="en-US" sz="2400" b="1" dirty="0">
                <a:latin typeface="Courier New" panose="02070309020205020404" pitchFamily="49" charset="0"/>
                <a:cs typeface="Courier New" panose="02070309020205020404" pitchFamily="49" charset="0"/>
              </a:rPr>
              <a:t>int abs(int v)</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int mask = v &gt;&gt; 4 * 8 - 1;</a:t>
            </a:r>
          </a:p>
          <a:p>
            <a:r>
              <a:rPr lang="en-US" sz="2400" b="1" dirty="0">
                <a:latin typeface="Courier New" panose="02070309020205020404" pitchFamily="49" charset="0"/>
                <a:cs typeface="Courier New" panose="02070309020205020404" pitchFamily="49" charset="0"/>
              </a:rPr>
              <a:t>  return </a:t>
            </a:r>
            <a:r>
              <a:rPr lang="en-US" sz="2400" b="1" dirty="0">
                <a:solidFill>
                  <a:srgbClr val="FF0000"/>
                </a:solidFill>
                <a:latin typeface="Courier New" panose="02070309020205020404" pitchFamily="49" charset="0"/>
                <a:cs typeface="Courier New" panose="02070309020205020404" pitchFamily="49" charset="0"/>
              </a:rPr>
              <a:t>(v + mask) ^ mask</a:t>
            </a:r>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a:t>
            </a:r>
          </a:p>
        </p:txBody>
      </p:sp>
      <p:sp>
        <p:nvSpPr>
          <p:cNvPr id="3" name="Content Placeholder 2">
            <a:extLst>
              <a:ext uri="{FF2B5EF4-FFF2-40B4-BE49-F238E27FC236}">
                <a16:creationId xmlns:a16="http://schemas.microsoft.com/office/drawing/2014/main" id="{25E30AD0-BD16-4BA6-AF77-EF0F44060BB7}"/>
              </a:ext>
            </a:extLst>
          </p:cNvPr>
          <p:cNvSpPr>
            <a:spLocks noGrp="1"/>
          </p:cNvSpPr>
          <p:nvPr>
            <p:ph sz="quarter" idx="14"/>
          </p:nvPr>
        </p:nvSpPr>
        <p:spPr>
          <a:xfrm>
            <a:off x="203200" y="4038600"/>
            <a:ext cx="5791200" cy="2819400"/>
          </a:xfrm>
        </p:spPr>
        <p:txBody>
          <a:bodyPr/>
          <a:lstStyle/>
          <a:p>
            <a:pPr>
              <a:spcBef>
                <a:spcPts val="600"/>
              </a:spcBef>
            </a:pPr>
            <a:r>
              <a:rPr lang="en-US" b="1" dirty="0">
                <a:latin typeface="Courier New" panose="02070309020205020404" pitchFamily="49" charset="0"/>
                <a:cs typeface="Courier New" panose="02070309020205020404" pitchFamily="49" charset="0"/>
              </a:rPr>
              <a:t>abs:</a:t>
            </a:r>
            <a:br>
              <a:rPr lang="en-US" b="1" dirty="0">
                <a:latin typeface="Courier New" panose="02070309020205020404" pitchFamily="49" charset="0"/>
                <a:cs typeface="Courier New" panose="02070309020205020404" pitchFamily="49" charset="0"/>
              </a:rPr>
            </a:br>
            <a:r>
              <a:rPr lang="en-US" b="1" dirty="0" err="1">
                <a:latin typeface="Courier New" panose="02070309020205020404" pitchFamily="49" charset="0"/>
                <a:cs typeface="Courier New" panose="02070309020205020404" pitchFamily="49" charset="0"/>
              </a:rPr>
              <a:t>srai</a:t>
            </a:r>
            <a:r>
              <a:rPr lang="en-US" b="1" dirty="0">
                <a:latin typeface="Courier New" panose="02070309020205020404" pitchFamily="49" charset="0"/>
                <a:cs typeface="Courier New" panose="02070309020205020404" pitchFamily="49" charset="0"/>
              </a:rPr>
              <a:t>    t0, a0, 31</a:t>
            </a:r>
          </a:p>
          <a:p>
            <a:pPr>
              <a:spcBef>
                <a:spcPts val="600"/>
              </a:spcBef>
            </a:pPr>
            <a:r>
              <a:rPr lang="en-US" b="1" dirty="0">
                <a:solidFill>
                  <a:srgbClr val="FF0000"/>
                </a:solidFill>
                <a:latin typeface="Courier New" panose="02070309020205020404" pitchFamily="49" charset="0"/>
                <a:cs typeface="Courier New" panose="02070309020205020404" pitchFamily="49" charset="0"/>
              </a:rPr>
              <a:t>add     a0, a0, t0</a:t>
            </a:r>
          </a:p>
          <a:p>
            <a:pPr>
              <a:spcBef>
                <a:spcPts val="600"/>
              </a:spcBef>
            </a:pPr>
            <a:r>
              <a:rPr lang="en-US" b="1" dirty="0" err="1">
                <a:solidFill>
                  <a:srgbClr val="FF0000"/>
                </a:solidFill>
                <a:latin typeface="Courier New" panose="02070309020205020404" pitchFamily="49" charset="0"/>
                <a:cs typeface="Courier New" panose="02070309020205020404" pitchFamily="49" charset="0"/>
              </a:rPr>
              <a:t>xor</a:t>
            </a:r>
            <a:r>
              <a:rPr lang="en-US" b="1" dirty="0">
                <a:solidFill>
                  <a:srgbClr val="FF0000"/>
                </a:solidFill>
                <a:latin typeface="Courier New" panose="02070309020205020404" pitchFamily="49" charset="0"/>
                <a:cs typeface="Courier New" panose="02070309020205020404" pitchFamily="49" charset="0"/>
              </a:rPr>
              <a:t>     a0, a0, t0</a:t>
            </a:r>
          </a:p>
        </p:txBody>
      </p:sp>
      <p:sp>
        <p:nvSpPr>
          <p:cNvPr id="4" name="Title 3">
            <a:extLst>
              <a:ext uri="{FF2B5EF4-FFF2-40B4-BE49-F238E27FC236}">
                <a16:creationId xmlns:a16="http://schemas.microsoft.com/office/drawing/2014/main" id="{71186989-8B87-4039-ADF4-0E0648CC5D21}"/>
              </a:ext>
            </a:extLst>
          </p:cNvPr>
          <p:cNvSpPr>
            <a:spLocks noGrp="1"/>
          </p:cNvSpPr>
          <p:nvPr>
            <p:ph type="title"/>
          </p:nvPr>
        </p:nvSpPr>
        <p:spPr/>
        <p:txBody>
          <a:bodyPr lIns="91440" tIns="45720" rIns="91440" bIns="45720" anchor="t"/>
          <a:lstStyle/>
          <a:p>
            <a:r>
              <a:rPr lang="en-US" dirty="0">
                <a:solidFill>
                  <a:schemeClr val="tx1"/>
                </a:solidFill>
              </a:rPr>
              <a:t>Absolute Value by Bit Twiddling</a:t>
            </a:r>
            <a:endParaRPr lang="en-US" dirty="0">
              <a:solidFill>
                <a:schemeClr val="tx1"/>
              </a:solidFill>
              <a:ea typeface="Calibri"/>
            </a:endParaRPr>
          </a:p>
        </p:txBody>
      </p:sp>
    </p:spTree>
    <p:extLst>
      <p:ext uri="{BB962C8B-B14F-4D97-AF65-F5344CB8AC3E}">
        <p14:creationId xmlns:p14="http://schemas.microsoft.com/office/powerpoint/2010/main" val="3684924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2012C1-98FF-4438-8683-09CFD5C037C4}"/>
              </a:ext>
            </a:extLst>
          </p:cNvPr>
          <p:cNvSpPr>
            <a:spLocks noGrp="1"/>
          </p:cNvSpPr>
          <p:nvPr>
            <p:ph sz="quarter" idx="13"/>
          </p:nvPr>
        </p:nvSpPr>
        <p:spPr>
          <a:xfrm>
            <a:off x="203200" y="1371600"/>
            <a:ext cx="7772400" cy="2438400"/>
          </a:xfrm>
          <a:solidFill>
            <a:schemeClr val="accent3">
              <a:lumMod val="40000"/>
              <a:lumOff val="60000"/>
            </a:schemeClr>
          </a:solidFill>
          <a:ln>
            <a:solidFill>
              <a:schemeClr val="tx1"/>
            </a:solidFill>
          </a:ln>
        </p:spPr>
        <p:txBody>
          <a:bodyPr>
            <a:noAutofit/>
          </a:bodyPr>
          <a:lstStyle/>
          <a:p>
            <a:r>
              <a:rPr lang="en-US" sz="2400" b="1" dirty="0">
                <a:latin typeface="Courier New" panose="02070309020205020404" pitchFamily="49" charset="0"/>
                <a:cs typeface="Courier New" panose="02070309020205020404" pitchFamily="49" charset="0"/>
              </a:rPr>
              <a:t>int abs(int v)</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int mask = v &gt;&gt; 4 * 8 - 1;</a:t>
            </a:r>
          </a:p>
          <a:p>
            <a:r>
              <a:rPr lang="en-US" sz="2400" b="1" dirty="0">
                <a:latin typeface="Courier New" panose="02070309020205020404" pitchFamily="49" charset="0"/>
                <a:cs typeface="Courier New" panose="02070309020205020404" pitchFamily="49" charset="0"/>
              </a:rPr>
              <a:t>  </a:t>
            </a:r>
            <a:r>
              <a:rPr lang="en-US" sz="2400" b="1" dirty="0">
                <a:solidFill>
                  <a:srgbClr val="FF0000"/>
                </a:solidFill>
                <a:latin typeface="Courier New" panose="02070309020205020404" pitchFamily="49" charset="0"/>
                <a:cs typeface="Courier New" panose="02070309020205020404" pitchFamily="49" charset="0"/>
              </a:rPr>
              <a:t>return</a:t>
            </a:r>
            <a:r>
              <a:rPr lang="en-US" sz="2400" b="1" dirty="0">
                <a:latin typeface="Courier New" panose="02070309020205020404" pitchFamily="49" charset="0"/>
                <a:cs typeface="Courier New" panose="02070309020205020404" pitchFamily="49" charset="0"/>
              </a:rPr>
              <a:t> (v + mask) ^ mask;</a:t>
            </a:r>
          </a:p>
          <a:p>
            <a:r>
              <a:rPr lang="en-US" sz="2400" b="1" dirty="0">
                <a:latin typeface="Courier New" panose="02070309020205020404" pitchFamily="49" charset="0"/>
                <a:cs typeface="Courier New" panose="02070309020205020404" pitchFamily="49" charset="0"/>
              </a:rPr>
              <a:t>}</a:t>
            </a:r>
          </a:p>
        </p:txBody>
      </p:sp>
      <p:sp>
        <p:nvSpPr>
          <p:cNvPr id="3" name="Content Placeholder 2">
            <a:extLst>
              <a:ext uri="{FF2B5EF4-FFF2-40B4-BE49-F238E27FC236}">
                <a16:creationId xmlns:a16="http://schemas.microsoft.com/office/drawing/2014/main" id="{25E30AD0-BD16-4BA6-AF77-EF0F44060BB7}"/>
              </a:ext>
            </a:extLst>
          </p:cNvPr>
          <p:cNvSpPr>
            <a:spLocks noGrp="1"/>
          </p:cNvSpPr>
          <p:nvPr>
            <p:ph sz="quarter" idx="14"/>
          </p:nvPr>
        </p:nvSpPr>
        <p:spPr>
          <a:xfrm>
            <a:off x="203200" y="4038600"/>
            <a:ext cx="5791200" cy="2819400"/>
          </a:xfrm>
        </p:spPr>
        <p:txBody>
          <a:bodyPr/>
          <a:lstStyle/>
          <a:p>
            <a:pPr>
              <a:spcBef>
                <a:spcPts val="600"/>
              </a:spcBef>
            </a:pPr>
            <a:r>
              <a:rPr lang="en-US" b="1" dirty="0">
                <a:latin typeface="Courier New" panose="02070309020205020404" pitchFamily="49" charset="0"/>
                <a:cs typeface="Courier New" panose="02070309020205020404" pitchFamily="49" charset="0"/>
              </a:rPr>
              <a:t>abs:</a:t>
            </a:r>
            <a:br>
              <a:rPr lang="en-US" b="1" dirty="0">
                <a:latin typeface="Courier New" panose="02070309020205020404" pitchFamily="49" charset="0"/>
                <a:cs typeface="Courier New" panose="02070309020205020404" pitchFamily="49" charset="0"/>
              </a:rPr>
            </a:br>
            <a:r>
              <a:rPr lang="en-US" b="1" dirty="0" err="1">
                <a:latin typeface="Courier New" panose="02070309020205020404" pitchFamily="49" charset="0"/>
                <a:cs typeface="Courier New" panose="02070309020205020404" pitchFamily="49" charset="0"/>
              </a:rPr>
              <a:t>srai</a:t>
            </a:r>
            <a:r>
              <a:rPr lang="en-US" b="1" dirty="0">
                <a:latin typeface="Courier New" panose="02070309020205020404" pitchFamily="49" charset="0"/>
                <a:cs typeface="Courier New" panose="02070309020205020404" pitchFamily="49" charset="0"/>
              </a:rPr>
              <a:t>    t0, a0, 31</a:t>
            </a:r>
          </a:p>
          <a:p>
            <a:pPr>
              <a:spcBef>
                <a:spcPts val="600"/>
              </a:spcBef>
            </a:pPr>
            <a:r>
              <a:rPr lang="en-US" b="1" dirty="0">
                <a:latin typeface="Courier New" panose="02070309020205020404" pitchFamily="49" charset="0"/>
                <a:cs typeface="Courier New" panose="02070309020205020404" pitchFamily="49" charset="0"/>
              </a:rPr>
              <a:t>add     a0, a0, t0</a:t>
            </a:r>
          </a:p>
          <a:p>
            <a:pPr>
              <a:spcBef>
                <a:spcPts val="600"/>
              </a:spcBef>
            </a:pPr>
            <a:r>
              <a:rPr lang="en-US" b="1" dirty="0" err="1">
                <a:latin typeface="Courier New" panose="02070309020205020404" pitchFamily="49" charset="0"/>
                <a:cs typeface="Courier New" panose="02070309020205020404" pitchFamily="49" charset="0"/>
              </a:rPr>
              <a:t>xor</a:t>
            </a:r>
            <a:r>
              <a:rPr lang="en-US" b="1" dirty="0">
                <a:latin typeface="Courier New" panose="02070309020205020404" pitchFamily="49" charset="0"/>
                <a:cs typeface="Courier New" panose="02070309020205020404" pitchFamily="49" charset="0"/>
              </a:rPr>
              <a:t>     a0, a0, t0</a:t>
            </a:r>
          </a:p>
          <a:p>
            <a:pPr>
              <a:spcBef>
                <a:spcPts val="600"/>
              </a:spcBef>
            </a:pPr>
            <a:r>
              <a:rPr lang="en-US" b="1" dirty="0">
                <a:solidFill>
                  <a:srgbClr val="FF0000"/>
                </a:solidFill>
                <a:latin typeface="Courier New" panose="02070309020205020404" pitchFamily="49" charset="0"/>
                <a:cs typeface="Courier New" panose="02070309020205020404" pitchFamily="49" charset="0"/>
              </a:rPr>
              <a:t>ret</a:t>
            </a:r>
          </a:p>
        </p:txBody>
      </p:sp>
      <p:sp>
        <p:nvSpPr>
          <p:cNvPr id="4" name="Title 3">
            <a:extLst>
              <a:ext uri="{FF2B5EF4-FFF2-40B4-BE49-F238E27FC236}">
                <a16:creationId xmlns:a16="http://schemas.microsoft.com/office/drawing/2014/main" id="{71186989-8B87-4039-ADF4-0E0648CC5D21}"/>
              </a:ext>
            </a:extLst>
          </p:cNvPr>
          <p:cNvSpPr>
            <a:spLocks noGrp="1"/>
          </p:cNvSpPr>
          <p:nvPr>
            <p:ph type="title"/>
          </p:nvPr>
        </p:nvSpPr>
        <p:spPr/>
        <p:txBody>
          <a:bodyPr lIns="91440" tIns="45720" rIns="91440" bIns="45720" anchor="t"/>
          <a:lstStyle/>
          <a:p>
            <a:r>
              <a:rPr lang="en-US" dirty="0">
                <a:solidFill>
                  <a:schemeClr val="tx1"/>
                </a:solidFill>
              </a:rPr>
              <a:t>Absolute Value by Bit Twiddling</a:t>
            </a:r>
            <a:endParaRPr lang="en-US" dirty="0">
              <a:solidFill>
                <a:schemeClr val="tx1"/>
              </a:solidFill>
              <a:ea typeface="Calibri"/>
            </a:endParaRPr>
          </a:p>
        </p:txBody>
      </p:sp>
    </p:spTree>
    <p:extLst>
      <p:ext uri="{BB962C8B-B14F-4D97-AF65-F5344CB8AC3E}">
        <p14:creationId xmlns:p14="http://schemas.microsoft.com/office/powerpoint/2010/main" val="1419258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2012C1-98FF-4438-8683-09CFD5C037C4}"/>
              </a:ext>
            </a:extLst>
          </p:cNvPr>
          <p:cNvSpPr>
            <a:spLocks noGrp="1"/>
          </p:cNvSpPr>
          <p:nvPr>
            <p:ph sz="quarter" idx="13"/>
          </p:nvPr>
        </p:nvSpPr>
        <p:spPr>
          <a:xfrm>
            <a:off x="203200" y="1371600"/>
            <a:ext cx="7772400" cy="2438400"/>
          </a:xfrm>
          <a:solidFill>
            <a:schemeClr val="accent3">
              <a:lumMod val="40000"/>
              <a:lumOff val="60000"/>
            </a:schemeClr>
          </a:solidFill>
          <a:ln>
            <a:solidFill>
              <a:schemeClr val="tx1"/>
            </a:solidFill>
          </a:ln>
        </p:spPr>
        <p:txBody>
          <a:bodyPr>
            <a:noAutofit/>
          </a:bodyPr>
          <a:lstStyle/>
          <a:p>
            <a:r>
              <a:rPr lang="en-US" sz="2400" b="1" dirty="0">
                <a:latin typeface="Courier New" panose="02070309020205020404" pitchFamily="49" charset="0"/>
                <a:cs typeface="Courier New" panose="02070309020205020404" pitchFamily="49" charset="0"/>
              </a:rPr>
              <a:t>int abs(int v)</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return (v &lt; 0) ? –(unsigned int)v : v;</a:t>
            </a:r>
          </a:p>
          <a:p>
            <a:r>
              <a:rPr lang="en-US" sz="2400" b="1" dirty="0">
                <a:latin typeface="Courier New" panose="02070309020205020404" pitchFamily="49" charset="0"/>
                <a:cs typeface="Courier New" panose="02070309020205020404" pitchFamily="49" charset="0"/>
              </a:rPr>
              <a:t>}</a:t>
            </a:r>
          </a:p>
        </p:txBody>
      </p:sp>
      <p:sp>
        <p:nvSpPr>
          <p:cNvPr id="4" name="Title 3">
            <a:extLst>
              <a:ext uri="{FF2B5EF4-FFF2-40B4-BE49-F238E27FC236}">
                <a16:creationId xmlns:a16="http://schemas.microsoft.com/office/drawing/2014/main" id="{71186989-8B87-4039-ADF4-0E0648CC5D21}"/>
              </a:ext>
            </a:extLst>
          </p:cNvPr>
          <p:cNvSpPr>
            <a:spLocks noGrp="1"/>
          </p:cNvSpPr>
          <p:nvPr>
            <p:ph type="title"/>
          </p:nvPr>
        </p:nvSpPr>
        <p:spPr/>
        <p:txBody>
          <a:bodyPr lIns="91440" tIns="45720" rIns="91440" bIns="45720" anchor="t"/>
          <a:lstStyle/>
          <a:p>
            <a:r>
              <a:rPr lang="en-US" dirty="0">
                <a:solidFill>
                  <a:schemeClr val="tx1"/>
                </a:solidFill>
              </a:rPr>
              <a:t>Absolute Value by Conditional</a:t>
            </a:r>
            <a:endParaRPr lang="en-US" dirty="0">
              <a:solidFill>
                <a:schemeClr val="tx1"/>
              </a:solidFill>
              <a:ea typeface="Calibri"/>
            </a:endParaRPr>
          </a:p>
        </p:txBody>
      </p:sp>
      <p:sp>
        <p:nvSpPr>
          <p:cNvPr id="7" name="Content Placeholder 2">
            <a:extLst>
              <a:ext uri="{FF2B5EF4-FFF2-40B4-BE49-F238E27FC236}">
                <a16:creationId xmlns:a16="http://schemas.microsoft.com/office/drawing/2014/main" id="{2E48D086-675A-944F-B130-ED5339D97C1E}"/>
              </a:ext>
            </a:extLst>
          </p:cNvPr>
          <p:cNvSpPr txBox="1">
            <a:spLocks/>
          </p:cNvSpPr>
          <p:nvPr/>
        </p:nvSpPr>
        <p:spPr>
          <a:xfrm>
            <a:off x="203200" y="4038600"/>
            <a:ext cx="11455400" cy="2286000"/>
          </a:xfrm>
          <a:prstGeom prst="rect">
            <a:avLst/>
          </a:prstGeom>
        </p:spPr>
        <p:txBody>
          <a:bodyPr>
            <a:normAutofit/>
          </a:bodyPr>
          <a:lstStyle>
            <a:lvl1pPr marL="0" indent="0" algn="l" defTabSz="914377" rtl="0" eaLnBrk="1" latinLnBrk="0" hangingPunct="1">
              <a:spcBef>
                <a:spcPct val="20000"/>
              </a:spcBef>
              <a:buClr>
                <a:schemeClr val="accent1"/>
              </a:buClr>
              <a:buFont typeface="Wingdings" pitchFamily="2" charset="2"/>
              <a:buNone/>
              <a:defRPr sz="2800" kern="1200">
                <a:solidFill>
                  <a:schemeClr val="tx1"/>
                </a:solidFill>
                <a:latin typeface="+mn-lt"/>
                <a:ea typeface="+mn-ea"/>
                <a:cs typeface="Arial"/>
              </a:defRPr>
            </a:lvl1pPr>
            <a:lvl2pPr marL="411470" indent="0" algn="l" defTabSz="914377" rtl="0" eaLnBrk="1" latinLnBrk="0" hangingPunct="1">
              <a:spcBef>
                <a:spcPct val="20000"/>
              </a:spcBef>
              <a:buClr>
                <a:schemeClr val="accent1"/>
              </a:buClr>
              <a:buFont typeface="Wingdings" pitchFamily="2" charset="2"/>
              <a:buNone/>
              <a:defRPr sz="2400" kern="1200">
                <a:solidFill>
                  <a:schemeClr val="tx1">
                    <a:lumMod val="85000"/>
                    <a:lumOff val="15000"/>
                  </a:schemeClr>
                </a:solidFill>
                <a:latin typeface="+mn-lt"/>
                <a:ea typeface="+mn-ea"/>
                <a:cs typeface="+mn-cs"/>
              </a:defRPr>
            </a:lvl2pPr>
            <a:lvl3pPr marL="777221" indent="0" algn="l" defTabSz="914377" rtl="0" eaLnBrk="1" latinLnBrk="0" hangingPunct="1">
              <a:spcBef>
                <a:spcPct val="20000"/>
              </a:spcBef>
              <a:buClr>
                <a:schemeClr val="accent1"/>
              </a:buClr>
              <a:buFont typeface="Wingdings" pitchFamily="2" charset="2"/>
              <a:buNone/>
              <a:defRPr sz="2000" kern="1200">
                <a:solidFill>
                  <a:schemeClr val="tx1">
                    <a:lumMod val="85000"/>
                    <a:lumOff val="15000"/>
                  </a:schemeClr>
                </a:solidFill>
                <a:latin typeface="+mn-lt"/>
                <a:ea typeface="+mn-ea"/>
                <a:cs typeface="+mn-cs"/>
              </a:defRPr>
            </a:lvl3pPr>
            <a:lvl4pPr marL="1188690" indent="0" algn="l" defTabSz="914377" rtl="0" eaLnBrk="1" latinLnBrk="0" hangingPunct="1">
              <a:spcBef>
                <a:spcPct val="20000"/>
              </a:spcBef>
              <a:buClr>
                <a:schemeClr val="accent1"/>
              </a:buClr>
              <a:buFont typeface="Wingdings" pitchFamily="2" charset="2"/>
              <a:buNone/>
              <a:defRPr sz="1800" kern="1200">
                <a:solidFill>
                  <a:schemeClr val="tx1">
                    <a:lumMod val="85000"/>
                    <a:lumOff val="15000"/>
                  </a:schemeClr>
                </a:solidFill>
                <a:latin typeface="+mn-lt"/>
                <a:ea typeface="+mn-ea"/>
                <a:cs typeface="+mn-cs"/>
              </a:defRPr>
            </a:lvl4pPr>
            <a:lvl5pPr marL="1508722" indent="0" algn="l" defTabSz="914377" rtl="0" eaLnBrk="1" latinLnBrk="0" hangingPunct="1">
              <a:spcBef>
                <a:spcPct val="20000"/>
              </a:spcBef>
              <a:buClr>
                <a:schemeClr val="accent1"/>
              </a:buClr>
              <a:buFont typeface="Wingdings" pitchFamily="2" charset="2"/>
              <a:buNone/>
              <a:defRPr sz="1600" kern="1200">
                <a:solidFill>
                  <a:schemeClr val="tx1">
                    <a:lumMod val="85000"/>
                    <a:lumOff val="15000"/>
                  </a:schemeClr>
                </a:solidFill>
                <a:latin typeface="+mn-lt"/>
                <a:ea typeface="+mn-ea"/>
                <a:cs typeface="+mn-cs"/>
              </a:defRPr>
            </a:lvl5pPr>
            <a:lvl6pPr marL="2148786"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18"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850"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882"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r>
              <a:rPr lang="en-US" b="1" dirty="0">
                <a:cs typeface="Courier New" panose="02070309020205020404" pitchFamily="49" charset="0"/>
              </a:rPr>
              <a:t>Ternary conditional expression </a:t>
            </a:r>
            <a:r>
              <a:rPr lang="en-US" dirty="0"/>
              <a:t>evaluates different expressions based on whether the condition (v &lt; 0) is true or false</a:t>
            </a:r>
          </a:p>
          <a:p>
            <a:endParaRPr lang="en-US" dirty="0"/>
          </a:p>
          <a:p>
            <a:r>
              <a:rPr lang="en-US" dirty="0"/>
              <a:t>If v is non-negative, jump to return. If v is negative, compute – v and return.</a:t>
            </a:r>
          </a:p>
        </p:txBody>
      </p:sp>
    </p:spTree>
    <p:extLst>
      <p:ext uri="{BB962C8B-B14F-4D97-AF65-F5344CB8AC3E}">
        <p14:creationId xmlns:p14="http://schemas.microsoft.com/office/powerpoint/2010/main" val="3500754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840BF-4593-B9D4-C575-156C43CA9C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21CC7D-BCC0-A2C7-207A-5B38041D156F}"/>
              </a:ext>
            </a:extLst>
          </p:cNvPr>
          <p:cNvSpPr>
            <a:spLocks noGrp="1"/>
          </p:cNvSpPr>
          <p:nvPr>
            <p:ph sz="quarter" idx="13"/>
          </p:nvPr>
        </p:nvSpPr>
        <p:spPr>
          <a:xfrm>
            <a:off x="203200" y="1371600"/>
            <a:ext cx="7772400" cy="2438400"/>
          </a:xfrm>
          <a:solidFill>
            <a:schemeClr val="accent3">
              <a:lumMod val="40000"/>
              <a:lumOff val="60000"/>
            </a:schemeClr>
          </a:solidFill>
          <a:ln>
            <a:solidFill>
              <a:schemeClr val="tx1"/>
            </a:solidFill>
          </a:ln>
        </p:spPr>
        <p:txBody>
          <a:bodyPr>
            <a:noAutofit/>
          </a:bodyPr>
          <a:lstStyle/>
          <a:p>
            <a:r>
              <a:rPr lang="en-US" sz="2400" b="1" dirty="0">
                <a:latin typeface="Courier New" panose="02070309020205020404" pitchFamily="49" charset="0"/>
                <a:cs typeface="Courier New" panose="02070309020205020404" pitchFamily="49" charset="0"/>
              </a:rPr>
              <a:t>int abs(int v)</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return (v &lt; 0) ? –(unsigned int)v : v;</a:t>
            </a:r>
          </a:p>
          <a:p>
            <a:r>
              <a:rPr lang="en-US" sz="2400" b="1" dirty="0">
                <a:latin typeface="Courier New" panose="02070309020205020404" pitchFamily="49" charset="0"/>
                <a:cs typeface="Courier New" panose="02070309020205020404" pitchFamily="49" charset="0"/>
              </a:rPr>
              <a:t>}</a:t>
            </a:r>
          </a:p>
        </p:txBody>
      </p:sp>
      <p:sp>
        <p:nvSpPr>
          <p:cNvPr id="3" name="Content Placeholder 2">
            <a:extLst>
              <a:ext uri="{FF2B5EF4-FFF2-40B4-BE49-F238E27FC236}">
                <a16:creationId xmlns:a16="http://schemas.microsoft.com/office/drawing/2014/main" id="{4359C496-0D78-514B-AB24-F2AA5CBF0246}"/>
              </a:ext>
            </a:extLst>
          </p:cNvPr>
          <p:cNvSpPr>
            <a:spLocks noGrp="1"/>
          </p:cNvSpPr>
          <p:nvPr>
            <p:ph sz="quarter" idx="14"/>
          </p:nvPr>
        </p:nvSpPr>
        <p:spPr>
          <a:xfrm>
            <a:off x="203200" y="3886200"/>
            <a:ext cx="11764082" cy="2971800"/>
          </a:xfrm>
        </p:spPr>
        <p:txBody>
          <a:bodyPr>
            <a:normAutofit/>
          </a:bodyPr>
          <a:lstStyle/>
          <a:p>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slt</a:t>
            </a:r>
            <a:r>
              <a:rPr lang="en-US" sz="2400" b="1" dirty="0">
                <a:latin typeface="Courier New" panose="02070309020205020404" pitchFamily="49" charset="0"/>
                <a:cs typeface="Courier New" panose="02070309020205020404" pitchFamily="49" charset="0"/>
              </a:rPr>
              <a:t>    t0, a0, zero</a:t>
            </a:r>
          </a:p>
          <a:p>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beq</a:t>
            </a:r>
            <a:r>
              <a:rPr lang="en-US" sz="2400" b="1" dirty="0">
                <a:latin typeface="Courier New" panose="02070309020205020404" pitchFamily="49" charset="0"/>
                <a:cs typeface="Courier New" panose="02070309020205020404" pitchFamily="49" charset="0"/>
              </a:rPr>
              <a:t>    t0, zero, .L1</a:t>
            </a:r>
          </a:p>
          <a:p>
            <a:r>
              <a:rPr lang="en-US" sz="2400" b="1" dirty="0">
                <a:latin typeface="Courier New" panose="02070309020205020404" pitchFamily="49" charset="0"/>
                <a:cs typeface="Courier New" panose="02070309020205020404" pitchFamily="49" charset="0"/>
              </a:rPr>
              <a:t>	  sub    a0, zero, a0</a:t>
            </a:r>
          </a:p>
          <a:p>
            <a:r>
              <a:rPr lang="en-US" sz="2400" b="1" dirty="0">
                <a:latin typeface="Courier New" panose="02070309020205020404" pitchFamily="49" charset="0"/>
                <a:cs typeface="Courier New" panose="02070309020205020404" pitchFamily="49" charset="0"/>
              </a:rPr>
              <a:t>.L1:	  ret</a:t>
            </a:r>
          </a:p>
        </p:txBody>
      </p:sp>
      <p:sp>
        <p:nvSpPr>
          <p:cNvPr id="4" name="Title 3">
            <a:extLst>
              <a:ext uri="{FF2B5EF4-FFF2-40B4-BE49-F238E27FC236}">
                <a16:creationId xmlns:a16="http://schemas.microsoft.com/office/drawing/2014/main" id="{B960CBAB-74C8-9711-F6EB-FD2EB665F538}"/>
              </a:ext>
            </a:extLst>
          </p:cNvPr>
          <p:cNvSpPr>
            <a:spLocks noGrp="1"/>
          </p:cNvSpPr>
          <p:nvPr>
            <p:ph type="title"/>
          </p:nvPr>
        </p:nvSpPr>
        <p:spPr/>
        <p:txBody>
          <a:bodyPr lIns="91440" tIns="45720" rIns="91440" bIns="45720" anchor="t"/>
          <a:lstStyle/>
          <a:p>
            <a:r>
              <a:rPr lang="en-US" dirty="0">
                <a:solidFill>
                  <a:schemeClr val="tx1"/>
                </a:solidFill>
              </a:rPr>
              <a:t>Absolute Value by Conditional</a:t>
            </a:r>
            <a:endParaRPr lang="en-US" dirty="0">
              <a:solidFill>
                <a:schemeClr val="tx1"/>
              </a:solidFill>
              <a:ea typeface="Calibri"/>
            </a:endParaRPr>
          </a:p>
        </p:txBody>
      </p:sp>
    </p:spTree>
    <p:extLst>
      <p:ext uri="{BB962C8B-B14F-4D97-AF65-F5344CB8AC3E}">
        <p14:creationId xmlns:p14="http://schemas.microsoft.com/office/powerpoint/2010/main" val="42800435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2012C1-98FF-4438-8683-09CFD5C037C4}"/>
              </a:ext>
            </a:extLst>
          </p:cNvPr>
          <p:cNvSpPr>
            <a:spLocks noGrp="1"/>
          </p:cNvSpPr>
          <p:nvPr>
            <p:ph sz="quarter" idx="13"/>
          </p:nvPr>
        </p:nvSpPr>
        <p:spPr>
          <a:xfrm>
            <a:off x="203200" y="1371600"/>
            <a:ext cx="7772400" cy="2438400"/>
          </a:xfrm>
          <a:solidFill>
            <a:schemeClr val="accent3">
              <a:lumMod val="40000"/>
              <a:lumOff val="60000"/>
            </a:schemeClr>
          </a:solidFill>
          <a:ln>
            <a:solidFill>
              <a:schemeClr val="tx1"/>
            </a:solidFill>
          </a:ln>
        </p:spPr>
        <p:txBody>
          <a:bodyPr>
            <a:noAutofit/>
          </a:bodyPr>
          <a:lstStyle/>
          <a:p>
            <a:r>
              <a:rPr lang="en-US" sz="2400" b="1" dirty="0">
                <a:latin typeface="Courier New" panose="02070309020205020404" pitchFamily="49" charset="0"/>
                <a:cs typeface="Courier New" panose="02070309020205020404" pitchFamily="49" charset="0"/>
              </a:rPr>
              <a:t>int abs(int v)</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return (</a:t>
            </a:r>
            <a:r>
              <a:rPr lang="en-US" sz="2400" b="1" dirty="0">
                <a:solidFill>
                  <a:srgbClr val="FF0000"/>
                </a:solidFill>
                <a:latin typeface="Courier New" panose="02070309020205020404" pitchFamily="49" charset="0"/>
                <a:cs typeface="Courier New" panose="02070309020205020404" pitchFamily="49" charset="0"/>
              </a:rPr>
              <a:t>v &lt; 0</a:t>
            </a:r>
            <a:r>
              <a:rPr lang="en-US" sz="2400" b="1" dirty="0">
                <a:latin typeface="Courier New" panose="02070309020205020404" pitchFamily="49" charset="0"/>
                <a:cs typeface="Courier New" panose="02070309020205020404" pitchFamily="49" charset="0"/>
              </a:rPr>
              <a:t>) ? –(unsigned int)v : v;</a:t>
            </a:r>
          </a:p>
          <a:p>
            <a:r>
              <a:rPr lang="en-US" sz="2400" b="1" dirty="0">
                <a:latin typeface="Courier New" panose="02070309020205020404" pitchFamily="49" charset="0"/>
                <a:cs typeface="Courier New" panose="02070309020205020404" pitchFamily="49" charset="0"/>
              </a:rPr>
              <a:t>}</a:t>
            </a:r>
          </a:p>
        </p:txBody>
      </p:sp>
      <p:sp>
        <p:nvSpPr>
          <p:cNvPr id="3" name="Content Placeholder 2">
            <a:extLst>
              <a:ext uri="{FF2B5EF4-FFF2-40B4-BE49-F238E27FC236}">
                <a16:creationId xmlns:a16="http://schemas.microsoft.com/office/drawing/2014/main" id="{25E30AD0-BD16-4BA6-AF77-EF0F44060BB7}"/>
              </a:ext>
            </a:extLst>
          </p:cNvPr>
          <p:cNvSpPr>
            <a:spLocks noGrp="1"/>
          </p:cNvSpPr>
          <p:nvPr>
            <p:ph sz="quarter" idx="14"/>
          </p:nvPr>
        </p:nvSpPr>
        <p:spPr>
          <a:xfrm>
            <a:off x="203200" y="3886200"/>
            <a:ext cx="11531600" cy="2971800"/>
          </a:xfrm>
        </p:spPr>
        <p:txBody>
          <a:bodyPr>
            <a:normAutofit/>
          </a:bodyPr>
          <a:lstStyle/>
          <a:p>
            <a:r>
              <a:rPr lang="en-US" sz="2400" b="1" dirty="0">
                <a:latin typeface="Courier New" panose="02070309020205020404" pitchFamily="49" charset="0"/>
                <a:cs typeface="Courier New" panose="02070309020205020404" pitchFamily="49" charset="0"/>
              </a:rPr>
              <a:t> 	  </a:t>
            </a:r>
            <a:r>
              <a:rPr lang="en-US" sz="2400" b="1" dirty="0" err="1">
                <a:solidFill>
                  <a:srgbClr val="FF0000"/>
                </a:solidFill>
                <a:latin typeface="Courier New" panose="02070309020205020404" pitchFamily="49" charset="0"/>
                <a:cs typeface="Courier New" panose="02070309020205020404" pitchFamily="49" charset="0"/>
              </a:rPr>
              <a:t>slt</a:t>
            </a:r>
            <a:r>
              <a:rPr lang="en-US" sz="2400" b="1" dirty="0">
                <a:solidFill>
                  <a:srgbClr val="FF0000"/>
                </a:solidFill>
                <a:latin typeface="Courier New" panose="02070309020205020404" pitchFamily="49" charset="0"/>
                <a:cs typeface="Courier New" panose="02070309020205020404" pitchFamily="49" charset="0"/>
              </a:rPr>
              <a:t>    t0, a0, zero	// t0 = 1 if a0 &lt; 0, else 0</a:t>
            </a:r>
          </a:p>
          <a:p>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beq</a:t>
            </a:r>
            <a:r>
              <a:rPr lang="en-US" sz="2400" b="1" dirty="0">
                <a:latin typeface="Courier New" panose="02070309020205020404" pitchFamily="49" charset="0"/>
                <a:cs typeface="Courier New" panose="02070309020205020404" pitchFamily="49" charset="0"/>
              </a:rPr>
              <a:t>    t0, zero, .L1</a:t>
            </a:r>
          </a:p>
          <a:p>
            <a:r>
              <a:rPr lang="en-US" sz="2400" b="1" dirty="0">
                <a:latin typeface="Courier New" panose="02070309020205020404" pitchFamily="49" charset="0"/>
                <a:cs typeface="Courier New" panose="02070309020205020404" pitchFamily="49" charset="0"/>
              </a:rPr>
              <a:t>	  sub    a0, zero, a0</a:t>
            </a:r>
          </a:p>
          <a:p>
            <a:r>
              <a:rPr lang="en-US" sz="2400" b="1" dirty="0">
                <a:latin typeface="Courier New" panose="02070309020205020404" pitchFamily="49" charset="0"/>
                <a:cs typeface="Courier New" panose="02070309020205020404" pitchFamily="49" charset="0"/>
              </a:rPr>
              <a:t>.L1:	  ret</a:t>
            </a:r>
          </a:p>
        </p:txBody>
      </p:sp>
      <p:sp>
        <p:nvSpPr>
          <p:cNvPr id="4" name="Title 3">
            <a:extLst>
              <a:ext uri="{FF2B5EF4-FFF2-40B4-BE49-F238E27FC236}">
                <a16:creationId xmlns:a16="http://schemas.microsoft.com/office/drawing/2014/main" id="{71186989-8B87-4039-ADF4-0E0648CC5D21}"/>
              </a:ext>
            </a:extLst>
          </p:cNvPr>
          <p:cNvSpPr>
            <a:spLocks noGrp="1"/>
          </p:cNvSpPr>
          <p:nvPr>
            <p:ph type="title"/>
          </p:nvPr>
        </p:nvSpPr>
        <p:spPr/>
        <p:txBody>
          <a:bodyPr lIns="91440" tIns="45720" rIns="91440" bIns="45720" anchor="t"/>
          <a:lstStyle/>
          <a:p>
            <a:r>
              <a:rPr lang="en-US" dirty="0">
                <a:solidFill>
                  <a:schemeClr val="tx1"/>
                </a:solidFill>
              </a:rPr>
              <a:t>Absolute Value by Conditional</a:t>
            </a:r>
            <a:endParaRPr lang="en-US" dirty="0">
              <a:solidFill>
                <a:schemeClr val="tx1"/>
              </a:solidFill>
              <a:ea typeface="Calibri"/>
            </a:endParaRPr>
          </a:p>
        </p:txBody>
      </p:sp>
      <p:sp>
        <p:nvSpPr>
          <p:cNvPr id="5" name="Content Placeholder 2">
            <a:extLst>
              <a:ext uri="{FF2B5EF4-FFF2-40B4-BE49-F238E27FC236}">
                <a16:creationId xmlns:a16="http://schemas.microsoft.com/office/drawing/2014/main" id="{BD4ACACF-F222-404A-9B11-7B441F6B2F3E}"/>
              </a:ext>
            </a:extLst>
          </p:cNvPr>
          <p:cNvSpPr txBox="1">
            <a:spLocks/>
          </p:cNvSpPr>
          <p:nvPr/>
        </p:nvSpPr>
        <p:spPr>
          <a:xfrm>
            <a:off x="8309429" y="1828800"/>
            <a:ext cx="3679371" cy="2286000"/>
          </a:xfrm>
          <a:prstGeom prst="rect">
            <a:avLst/>
          </a:prstGeom>
        </p:spPr>
        <p:txBody>
          <a:bodyPr>
            <a:normAutofit/>
          </a:bodyPr>
          <a:lstStyle>
            <a:lvl1pPr marL="0" indent="0" algn="l" defTabSz="914377" rtl="0" eaLnBrk="1" latinLnBrk="0" hangingPunct="1">
              <a:spcBef>
                <a:spcPct val="20000"/>
              </a:spcBef>
              <a:buClr>
                <a:schemeClr val="accent1"/>
              </a:buClr>
              <a:buFont typeface="Wingdings" pitchFamily="2" charset="2"/>
              <a:buNone/>
              <a:defRPr sz="2800" kern="1200">
                <a:solidFill>
                  <a:schemeClr val="tx1"/>
                </a:solidFill>
                <a:latin typeface="+mn-lt"/>
                <a:ea typeface="+mn-ea"/>
                <a:cs typeface="Arial"/>
              </a:defRPr>
            </a:lvl1pPr>
            <a:lvl2pPr marL="411470" indent="0" algn="l" defTabSz="914377" rtl="0" eaLnBrk="1" latinLnBrk="0" hangingPunct="1">
              <a:spcBef>
                <a:spcPct val="20000"/>
              </a:spcBef>
              <a:buClr>
                <a:schemeClr val="accent1"/>
              </a:buClr>
              <a:buFont typeface="Wingdings" pitchFamily="2" charset="2"/>
              <a:buNone/>
              <a:defRPr sz="2400" kern="1200">
                <a:solidFill>
                  <a:schemeClr val="tx1">
                    <a:lumMod val="85000"/>
                    <a:lumOff val="15000"/>
                  </a:schemeClr>
                </a:solidFill>
                <a:latin typeface="+mn-lt"/>
                <a:ea typeface="+mn-ea"/>
                <a:cs typeface="+mn-cs"/>
              </a:defRPr>
            </a:lvl2pPr>
            <a:lvl3pPr marL="777221" indent="0" algn="l" defTabSz="914377" rtl="0" eaLnBrk="1" latinLnBrk="0" hangingPunct="1">
              <a:spcBef>
                <a:spcPct val="20000"/>
              </a:spcBef>
              <a:buClr>
                <a:schemeClr val="accent1"/>
              </a:buClr>
              <a:buFont typeface="Wingdings" pitchFamily="2" charset="2"/>
              <a:buNone/>
              <a:defRPr sz="2000" kern="1200">
                <a:solidFill>
                  <a:schemeClr val="tx1">
                    <a:lumMod val="85000"/>
                    <a:lumOff val="15000"/>
                  </a:schemeClr>
                </a:solidFill>
                <a:latin typeface="+mn-lt"/>
                <a:ea typeface="+mn-ea"/>
                <a:cs typeface="+mn-cs"/>
              </a:defRPr>
            </a:lvl3pPr>
            <a:lvl4pPr marL="1188690" indent="0" algn="l" defTabSz="914377" rtl="0" eaLnBrk="1" latinLnBrk="0" hangingPunct="1">
              <a:spcBef>
                <a:spcPct val="20000"/>
              </a:spcBef>
              <a:buClr>
                <a:schemeClr val="accent1"/>
              </a:buClr>
              <a:buFont typeface="Wingdings" pitchFamily="2" charset="2"/>
              <a:buNone/>
              <a:defRPr sz="1800" kern="1200">
                <a:solidFill>
                  <a:schemeClr val="tx1">
                    <a:lumMod val="85000"/>
                    <a:lumOff val="15000"/>
                  </a:schemeClr>
                </a:solidFill>
                <a:latin typeface="+mn-lt"/>
                <a:ea typeface="+mn-ea"/>
                <a:cs typeface="+mn-cs"/>
              </a:defRPr>
            </a:lvl4pPr>
            <a:lvl5pPr marL="1508722" indent="0" algn="l" defTabSz="914377" rtl="0" eaLnBrk="1" latinLnBrk="0" hangingPunct="1">
              <a:spcBef>
                <a:spcPct val="20000"/>
              </a:spcBef>
              <a:buClr>
                <a:schemeClr val="accent1"/>
              </a:buClr>
              <a:buFont typeface="Wingdings" pitchFamily="2" charset="2"/>
              <a:buNone/>
              <a:defRPr sz="1600" kern="1200">
                <a:solidFill>
                  <a:schemeClr val="tx1">
                    <a:lumMod val="85000"/>
                    <a:lumOff val="15000"/>
                  </a:schemeClr>
                </a:solidFill>
                <a:latin typeface="+mn-lt"/>
                <a:ea typeface="+mn-ea"/>
                <a:cs typeface="+mn-cs"/>
              </a:defRPr>
            </a:lvl5pPr>
            <a:lvl6pPr marL="2148786"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18"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850"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882"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r>
              <a:rPr lang="en-US" dirty="0" err="1">
                <a:cs typeface="Courier New" panose="02070309020205020404" pitchFamily="49" charset="0"/>
              </a:rPr>
              <a:t>slt</a:t>
            </a:r>
            <a:r>
              <a:rPr lang="en-US" dirty="0">
                <a:cs typeface="Courier New" panose="02070309020205020404" pitchFamily="49" charset="0"/>
              </a:rPr>
              <a:t> (set less than) instruction sets t0 to 1 if a0 &lt; 0 and 0 otherwise</a:t>
            </a:r>
            <a:endParaRPr lang="en-US" dirty="0"/>
          </a:p>
        </p:txBody>
      </p:sp>
    </p:spTree>
    <p:extLst>
      <p:ext uri="{BB962C8B-B14F-4D97-AF65-F5344CB8AC3E}">
        <p14:creationId xmlns:p14="http://schemas.microsoft.com/office/powerpoint/2010/main" val="2224222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2012C1-98FF-4438-8683-09CFD5C037C4}"/>
              </a:ext>
            </a:extLst>
          </p:cNvPr>
          <p:cNvSpPr>
            <a:spLocks noGrp="1"/>
          </p:cNvSpPr>
          <p:nvPr>
            <p:ph sz="quarter" idx="13"/>
          </p:nvPr>
        </p:nvSpPr>
        <p:spPr>
          <a:xfrm>
            <a:off x="203200" y="1371600"/>
            <a:ext cx="7772400" cy="2438400"/>
          </a:xfrm>
          <a:solidFill>
            <a:schemeClr val="accent3">
              <a:lumMod val="40000"/>
              <a:lumOff val="60000"/>
            </a:schemeClr>
          </a:solidFill>
          <a:ln>
            <a:solidFill>
              <a:schemeClr val="tx1"/>
            </a:solidFill>
          </a:ln>
        </p:spPr>
        <p:txBody>
          <a:bodyPr>
            <a:noAutofit/>
          </a:bodyPr>
          <a:lstStyle/>
          <a:p>
            <a:r>
              <a:rPr lang="en-US" sz="2400" b="1" dirty="0">
                <a:latin typeface="Courier New" panose="02070309020205020404" pitchFamily="49" charset="0"/>
                <a:cs typeface="Courier New" panose="02070309020205020404" pitchFamily="49" charset="0"/>
              </a:rPr>
              <a:t>int abs(int v)</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a:t>
            </a:r>
            <a:r>
              <a:rPr lang="en-US" sz="2400" b="1" dirty="0">
                <a:solidFill>
                  <a:srgbClr val="FF0000"/>
                </a:solidFill>
                <a:latin typeface="Courier New" panose="02070309020205020404" pitchFamily="49" charset="0"/>
                <a:cs typeface="Courier New" panose="02070309020205020404" pitchFamily="49" charset="0"/>
              </a:rPr>
              <a:t>return</a:t>
            </a:r>
            <a:r>
              <a:rPr lang="en-US" sz="2400" b="1" dirty="0">
                <a:latin typeface="Courier New" panose="02070309020205020404" pitchFamily="49" charset="0"/>
                <a:cs typeface="Courier New" panose="02070309020205020404" pitchFamily="49" charset="0"/>
              </a:rPr>
              <a:t> (v &lt; 0) </a:t>
            </a:r>
            <a:r>
              <a:rPr lang="en-US" sz="2400" b="1" dirty="0">
                <a:solidFill>
                  <a:srgbClr val="FF0000"/>
                </a:solidFill>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–(unsigned int)v </a:t>
            </a:r>
            <a:r>
              <a:rPr lang="en-US" sz="2400" b="1" dirty="0">
                <a:solidFill>
                  <a:srgbClr val="FF0000"/>
                </a:solidFill>
                <a:latin typeface="Courier New" panose="02070309020205020404" pitchFamily="49" charset="0"/>
                <a:cs typeface="Courier New" panose="02070309020205020404" pitchFamily="49" charset="0"/>
              </a:rPr>
              <a:t>:</a:t>
            </a:r>
            <a:r>
              <a:rPr lang="en-US" sz="2400" b="1" dirty="0">
                <a:latin typeface="Courier New" panose="02070309020205020404" pitchFamily="49" charset="0"/>
                <a:cs typeface="Courier New" panose="02070309020205020404" pitchFamily="49" charset="0"/>
              </a:rPr>
              <a:t> </a:t>
            </a:r>
            <a:r>
              <a:rPr lang="en-US" sz="2400" b="1" dirty="0">
                <a:solidFill>
                  <a:srgbClr val="FF0000"/>
                </a:solidFill>
                <a:latin typeface="Courier New" panose="02070309020205020404" pitchFamily="49" charset="0"/>
                <a:cs typeface="Courier New" panose="02070309020205020404" pitchFamily="49" charset="0"/>
              </a:rPr>
              <a:t>v</a:t>
            </a:r>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a:t>
            </a:r>
          </a:p>
        </p:txBody>
      </p:sp>
      <p:sp>
        <p:nvSpPr>
          <p:cNvPr id="4" name="Title 3">
            <a:extLst>
              <a:ext uri="{FF2B5EF4-FFF2-40B4-BE49-F238E27FC236}">
                <a16:creationId xmlns:a16="http://schemas.microsoft.com/office/drawing/2014/main" id="{71186989-8B87-4039-ADF4-0E0648CC5D21}"/>
              </a:ext>
            </a:extLst>
          </p:cNvPr>
          <p:cNvSpPr>
            <a:spLocks noGrp="1"/>
          </p:cNvSpPr>
          <p:nvPr>
            <p:ph type="title"/>
          </p:nvPr>
        </p:nvSpPr>
        <p:spPr/>
        <p:txBody>
          <a:bodyPr lIns="91440" tIns="45720" rIns="91440" bIns="45720" anchor="t"/>
          <a:lstStyle/>
          <a:p>
            <a:r>
              <a:rPr lang="en-US" dirty="0">
                <a:solidFill>
                  <a:schemeClr val="tx1"/>
                </a:solidFill>
              </a:rPr>
              <a:t>Absolute Value by Conditional</a:t>
            </a:r>
            <a:endParaRPr lang="en-US" dirty="0">
              <a:solidFill>
                <a:schemeClr val="tx1"/>
              </a:solidFill>
              <a:ea typeface="Calibri"/>
            </a:endParaRPr>
          </a:p>
        </p:txBody>
      </p:sp>
      <p:sp>
        <p:nvSpPr>
          <p:cNvPr id="7" name="Content Placeholder 2">
            <a:extLst>
              <a:ext uri="{FF2B5EF4-FFF2-40B4-BE49-F238E27FC236}">
                <a16:creationId xmlns:a16="http://schemas.microsoft.com/office/drawing/2014/main" id="{F1D212A1-ADC6-CCA6-6683-4E15CFFADA09}"/>
              </a:ext>
            </a:extLst>
          </p:cNvPr>
          <p:cNvSpPr txBox="1">
            <a:spLocks/>
          </p:cNvSpPr>
          <p:nvPr/>
        </p:nvSpPr>
        <p:spPr>
          <a:xfrm>
            <a:off x="203200" y="3886200"/>
            <a:ext cx="11531600" cy="2971800"/>
          </a:xfrm>
          <a:prstGeom prst="rect">
            <a:avLst/>
          </a:prstGeom>
        </p:spPr>
        <p:txBody>
          <a:bodyPr>
            <a:normAutofit/>
          </a:bodyPr>
          <a:lstStyle>
            <a:lvl1pPr marL="0" indent="0" algn="l" defTabSz="914377" rtl="0" eaLnBrk="1" latinLnBrk="0" hangingPunct="1">
              <a:spcBef>
                <a:spcPct val="20000"/>
              </a:spcBef>
              <a:buClr>
                <a:schemeClr val="accent1"/>
              </a:buClr>
              <a:buFont typeface="Wingdings" pitchFamily="2" charset="2"/>
              <a:buNone/>
              <a:defRPr sz="2800" kern="1200">
                <a:solidFill>
                  <a:schemeClr val="tx1"/>
                </a:solidFill>
                <a:latin typeface="+mn-lt"/>
                <a:ea typeface="+mn-ea"/>
                <a:cs typeface="Arial"/>
              </a:defRPr>
            </a:lvl1pPr>
            <a:lvl2pPr marL="411470" indent="0" algn="l" defTabSz="914377" rtl="0" eaLnBrk="1" latinLnBrk="0" hangingPunct="1">
              <a:spcBef>
                <a:spcPct val="20000"/>
              </a:spcBef>
              <a:buClr>
                <a:schemeClr val="accent1"/>
              </a:buClr>
              <a:buFont typeface="Wingdings" pitchFamily="2" charset="2"/>
              <a:buNone/>
              <a:defRPr sz="2400" kern="1200">
                <a:solidFill>
                  <a:schemeClr val="tx1">
                    <a:lumMod val="85000"/>
                    <a:lumOff val="15000"/>
                  </a:schemeClr>
                </a:solidFill>
                <a:latin typeface="+mn-lt"/>
                <a:ea typeface="+mn-ea"/>
                <a:cs typeface="+mn-cs"/>
              </a:defRPr>
            </a:lvl2pPr>
            <a:lvl3pPr marL="777221" indent="0" algn="l" defTabSz="914377" rtl="0" eaLnBrk="1" latinLnBrk="0" hangingPunct="1">
              <a:spcBef>
                <a:spcPct val="20000"/>
              </a:spcBef>
              <a:buClr>
                <a:schemeClr val="accent1"/>
              </a:buClr>
              <a:buFont typeface="Wingdings" pitchFamily="2" charset="2"/>
              <a:buNone/>
              <a:defRPr sz="2000" kern="1200">
                <a:solidFill>
                  <a:schemeClr val="tx1">
                    <a:lumMod val="85000"/>
                    <a:lumOff val="15000"/>
                  </a:schemeClr>
                </a:solidFill>
                <a:latin typeface="+mn-lt"/>
                <a:ea typeface="+mn-ea"/>
                <a:cs typeface="+mn-cs"/>
              </a:defRPr>
            </a:lvl3pPr>
            <a:lvl4pPr marL="1188690" indent="0" algn="l" defTabSz="914377" rtl="0" eaLnBrk="1" latinLnBrk="0" hangingPunct="1">
              <a:spcBef>
                <a:spcPct val="20000"/>
              </a:spcBef>
              <a:buClr>
                <a:schemeClr val="accent1"/>
              </a:buClr>
              <a:buFont typeface="Wingdings" pitchFamily="2" charset="2"/>
              <a:buNone/>
              <a:defRPr sz="1800" kern="1200">
                <a:solidFill>
                  <a:schemeClr val="tx1">
                    <a:lumMod val="85000"/>
                    <a:lumOff val="15000"/>
                  </a:schemeClr>
                </a:solidFill>
                <a:latin typeface="+mn-lt"/>
                <a:ea typeface="+mn-ea"/>
                <a:cs typeface="+mn-cs"/>
              </a:defRPr>
            </a:lvl4pPr>
            <a:lvl5pPr marL="1508722" indent="0" algn="l" defTabSz="914377" rtl="0" eaLnBrk="1" latinLnBrk="0" hangingPunct="1">
              <a:spcBef>
                <a:spcPct val="20000"/>
              </a:spcBef>
              <a:buClr>
                <a:schemeClr val="accent1"/>
              </a:buClr>
              <a:buFont typeface="Wingdings" pitchFamily="2" charset="2"/>
              <a:buNone/>
              <a:defRPr sz="1600" kern="1200">
                <a:solidFill>
                  <a:schemeClr val="tx1">
                    <a:lumMod val="85000"/>
                    <a:lumOff val="15000"/>
                  </a:schemeClr>
                </a:solidFill>
                <a:latin typeface="+mn-lt"/>
                <a:ea typeface="+mn-ea"/>
                <a:cs typeface="+mn-cs"/>
              </a:defRPr>
            </a:lvl5pPr>
            <a:lvl6pPr marL="2148786"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18"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850"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882"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slt</a:t>
            </a:r>
            <a:r>
              <a:rPr lang="en-US" sz="2400" b="1" dirty="0">
                <a:latin typeface="Courier New" panose="02070309020205020404" pitchFamily="49" charset="0"/>
                <a:cs typeface="Courier New" panose="02070309020205020404" pitchFamily="49" charset="0"/>
              </a:rPr>
              <a:t>    t0, a0, zero	// t0 = 1 if a0 &lt; 0, else 0</a:t>
            </a:r>
          </a:p>
          <a:p>
            <a:r>
              <a:rPr lang="en-US" sz="2400" b="1" dirty="0">
                <a:latin typeface="Courier New" panose="02070309020205020404" pitchFamily="49" charset="0"/>
                <a:cs typeface="Courier New" panose="02070309020205020404" pitchFamily="49" charset="0"/>
              </a:rPr>
              <a:t>    	  </a:t>
            </a:r>
            <a:r>
              <a:rPr lang="en-US" sz="2400" b="1" dirty="0" err="1">
                <a:solidFill>
                  <a:srgbClr val="FF0000"/>
                </a:solidFill>
                <a:latin typeface="Courier New" panose="02070309020205020404" pitchFamily="49" charset="0"/>
                <a:cs typeface="Courier New" panose="02070309020205020404" pitchFamily="49" charset="0"/>
              </a:rPr>
              <a:t>beq</a:t>
            </a:r>
            <a:r>
              <a:rPr lang="en-US" sz="2400" b="1" dirty="0">
                <a:solidFill>
                  <a:srgbClr val="FF0000"/>
                </a:solidFill>
                <a:latin typeface="Courier New" panose="02070309020205020404" pitchFamily="49" charset="0"/>
                <a:cs typeface="Courier New" panose="02070309020205020404" pitchFamily="49" charset="0"/>
              </a:rPr>
              <a:t>    t0, zero, .L1	// if a0 is non-negative, return</a:t>
            </a:r>
          </a:p>
          <a:p>
            <a:r>
              <a:rPr lang="en-US" sz="2400" b="1" dirty="0">
                <a:latin typeface="Courier New" panose="02070309020205020404" pitchFamily="49" charset="0"/>
                <a:cs typeface="Courier New" panose="02070309020205020404" pitchFamily="49" charset="0"/>
              </a:rPr>
              <a:t>	  sub    a0, zero, a0</a:t>
            </a:r>
          </a:p>
          <a:p>
            <a:r>
              <a:rPr lang="en-US" sz="2400" b="1" dirty="0">
                <a:latin typeface="Courier New" panose="02070309020205020404" pitchFamily="49" charset="0"/>
                <a:cs typeface="Courier New" panose="02070309020205020404" pitchFamily="49" charset="0"/>
              </a:rPr>
              <a:t>.L1:	  ret</a:t>
            </a:r>
          </a:p>
        </p:txBody>
      </p:sp>
    </p:spTree>
    <p:extLst>
      <p:ext uri="{BB962C8B-B14F-4D97-AF65-F5344CB8AC3E}">
        <p14:creationId xmlns:p14="http://schemas.microsoft.com/office/powerpoint/2010/main" val="4271174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2012C1-98FF-4438-8683-09CFD5C037C4}"/>
              </a:ext>
            </a:extLst>
          </p:cNvPr>
          <p:cNvSpPr>
            <a:spLocks noGrp="1"/>
          </p:cNvSpPr>
          <p:nvPr>
            <p:ph sz="quarter" idx="13"/>
          </p:nvPr>
        </p:nvSpPr>
        <p:spPr>
          <a:xfrm>
            <a:off x="203200" y="1371600"/>
            <a:ext cx="7772400" cy="2438400"/>
          </a:xfrm>
          <a:solidFill>
            <a:schemeClr val="accent3">
              <a:lumMod val="40000"/>
              <a:lumOff val="60000"/>
            </a:schemeClr>
          </a:solidFill>
          <a:ln>
            <a:solidFill>
              <a:schemeClr val="tx1"/>
            </a:solidFill>
          </a:ln>
        </p:spPr>
        <p:txBody>
          <a:bodyPr>
            <a:noAutofit/>
          </a:bodyPr>
          <a:lstStyle/>
          <a:p>
            <a:r>
              <a:rPr lang="en-US" sz="2400" b="1" dirty="0">
                <a:latin typeface="Courier New" panose="02070309020205020404" pitchFamily="49" charset="0"/>
                <a:cs typeface="Courier New" panose="02070309020205020404" pitchFamily="49" charset="0"/>
              </a:rPr>
              <a:t>int abs(int v)</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return (v &lt; 0) ? </a:t>
            </a:r>
            <a:r>
              <a:rPr lang="en-US" sz="2400" b="1" dirty="0">
                <a:solidFill>
                  <a:srgbClr val="FF0000"/>
                </a:solidFill>
                <a:latin typeface="Courier New" panose="02070309020205020404" pitchFamily="49" charset="0"/>
                <a:cs typeface="Courier New" panose="02070309020205020404" pitchFamily="49" charset="0"/>
              </a:rPr>
              <a:t>–(unsigned int)v </a:t>
            </a:r>
            <a:r>
              <a:rPr lang="en-US" sz="2400" b="1" dirty="0">
                <a:latin typeface="Courier New" panose="02070309020205020404" pitchFamily="49" charset="0"/>
                <a:cs typeface="Courier New" panose="02070309020205020404" pitchFamily="49" charset="0"/>
              </a:rPr>
              <a:t>: v;</a:t>
            </a:r>
          </a:p>
          <a:p>
            <a:r>
              <a:rPr lang="en-US" sz="2400" b="1" dirty="0">
                <a:latin typeface="Courier New" panose="02070309020205020404" pitchFamily="49" charset="0"/>
                <a:cs typeface="Courier New" panose="02070309020205020404" pitchFamily="49" charset="0"/>
              </a:rPr>
              <a:t>}</a:t>
            </a:r>
          </a:p>
        </p:txBody>
      </p:sp>
      <p:sp>
        <p:nvSpPr>
          <p:cNvPr id="4" name="Title 3">
            <a:extLst>
              <a:ext uri="{FF2B5EF4-FFF2-40B4-BE49-F238E27FC236}">
                <a16:creationId xmlns:a16="http://schemas.microsoft.com/office/drawing/2014/main" id="{71186989-8B87-4039-ADF4-0E0648CC5D21}"/>
              </a:ext>
            </a:extLst>
          </p:cNvPr>
          <p:cNvSpPr>
            <a:spLocks noGrp="1"/>
          </p:cNvSpPr>
          <p:nvPr>
            <p:ph type="title"/>
          </p:nvPr>
        </p:nvSpPr>
        <p:spPr/>
        <p:txBody>
          <a:bodyPr lIns="91440" tIns="45720" rIns="91440" bIns="45720" anchor="t"/>
          <a:lstStyle/>
          <a:p>
            <a:r>
              <a:rPr lang="en-US" dirty="0">
                <a:solidFill>
                  <a:schemeClr val="tx1"/>
                </a:solidFill>
              </a:rPr>
              <a:t>Absolute Value by Conditional</a:t>
            </a:r>
            <a:endParaRPr lang="en-US" dirty="0">
              <a:solidFill>
                <a:schemeClr val="tx1"/>
              </a:solidFill>
              <a:ea typeface="Calibri"/>
            </a:endParaRPr>
          </a:p>
        </p:txBody>
      </p:sp>
      <p:sp>
        <p:nvSpPr>
          <p:cNvPr id="10" name="Content Placeholder 2">
            <a:extLst>
              <a:ext uri="{FF2B5EF4-FFF2-40B4-BE49-F238E27FC236}">
                <a16:creationId xmlns:a16="http://schemas.microsoft.com/office/drawing/2014/main" id="{0F89F942-213A-EEB6-8D23-5C05CB585448}"/>
              </a:ext>
            </a:extLst>
          </p:cNvPr>
          <p:cNvSpPr txBox="1">
            <a:spLocks/>
          </p:cNvSpPr>
          <p:nvPr/>
        </p:nvSpPr>
        <p:spPr>
          <a:xfrm>
            <a:off x="203200" y="3886200"/>
            <a:ext cx="11531600" cy="2971800"/>
          </a:xfrm>
          <a:prstGeom prst="rect">
            <a:avLst/>
          </a:prstGeom>
        </p:spPr>
        <p:txBody>
          <a:bodyPr>
            <a:normAutofit/>
          </a:bodyPr>
          <a:lstStyle>
            <a:lvl1pPr marL="0" indent="0" algn="l" defTabSz="914377" rtl="0" eaLnBrk="1" latinLnBrk="0" hangingPunct="1">
              <a:spcBef>
                <a:spcPct val="20000"/>
              </a:spcBef>
              <a:buClr>
                <a:schemeClr val="accent1"/>
              </a:buClr>
              <a:buFont typeface="Wingdings" pitchFamily="2" charset="2"/>
              <a:buNone/>
              <a:defRPr sz="2800" kern="1200">
                <a:solidFill>
                  <a:schemeClr val="tx1"/>
                </a:solidFill>
                <a:latin typeface="+mn-lt"/>
                <a:ea typeface="+mn-ea"/>
                <a:cs typeface="Arial"/>
              </a:defRPr>
            </a:lvl1pPr>
            <a:lvl2pPr marL="411470" indent="0" algn="l" defTabSz="914377" rtl="0" eaLnBrk="1" latinLnBrk="0" hangingPunct="1">
              <a:spcBef>
                <a:spcPct val="20000"/>
              </a:spcBef>
              <a:buClr>
                <a:schemeClr val="accent1"/>
              </a:buClr>
              <a:buFont typeface="Wingdings" pitchFamily="2" charset="2"/>
              <a:buNone/>
              <a:defRPr sz="2400" kern="1200">
                <a:solidFill>
                  <a:schemeClr val="tx1">
                    <a:lumMod val="85000"/>
                    <a:lumOff val="15000"/>
                  </a:schemeClr>
                </a:solidFill>
                <a:latin typeface="+mn-lt"/>
                <a:ea typeface="+mn-ea"/>
                <a:cs typeface="+mn-cs"/>
              </a:defRPr>
            </a:lvl2pPr>
            <a:lvl3pPr marL="777221" indent="0" algn="l" defTabSz="914377" rtl="0" eaLnBrk="1" latinLnBrk="0" hangingPunct="1">
              <a:spcBef>
                <a:spcPct val="20000"/>
              </a:spcBef>
              <a:buClr>
                <a:schemeClr val="accent1"/>
              </a:buClr>
              <a:buFont typeface="Wingdings" pitchFamily="2" charset="2"/>
              <a:buNone/>
              <a:defRPr sz="2000" kern="1200">
                <a:solidFill>
                  <a:schemeClr val="tx1">
                    <a:lumMod val="85000"/>
                    <a:lumOff val="15000"/>
                  </a:schemeClr>
                </a:solidFill>
                <a:latin typeface="+mn-lt"/>
                <a:ea typeface="+mn-ea"/>
                <a:cs typeface="+mn-cs"/>
              </a:defRPr>
            </a:lvl3pPr>
            <a:lvl4pPr marL="1188690" indent="0" algn="l" defTabSz="914377" rtl="0" eaLnBrk="1" latinLnBrk="0" hangingPunct="1">
              <a:spcBef>
                <a:spcPct val="20000"/>
              </a:spcBef>
              <a:buClr>
                <a:schemeClr val="accent1"/>
              </a:buClr>
              <a:buFont typeface="Wingdings" pitchFamily="2" charset="2"/>
              <a:buNone/>
              <a:defRPr sz="1800" kern="1200">
                <a:solidFill>
                  <a:schemeClr val="tx1">
                    <a:lumMod val="85000"/>
                    <a:lumOff val="15000"/>
                  </a:schemeClr>
                </a:solidFill>
                <a:latin typeface="+mn-lt"/>
                <a:ea typeface="+mn-ea"/>
                <a:cs typeface="+mn-cs"/>
              </a:defRPr>
            </a:lvl4pPr>
            <a:lvl5pPr marL="1508722" indent="0" algn="l" defTabSz="914377" rtl="0" eaLnBrk="1" latinLnBrk="0" hangingPunct="1">
              <a:spcBef>
                <a:spcPct val="20000"/>
              </a:spcBef>
              <a:buClr>
                <a:schemeClr val="accent1"/>
              </a:buClr>
              <a:buFont typeface="Wingdings" pitchFamily="2" charset="2"/>
              <a:buNone/>
              <a:defRPr sz="1600" kern="1200">
                <a:solidFill>
                  <a:schemeClr val="tx1">
                    <a:lumMod val="85000"/>
                    <a:lumOff val="15000"/>
                  </a:schemeClr>
                </a:solidFill>
                <a:latin typeface="+mn-lt"/>
                <a:ea typeface="+mn-ea"/>
                <a:cs typeface="+mn-cs"/>
              </a:defRPr>
            </a:lvl5pPr>
            <a:lvl6pPr marL="2148786"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18"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850"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882"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slt</a:t>
            </a:r>
            <a:r>
              <a:rPr lang="en-US" sz="2400" b="1" dirty="0">
                <a:latin typeface="Courier New" panose="02070309020205020404" pitchFamily="49" charset="0"/>
                <a:cs typeface="Courier New" panose="02070309020205020404" pitchFamily="49" charset="0"/>
              </a:rPr>
              <a:t>    t0, a0, zero	// t0 = 1 if a0 &lt; 0, else 0</a:t>
            </a:r>
          </a:p>
          <a:p>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beq</a:t>
            </a:r>
            <a:r>
              <a:rPr lang="en-US" sz="2400" b="1" dirty="0">
                <a:latin typeface="Courier New" panose="02070309020205020404" pitchFamily="49" charset="0"/>
                <a:cs typeface="Courier New" panose="02070309020205020404" pitchFamily="49" charset="0"/>
              </a:rPr>
              <a:t>    t0, zero, .L1	// if v is non-negative, return</a:t>
            </a:r>
          </a:p>
          <a:p>
            <a:r>
              <a:rPr lang="en-US" sz="2400" b="1" dirty="0">
                <a:latin typeface="Courier New" panose="02070309020205020404" pitchFamily="49" charset="0"/>
                <a:cs typeface="Courier New" panose="02070309020205020404" pitchFamily="49" charset="0"/>
              </a:rPr>
              <a:t>	  </a:t>
            </a:r>
            <a:r>
              <a:rPr lang="en-US" sz="2400" b="1" dirty="0">
                <a:solidFill>
                  <a:srgbClr val="FF0000"/>
                </a:solidFill>
                <a:latin typeface="Courier New" panose="02070309020205020404" pitchFamily="49" charset="0"/>
                <a:cs typeface="Courier New" panose="02070309020205020404" pitchFamily="49" charset="0"/>
              </a:rPr>
              <a:t>sub    a0, zero, a0	// if v is negative, do -v</a:t>
            </a:r>
          </a:p>
          <a:p>
            <a:r>
              <a:rPr lang="en-US" sz="2400" b="1" dirty="0">
                <a:latin typeface="Courier New" panose="02070309020205020404" pitchFamily="49" charset="0"/>
                <a:cs typeface="Courier New" panose="02070309020205020404" pitchFamily="49" charset="0"/>
              </a:rPr>
              <a:t>.L1:	  ret</a:t>
            </a:r>
          </a:p>
        </p:txBody>
      </p:sp>
    </p:spTree>
    <p:extLst>
      <p:ext uri="{BB962C8B-B14F-4D97-AF65-F5344CB8AC3E}">
        <p14:creationId xmlns:p14="http://schemas.microsoft.com/office/powerpoint/2010/main" val="2671163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2012C1-98FF-4438-8683-09CFD5C037C4}"/>
              </a:ext>
            </a:extLst>
          </p:cNvPr>
          <p:cNvSpPr>
            <a:spLocks noGrp="1"/>
          </p:cNvSpPr>
          <p:nvPr>
            <p:ph sz="quarter" idx="13"/>
          </p:nvPr>
        </p:nvSpPr>
        <p:spPr>
          <a:xfrm>
            <a:off x="203200" y="1371600"/>
            <a:ext cx="7772400" cy="2438400"/>
          </a:xfrm>
          <a:solidFill>
            <a:schemeClr val="accent3">
              <a:lumMod val="40000"/>
              <a:lumOff val="60000"/>
            </a:schemeClr>
          </a:solidFill>
          <a:ln>
            <a:solidFill>
              <a:schemeClr val="tx1"/>
            </a:solidFill>
          </a:ln>
        </p:spPr>
        <p:txBody>
          <a:bodyPr>
            <a:noAutofit/>
          </a:bodyPr>
          <a:lstStyle/>
          <a:p>
            <a:r>
              <a:rPr lang="en-US" sz="2400" b="1" dirty="0">
                <a:latin typeface="Courier New" panose="02070309020205020404" pitchFamily="49" charset="0"/>
                <a:cs typeface="Courier New" panose="02070309020205020404" pitchFamily="49" charset="0"/>
              </a:rPr>
              <a:t>int abs(int v)</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a:t>
            </a:r>
            <a:r>
              <a:rPr lang="en-US" sz="2400" b="1" dirty="0">
                <a:solidFill>
                  <a:srgbClr val="FF0000"/>
                </a:solidFill>
                <a:latin typeface="Courier New" panose="02070309020205020404" pitchFamily="49" charset="0"/>
                <a:cs typeface="Courier New" panose="02070309020205020404" pitchFamily="49" charset="0"/>
              </a:rPr>
              <a:t>return</a:t>
            </a:r>
            <a:r>
              <a:rPr lang="en-US" sz="2400" b="1" dirty="0">
                <a:latin typeface="Courier New" panose="02070309020205020404" pitchFamily="49" charset="0"/>
                <a:cs typeface="Courier New" panose="02070309020205020404" pitchFamily="49" charset="0"/>
              </a:rPr>
              <a:t> (v &lt; 0) ? </a:t>
            </a:r>
            <a:r>
              <a:rPr lang="en-US" sz="2400" b="1" dirty="0">
                <a:solidFill>
                  <a:srgbClr val="FF0000"/>
                </a:solidFill>
                <a:latin typeface="Courier New" panose="02070309020205020404" pitchFamily="49" charset="0"/>
                <a:cs typeface="Courier New" panose="02070309020205020404" pitchFamily="49" charset="0"/>
              </a:rPr>
              <a:t>–(unsigned int)v</a:t>
            </a:r>
            <a:r>
              <a:rPr lang="en-US" sz="2400" b="1" dirty="0">
                <a:latin typeface="Courier New" panose="02070309020205020404" pitchFamily="49" charset="0"/>
                <a:cs typeface="Courier New" panose="02070309020205020404" pitchFamily="49" charset="0"/>
              </a:rPr>
              <a:t> : v;</a:t>
            </a:r>
          </a:p>
          <a:p>
            <a:r>
              <a:rPr lang="en-US" sz="2400" b="1" dirty="0">
                <a:latin typeface="Courier New" panose="02070309020205020404" pitchFamily="49" charset="0"/>
                <a:cs typeface="Courier New" panose="02070309020205020404" pitchFamily="49" charset="0"/>
              </a:rPr>
              <a:t>}</a:t>
            </a:r>
          </a:p>
        </p:txBody>
      </p:sp>
      <p:sp>
        <p:nvSpPr>
          <p:cNvPr id="4" name="Title 3">
            <a:extLst>
              <a:ext uri="{FF2B5EF4-FFF2-40B4-BE49-F238E27FC236}">
                <a16:creationId xmlns:a16="http://schemas.microsoft.com/office/drawing/2014/main" id="{71186989-8B87-4039-ADF4-0E0648CC5D21}"/>
              </a:ext>
            </a:extLst>
          </p:cNvPr>
          <p:cNvSpPr>
            <a:spLocks noGrp="1"/>
          </p:cNvSpPr>
          <p:nvPr>
            <p:ph type="title"/>
          </p:nvPr>
        </p:nvSpPr>
        <p:spPr/>
        <p:txBody>
          <a:bodyPr lIns="91440" tIns="45720" rIns="91440" bIns="45720" anchor="t"/>
          <a:lstStyle/>
          <a:p>
            <a:r>
              <a:rPr lang="en-US" dirty="0">
                <a:solidFill>
                  <a:schemeClr val="tx1"/>
                </a:solidFill>
              </a:rPr>
              <a:t>Absolute Value by Conditional</a:t>
            </a:r>
            <a:endParaRPr lang="en-US" dirty="0">
              <a:solidFill>
                <a:schemeClr val="tx1"/>
              </a:solidFill>
              <a:ea typeface="Calibri"/>
            </a:endParaRPr>
          </a:p>
        </p:txBody>
      </p:sp>
      <p:sp>
        <p:nvSpPr>
          <p:cNvPr id="7" name="Content Placeholder 2">
            <a:extLst>
              <a:ext uri="{FF2B5EF4-FFF2-40B4-BE49-F238E27FC236}">
                <a16:creationId xmlns:a16="http://schemas.microsoft.com/office/drawing/2014/main" id="{1F812EF2-AF93-4D18-6E5D-9636C3E49F56}"/>
              </a:ext>
            </a:extLst>
          </p:cNvPr>
          <p:cNvSpPr txBox="1">
            <a:spLocks/>
          </p:cNvSpPr>
          <p:nvPr/>
        </p:nvSpPr>
        <p:spPr>
          <a:xfrm>
            <a:off x="203200" y="3886200"/>
            <a:ext cx="11531600" cy="2971800"/>
          </a:xfrm>
          <a:prstGeom prst="rect">
            <a:avLst/>
          </a:prstGeom>
        </p:spPr>
        <p:txBody>
          <a:bodyPr>
            <a:normAutofit/>
          </a:bodyPr>
          <a:lstStyle>
            <a:lvl1pPr marL="0" indent="0" algn="l" defTabSz="914377" rtl="0" eaLnBrk="1" latinLnBrk="0" hangingPunct="1">
              <a:spcBef>
                <a:spcPct val="20000"/>
              </a:spcBef>
              <a:buClr>
                <a:schemeClr val="accent1"/>
              </a:buClr>
              <a:buFont typeface="Wingdings" pitchFamily="2" charset="2"/>
              <a:buNone/>
              <a:defRPr sz="2800" kern="1200">
                <a:solidFill>
                  <a:schemeClr val="tx1"/>
                </a:solidFill>
                <a:latin typeface="+mn-lt"/>
                <a:ea typeface="+mn-ea"/>
                <a:cs typeface="Arial"/>
              </a:defRPr>
            </a:lvl1pPr>
            <a:lvl2pPr marL="411470" indent="0" algn="l" defTabSz="914377" rtl="0" eaLnBrk="1" latinLnBrk="0" hangingPunct="1">
              <a:spcBef>
                <a:spcPct val="20000"/>
              </a:spcBef>
              <a:buClr>
                <a:schemeClr val="accent1"/>
              </a:buClr>
              <a:buFont typeface="Wingdings" pitchFamily="2" charset="2"/>
              <a:buNone/>
              <a:defRPr sz="2400" kern="1200">
                <a:solidFill>
                  <a:schemeClr val="tx1">
                    <a:lumMod val="85000"/>
                    <a:lumOff val="15000"/>
                  </a:schemeClr>
                </a:solidFill>
                <a:latin typeface="+mn-lt"/>
                <a:ea typeface="+mn-ea"/>
                <a:cs typeface="+mn-cs"/>
              </a:defRPr>
            </a:lvl2pPr>
            <a:lvl3pPr marL="777221" indent="0" algn="l" defTabSz="914377" rtl="0" eaLnBrk="1" latinLnBrk="0" hangingPunct="1">
              <a:spcBef>
                <a:spcPct val="20000"/>
              </a:spcBef>
              <a:buClr>
                <a:schemeClr val="accent1"/>
              </a:buClr>
              <a:buFont typeface="Wingdings" pitchFamily="2" charset="2"/>
              <a:buNone/>
              <a:defRPr sz="2000" kern="1200">
                <a:solidFill>
                  <a:schemeClr val="tx1">
                    <a:lumMod val="85000"/>
                    <a:lumOff val="15000"/>
                  </a:schemeClr>
                </a:solidFill>
                <a:latin typeface="+mn-lt"/>
                <a:ea typeface="+mn-ea"/>
                <a:cs typeface="+mn-cs"/>
              </a:defRPr>
            </a:lvl3pPr>
            <a:lvl4pPr marL="1188690" indent="0" algn="l" defTabSz="914377" rtl="0" eaLnBrk="1" latinLnBrk="0" hangingPunct="1">
              <a:spcBef>
                <a:spcPct val="20000"/>
              </a:spcBef>
              <a:buClr>
                <a:schemeClr val="accent1"/>
              </a:buClr>
              <a:buFont typeface="Wingdings" pitchFamily="2" charset="2"/>
              <a:buNone/>
              <a:defRPr sz="1800" kern="1200">
                <a:solidFill>
                  <a:schemeClr val="tx1">
                    <a:lumMod val="85000"/>
                    <a:lumOff val="15000"/>
                  </a:schemeClr>
                </a:solidFill>
                <a:latin typeface="+mn-lt"/>
                <a:ea typeface="+mn-ea"/>
                <a:cs typeface="+mn-cs"/>
              </a:defRPr>
            </a:lvl4pPr>
            <a:lvl5pPr marL="1508722" indent="0" algn="l" defTabSz="914377" rtl="0" eaLnBrk="1" latinLnBrk="0" hangingPunct="1">
              <a:spcBef>
                <a:spcPct val="20000"/>
              </a:spcBef>
              <a:buClr>
                <a:schemeClr val="accent1"/>
              </a:buClr>
              <a:buFont typeface="Wingdings" pitchFamily="2" charset="2"/>
              <a:buNone/>
              <a:defRPr sz="1600" kern="1200">
                <a:solidFill>
                  <a:schemeClr val="tx1">
                    <a:lumMod val="85000"/>
                    <a:lumOff val="15000"/>
                  </a:schemeClr>
                </a:solidFill>
                <a:latin typeface="+mn-lt"/>
                <a:ea typeface="+mn-ea"/>
                <a:cs typeface="+mn-cs"/>
              </a:defRPr>
            </a:lvl5pPr>
            <a:lvl6pPr marL="2148786"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18"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850"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882"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slt</a:t>
            </a:r>
            <a:r>
              <a:rPr lang="en-US" sz="2400" b="1" dirty="0">
                <a:latin typeface="Courier New" panose="02070309020205020404" pitchFamily="49" charset="0"/>
                <a:cs typeface="Courier New" panose="02070309020205020404" pitchFamily="49" charset="0"/>
              </a:rPr>
              <a:t>    t0, a0, zero	// t0 = 1 if a0 &lt; 0, else 0</a:t>
            </a:r>
          </a:p>
          <a:p>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beq</a:t>
            </a:r>
            <a:r>
              <a:rPr lang="en-US" sz="2400" b="1" dirty="0">
                <a:latin typeface="Courier New" panose="02070309020205020404" pitchFamily="49" charset="0"/>
                <a:cs typeface="Courier New" panose="02070309020205020404" pitchFamily="49" charset="0"/>
              </a:rPr>
              <a:t>    t0, zero, .L1	// if a0 is non-negative, return</a:t>
            </a:r>
          </a:p>
          <a:p>
            <a:r>
              <a:rPr lang="en-US" sz="2400" b="1" dirty="0">
                <a:latin typeface="Courier New" panose="02070309020205020404" pitchFamily="49" charset="0"/>
                <a:cs typeface="Courier New" panose="02070309020205020404" pitchFamily="49" charset="0"/>
              </a:rPr>
              <a:t>	  sub    a0, zero, a0	// if a0 is negative</a:t>
            </a:r>
          </a:p>
          <a:p>
            <a:r>
              <a:rPr lang="en-US" sz="2400" b="1" dirty="0">
                <a:latin typeface="Courier New" panose="02070309020205020404" pitchFamily="49" charset="0"/>
                <a:cs typeface="Courier New" panose="02070309020205020404" pitchFamily="49" charset="0"/>
              </a:rPr>
              <a:t>.L1:	  </a:t>
            </a:r>
            <a:r>
              <a:rPr lang="en-US" sz="2400" b="1" dirty="0">
                <a:solidFill>
                  <a:srgbClr val="FF0000"/>
                </a:solidFill>
                <a:latin typeface="Courier New" panose="02070309020205020404" pitchFamily="49" charset="0"/>
                <a:cs typeface="Courier New" panose="02070309020205020404" pitchFamily="49" charset="0"/>
              </a:rPr>
              <a:t>ret					// return</a:t>
            </a:r>
          </a:p>
        </p:txBody>
      </p:sp>
    </p:spTree>
    <p:extLst>
      <p:ext uri="{BB962C8B-B14F-4D97-AF65-F5344CB8AC3E}">
        <p14:creationId xmlns:p14="http://schemas.microsoft.com/office/powerpoint/2010/main" val="2692326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12156-12F0-4BD2-D35D-EEEDF65879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B6D382-E63F-8072-3870-82AA42427E85}"/>
              </a:ext>
            </a:extLst>
          </p:cNvPr>
          <p:cNvSpPr>
            <a:spLocks noGrp="1"/>
          </p:cNvSpPr>
          <p:nvPr>
            <p:ph idx="1"/>
          </p:nvPr>
        </p:nvSpPr>
        <p:spPr>
          <a:xfrm>
            <a:off x="838200" y="1253331"/>
            <a:ext cx="10515600" cy="4351338"/>
          </a:xfrm>
        </p:spPr>
        <p:txBody>
          <a:bodyPr anchor="ctr">
            <a:normAutofit/>
          </a:bodyPr>
          <a:lstStyle/>
          <a:p>
            <a:pPr marL="0" indent="0" algn="ctr">
              <a:buNone/>
            </a:pPr>
            <a:r>
              <a:rPr lang="en-US" sz="4000" b="1" dirty="0"/>
              <a:t>Thank you.</a:t>
            </a:r>
          </a:p>
        </p:txBody>
      </p:sp>
      <p:sp>
        <p:nvSpPr>
          <p:cNvPr id="5" name="Slide Number Placeholder 4">
            <a:extLst>
              <a:ext uri="{FF2B5EF4-FFF2-40B4-BE49-F238E27FC236}">
                <a16:creationId xmlns:a16="http://schemas.microsoft.com/office/drawing/2014/main" id="{42595CBB-F04F-4CC7-8926-3050DC67928C}"/>
              </a:ext>
            </a:extLst>
          </p:cNvPr>
          <p:cNvSpPr>
            <a:spLocks noGrp="1"/>
          </p:cNvSpPr>
          <p:nvPr>
            <p:ph type="sldNum" sz="quarter" idx="12"/>
          </p:nvPr>
        </p:nvSpPr>
        <p:spPr/>
        <p:txBody>
          <a:bodyPr/>
          <a:lstStyle/>
          <a:p>
            <a:fld id="{330EA680-D336-4FF7-8B7A-9848BB0A1C32}" type="slidenum">
              <a:rPr lang="en-US" smtClean="0"/>
              <a:t>29</a:t>
            </a:fld>
            <a:endParaRPr lang="en-US"/>
          </a:p>
        </p:txBody>
      </p:sp>
    </p:spTree>
    <p:extLst>
      <p:ext uri="{BB962C8B-B14F-4D97-AF65-F5344CB8AC3E}">
        <p14:creationId xmlns:p14="http://schemas.microsoft.com/office/powerpoint/2010/main" val="424691960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GW General">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11113</TotalTime>
  <Words>6391</Words>
  <Application>Microsoft Office PowerPoint</Application>
  <PresentationFormat>Widescreen</PresentationFormat>
  <Paragraphs>698</Paragraphs>
  <Slides>29</Slides>
  <Notes>26</Notes>
  <HiddenSlides>0</HiddenSlides>
  <MMClips>0</MMClips>
  <ScaleCrop>false</ScaleCrop>
  <HeadingPairs>
    <vt:vector size="4" baseType="variant">
      <vt:variant>
        <vt:lpstr>Theme</vt:lpstr>
      </vt:variant>
      <vt:variant>
        <vt:i4>2</vt:i4>
      </vt:variant>
      <vt:variant>
        <vt:lpstr>Slide Titles</vt:lpstr>
      </vt:variant>
      <vt:variant>
        <vt:i4>29</vt:i4>
      </vt:variant>
    </vt:vector>
  </HeadingPairs>
  <TitlesOfParts>
    <vt:vector size="31" baseType="lpstr">
      <vt:lpstr>GW General</vt:lpstr>
      <vt:lpstr>office theme</vt:lpstr>
      <vt:lpstr>CS 2160 Introduction to Assembly Programming and Computer Organization  Lecture 04: Logical Operations</vt:lpstr>
      <vt:lpstr>Today’s Agenda.</vt:lpstr>
      <vt:lpstr>Unsigned Binary Integers (§ 2.4)</vt:lpstr>
      <vt:lpstr>2s-Complement Signed Integers</vt:lpstr>
      <vt:lpstr>2s-Complement Signed Integers</vt:lpstr>
      <vt:lpstr>Signed Negation</vt:lpstr>
      <vt:lpstr>Sign Extension</vt:lpstr>
      <vt:lpstr>Logical Operations (§2.6 )</vt:lpstr>
      <vt:lpstr>Shift Operations</vt:lpstr>
      <vt:lpstr>Shift Operations – shift left/right logical</vt:lpstr>
      <vt:lpstr>Shift Operations – shift right arithmetic </vt:lpstr>
      <vt:lpstr>AND Operations</vt:lpstr>
      <vt:lpstr>OR Operations</vt:lpstr>
      <vt:lpstr>XOR Operations</vt:lpstr>
      <vt:lpstr>Summary: Some Arithmetic Operations</vt:lpstr>
      <vt:lpstr>Absolute Value by Bit Twiddling</vt:lpstr>
      <vt:lpstr>Absolute Value by Bit Twiddling</vt:lpstr>
      <vt:lpstr>Absolute Value by Bit Twiddling</vt:lpstr>
      <vt:lpstr>Absolute Value by Bit Twiddling</vt:lpstr>
      <vt:lpstr>Absolute Value by Bit Twiddling</vt:lpstr>
      <vt:lpstr>Absolute Value by Bit Twiddling</vt:lpstr>
      <vt:lpstr>Absolute Value by Bit Twiddling</vt:lpstr>
      <vt:lpstr>Absolute Value by Conditional</vt:lpstr>
      <vt:lpstr>Absolute Value by Conditional</vt:lpstr>
      <vt:lpstr>Absolute Value by Conditional</vt:lpstr>
      <vt:lpstr>Absolute Value by Conditional</vt:lpstr>
      <vt:lpstr>Absolute Value by Conditional</vt:lpstr>
      <vt:lpstr>Absolute Value by Conditional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CS4200: Computer Architecture Introduction to Computer Architecture</dc:title>
  <dc:creator>Gedare Bloom</dc:creator>
  <cp:lastModifiedBy>Xi Tan</cp:lastModifiedBy>
  <cp:revision>505</cp:revision>
  <dcterms:created xsi:type="dcterms:W3CDTF">2020-08-23T20:53:13Z</dcterms:created>
  <dcterms:modified xsi:type="dcterms:W3CDTF">2026-09-10T22:25:32Z</dcterms:modified>
</cp:coreProperties>
</file>