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39"/>
  </p:notesMasterIdLst>
  <p:sldIdLst>
    <p:sldId id="256" r:id="rId5"/>
    <p:sldId id="257" r:id="rId6"/>
    <p:sldId id="861" r:id="rId7"/>
    <p:sldId id="829" r:id="rId8"/>
    <p:sldId id="830" r:id="rId9"/>
    <p:sldId id="862" r:id="rId10"/>
    <p:sldId id="802" r:id="rId11"/>
    <p:sldId id="831" r:id="rId12"/>
    <p:sldId id="832" r:id="rId13"/>
    <p:sldId id="842" r:id="rId14"/>
    <p:sldId id="843" r:id="rId15"/>
    <p:sldId id="844" r:id="rId16"/>
    <p:sldId id="845" r:id="rId17"/>
    <p:sldId id="846" r:id="rId18"/>
    <p:sldId id="847" r:id="rId19"/>
    <p:sldId id="833" r:id="rId20"/>
    <p:sldId id="839" r:id="rId21"/>
    <p:sldId id="840" r:id="rId22"/>
    <p:sldId id="848" r:id="rId23"/>
    <p:sldId id="849" r:id="rId24"/>
    <p:sldId id="850" r:id="rId25"/>
    <p:sldId id="853" r:id="rId26"/>
    <p:sldId id="854" r:id="rId27"/>
    <p:sldId id="855" r:id="rId28"/>
    <p:sldId id="851" r:id="rId29"/>
    <p:sldId id="814" r:id="rId30"/>
    <p:sldId id="852" r:id="rId31"/>
    <p:sldId id="856" r:id="rId32"/>
    <p:sldId id="857" r:id="rId33"/>
    <p:sldId id="858" r:id="rId34"/>
    <p:sldId id="859" r:id="rId35"/>
    <p:sldId id="860" r:id="rId36"/>
    <p:sldId id="764" r:id="rId37"/>
    <p:sldId id="27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amble" id="{5D51E0E6-D01F-4CFB-BBAD-22C3F26EC290}">
          <p14:sldIdLst>
            <p14:sldId id="256"/>
            <p14:sldId id="257"/>
            <p14:sldId id="861"/>
            <p14:sldId id="829"/>
            <p14:sldId id="830"/>
            <p14:sldId id="862"/>
            <p14:sldId id="802"/>
            <p14:sldId id="831"/>
            <p14:sldId id="832"/>
            <p14:sldId id="842"/>
            <p14:sldId id="843"/>
            <p14:sldId id="844"/>
            <p14:sldId id="845"/>
            <p14:sldId id="846"/>
            <p14:sldId id="847"/>
            <p14:sldId id="833"/>
            <p14:sldId id="839"/>
            <p14:sldId id="840"/>
            <p14:sldId id="848"/>
            <p14:sldId id="849"/>
            <p14:sldId id="850"/>
            <p14:sldId id="853"/>
            <p14:sldId id="854"/>
            <p14:sldId id="855"/>
            <p14:sldId id="851"/>
            <p14:sldId id="814"/>
            <p14:sldId id="852"/>
            <p14:sldId id="856"/>
            <p14:sldId id="857"/>
            <p14:sldId id="858"/>
            <p14:sldId id="859"/>
            <p14:sldId id="860"/>
            <p14:sldId id="764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581" dt="2026-08-31T21:51:41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6E351-5889-4606-851F-9CE32354911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9A697-E2F0-4093-9634-3E22EDA0B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1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 below illustrates how each byte in a register becomes stored into memory with a </a:t>
            </a:r>
            <a:r>
              <a:rPr lang="en-US" dirty="0" err="1"/>
              <a:t>sw</a:t>
            </a:r>
            <a:r>
              <a:rPr lang="en-US" dirty="0"/>
              <a:t>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43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8813A-9329-426C-8047-01C1395FFE36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98ED8-9146-4BE6-B540-8347B7D3438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3B9B1-624C-4443-9E49-4AE5E8C13226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804C-B05D-4C85-95DC-ACD6E58FC5CF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878C0-F05B-4E10-BEA1-D8C122382F74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8022-ABBB-4C19-AC05-69F05BDFBB5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303E2-840D-4389-90AF-4B66070F5592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37C5A-9E50-49CC-95CE-AA003F394609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9019-D333-4149-8780-C872D9CA9A8F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8753-E8D8-4E4B-8EC0-E06A258A09C0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AC97C-B3CE-4D72-BCA1-C99A1B0D10C7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838" y="1447800"/>
            <a:ext cx="4788622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206" y="2209801"/>
            <a:ext cx="4788624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>
                <a:latin typeface="+mn-lt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5029" y="1447800"/>
            <a:ext cx="4826607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5400" y="2206574"/>
            <a:ext cx="4820229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3223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203200" y="1371600"/>
            <a:ext cx="4638421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953000" y="1371600"/>
            <a:ext cx="4648200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599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E7E88-3F9E-4598-A06E-B6F43CDC37BA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thakur@ucc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94"/>
            <a:ext cx="12197675" cy="354325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CS 2160</a:t>
            </a:r>
            <a:br>
              <a:rPr lang="en-US" sz="3600" b="1" dirty="0">
                <a:ea typeface="+mj-lt"/>
                <a:cs typeface="+mj-lt"/>
              </a:rPr>
            </a:br>
            <a:r>
              <a:rPr lang="en-US" sz="3600" dirty="0"/>
              <a:t>Introduction to Assembly Programming and</a:t>
            </a:r>
            <a:br>
              <a:rPr lang="en-US" sz="3600" dirty="0"/>
            </a:br>
            <a:r>
              <a:rPr lang="en-US" sz="3600"/>
              <a:t>Computer Organization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>
                <a:ea typeface="+mj-lt"/>
                <a:cs typeface="+mj-lt"/>
              </a:rPr>
            </a:br>
            <a:r>
              <a:rPr lang="en-US" sz="3200" b="1">
                <a:ea typeface="+mj-lt"/>
                <a:cs typeface="+mj-lt"/>
              </a:rPr>
              <a:t>Lecture 02</a:t>
            </a:r>
            <a:r>
              <a:rPr lang="en-US" sz="3200">
                <a:ea typeface="+mj-lt"/>
                <a:cs typeface="+mj-lt"/>
              </a:rPr>
              <a:t>: Data Movement</a:t>
            </a:r>
            <a:endParaRPr lang="en-US" sz="3200" dirty="0"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40" y="3424813"/>
            <a:ext cx="12175382" cy="29816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Aptos"/>
                <a:ea typeface="Calibri"/>
                <a:cs typeface="Calibri"/>
              </a:rPr>
              <a:t>Fall 2026</a:t>
            </a:r>
            <a:endParaRPr lang="en-US">
              <a:latin typeface="Aptos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Instructor</a:t>
            </a:r>
            <a:r>
              <a:rPr lang="en-US">
                <a:latin typeface="Calibri"/>
                <a:ea typeface="Calibri"/>
                <a:cs typeface="Calibri"/>
              </a:rPr>
              <a:t>: Himon Thakur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TA: </a:t>
            </a:r>
            <a:r>
              <a:rPr lang="en-US">
                <a:latin typeface="Calibri"/>
                <a:ea typeface="Calibri"/>
                <a:cs typeface="Calibri"/>
              </a:rPr>
              <a:t>Hassan Shakil</a:t>
            </a: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/>
              <a:t>University of Colorado </a:t>
            </a:r>
            <a:r>
              <a:rPr lang="en-US" err="1"/>
              <a:t>Colorado</a:t>
            </a:r>
            <a:r>
              <a:rPr lang="en-US"/>
              <a:t> Springs (UCCS)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3017D99-3D2A-E0CE-054E-E32FE8E968E6}"/>
              </a:ext>
            </a:extLst>
          </p:cNvPr>
          <p:cNvSpPr txBox="1"/>
          <p:nvPr/>
        </p:nvSpPr>
        <p:spPr>
          <a:xfrm>
            <a:off x="20320" y="6407876"/>
            <a:ext cx="12181838" cy="4385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Himon Thakur</a:t>
            </a:r>
            <a:r>
              <a:rPr lang="en-US" sz="1200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 (</a:t>
            </a:r>
            <a:r>
              <a:rPr lang="en-US" sz="1200">
                <a:solidFill>
                  <a:srgbClr val="767676"/>
                </a:solidFill>
                <a:latin typeface="Aptos Display"/>
                <a:ea typeface="Calibri"/>
                <a:cs typeface="Calibri"/>
                <a:hlinkClick r:id="rId2"/>
              </a:rPr>
              <a:t>hthakur@uccs.edu</a:t>
            </a:r>
            <a:r>
              <a:rPr lang="en-US" sz="1200" i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); </a:t>
            </a:r>
            <a:r>
              <a:rPr lang="en-US" sz="1200" b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CC BY-NC-SA 4.0;</a:t>
            </a:r>
            <a:endParaRPr lang="en-US" sz="1200">
              <a:solidFill>
                <a:srgbClr val="000000"/>
              </a:solidFill>
              <a:latin typeface="Aptos Display"/>
              <a:ea typeface="Calibri"/>
              <a:cs typeface="Calibri"/>
            </a:endParaRPr>
          </a:p>
          <a:p>
            <a:pPr algn="ctr"/>
            <a:r>
              <a:rPr lang="en-US" sz="1050" i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Special Thanks to Dr. Keith Paarpong and Dr. Xi Tan.</a:t>
            </a:r>
            <a:endParaRPr lang="en-US" sz="1050">
              <a:latin typeface="Aptos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86A-DB79-C2E9-C26B-F79D3B66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Recap.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D16EA-AC3F-5FE5-C0A6-85FAB868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DD545-B3A4-BBE9-77EB-C7F4C36452AF}"/>
              </a:ext>
            </a:extLst>
          </p:cNvPr>
          <p:cNvSpPr txBox="1"/>
          <p:nvPr/>
        </p:nvSpPr>
        <p:spPr>
          <a:xfrm>
            <a:off x="846030" y="1294312"/>
            <a:ext cx="10504655" cy="5062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20000"/>
              </a:spcBef>
            </a:pPr>
            <a:r>
              <a:rPr lang="en-US" sz="2800">
                <a:latin typeface="Aptos"/>
                <a:ea typeface="Calibri"/>
                <a:cs typeface="Calibri"/>
              </a:rPr>
              <a:t>- Instruction tell the processor what to do</a:t>
            </a:r>
            <a:endParaRPr lang="en-US" sz="2800"/>
          </a:p>
          <a:p>
            <a:pPr marL="914400" lvl="1" indent="-457200">
              <a:spcBef>
                <a:spcPct val="20000"/>
              </a:spcBef>
              <a:buFont typeface="Calibri"/>
              <a:buChar char="-"/>
            </a:pP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1 operation</a:t>
            </a:r>
            <a:endParaRPr lang="en-US" sz="2800" dirty="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914400" lvl="1" indent="-457200">
              <a:spcBef>
                <a:spcPct val="20000"/>
              </a:spcBef>
              <a:buFont typeface="Calibri"/>
              <a:buChar char="-"/>
            </a:pPr>
            <a:r>
              <a:rPr lang="en-US" sz="2800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0+ 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operands</a:t>
            </a:r>
            <a:endParaRPr lang="en-US" sz="2800" dirty="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lvl="1" indent="-457200">
              <a:spcBef>
                <a:spcPct val="20000"/>
              </a:spcBef>
              <a:buFont typeface="Calibri"/>
              <a:buChar char="-"/>
            </a:pPr>
            <a:r>
              <a:rPr lang="en-US" sz="2800">
                <a:solidFill>
                  <a:srgbClr val="262626"/>
                </a:solidFill>
                <a:latin typeface="Aptos"/>
                <a:ea typeface="Calibri"/>
                <a:cs typeface="Times New Roman"/>
              </a:rPr>
              <a:t>Many instruction set variants exit</a:t>
            </a:r>
          </a:p>
          <a:p>
            <a:pPr lvl="1" indent="-457200">
              <a:spcBef>
                <a:spcPct val="20000"/>
              </a:spcBef>
              <a:buFont typeface="Calibri"/>
              <a:buChar char="-"/>
            </a:pPr>
            <a:r>
              <a:rPr lang="en-US" sz="2800">
                <a:solidFill>
                  <a:srgbClr val="262626"/>
                </a:solidFill>
                <a:latin typeface="Aptos"/>
                <a:ea typeface="Calibri"/>
                <a:cs typeface="Times New Roman"/>
              </a:rPr>
              <a:t>Our focus is on </a:t>
            </a:r>
            <a:r>
              <a:rPr lang="en-US" sz="2800" b="1">
                <a:solidFill>
                  <a:srgbClr val="262626"/>
                </a:solidFill>
                <a:latin typeface="Aptos"/>
                <a:ea typeface="Calibri"/>
                <a:cs typeface="Times New Roman"/>
              </a:rPr>
              <a:t>RV32I</a:t>
            </a:r>
            <a:r>
              <a:rPr lang="en-US" sz="2800">
                <a:solidFill>
                  <a:srgbClr val="262626"/>
                </a:solidFill>
                <a:latin typeface="Aptos"/>
                <a:ea typeface="Calibri"/>
                <a:cs typeface="Times New Roman"/>
              </a:rPr>
              <a:t> instruction set</a:t>
            </a:r>
            <a:endParaRPr lang="en-US" sz="2800" dirty="0">
              <a:solidFill>
                <a:srgbClr val="262626"/>
              </a:solidFill>
              <a:latin typeface="Aptos"/>
              <a:ea typeface="Calibri"/>
              <a:cs typeface="Times New Roman"/>
            </a:endParaRPr>
          </a:p>
          <a:p>
            <a:pPr lvl="1" indent="-457200">
              <a:spcBef>
                <a:spcPct val="20000"/>
              </a:spcBef>
              <a:buFont typeface="Calibri"/>
              <a:buChar char="-"/>
            </a:pPr>
            <a:r>
              <a:rPr lang="en-US" sz="2800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General-purpose 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registers are storage in the processor</a:t>
            </a:r>
          </a:p>
          <a:p>
            <a:pPr lvl="1" indent="-457200">
              <a:spcBef>
                <a:spcPct val="20000"/>
              </a:spcBef>
              <a:buFont typeface="Calibri"/>
              <a:buChar char="-"/>
            </a:pP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There are </a:t>
            </a:r>
            <a:r>
              <a:rPr lang="en-US" sz="28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32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 general-purpose registers in </a:t>
            </a:r>
            <a:r>
              <a:rPr lang="en-US" sz="2800" b="1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RISC-V</a:t>
            </a:r>
            <a:endParaRPr lang="en-US" sz="2800" b="1" dirty="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613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D918D-15A6-9808-E945-04C8A172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78E8-E28F-D3F3-06FE-D4DED7D4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Recap.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9D0-596A-29E1-D12C-9401E87F2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70BE5E78-65DC-7F1F-69D5-555FD4500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6" b="-295"/>
          <a:stretch>
            <a:fillRect/>
          </a:stretch>
        </p:blipFill>
        <p:spPr>
          <a:xfrm>
            <a:off x="835978" y="1300798"/>
            <a:ext cx="10586940" cy="490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00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5109C-A890-A054-F1E3-E4EC2DD37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346E8-D55F-48BD-3B6A-DAD12478B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Today’s Agenda.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49AFC-5813-0D5B-CE68-82F5A330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127B5E-8E32-EFC9-2C27-C4BB693087ED}"/>
              </a:ext>
            </a:extLst>
          </p:cNvPr>
          <p:cNvSpPr txBox="1"/>
          <p:nvPr/>
        </p:nvSpPr>
        <p:spPr>
          <a:xfrm>
            <a:off x="846030" y="1294312"/>
            <a:ext cx="10504655" cy="5062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20000"/>
              </a:spcBef>
            </a:pPr>
            <a:r>
              <a:rPr lang="en-US" sz="2800">
                <a:latin typeface="Aptos"/>
                <a:ea typeface="Calibri"/>
                <a:cs typeface="Calibri"/>
              </a:rPr>
              <a:t>- Understand how to move data using </a:t>
            </a:r>
            <a:r>
              <a:rPr lang="en-US" sz="2800" b="1">
                <a:latin typeface="Aptos"/>
                <a:ea typeface="Calibri"/>
                <a:cs typeface="Calibri"/>
              </a:rPr>
              <a:t>RISC-V</a:t>
            </a:r>
            <a:r>
              <a:rPr lang="en-US" sz="2800">
                <a:latin typeface="Aptos"/>
                <a:ea typeface="Calibri"/>
                <a:cs typeface="Calibri"/>
              </a:rPr>
              <a:t> basic </a:t>
            </a:r>
            <a:r>
              <a:rPr lang="en-US" sz="2800" b="1">
                <a:latin typeface="Aptos"/>
                <a:ea typeface="Calibri"/>
                <a:cs typeface="Calibri"/>
              </a:rPr>
              <a:t>Assembly </a:t>
            </a:r>
            <a:r>
              <a:rPr lang="en-US" sz="2800">
                <a:latin typeface="Aptos"/>
                <a:ea typeface="Calibri"/>
                <a:cs typeface="Calibri"/>
              </a:rPr>
              <a:t>operations</a:t>
            </a:r>
            <a:endParaRPr lang="en-US" sz="28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285750" lvl="1" indent="-285750">
              <a:spcBef>
                <a:spcPct val="20000"/>
              </a:spcBef>
              <a:buFont typeface="Calibri"/>
              <a:buChar char="-"/>
            </a:pPr>
            <a:endParaRPr lang="en-US" sz="2800">
              <a:solidFill>
                <a:srgbClr val="262626"/>
              </a:solidFill>
              <a:latin typeface="Aptos"/>
              <a:ea typeface="Calibri"/>
              <a:cs typeface="Calibri"/>
            </a:endParaRPr>
          </a:p>
          <a:p>
            <a:pPr marL="285750" lvl="1" indent="-285750">
              <a:spcBef>
                <a:spcPct val="20000"/>
              </a:spcBef>
              <a:buFont typeface="Calibri"/>
              <a:buChar char="-"/>
            </a:pPr>
            <a:endParaRPr lang="en-US" sz="2800"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34727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91047-2A1F-02F7-857E-00FD5D37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326D-18C3-E49D-3A42-5DD72347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A mental model of program execu</a:t>
            </a:r>
            <a:r>
              <a:rPr lang="en-US" sz="4500" b="1">
                <a:ea typeface="Calibri"/>
                <a:cs typeface="Calibri"/>
              </a:rPr>
              <a:t>tion.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F6603-1132-A23A-7FDC-C05053C5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3DF161-9991-3A40-D880-9A09A1F26A50}"/>
              </a:ext>
            </a:extLst>
          </p:cNvPr>
          <p:cNvSpPr txBox="1"/>
          <p:nvPr/>
        </p:nvSpPr>
        <p:spPr>
          <a:xfrm>
            <a:off x="835870" y="1294312"/>
            <a:ext cx="7243295" cy="50522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800">
                <a:ea typeface="+mn-lt"/>
                <a:cs typeface="+mn-lt"/>
              </a:rPr>
              <a:t>Each cycle processors </a:t>
            </a:r>
            <a:endParaRPr lang="en-US" sz="2800">
              <a:latin typeface="Aptos"/>
              <a:ea typeface="Calibri"/>
              <a:cs typeface="Calibri"/>
            </a:endParaRPr>
          </a:p>
          <a:p>
            <a:r>
              <a:rPr lang="en-US" sz="2800">
                <a:ea typeface="+mn-lt"/>
                <a:cs typeface="+mn-lt"/>
              </a:rPr>
              <a:t> </a:t>
            </a:r>
            <a:r>
              <a:rPr lang="en-US" sz="2800" b="1">
                <a:ea typeface="+mn-lt"/>
                <a:cs typeface="+mn-lt"/>
              </a:rPr>
              <a:t>Fetch </a:t>
            </a:r>
            <a:r>
              <a:rPr lang="en-US" sz="2800">
                <a:ea typeface="+mn-lt"/>
                <a:cs typeface="+mn-lt"/>
              </a:rPr>
              <a:t>1+ instructions </a:t>
            </a:r>
            <a:endParaRPr lang="en-US" sz="2800"/>
          </a:p>
          <a:p>
            <a:r>
              <a:rPr lang="en-US" sz="2800">
                <a:ea typeface="+mn-lt"/>
                <a:cs typeface="+mn-lt"/>
              </a:rPr>
              <a:t> </a:t>
            </a:r>
            <a:r>
              <a:rPr lang="en-US" sz="2800" b="1">
                <a:ea typeface="+mn-lt"/>
                <a:cs typeface="+mn-lt"/>
              </a:rPr>
              <a:t>Decode </a:t>
            </a:r>
            <a:r>
              <a:rPr lang="en-US" sz="2800">
                <a:ea typeface="+mn-lt"/>
                <a:cs typeface="+mn-lt"/>
              </a:rPr>
              <a:t>1+ instructions </a:t>
            </a:r>
            <a:endParaRPr lang="en-US" sz="2800"/>
          </a:p>
          <a:p>
            <a:r>
              <a:rPr lang="en-US" sz="2800">
                <a:ea typeface="+mn-lt"/>
                <a:cs typeface="+mn-lt"/>
              </a:rPr>
              <a:t> </a:t>
            </a:r>
            <a:r>
              <a:rPr lang="en-US" sz="2800" b="1">
                <a:ea typeface="+mn-lt"/>
                <a:cs typeface="+mn-lt"/>
              </a:rPr>
              <a:t>Execute </a:t>
            </a:r>
            <a:r>
              <a:rPr lang="en-US" sz="2800">
                <a:ea typeface="+mn-lt"/>
                <a:cs typeface="+mn-lt"/>
              </a:rPr>
              <a:t>1+ instructions </a:t>
            </a:r>
            <a:endParaRPr lang="en-US" sz="2800"/>
          </a:p>
          <a:p>
            <a:endParaRPr lang="en-US" sz="2800" dirty="0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Instructions may </a:t>
            </a:r>
            <a:endParaRPr lang="en-US" sz="2800"/>
          </a:p>
          <a:p>
            <a:r>
              <a:rPr lang="en-US" sz="2800">
                <a:ea typeface="+mn-lt"/>
                <a:cs typeface="+mn-lt"/>
              </a:rPr>
              <a:t> Do computation (calculations/logical) </a:t>
            </a:r>
            <a:endParaRPr lang="en-US" sz="2800"/>
          </a:p>
          <a:p>
            <a:r>
              <a:rPr lang="en-US" sz="2800">
                <a:ea typeface="+mn-lt"/>
                <a:cs typeface="+mn-lt"/>
              </a:rPr>
              <a:t> Access I/O devices </a:t>
            </a:r>
            <a:endParaRPr lang="en-US" sz="2800"/>
          </a:p>
          <a:p>
            <a:pPr>
              <a:spcBef>
                <a:spcPct val="20000"/>
              </a:spcBef>
            </a:pPr>
            <a:r>
              <a:rPr lang="en-US" sz="2800">
                <a:ea typeface="+mn-lt"/>
                <a:cs typeface="+mn-lt"/>
              </a:rPr>
              <a:t> Read/Write memory </a:t>
            </a:r>
            <a:endParaRPr lang="en-US" sz="28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9C23FE-8D64-53F6-21DA-5D429E6F58B3}"/>
              </a:ext>
            </a:extLst>
          </p:cNvPr>
          <p:cNvGrpSpPr/>
          <p:nvPr/>
        </p:nvGrpSpPr>
        <p:grpSpPr>
          <a:xfrm>
            <a:off x="5349240" y="1300480"/>
            <a:ext cx="6705600" cy="2209800"/>
            <a:chOff x="4648200" y="1371600"/>
            <a:chExt cx="6705600" cy="22098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AA4EF0-A1DA-028A-0B83-C5FAE9763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1371600"/>
              <a:ext cx="3200400" cy="2209800"/>
            </a:xfrm>
            <a:prstGeom prst="rect">
              <a:avLst/>
            </a:prstGeom>
            <a:solidFill>
              <a:srgbClr val="EFBFB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0487" tIns="44450" rIns="90487" bIns="4445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2400" b="1">
                  <a:latin typeface="Calibri"/>
                  <a:ea typeface="Calibri"/>
                  <a:cs typeface="Calibri"/>
                </a:rPr>
                <a:t>Processor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C6F526D-7DCA-2876-ED8A-E8BF1E0EB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6235" y="1447800"/>
              <a:ext cx="533400" cy="4572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40" tIns="45720" rIns="91440" b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2400" b="1">
                  <a:latin typeface="Calibri"/>
                  <a:ea typeface="Calibri"/>
                  <a:cs typeface="Calibri"/>
                </a:rPr>
                <a:t>PC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ADB6531-B5FD-AC1D-D215-FA2E548E9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057400"/>
              <a:ext cx="1676400" cy="762000"/>
            </a:xfrm>
            <a:prstGeom prst="rect">
              <a:avLst/>
            </a:prstGeom>
            <a:solidFill>
              <a:srgbClr val="FFC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40" tIns="45720" rIns="91440" b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400" b="1">
                  <a:latin typeface="Calibri"/>
                  <a:ea typeface="Calibri"/>
                  <a:cs typeface="Calibri"/>
                </a:rPr>
                <a:t>Registers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4497F72-985C-2114-47D0-9DBCEEDC2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0" y="1371600"/>
              <a:ext cx="1752600" cy="2209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40" tIns="45720" rIns="91440" bIns="45720" anchor="t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400" b="1">
                  <a:latin typeface="Calibri"/>
                  <a:ea typeface="Calibri"/>
                  <a:cs typeface="Calibri"/>
                </a:rPr>
                <a:t>Memory</a:t>
              </a:r>
              <a:endParaRPr lang="en-US" sz="2000" b="1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D10D8D63-C1B5-D0AD-CD42-1BC61F2D1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0" y="2034902"/>
              <a:ext cx="1143000" cy="11977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0487" tIns="44450" rIns="90487" bIns="4445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400">
                  <a:latin typeface="Calibri" pitchFamily="34" charset="0"/>
                </a:rPr>
                <a:t>Code</a:t>
              </a:r>
            </a:p>
            <a:p>
              <a:pPr algn="ctr">
                <a:lnSpc>
                  <a:spcPct val="100000"/>
                </a:lnSpc>
              </a:pPr>
              <a:r>
                <a:rPr lang="en-US" sz="2400">
                  <a:latin typeface="Calibri" pitchFamily="34" charset="0"/>
                </a:rPr>
                <a:t>Data</a:t>
              </a:r>
            </a:p>
            <a:p>
              <a:pPr algn="ctr">
                <a:lnSpc>
                  <a:spcPct val="100000"/>
                </a:lnSpc>
              </a:pPr>
              <a:r>
                <a:rPr lang="en-US" sz="2400">
                  <a:latin typeface="Calibri" pitchFamily="34" charset="0"/>
                </a:rPr>
                <a:t>Stack</a:t>
              </a:r>
            </a:p>
          </p:txBody>
        </p: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D8777AB4-738D-BCD2-F3FA-4F54BB1DC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600" y="2006600"/>
              <a:ext cx="1752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>
                <a:latin typeface="Calibri" pitchFamily="34" charset="0"/>
              </a:endParaRPr>
            </a:p>
          </p:txBody>
        </p:sp>
        <p:sp>
          <p:nvSpPr>
            <p:cNvPr id="21" name="Line 10">
              <a:extLst>
                <a:ext uri="{FF2B5EF4-FFF2-40B4-BE49-F238E27FC236}">
                  <a16:creationId xmlns:a16="http://schemas.microsoft.com/office/drawing/2014/main" id="{29FF6248-9960-DB32-C19F-F54B411DC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600" y="2540000"/>
              <a:ext cx="1752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triangle" w="lg" len="lg"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>
                <a:latin typeface="Calibri" pitchFamily="34" charset="0"/>
              </a:endParaRPr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654EE039-5252-B553-3647-035B714F1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600" y="3073400"/>
              <a:ext cx="1752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>
                <a:latin typeface="Calibri" pitchFamily="34" charset="0"/>
              </a:endParaRPr>
            </a:p>
          </p:txBody>
        </p:sp>
        <p:sp>
          <p:nvSpPr>
            <p:cNvPr id="23" name="Text Box 12">
              <a:extLst>
                <a:ext uri="{FF2B5EF4-FFF2-40B4-BE49-F238E27FC236}">
                  <a16:creationId xmlns:a16="http://schemas.microsoft.com/office/drawing/2014/main" id="{EF9842EF-83FB-28F4-DF37-6FDF1C59E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600" y="1600201"/>
              <a:ext cx="175260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7" tIns="44450" rIns="90487" bIns="4445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400">
                  <a:latin typeface="Calibri" pitchFamily="34" charset="0"/>
                </a:rPr>
                <a:t>Addresses</a:t>
              </a:r>
            </a:p>
          </p:txBody>
        </p:sp>
        <p:sp>
          <p:nvSpPr>
            <p:cNvPr id="24" name="Text Box 13">
              <a:extLst>
                <a:ext uri="{FF2B5EF4-FFF2-40B4-BE49-F238E27FC236}">
                  <a16:creationId xmlns:a16="http://schemas.microsoft.com/office/drawing/2014/main" id="{9ABB3BA3-A3B2-7979-77EA-77A98E1EF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600" y="2159001"/>
              <a:ext cx="175260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7" tIns="44450" rIns="90487" bIns="4445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400" dirty="0">
                  <a:latin typeface="Calibri" pitchFamily="34" charset="0"/>
                </a:rPr>
                <a:t>Data</a:t>
              </a:r>
            </a:p>
          </p:txBody>
        </p:sp>
        <p:sp>
          <p:nvSpPr>
            <p:cNvPr id="26" name="Text Box 14">
              <a:extLst>
                <a:ext uri="{FF2B5EF4-FFF2-40B4-BE49-F238E27FC236}">
                  <a16:creationId xmlns:a16="http://schemas.microsoft.com/office/drawing/2014/main" id="{3B563247-2B31-F9F6-7442-3220D5EFE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600" y="2692401"/>
              <a:ext cx="167640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7" tIns="44450" rIns="90487" bIns="4445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400">
                  <a:latin typeface="Calibri" pitchFamily="34" charset="0"/>
                </a:rPr>
                <a:t>Instructions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0961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745FD-51EC-DF44-B947-468260D1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C9D1C-B7EC-2099-2EBD-2282D6BFE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Moving data withing the machine.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861EF-D67C-F242-56A0-BABF4A21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98D67D-8EE7-C085-8702-7BA8C9C8509A}"/>
              </a:ext>
            </a:extLst>
          </p:cNvPr>
          <p:cNvSpPr txBox="1"/>
          <p:nvPr/>
        </p:nvSpPr>
        <p:spPr>
          <a:xfrm>
            <a:off x="846030" y="1294312"/>
            <a:ext cx="10504655" cy="5062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>
                <a:latin typeface="Aptos"/>
                <a:ea typeface="Calibri"/>
                <a:cs typeface="Calibri"/>
              </a:rPr>
              <a:t>The </a:t>
            </a:r>
            <a:r>
              <a:rPr lang="en-US" sz="3200" b="1">
                <a:latin typeface="Aptos"/>
                <a:ea typeface="Calibri"/>
                <a:cs typeface="Calibri"/>
              </a:rPr>
              <a:t>processor</a:t>
            </a:r>
            <a:r>
              <a:rPr lang="en-US" sz="3200">
                <a:latin typeface="Aptos"/>
                <a:ea typeface="Calibri"/>
                <a:cs typeface="Calibri"/>
              </a:rPr>
              <a:t> has limited storage capacity</a:t>
            </a:r>
            <a:endParaRPr lang="en-US" sz="3200" dirty="0">
              <a:latin typeface="Aptos"/>
              <a:ea typeface="Calibri"/>
              <a:cs typeface="Calibri"/>
            </a:endParaRPr>
          </a:p>
          <a:p>
            <a:pPr marL="742950" lvl="2" indent="-285750">
              <a:spcBef>
                <a:spcPct val="20000"/>
              </a:spcBef>
              <a:buFont typeface="Wingdings"/>
              <a:buChar char="§"/>
            </a:pPr>
            <a:r>
              <a:rPr lang="en-US" sz="2400">
                <a:solidFill>
                  <a:srgbClr val="262626"/>
                </a:solidFill>
                <a:latin typeface="Aptos"/>
                <a:ea typeface="Calibri"/>
                <a:cs typeface="Calibri"/>
              </a:rPr>
              <a:t>Memory is also limited but we’ll ignore for now</a:t>
            </a:r>
            <a:endParaRPr lang="en-US" sz="2400">
              <a:latin typeface="Aptos"/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>
                <a:latin typeface="Aptos"/>
                <a:ea typeface="Calibri"/>
                <a:cs typeface="Calibri"/>
              </a:rPr>
              <a:t>We can’t keep all the data in the processor’s </a:t>
            </a:r>
            <a:r>
              <a:rPr lang="en-US" sz="3200" b="1">
                <a:latin typeface="Aptos"/>
                <a:ea typeface="Calibri"/>
                <a:cs typeface="Calibri"/>
              </a:rPr>
              <a:t>registers</a:t>
            </a:r>
            <a:endParaRPr lang="en-US" sz="3200" b="1" dirty="0">
              <a:latin typeface="Aptos"/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 b="1">
                <a:latin typeface="Aptos"/>
                <a:ea typeface="Calibri"/>
                <a:cs typeface="Calibri"/>
              </a:rPr>
              <a:t>Program</a:t>
            </a:r>
            <a:r>
              <a:rPr lang="en-US" sz="3200">
                <a:latin typeface="Aptos"/>
                <a:ea typeface="Calibri"/>
                <a:cs typeface="Calibri"/>
              </a:rPr>
              <a:t> starts in memory after it is loaded from </a:t>
            </a:r>
            <a:r>
              <a:rPr lang="en-US" sz="3200" b="1">
                <a:latin typeface="Aptos"/>
                <a:ea typeface="Calibri"/>
                <a:cs typeface="Calibri"/>
              </a:rPr>
              <a:t>disk</a:t>
            </a:r>
            <a:endParaRPr lang="en-US" sz="3200" b="1" dirty="0">
              <a:latin typeface="Aptos"/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 dirty="0">
                <a:latin typeface="Aptos"/>
                <a:ea typeface="Calibri"/>
                <a:cs typeface="Calibri"/>
              </a:rPr>
              <a:t>We </a:t>
            </a:r>
            <a:r>
              <a:rPr lang="en-US" sz="3200">
                <a:latin typeface="Aptos"/>
                <a:ea typeface="Calibri"/>
                <a:cs typeface="Calibri"/>
              </a:rPr>
              <a:t>must</a:t>
            </a:r>
            <a:r>
              <a:rPr lang="en-US" sz="3200" dirty="0">
                <a:latin typeface="Aptos"/>
                <a:ea typeface="Calibri"/>
                <a:cs typeface="Calibri"/>
              </a:rPr>
              <a:t> </a:t>
            </a:r>
            <a:r>
              <a:rPr lang="en-US" sz="3200" b="1" i="1" dirty="0">
                <a:latin typeface="Aptos"/>
                <a:ea typeface="Calibri"/>
                <a:cs typeface="Calibri"/>
              </a:rPr>
              <a:t>move instructions</a:t>
            </a:r>
            <a:r>
              <a:rPr lang="en-US" sz="3200" dirty="0">
                <a:latin typeface="Aptos"/>
                <a:ea typeface="Calibri"/>
                <a:cs typeface="Calibri"/>
              </a:rPr>
              <a:t> and data from </a:t>
            </a:r>
            <a:r>
              <a:rPr lang="en-US" sz="3200" b="1" dirty="0">
                <a:latin typeface="Aptos"/>
                <a:ea typeface="Calibri"/>
                <a:cs typeface="Calibri"/>
              </a:rPr>
              <a:t>memory</a:t>
            </a:r>
            <a:r>
              <a:rPr lang="en-US" sz="3200" dirty="0">
                <a:latin typeface="Aptos"/>
                <a:ea typeface="Calibri"/>
                <a:cs typeface="Calibri"/>
              </a:rPr>
              <a:t> to the </a:t>
            </a:r>
            <a:r>
              <a:rPr lang="en-US" sz="3200" b="1" dirty="0">
                <a:latin typeface="Aptos"/>
                <a:ea typeface="Calibri"/>
                <a:cs typeface="Calibri"/>
              </a:rPr>
              <a:t>processor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>
                <a:latin typeface="Aptos"/>
                <a:ea typeface="Calibri"/>
                <a:cs typeface="Calibri"/>
              </a:rPr>
              <a:t>We must </a:t>
            </a:r>
            <a:r>
              <a:rPr lang="en-US" sz="3200" b="1" i="1">
                <a:latin typeface="Aptos"/>
                <a:ea typeface="Calibri"/>
                <a:cs typeface="Calibri"/>
              </a:rPr>
              <a:t>move data</a:t>
            </a:r>
            <a:r>
              <a:rPr lang="en-US" sz="3200">
                <a:latin typeface="Aptos"/>
                <a:ea typeface="Calibri"/>
                <a:cs typeface="Calibri"/>
              </a:rPr>
              <a:t> produced by the </a:t>
            </a:r>
            <a:r>
              <a:rPr lang="en-US" sz="3200" b="1">
                <a:latin typeface="Aptos"/>
                <a:ea typeface="Calibri"/>
                <a:cs typeface="Calibri"/>
              </a:rPr>
              <a:t>processor</a:t>
            </a:r>
            <a:r>
              <a:rPr lang="en-US" sz="3200">
                <a:latin typeface="Aptos"/>
                <a:ea typeface="Calibri"/>
                <a:cs typeface="Calibri"/>
              </a:rPr>
              <a:t> to the </a:t>
            </a:r>
            <a:r>
              <a:rPr lang="en-US" sz="3200" b="1" dirty="0">
                <a:latin typeface="Aptos"/>
                <a:ea typeface="Calibri"/>
                <a:cs typeface="Calibri"/>
              </a:rPr>
              <a:t>memory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3200">
                <a:latin typeface="Aptos"/>
                <a:ea typeface="Calibri"/>
                <a:cs typeface="Calibri"/>
              </a:rPr>
              <a:t>We may have to </a:t>
            </a:r>
            <a:r>
              <a:rPr lang="en-US" sz="3200" b="1" i="1">
                <a:latin typeface="Aptos"/>
                <a:ea typeface="Calibri"/>
                <a:cs typeface="Calibri"/>
              </a:rPr>
              <a:t>move data</a:t>
            </a:r>
            <a:r>
              <a:rPr lang="en-US" sz="3200">
                <a:latin typeface="Aptos"/>
                <a:ea typeface="Calibri"/>
                <a:cs typeface="Calibri"/>
              </a:rPr>
              <a:t> around </a:t>
            </a:r>
            <a:r>
              <a:rPr lang="en-US" sz="3200" b="1">
                <a:latin typeface="Aptos"/>
                <a:ea typeface="Calibri"/>
                <a:cs typeface="Calibri"/>
              </a:rPr>
              <a:t>within the processor</a:t>
            </a:r>
            <a:endParaRPr lang="en-US" sz="3200" b="1" dirty="0">
              <a:latin typeface="Aptos"/>
              <a:ea typeface="Calibri"/>
              <a:cs typeface="Calibri"/>
            </a:endParaRPr>
          </a:p>
          <a:p>
            <a:pPr marL="457200" indent="-457200">
              <a:spcBef>
                <a:spcPct val="20000"/>
              </a:spcBef>
              <a:buFont typeface="Calibri"/>
              <a:buChar char="-"/>
            </a:pPr>
            <a:endParaRPr lang="en-US" sz="2800" dirty="0"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965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8019FE-178C-2E68-90BF-EB31D42C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Data movements vs machine operations.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6F5311-8706-35BE-F58E-573BE79FD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917707"/>
              </p:ext>
            </p:extLst>
          </p:nvPr>
        </p:nvGraphicFramePr>
        <p:xfrm>
          <a:off x="117928" y="2186214"/>
          <a:ext cx="11887970" cy="26518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59262">
                  <a:extLst>
                    <a:ext uri="{9D8B030D-6E8A-4147-A177-3AD203B41FA5}">
                      <a16:colId xmlns:a16="http://schemas.microsoft.com/office/drawing/2014/main" val="1336962795"/>
                    </a:ext>
                  </a:extLst>
                </a:gridCol>
                <a:gridCol w="5128708">
                  <a:extLst>
                    <a:ext uri="{9D8B030D-6E8A-4147-A177-3AD203B41FA5}">
                      <a16:colId xmlns:a16="http://schemas.microsoft.com/office/drawing/2014/main" val="1630389714"/>
                    </a:ext>
                  </a:extLst>
                </a:gridCol>
              </a:tblGrid>
              <a:tr h="680357"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noProof="0">
                          <a:solidFill>
                            <a:srgbClr val="000000"/>
                          </a:solidFill>
                        </a:rPr>
                        <a:t>Kind of data 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noProof="0">
                          <a:solidFill>
                            <a:srgbClr val="000000"/>
                          </a:solidFill>
                        </a:rPr>
                        <a:t>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79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strike="noStrike" noProof="0">
                          <a:solidFill>
                            <a:srgbClr val="000000"/>
                          </a:solidFill>
                        </a:rPr>
                        <a:t>Move instructions to the 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noProof="0">
                          <a:solidFill>
                            <a:srgbClr val="000000"/>
                          </a:solidFill>
                        </a:rPr>
                        <a:t>Instruction </a:t>
                      </a:r>
                      <a:r>
                        <a:rPr lang="en-US" sz="2800" b="1" u="none" strike="noStrike" noProof="0">
                          <a:solidFill>
                            <a:srgbClr val="000000"/>
                          </a:solidFill>
                        </a:rPr>
                        <a:t>Fetch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516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strike="noStrike" noProof="0">
                          <a:solidFill>
                            <a:srgbClr val="000000"/>
                          </a:solidFill>
                        </a:rPr>
                        <a:t>Move data from memory to the 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noProof="0">
                          <a:solidFill>
                            <a:srgbClr val="000000"/>
                          </a:solidFill>
                        </a:rPr>
                        <a:t>Load </a:t>
                      </a:r>
                      <a:r>
                        <a:rPr lang="en-US" sz="2800" u="none" strike="noStrike" noProof="0">
                          <a:solidFill>
                            <a:srgbClr val="000000"/>
                          </a:solidFill>
                        </a:rPr>
                        <a:t>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62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strike="noStrike" noProof="0">
                          <a:solidFill>
                            <a:srgbClr val="000000"/>
                          </a:solidFill>
                        </a:rPr>
                        <a:t>Move data from the processor to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noProof="0">
                          <a:solidFill>
                            <a:srgbClr val="000000"/>
                          </a:solidFill>
                        </a:rPr>
                        <a:t>Store </a:t>
                      </a:r>
                      <a:r>
                        <a:rPr lang="en-US" sz="2800" u="none" strike="noStrike" noProof="0">
                          <a:solidFill>
                            <a:srgbClr val="000000"/>
                          </a:solidFill>
                        </a:rPr>
                        <a:t>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41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strike="noStrike" noProof="0">
                          <a:solidFill>
                            <a:srgbClr val="000000"/>
                          </a:solidFill>
                        </a:rPr>
                        <a:t>Move data between registers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noProof="0">
                          <a:solidFill>
                            <a:srgbClr val="000000"/>
                          </a:solidFill>
                        </a:rPr>
                        <a:t>ALU </a:t>
                      </a:r>
                      <a:r>
                        <a:rPr lang="en-US" sz="2800" u="none" strike="noStrike" noProof="0">
                          <a:solidFill>
                            <a:srgbClr val="000000"/>
                          </a:solidFill>
                        </a:rPr>
                        <a:t>instructions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87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39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57D00-9A61-FED1-39F5-238D369BC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D7E4EC-45FE-A1A8-A4FB-9A1D2890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Fetch.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6E2A68-0EC4-6BB5-C1B9-D5371EF3E7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5" b="268"/>
          <a:stretch>
            <a:fillRect/>
          </a:stretch>
        </p:blipFill>
        <p:spPr>
          <a:xfrm>
            <a:off x="4206326" y="1201827"/>
            <a:ext cx="7771613" cy="5049270"/>
          </a:xfrm>
          <a:prstGeom prst="rect">
            <a:avLst/>
          </a:prstGeom>
        </p:spPr>
      </p:pic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A9D81EE5-7967-5EEF-EC45-6F5C76EF1590}"/>
              </a:ext>
            </a:extLst>
          </p:cNvPr>
          <p:cNvSpPr>
            <a:spLocks noGrp="1"/>
          </p:cNvSpPr>
          <p:nvPr/>
        </p:nvSpPr>
        <p:spPr>
          <a:xfrm>
            <a:off x="203205" y="1197429"/>
            <a:ext cx="3927924" cy="505097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Instructions are </a:t>
            </a:r>
            <a:br>
              <a:rPr lang="en-US" sz="2800" dirty="0"/>
            </a:br>
            <a:r>
              <a:rPr lang="en-US" sz="2800" dirty="0"/>
              <a:t>read from the</a:t>
            </a:r>
            <a:br>
              <a:rPr lang="en-US" sz="2800" dirty="0"/>
            </a:br>
            <a:r>
              <a:rPr lang="en-US" sz="2800" dirty="0"/>
              <a:t>memory address contained in the program counter, a special-purpose</a:t>
            </a:r>
            <a:br>
              <a:rPr lang="en-US" sz="2800" dirty="0"/>
            </a:br>
            <a:r>
              <a:rPr lang="en-US" sz="2800" dirty="0"/>
              <a:t>register</a:t>
            </a:r>
          </a:p>
        </p:txBody>
      </p:sp>
    </p:spTree>
    <p:extLst>
      <p:ext uri="{BB962C8B-B14F-4D97-AF65-F5344CB8AC3E}">
        <p14:creationId xmlns:p14="http://schemas.microsoft.com/office/powerpoint/2010/main" val="3850776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AEE76-6E35-80A1-A09E-45A1661B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A82F8-666D-C5AB-E4F3-90BF60E1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from memory!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F0B5AA-75B4-2CF0-73AE-5215828E6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830733"/>
              </p:ext>
            </p:extLst>
          </p:nvPr>
        </p:nvGraphicFramePr>
        <p:xfrm>
          <a:off x="345056" y="2027207"/>
          <a:ext cx="1118630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High-Level: C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Low-Level: Assembly-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ish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 = *p;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load x, *p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910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3E6CE-C660-3F69-187E-3DF06653C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AD979-ECE5-C7E9-7BBE-4591F3BD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from memory!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FCE2B7-BB1C-FF57-C2A9-223E34CF9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376741"/>
              </p:ext>
            </p:extLst>
          </p:nvPr>
        </p:nvGraphicFramePr>
        <p:xfrm>
          <a:off x="345056" y="2027207"/>
          <a:ext cx="1118630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High-Level: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Low-Level: Assembly-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ish</a:t>
                      </a:r>
                      <a:endParaRPr lang="en-US" dirty="0" err="1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 = *p;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load x, *p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</a:tbl>
          </a:graphicData>
        </a:graphic>
      </p:graphicFrame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B7930DBD-861F-6B88-A309-06502DC9EF4A}"/>
              </a:ext>
            </a:extLst>
          </p:cNvPr>
          <p:cNvSpPr/>
          <p:nvPr/>
        </p:nvSpPr>
        <p:spPr>
          <a:xfrm>
            <a:off x="5849386" y="4329858"/>
            <a:ext cx="1437640" cy="1153160"/>
          </a:xfrm>
          <a:prstGeom prst="wedgeRoundRectCallout">
            <a:avLst>
              <a:gd name="adj1" fmla="val 117461"/>
              <a:gd name="adj2" fmla="val -180908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</a:rPr>
              <a:t>Operation</a:t>
            </a:r>
          </a:p>
        </p:txBody>
      </p:sp>
    </p:spTree>
    <p:extLst>
      <p:ext uri="{BB962C8B-B14F-4D97-AF65-F5344CB8AC3E}">
        <p14:creationId xmlns:p14="http://schemas.microsoft.com/office/powerpoint/2010/main" val="3516762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596C-A968-B2AE-FD78-5CA0E8B7B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A11C61-7529-B299-304D-D2212044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from memory!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12299E-C0A0-F36F-8FB9-34BA08564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896250"/>
              </p:ext>
            </p:extLst>
          </p:nvPr>
        </p:nvGraphicFramePr>
        <p:xfrm>
          <a:off x="345056" y="2027207"/>
          <a:ext cx="1118630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High-Level: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Low-Level: Assembly-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ish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 = *p;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load x, *p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</a:tbl>
          </a:graphicData>
        </a:graphic>
      </p:graphicFrame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E2F0F42-DAE2-D7CE-32A6-A87C07479DD1}"/>
              </a:ext>
            </a:extLst>
          </p:cNvPr>
          <p:cNvSpPr/>
          <p:nvPr/>
        </p:nvSpPr>
        <p:spPr>
          <a:xfrm>
            <a:off x="5717306" y="4512738"/>
            <a:ext cx="1437640" cy="1153160"/>
          </a:xfrm>
          <a:prstGeom prst="wedgeRoundRectCallout">
            <a:avLst>
              <a:gd name="adj1" fmla="val 117461"/>
              <a:gd name="adj2" fmla="val -180908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</a:rPr>
              <a:t>Operation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B89C41C3-C344-1734-C77D-0E6FEC1B21D8}"/>
              </a:ext>
            </a:extLst>
          </p:cNvPr>
          <p:cNvSpPr/>
          <p:nvPr/>
        </p:nvSpPr>
        <p:spPr>
          <a:xfrm>
            <a:off x="9149901" y="4512301"/>
            <a:ext cx="1529442" cy="1150258"/>
          </a:xfrm>
          <a:prstGeom prst="wedgeRoundRectCallout">
            <a:avLst>
              <a:gd name="adj1" fmla="val -34989"/>
              <a:gd name="adj2" fmla="val -176040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000000"/>
                </a:solidFill>
              </a:rPr>
              <a:t>Input Operand</a:t>
            </a:r>
          </a:p>
        </p:txBody>
      </p:sp>
    </p:spTree>
    <p:extLst>
      <p:ext uri="{BB962C8B-B14F-4D97-AF65-F5344CB8AC3E}">
        <p14:creationId xmlns:p14="http://schemas.microsoft.com/office/powerpoint/2010/main" val="1176721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B19FE-3782-031F-C97A-684DB789F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2728B2-2CDA-3F0C-B2BA-50EAE4842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from memory!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FF75D6-9D20-D68F-3E96-501691160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64088"/>
              </p:ext>
            </p:extLst>
          </p:nvPr>
        </p:nvGraphicFramePr>
        <p:xfrm>
          <a:off x="345056" y="2027207"/>
          <a:ext cx="1118630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High-Level: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Low-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Level: Assembly-</a:t>
                      </a:r>
                      <a:r>
                        <a:rPr lang="en-US" sz="2400" err="1">
                          <a:solidFill>
                            <a:schemeClr val="tx1"/>
                          </a:solidFill>
                        </a:rPr>
                        <a:t>ish</a:t>
                      </a:r>
                      <a:endParaRPr lang="en-US" sz="2400" dirty="0" err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 = *p;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load x, *p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</a:tbl>
          </a:graphicData>
        </a:graphic>
      </p:graphicFrame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9AF288A3-060D-16FA-7C62-2ED9A915F82B}"/>
              </a:ext>
            </a:extLst>
          </p:cNvPr>
          <p:cNvSpPr/>
          <p:nvPr/>
        </p:nvSpPr>
        <p:spPr>
          <a:xfrm>
            <a:off x="5804029" y="4402429"/>
            <a:ext cx="1337854" cy="1153160"/>
          </a:xfrm>
          <a:prstGeom prst="wedgeRoundRectCallout">
            <a:avLst>
              <a:gd name="adj1" fmla="val 117461"/>
              <a:gd name="adj2" fmla="val -180908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000000"/>
                </a:solidFill>
              </a:rPr>
              <a:t>Operation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FB9B2943-CDCC-BED5-418C-7B66B891E22E}"/>
              </a:ext>
            </a:extLst>
          </p:cNvPr>
          <p:cNvSpPr/>
          <p:nvPr/>
        </p:nvSpPr>
        <p:spPr>
          <a:xfrm>
            <a:off x="9244607" y="4407072"/>
            <a:ext cx="1529442" cy="1150258"/>
          </a:xfrm>
          <a:prstGeom prst="wedgeRoundRectCallout">
            <a:avLst>
              <a:gd name="adj1" fmla="val -34989"/>
              <a:gd name="adj2" fmla="val -176040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000000"/>
                </a:solidFill>
              </a:rPr>
              <a:t>Input Operand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6617F557-8ADA-9589-1BBF-52C5ADFACA42}"/>
              </a:ext>
            </a:extLst>
          </p:cNvPr>
          <p:cNvSpPr/>
          <p:nvPr/>
        </p:nvSpPr>
        <p:spPr>
          <a:xfrm>
            <a:off x="7404088" y="4404669"/>
            <a:ext cx="1329872" cy="1159329"/>
          </a:xfrm>
          <a:prstGeom prst="wedgeRoundRectCallout">
            <a:avLst>
              <a:gd name="adj1" fmla="val 52125"/>
              <a:gd name="adj2" fmla="val -174823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000000"/>
                </a:solidFill>
              </a:rPr>
              <a:t>Output operand</a:t>
            </a:r>
          </a:p>
        </p:txBody>
      </p:sp>
    </p:spTree>
    <p:extLst>
      <p:ext uri="{BB962C8B-B14F-4D97-AF65-F5344CB8AC3E}">
        <p14:creationId xmlns:p14="http://schemas.microsoft.com/office/powerpoint/2010/main" val="4139882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82CD-AD8F-FCC1-5195-2D9676E2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21F66B-FEA8-72AF-AF50-8E28BA87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from memory!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E8C793-56E9-28F6-9B13-F54CE548F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925615"/>
              </p:ext>
            </p:extLst>
          </p:nvPr>
        </p:nvGraphicFramePr>
        <p:xfrm>
          <a:off x="345056" y="2027207"/>
          <a:ext cx="1118630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High-Level: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Low-Level: Assembly-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ish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 = *p;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load x, *p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</a:tbl>
          </a:graphicData>
        </a:graphic>
      </p:graphicFrame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181AEBD9-AFC0-CB69-2423-FF878A9DF908}"/>
              </a:ext>
            </a:extLst>
          </p:cNvPr>
          <p:cNvSpPr/>
          <p:nvPr/>
        </p:nvSpPr>
        <p:spPr>
          <a:xfrm>
            <a:off x="9916076" y="482600"/>
            <a:ext cx="2275840" cy="1432560"/>
          </a:xfrm>
          <a:prstGeom prst="cloudCallout">
            <a:avLst>
              <a:gd name="adj1" fmla="val -76605"/>
              <a:gd name="adj2" fmla="val 52155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Where are </a:t>
            </a:r>
            <a:r>
              <a:rPr lang="en-US" sz="2400" b="1" dirty="0"/>
              <a:t>x, p?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A91CB-E865-6CEE-6E4F-9C93665FE2E7}"/>
              </a:ext>
            </a:extLst>
          </p:cNvPr>
          <p:cNvSpPr/>
          <p:nvPr/>
        </p:nvSpPr>
        <p:spPr>
          <a:xfrm>
            <a:off x="1941757" y="4409440"/>
            <a:ext cx="8305802" cy="1219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rgbClr val="000000"/>
                </a:solidFill>
              </a:rPr>
              <a:t>We need to know more </a:t>
            </a:r>
            <a:r>
              <a:rPr lang="en-US" sz="3200" b="1" dirty="0">
                <a:solidFill>
                  <a:srgbClr val="000000"/>
                </a:solidFill>
              </a:rPr>
              <a:t>context</a:t>
            </a:r>
            <a:r>
              <a:rPr lang="en-US" sz="32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212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D046B-1B13-DBBA-71F3-CBD8F6100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C707FE-7853-995E-BA5F-B3293A51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from memory!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BC0C3B-CC6D-3B96-19A3-2E6677EBD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590103"/>
              </p:ext>
            </p:extLst>
          </p:nvPr>
        </p:nvGraphicFramePr>
        <p:xfrm>
          <a:off x="345056" y="2027207"/>
          <a:ext cx="111863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High-Level: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Low-Level: RISC-V Assembly</a:t>
                      </a:r>
                      <a:endParaRPr lang="en-US" sz="2400" dirty="0" err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 = *p;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strike="sngStrike">
                          <a:solidFill>
                            <a:schemeClr val="tx1"/>
                          </a:solidFill>
                        </a:rPr>
                        <a:t>load x, *p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lw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t1, 0(a0)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45521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A9028CF-3D22-F616-8806-5B25BC74A5ED}"/>
              </a:ext>
            </a:extLst>
          </p:cNvPr>
          <p:cNvSpPr/>
          <p:nvPr/>
        </p:nvSpPr>
        <p:spPr>
          <a:xfrm>
            <a:off x="112957" y="4297680"/>
            <a:ext cx="8305802" cy="18491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solidFill>
                  <a:schemeClr val="tx1"/>
                </a:solidFill>
              </a:rPr>
              <a:t>Make some assumptions:</a:t>
            </a:r>
          </a:p>
          <a:p>
            <a:pPr algn="ctr"/>
            <a:r>
              <a:rPr lang="en-US" sz="3200">
                <a:solidFill>
                  <a:schemeClr val="tx1"/>
                </a:solidFill>
              </a:rPr>
              <a:t>The address </a:t>
            </a:r>
            <a:r>
              <a:rPr lang="en-US" sz="3200" b="1">
                <a:solidFill>
                  <a:schemeClr val="tx1"/>
                </a:solidFill>
              </a:rPr>
              <a:t>p </a:t>
            </a:r>
            <a:r>
              <a:rPr lang="en-US" sz="3200">
                <a:solidFill>
                  <a:schemeClr val="tx1"/>
                </a:solidFill>
              </a:rPr>
              <a:t>is in register </a:t>
            </a:r>
            <a:r>
              <a:rPr lang="en-US" sz="3200" b="1">
                <a:solidFill>
                  <a:schemeClr val="tx1"/>
                </a:solidFill>
              </a:rPr>
              <a:t>a0 </a:t>
            </a:r>
            <a:r>
              <a:rPr lang="en-US" sz="3200">
                <a:solidFill>
                  <a:schemeClr val="tx1"/>
                </a:solidFill>
              </a:rPr>
              <a:t>and of type </a:t>
            </a:r>
            <a:r>
              <a:rPr lang="en-US" sz="3200" b="1">
                <a:solidFill>
                  <a:schemeClr val="tx1"/>
                </a:solidFill>
              </a:rPr>
              <a:t>int*</a:t>
            </a:r>
          </a:p>
          <a:p>
            <a:pPr algn="ctr"/>
            <a:r>
              <a:rPr lang="en-US" sz="3200" b="1">
                <a:solidFill>
                  <a:schemeClr val="tx1"/>
                </a:solidFill>
              </a:rPr>
              <a:t>x </a:t>
            </a:r>
            <a:r>
              <a:rPr lang="en-US" sz="3200">
                <a:solidFill>
                  <a:schemeClr val="tx1"/>
                </a:solidFill>
              </a:rPr>
              <a:t>goes in register </a:t>
            </a:r>
            <a:r>
              <a:rPr lang="en-US" sz="3200" b="1">
                <a:solidFill>
                  <a:schemeClr val="tx1"/>
                </a:solidFill>
              </a:rPr>
              <a:t>t1</a:t>
            </a:r>
          </a:p>
        </p:txBody>
      </p:sp>
    </p:spTree>
    <p:extLst>
      <p:ext uri="{BB962C8B-B14F-4D97-AF65-F5344CB8AC3E}">
        <p14:creationId xmlns:p14="http://schemas.microsoft.com/office/powerpoint/2010/main" val="3395047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C5CAF-7AA9-17D5-EC0D-98C11047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C614FA-7F44-D52E-6446-908997BA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from memory!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74786A-A33B-DF52-25AE-8230253E1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234360"/>
              </p:ext>
            </p:extLst>
          </p:nvPr>
        </p:nvGraphicFramePr>
        <p:xfrm>
          <a:off x="345056" y="2027207"/>
          <a:ext cx="111863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High-Level: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Low-Level: RISC-V Assembly</a:t>
                      </a:r>
                      <a:endParaRPr lang="en-US" sz="2400" dirty="0" err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 = *p;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strike="sngStrike">
                          <a:solidFill>
                            <a:schemeClr val="tx1"/>
                          </a:solidFill>
                        </a:rPr>
                        <a:t>load x, *p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lw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t1, 0(a0)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45521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5906228-7115-EC00-A9D2-4BCABC70CB55}"/>
              </a:ext>
            </a:extLst>
          </p:cNvPr>
          <p:cNvSpPr/>
          <p:nvPr/>
        </p:nvSpPr>
        <p:spPr>
          <a:xfrm>
            <a:off x="112957" y="4297680"/>
            <a:ext cx="8305802" cy="18491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solidFill>
                  <a:schemeClr val="tx1"/>
                </a:solidFill>
              </a:rPr>
              <a:t>Make some assumptions:</a:t>
            </a:r>
          </a:p>
          <a:p>
            <a:pPr algn="ctr"/>
            <a:r>
              <a:rPr lang="en-US" sz="3200">
                <a:solidFill>
                  <a:schemeClr val="tx1"/>
                </a:solidFill>
              </a:rPr>
              <a:t>The address </a:t>
            </a:r>
            <a:r>
              <a:rPr lang="en-US" sz="3200" b="1">
                <a:solidFill>
                  <a:schemeClr val="tx1"/>
                </a:solidFill>
              </a:rPr>
              <a:t>p </a:t>
            </a:r>
            <a:r>
              <a:rPr lang="en-US" sz="3200">
                <a:solidFill>
                  <a:schemeClr val="tx1"/>
                </a:solidFill>
              </a:rPr>
              <a:t>is in register </a:t>
            </a:r>
            <a:r>
              <a:rPr lang="en-US" sz="3200" b="1">
                <a:solidFill>
                  <a:schemeClr val="tx1"/>
                </a:solidFill>
              </a:rPr>
              <a:t>a0 </a:t>
            </a:r>
            <a:r>
              <a:rPr lang="en-US" sz="3200">
                <a:solidFill>
                  <a:schemeClr val="tx1"/>
                </a:solidFill>
              </a:rPr>
              <a:t>and of type </a:t>
            </a:r>
            <a:r>
              <a:rPr lang="en-US" sz="3200" b="1">
                <a:solidFill>
                  <a:schemeClr val="tx1"/>
                </a:solidFill>
              </a:rPr>
              <a:t>int*</a:t>
            </a:r>
          </a:p>
          <a:p>
            <a:pPr algn="ctr"/>
            <a:r>
              <a:rPr lang="en-US" sz="3200" b="1">
                <a:solidFill>
                  <a:schemeClr val="tx1"/>
                </a:solidFill>
              </a:rPr>
              <a:t>x </a:t>
            </a:r>
            <a:r>
              <a:rPr lang="en-US" sz="3200">
                <a:solidFill>
                  <a:schemeClr val="tx1"/>
                </a:solidFill>
              </a:rPr>
              <a:t>goes in register </a:t>
            </a:r>
            <a:r>
              <a:rPr lang="en-US" sz="3200" b="1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8AD252-78EF-7F31-B9D3-E6101347EFB5}"/>
              </a:ext>
            </a:extLst>
          </p:cNvPr>
          <p:cNvSpPr/>
          <p:nvPr/>
        </p:nvSpPr>
        <p:spPr>
          <a:xfrm>
            <a:off x="8840396" y="3738879"/>
            <a:ext cx="3347722" cy="965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lw</a:t>
            </a:r>
            <a:r>
              <a:rPr lang="en-US" sz="2000" dirty="0">
                <a:solidFill>
                  <a:schemeClr val="tx1"/>
                </a:solidFill>
              </a:rPr>
              <a:t> ('load word') reads </a:t>
            </a:r>
            <a:r>
              <a:rPr lang="en-US" sz="2000" b="1" dirty="0">
                <a:solidFill>
                  <a:schemeClr val="tx1"/>
                </a:solidFill>
              </a:rPr>
              <a:t>4 bytes</a:t>
            </a:r>
            <a:r>
              <a:rPr lang="en-US" sz="2000" dirty="0">
                <a:solidFill>
                  <a:schemeClr val="tx1"/>
                </a:solidFill>
              </a:rPr>
              <a:t> (a word) from 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44C8F-AFE8-1E14-D060-657AC3CBB960}"/>
              </a:ext>
            </a:extLst>
          </p:cNvPr>
          <p:cNvSpPr/>
          <p:nvPr/>
        </p:nvSpPr>
        <p:spPr>
          <a:xfrm>
            <a:off x="8840396" y="4704078"/>
            <a:ext cx="3347722" cy="965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T1 </a:t>
            </a:r>
            <a:r>
              <a:rPr lang="en-US" sz="2000" dirty="0">
                <a:solidFill>
                  <a:schemeClr val="tx1"/>
                </a:solidFill>
              </a:rPr>
              <a:t>is the output register </a:t>
            </a:r>
            <a:r>
              <a:rPr lang="en-US" sz="2000">
                <a:solidFill>
                  <a:schemeClr val="tx1"/>
                </a:solidFill>
              </a:rPr>
              <a:t>that will get  the loaded 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176625-8932-5BE0-B885-C31BB70261C9}"/>
              </a:ext>
            </a:extLst>
          </p:cNvPr>
          <p:cNvSpPr/>
          <p:nvPr/>
        </p:nvSpPr>
        <p:spPr>
          <a:xfrm>
            <a:off x="8840396" y="5669278"/>
            <a:ext cx="3347722" cy="965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Load from the address </a:t>
            </a:r>
            <a:r>
              <a:rPr lang="en-US" sz="2000" b="1" dirty="0">
                <a:solidFill>
                  <a:schemeClr val="tx1"/>
                </a:solidFill>
              </a:rPr>
              <a:t>a0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offset by the value </a:t>
            </a:r>
            <a:r>
              <a:rPr lang="en-US" sz="2000" b="1">
                <a:solidFill>
                  <a:schemeClr val="tx1"/>
                </a:solidFill>
              </a:rPr>
              <a:t>0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332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630A5-F0C4-F2DE-47D6-BB015D75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D61C4B-9C86-63F7-4E93-FB7252B2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Brief Aside: Addressing Modes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C702560-F49C-9DF1-8CF2-4858BDFFA231}"/>
              </a:ext>
            </a:extLst>
          </p:cNvPr>
          <p:cNvSpPr>
            <a:spLocks noGrp="1"/>
          </p:cNvSpPr>
          <p:nvPr/>
        </p:nvSpPr>
        <p:spPr>
          <a:xfrm>
            <a:off x="203204" y="1371607"/>
            <a:ext cx="11785597" cy="487679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Why 0(a0)?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/>
              <a:t>Hint</a:t>
            </a:r>
            <a:r>
              <a:rPr lang="en-US"/>
              <a:t>: think about how the data is </a:t>
            </a:r>
            <a:r>
              <a:rPr lang="en-US" b="1"/>
              <a:t>stored</a:t>
            </a:r>
            <a:r>
              <a:rPr lang="en-US"/>
              <a:t> in the </a:t>
            </a:r>
            <a:r>
              <a:rPr lang="en-US" b="1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460546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7B167-CB5A-3C5F-4D2C-BC43C4237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C296AE-A417-978F-5FF2-DD36F1967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Brief Aside: Addressing Modes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6814934B-B9B9-B413-91D7-2BFB7FFC937E}"/>
              </a:ext>
            </a:extLst>
          </p:cNvPr>
          <p:cNvSpPr>
            <a:spLocks noGrp="1"/>
          </p:cNvSpPr>
          <p:nvPr/>
        </p:nvSpPr>
        <p:spPr>
          <a:xfrm>
            <a:off x="203204" y="1371607"/>
            <a:ext cx="6005408" cy="4532078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0(a0) = a0 + 0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Base address + offset</a:t>
            </a:r>
          </a:p>
          <a:p>
            <a:pPr algn="ctr"/>
            <a:endParaRPr lang="en-US" dirty="0"/>
          </a:p>
          <a:p>
            <a:pPr algn="ctr"/>
            <a:r>
              <a:rPr lang="en-US"/>
              <a:t>Displacement addressing mode</a:t>
            </a:r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C0A8F-6C9E-A205-F667-8BCC5C672B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1"/>
          <a:stretch>
            <a:fillRect/>
          </a:stretch>
        </p:blipFill>
        <p:spPr>
          <a:xfrm>
            <a:off x="6205200" y="1835830"/>
            <a:ext cx="5764101" cy="3594553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0C29A629-99DF-8AF4-7D0D-1F9785B5BFD6}"/>
              </a:ext>
            </a:extLst>
          </p:cNvPr>
          <p:cNvSpPr/>
          <p:nvPr/>
        </p:nvSpPr>
        <p:spPr>
          <a:xfrm>
            <a:off x="3864428" y="2331355"/>
            <a:ext cx="181428" cy="87992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7B0712E-8531-7112-C1A8-8BCAF8024C98}"/>
              </a:ext>
            </a:extLst>
          </p:cNvPr>
          <p:cNvSpPr/>
          <p:nvPr/>
        </p:nvSpPr>
        <p:spPr>
          <a:xfrm>
            <a:off x="3864427" y="3528783"/>
            <a:ext cx="181428" cy="87992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45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DF39C-90CC-DCC0-CC9F-4129659FF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A57C82-CFC2-42B7-5507-36C77CFA2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Brief Aside: Addressing Modes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6258CDC-06B1-48D4-54D6-A1E7B8336C05}"/>
              </a:ext>
            </a:extLst>
          </p:cNvPr>
          <p:cNvSpPr>
            <a:spLocks noGrp="1"/>
          </p:cNvSpPr>
          <p:nvPr/>
        </p:nvSpPr>
        <p:spPr>
          <a:xfrm>
            <a:off x="203204" y="1371607"/>
            <a:ext cx="11405085" cy="487679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Calibri"/>
                <a:ea typeface="Calibri"/>
                <a:cs typeface="Calibri"/>
              </a:rPr>
              <a:t>There are s</a:t>
            </a:r>
            <a:r>
              <a:rPr lang="en-US" sz="2800" dirty="0">
                <a:latin typeface="Calibri"/>
                <a:ea typeface="Calibri"/>
                <a:cs typeface="Calibri"/>
              </a:rPr>
              <a:t>everal ways to let instructions describe addresses.</a:t>
            </a:r>
            <a:endParaRPr lang="en-US" sz="2800" dirty="0"/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r>
              <a:rPr lang="en-US" sz="2800">
                <a:latin typeface="Calibri"/>
                <a:ea typeface="Calibri"/>
                <a:cs typeface="Calibri"/>
              </a:rPr>
              <a:t>RISC-V uses primarily two addressing modes: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marL="457200" indent="-457200">
              <a:buFont typeface="Calibri"/>
              <a:buChar char="-"/>
            </a:pPr>
            <a:r>
              <a:rPr lang="en-US" sz="2800" b="1">
                <a:latin typeface="Calibri"/>
                <a:ea typeface="Calibri"/>
                <a:cs typeface="Calibri"/>
              </a:rPr>
              <a:t>Displacement (base + offset)</a:t>
            </a:r>
            <a:r>
              <a:rPr lang="en-US" sz="2800">
                <a:latin typeface="Calibri"/>
                <a:ea typeface="Calibri"/>
                <a:cs typeface="Calibri"/>
              </a:rPr>
              <a:t>: Uses a register to provide a base address, and adds a constant-valued (immediate) offset to the base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marL="457200" indent="-457200">
              <a:buFont typeface="Calibri"/>
              <a:buChar char="-"/>
            </a:pPr>
            <a:r>
              <a:rPr lang="en-US" sz="2800" b="1">
                <a:latin typeface="Calibri"/>
                <a:ea typeface="Calibri"/>
                <a:cs typeface="Calibri"/>
              </a:rPr>
              <a:t>PC-Relative</a:t>
            </a:r>
            <a:r>
              <a:rPr lang="en-US" sz="2800">
                <a:latin typeface="Calibri"/>
                <a:ea typeface="Calibri"/>
                <a:cs typeface="Calibri"/>
              </a:rPr>
              <a:t>: Uses the program counter (PC) as a base address register and adds an immediate or a register’s value to it.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r>
              <a:rPr lang="en-US" sz="2800">
                <a:latin typeface="Calibri"/>
                <a:ea typeface="Calibri"/>
                <a:cs typeface="Calibri"/>
              </a:rPr>
              <a:t>Other addressing modes are possible.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08612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34829-2909-66EE-6837-F269AE23D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0A4259-5370-A9EC-81C8-39A04BE4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from an array!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E9809B-93C9-1C2A-1BED-46108E1F1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12448"/>
              </p:ext>
            </p:extLst>
          </p:nvPr>
        </p:nvGraphicFramePr>
        <p:xfrm>
          <a:off x="345056" y="2027207"/>
          <a:ext cx="1118630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High-Level: C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Low-Level: RISC-V Assembly</a:t>
                      </a:r>
                      <a:endParaRPr lang="en-US" sz="2400" dirty="0" err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 = A[1];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 dirty="0" err="1">
                          <a:solidFill>
                            <a:schemeClr val="tx1"/>
                          </a:solidFill>
                          <a:latin typeface="Aptos"/>
                        </a:rPr>
                        <a:t>lw</a:t>
                      </a:r>
                      <a:r>
                        <a:rPr lang="en-US" sz="2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t1, 4(a0)</a:t>
                      </a:r>
                      <a:endParaRPr lang="en-US" sz="24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30C30FB-3521-9F3B-2ACB-AA4D57823AAB}"/>
              </a:ext>
            </a:extLst>
          </p:cNvPr>
          <p:cNvSpPr/>
          <p:nvPr/>
        </p:nvSpPr>
        <p:spPr>
          <a:xfrm>
            <a:off x="112957" y="4297680"/>
            <a:ext cx="8305802" cy="18491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>
                <a:solidFill>
                  <a:schemeClr val="tx1"/>
                </a:solidFill>
              </a:rPr>
              <a:t>Assumptions: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>
                <a:solidFill>
                  <a:schemeClr val="tx1"/>
                </a:solidFill>
              </a:rPr>
              <a:t>The address </a:t>
            </a:r>
            <a:r>
              <a:rPr lang="en-US" sz="2800" b="1">
                <a:solidFill>
                  <a:schemeClr val="tx1"/>
                </a:solidFill>
              </a:rPr>
              <a:t>A[0]</a:t>
            </a:r>
            <a:r>
              <a:rPr lang="en-US" sz="2800" b="1" dirty="0">
                <a:solidFill>
                  <a:schemeClr val="tx1"/>
                </a:solidFill>
              </a:rPr>
              <a:t> </a:t>
            </a:r>
            <a:r>
              <a:rPr lang="en-US" sz="2800" dirty="0">
                <a:solidFill>
                  <a:schemeClr val="tx1"/>
                </a:solidFill>
              </a:rPr>
              <a:t>is in register </a:t>
            </a:r>
            <a:r>
              <a:rPr lang="en-US" sz="2800" b="1" dirty="0">
                <a:solidFill>
                  <a:schemeClr val="tx1"/>
                </a:solidFill>
              </a:rPr>
              <a:t>a0 </a:t>
            </a:r>
            <a:r>
              <a:rPr lang="en-US" sz="2800" dirty="0">
                <a:solidFill>
                  <a:schemeClr val="tx1"/>
                </a:solidFill>
              </a:rPr>
              <a:t>and of type </a:t>
            </a:r>
            <a:r>
              <a:rPr lang="en-US" sz="2800" b="1" dirty="0">
                <a:solidFill>
                  <a:schemeClr val="tx1"/>
                </a:solidFill>
              </a:rPr>
              <a:t>int*</a:t>
            </a:r>
          </a:p>
          <a:p>
            <a:pPr algn="ctr"/>
            <a:r>
              <a:rPr lang="en-US" sz="2800" b="1">
                <a:solidFill>
                  <a:schemeClr val="tx1"/>
                </a:solidFill>
              </a:rPr>
              <a:t>x </a:t>
            </a:r>
            <a:r>
              <a:rPr lang="en-US" sz="2800">
                <a:solidFill>
                  <a:schemeClr val="tx1"/>
                </a:solidFill>
              </a:rPr>
              <a:t>goes in register </a:t>
            </a:r>
            <a:r>
              <a:rPr lang="en-US" sz="2800" b="1">
                <a:solidFill>
                  <a:schemeClr val="tx1"/>
                </a:solidFill>
              </a:rPr>
              <a:t>t1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B9801C80-E513-DD51-402B-D652EBB6087C}"/>
              </a:ext>
            </a:extLst>
          </p:cNvPr>
          <p:cNvSpPr/>
          <p:nvPr/>
        </p:nvSpPr>
        <p:spPr>
          <a:xfrm>
            <a:off x="9916076" y="381000"/>
            <a:ext cx="2275840" cy="1432560"/>
          </a:xfrm>
          <a:prstGeom prst="cloudCallout">
            <a:avLst>
              <a:gd name="adj1" fmla="val -76605"/>
              <a:gd name="adj2" fmla="val 52155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&amp;A[0] == A</a:t>
            </a:r>
          </a:p>
        </p:txBody>
      </p:sp>
    </p:spTree>
    <p:extLst>
      <p:ext uri="{BB962C8B-B14F-4D97-AF65-F5344CB8AC3E}">
        <p14:creationId xmlns:p14="http://schemas.microsoft.com/office/powerpoint/2010/main" val="3337658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CCE4E-6ED5-8EC1-A581-4D9FA1AF9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DB852C-4442-6E41-8BD0-FD486B292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 in C/C++.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B3625021-3B66-2CD3-E29D-A9E484B0097D}"/>
              </a:ext>
            </a:extLst>
          </p:cNvPr>
          <p:cNvSpPr>
            <a:spLocks noGrp="1"/>
          </p:cNvSpPr>
          <p:nvPr/>
        </p:nvSpPr>
        <p:spPr>
          <a:xfrm>
            <a:off x="203204" y="1371607"/>
            <a:ext cx="11405085" cy="106679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ea typeface="+mn-lt"/>
                <a:cs typeface="+mn-lt"/>
              </a:rPr>
              <a:t>An array data type is a sequence of identically sized elements stored in memory at </a:t>
            </a:r>
            <a:r>
              <a:rPr lang="en-US" sz="2400">
                <a:ea typeface="+mn-lt"/>
                <a:cs typeface="+mn-lt"/>
              </a:rPr>
              <a:t>sequential addresses</a:t>
            </a:r>
            <a:endParaRPr lang="en-US" sz="2400"/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pPr algn="ctr"/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5AD74C0-941E-3A38-ECDE-EE024B6D2B2C}"/>
              </a:ext>
            </a:extLst>
          </p:cNvPr>
          <p:cNvGrpSpPr/>
          <p:nvPr/>
        </p:nvGrpSpPr>
        <p:grpSpPr>
          <a:xfrm>
            <a:off x="3698361" y="2069704"/>
            <a:ext cx="5135514" cy="1480066"/>
            <a:chOff x="3320143" y="2177534"/>
            <a:chExt cx="5135514" cy="148006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C54A3FE-9236-3108-69BA-031892B943E0}"/>
                </a:ext>
              </a:extLst>
            </p:cNvPr>
            <p:cNvGrpSpPr/>
            <p:nvPr/>
          </p:nvGrpSpPr>
          <p:grpSpPr>
            <a:xfrm>
              <a:off x="3320143" y="2177534"/>
              <a:ext cx="5061857" cy="1480066"/>
              <a:chOff x="3320143" y="2177534"/>
              <a:chExt cx="5061857" cy="148006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A760A12B-756C-3D06-2147-AE96AE6DE6AB}"/>
                  </a:ext>
                </a:extLst>
              </p:cNvPr>
              <p:cNvGrpSpPr/>
              <p:nvPr/>
            </p:nvGrpSpPr>
            <p:grpSpPr>
              <a:xfrm>
                <a:off x="3320143" y="2177534"/>
                <a:ext cx="3512457" cy="1480066"/>
                <a:chOff x="3320143" y="2177534"/>
                <a:chExt cx="3512457" cy="1480066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5ED86123-440A-3B3F-45FD-281061733F98}"/>
                    </a:ext>
                  </a:extLst>
                </p:cNvPr>
                <p:cNvGrpSpPr/>
                <p:nvPr/>
              </p:nvGrpSpPr>
              <p:grpSpPr>
                <a:xfrm>
                  <a:off x="3320143" y="2177534"/>
                  <a:ext cx="3512457" cy="1480066"/>
                  <a:chOff x="3320143" y="2177534"/>
                  <a:chExt cx="3512457" cy="1480066"/>
                </a:xfrm>
              </p:grpSpPr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9DB1FC9F-2A01-0277-75DC-7C24C68D9B07}"/>
                      </a:ext>
                    </a:extLst>
                  </p:cNvPr>
                  <p:cNvSpPr/>
                  <p:nvPr/>
                </p:nvSpPr>
                <p:spPr>
                  <a:xfrm>
                    <a:off x="3733800" y="2819400"/>
                    <a:ext cx="1553028" cy="381000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dirty="0"/>
                      <a:t>value of A[0]</a:t>
                    </a:r>
                  </a:p>
                </p:txBody>
              </p:sp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FB77DF4E-B0CC-4528-9554-6A17E2B26CBB}"/>
                      </a:ext>
                    </a:extLst>
                  </p:cNvPr>
                  <p:cNvSpPr/>
                  <p:nvPr/>
                </p:nvSpPr>
                <p:spPr>
                  <a:xfrm>
                    <a:off x="5286828" y="2819400"/>
                    <a:ext cx="1545772" cy="381000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dirty="0"/>
                      <a:t>value of A[1]</a:t>
                    </a:r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EFAEC855-E3C3-2A25-05F0-060CAFE5FCAC}"/>
                      </a:ext>
                    </a:extLst>
                  </p:cNvPr>
                  <p:cNvSpPr/>
                  <p:nvPr/>
                </p:nvSpPr>
                <p:spPr>
                  <a:xfrm>
                    <a:off x="3733800" y="24384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dirty="0"/>
                      <a:t>0</a:t>
                    </a: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71D19213-3078-7ED6-6FBE-6BB240B6B1E4}"/>
                      </a:ext>
                    </a:extLst>
                  </p:cNvPr>
                  <p:cNvSpPr/>
                  <p:nvPr/>
                </p:nvSpPr>
                <p:spPr>
                  <a:xfrm>
                    <a:off x="4122057" y="24384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dirty="0"/>
                      <a:t>1</a:t>
                    </a: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316B7733-D678-0984-CFE7-C0349CE1009A}"/>
                      </a:ext>
                    </a:extLst>
                  </p:cNvPr>
                  <p:cNvSpPr/>
                  <p:nvPr/>
                </p:nvSpPr>
                <p:spPr>
                  <a:xfrm>
                    <a:off x="4510314" y="24384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dirty="0"/>
                      <a:t>2</a:t>
                    </a: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58C8E116-4807-DEF1-1BDA-6A66C85C2181}"/>
                      </a:ext>
                    </a:extLst>
                  </p:cNvPr>
                  <p:cNvSpPr/>
                  <p:nvPr/>
                </p:nvSpPr>
                <p:spPr>
                  <a:xfrm>
                    <a:off x="4898571" y="24384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dirty="0"/>
                      <a:t>3</a:t>
                    </a: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3F082E83-EF22-F87C-C236-76B856D350FF}"/>
                      </a:ext>
                    </a:extLst>
                  </p:cNvPr>
                  <p:cNvSpPr/>
                  <p:nvPr/>
                </p:nvSpPr>
                <p:spPr>
                  <a:xfrm>
                    <a:off x="5286828" y="24384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dirty="0"/>
                      <a:t>4</a:t>
                    </a: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AB51B064-1DCA-5513-8886-939C4CB733C6}"/>
                      </a:ext>
                    </a:extLst>
                  </p:cNvPr>
                  <p:cNvSpPr/>
                  <p:nvPr/>
                </p:nvSpPr>
                <p:spPr>
                  <a:xfrm>
                    <a:off x="5675085" y="24384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dirty="0"/>
                      <a:t>5</a:t>
                    </a:r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E8996147-6D4F-F2B8-81F5-8F3B5C831565}"/>
                      </a:ext>
                    </a:extLst>
                  </p:cNvPr>
                  <p:cNvSpPr/>
                  <p:nvPr/>
                </p:nvSpPr>
                <p:spPr>
                  <a:xfrm>
                    <a:off x="6063342" y="24384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dirty="0"/>
                      <a:t>6</a:t>
                    </a:r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A21A1356-CCCC-8292-5548-3DDED6E97B33}"/>
                      </a:ext>
                    </a:extLst>
                  </p:cNvPr>
                  <p:cNvSpPr/>
                  <p:nvPr/>
                </p:nvSpPr>
                <p:spPr>
                  <a:xfrm>
                    <a:off x="6451600" y="24384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dirty="0"/>
                      <a:t>7</a:t>
                    </a: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9FF4A3F3-A07D-2278-8EF9-07DB3A1747E4}"/>
                      </a:ext>
                    </a:extLst>
                  </p:cNvPr>
                  <p:cNvSpPr/>
                  <p:nvPr/>
                </p:nvSpPr>
                <p:spPr>
                  <a:xfrm>
                    <a:off x="3320143" y="3251193"/>
                    <a:ext cx="827314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dirty="0"/>
                      <a:t>&amp;A[0]</a:t>
                    </a: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D91CECC1-B0B6-B82D-3567-4CB71A70E711}"/>
                      </a:ext>
                    </a:extLst>
                  </p:cNvPr>
                  <p:cNvSpPr/>
                  <p:nvPr/>
                </p:nvSpPr>
                <p:spPr>
                  <a:xfrm>
                    <a:off x="5236028" y="32766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C5454FEA-3137-C09F-6B88-21EA23A7DD3B}"/>
                      </a:ext>
                    </a:extLst>
                  </p:cNvPr>
                  <p:cNvSpPr/>
                  <p:nvPr/>
                </p:nvSpPr>
                <p:spPr>
                  <a:xfrm>
                    <a:off x="5624285" y="32766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/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C4B74CB4-18A2-6699-9DDA-C14AF24C42DA}"/>
                      </a:ext>
                    </a:extLst>
                  </p:cNvPr>
                  <p:cNvSpPr/>
                  <p:nvPr/>
                </p:nvSpPr>
                <p:spPr>
                  <a:xfrm>
                    <a:off x="6012542" y="32766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9CE5E5B4-0636-8E76-C868-49E74F7E69CD}"/>
                      </a:ext>
                    </a:extLst>
                  </p:cNvPr>
                  <p:cNvSpPr/>
                  <p:nvPr/>
                </p:nvSpPr>
                <p:spPr>
                  <a:xfrm>
                    <a:off x="6400800" y="3276600"/>
                    <a:ext cx="381000" cy="381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/>
                  </a:p>
                </p:txBody>
              </p:sp>
              <p:sp>
                <p:nvSpPr>
                  <p:cNvPr id="26" name="TextBox 33">
                    <a:extLst>
                      <a:ext uri="{FF2B5EF4-FFF2-40B4-BE49-F238E27FC236}">
                        <a16:creationId xmlns:a16="http://schemas.microsoft.com/office/drawing/2014/main" id="{F5DC7CAA-6EB1-4317-FA1F-3C7851316158}"/>
                      </a:ext>
                    </a:extLst>
                  </p:cNvPr>
                  <p:cNvSpPr txBox="1"/>
                  <p:nvPr/>
                </p:nvSpPr>
                <p:spPr>
                  <a:xfrm>
                    <a:off x="3632201" y="2177534"/>
                    <a:ext cx="198482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dirty="0"/>
                      <a:t>bytes</a:t>
                    </a:r>
                  </a:p>
                </p:txBody>
              </p:sp>
            </p:grp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2198E8A-70A5-963B-8C01-A9975849867A}"/>
                    </a:ext>
                  </a:extLst>
                </p:cNvPr>
                <p:cNvSpPr/>
                <p:nvPr/>
              </p:nvSpPr>
              <p:spPr>
                <a:xfrm>
                  <a:off x="4923971" y="3238500"/>
                  <a:ext cx="827314" cy="381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/>
                    <a:t>&amp;A[1]</a:t>
                  </a:r>
                </a:p>
              </p:txBody>
            </p:sp>
          </p:grp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C57D40C-3B8A-3207-791B-B47FA7558ADE}"/>
                  </a:ext>
                </a:extLst>
              </p:cNvPr>
              <p:cNvSpPr/>
              <p:nvPr/>
            </p:nvSpPr>
            <p:spPr>
              <a:xfrm>
                <a:off x="6836228" y="2819400"/>
                <a:ext cx="1545772" cy="381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/>
                  <a:t>…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612CB5-C662-875A-2CDF-9554B5FFFBC9}"/>
                </a:ext>
              </a:extLst>
            </p:cNvPr>
            <p:cNvSpPr/>
            <p:nvPr/>
          </p:nvSpPr>
          <p:spPr>
            <a:xfrm>
              <a:off x="6755309" y="2438400"/>
              <a:ext cx="1700348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…</a:t>
              </a:r>
            </a:p>
          </p:txBody>
        </p:sp>
      </p:grp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D92EAED7-4970-9174-2EB1-6C562B446B78}"/>
              </a:ext>
            </a:extLst>
          </p:cNvPr>
          <p:cNvSpPr>
            <a:spLocks noGrp="1"/>
          </p:cNvSpPr>
          <p:nvPr/>
        </p:nvSpPr>
        <p:spPr>
          <a:xfrm>
            <a:off x="1328811" y="2327701"/>
            <a:ext cx="2088559" cy="96615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ea typeface="+mn-lt"/>
                <a:cs typeface="+mn-lt"/>
              </a:rPr>
              <a:t>Example</a:t>
            </a:r>
          </a:p>
          <a:p>
            <a:r>
              <a:rPr lang="en-US" sz="2800" b="1"/>
              <a:t>int A[2]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3A938BE-D7EA-757D-19EF-105F98660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249634"/>
              </p:ext>
            </p:extLst>
          </p:nvPr>
        </p:nvGraphicFramePr>
        <p:xfrm>
          <a:off x="1487129" y="3797709"/>
          <a:ext cx="9151928" cy="270106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79870">
                  <a:extLst>
                    <a:ext uri="{9D8B030D-6E8A-4147-A177-3AD203B41FA5}">
                      <a16:colId xmlns:a16="http://schemas.microsoft.com/office/drawing/2014/main" val="514197484"/>
                    </a:ext>
                  </a:extLst>
                </a:gridCol>
                <a:gridCol w="4921415">
                  <a:extLst>
                    <a:ext uri="{9D8B030D-6E8A-4147-A177-3AD203B41FA5}">
                      <a16:colId xmlns:a16="http://schemas.microsoft.com/office/drawing/2014/main" val="3960303451"/>
                    </a:ext>
                  </a:extLst>
                </a:gridCol>
                <a:gridCol w="3050643">
                  <a:extLst>
                    <a:ext uri="{9D8B030D-6E8A-4147-A177-3AD203B41FA5}">
                      <a16:colId xmlns:a16="http://schemas.microsoft.com/office/drawing/2014/main" val="2625181889"/>
                    </a:ext>
                  </a:extLst>
                </a:gridCol>
              </a:tblGrid>
              <a:tr h="450178">
                <a:tc gridSpan="3"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Limited load/store sizes for common data types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28530378"/>
                  </a:ext>
                </a:extLst>
              </a:tr>
              <a:tr h="450178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0000"/>
                          </a:solidFill>
                        </a:rPr>
                        <a:t>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Load immediate number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765758"/>
                  </a:ext>
                </a:extLst>
              </a:tr>
              <a:tr h="450178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Load byte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char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601401"/>
                  </a:ext>
                </a:extLst>
              </a:tr>
              <a:tr h="450178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lh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Load half-word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short int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675448"/>
                  </a:ext>
                </a:extLst>
              </a:tr>
              <a:tr h="450178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lw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Load word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int, long int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247125"/>
                  </a:ext>
                </a:extLst>
              </a:tr>
              <a:tr h="450178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Load double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long int, long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long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20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742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D2910-7340-51DD-5361-13F7DE869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028431-C117-E6AB-EB9D-58888BA24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General-purpose register is an array of 32 bits.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A96768-9E43-4683-ECA5-092A0FF1A4F0}"/>
              </a:ext>
            </a:extLst>
          </p:cNvPr>
          <p:cNvSpPr>
            <a:spLocks noGrp="1"/>
          </p:cNvSpPr>
          <p:nvPr/>
        </p:nvSpPr>
        <p:spPr>
          <a:xfrm>
            <a:off x="203204" y="1371607"/>
            <a:ext cx="11405085" cy="467359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ea typeface="+mn-lt"/>
                <a:cs typeface="+mn-lt"/>
              </a:rPr>
              <a:t>Bit 0</a:t>
            </a:r>
            <a:r>
              <a:rPr lang="en-US" sz="2800">
                <a:ea typeface="+mn-lt"/>
                <a:cs typeface="+mn-lt"/>
              </a:rPr>
              <a:t> is the least significant bit (</a:t>
            </a:r>
            <a:r>
              <a:rPr lang="en-US" sz="2800" b="1">
                <a:ea typeface="+mn-lt"/>
                <a:cs typeface="+mn-lt"/>
              </a:rPr>
              <a:t>LSB</a:t>
            </a:r>
            <a:r>
              <a:rPr lang="en-US" sz="2800">
                <a:ea typeface="+mn-lt"/>
                <a:cs typeface="+mn-lt"/>
              </a:rPr>
              <a:t>) </a:t>
            </a:r>
            <a:endParaRPr lang="en-US" b="1"/>
          </a:p>
          <a:p>
            <a:r>
              <a:rPr lang="en-US" sz="2800" b="1" dirty="0">
                <a:ea typeface="+mn-lt"/>
                <a:cs typeface="+mn-lt"/>
              </a:rPr>
              <a:t>Bit 31</a:t>
            </a:r>
            <a:r>
              <a:rPr lang="en-US" sz="2800">
                <a:ea typeface="+mn-lt"/>
                <a:cs typeface="+mn-lt"/>
              </a:rPr>
              <a:t> is the most significant bit (</a:t>
            </a:r>
            <a:r>
              <a:rPr lang="en-US" sz="2800" b="1">
                <a:ea typeface="+mn-lt"/>
                <a:cs typeface="+mn-lt"/>
              </a:rPr>
              <a:t>MSB</a:t>
            </a:r>
            <a:r>
              <a:rPr lang="en-US" sz="2800" dirty="0">
                <a:ea typeface="+mn-lt"/>
                <a:cs typeface="+mn-lt"/>
              </a:rPr>
              <a:t>) </a:t>
            </a:r>
            <a:endParaRPr lang="en-US" dirty="0"/>
          </a:p>
          <a:p>
            <a:endParaRPr lang="en-US" sz="2800" dirty="0">
              <a:ea typeface="+mn-lt"/>
              <a:cs typeface="+mn-lt"/>
            </a:endParaRPr>
          </a:p>
          <a:p>
            <a:endParaRPr lang="en-US" sz="2800" dirty="0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The instructions used so far treat the </a:t>
            </a:r>
            <a:r>
              <a:rPr lang="en-US" sz="2800" b="1">
                <a:ea typeface="+mn-lt"/>
                <a:cs typeface="+mn-lt"/>
              </a:rPr>
              <a:t>32-bit</a:t>
            </a:r>
            <a:r>
              <a:rPr lang="en-US" sz="2800">
                <a:ea typeface="+mn-lt"/>
                <a:cs typeface="+mn-lt"/>
              </a:rPr>
              <a:t> register as in integer. </a:t>
            </a:r>
            <a:endParaRPr lang="en-US"/>
          </a:p>
          <a:p>
            <a:pPr marL="457200" indent="-457200">
              <a:buFont typeface="Arial" pitchFamily="2" charset="2"/>
              <a:buChar char="•"/>
            </a:pPr>
            <a:r>
              <a:rPr lang="en-US" sz="2800" b="1" dirty="0" err="1">
                <a:ea typeface="+mn-lt"/>
                <a:cs typeface="+mn-lt"/>
              </a:rPr>
              <a:t>lh</a:t>
            </a:r>
            <a:r>
              <a:rPr lang="en-US" sz="2800" dirty="0">
                <a:ea typeface="+mn-lt"/>
                <a:cs typeface="+mn-lt"/>
              </a:rPr>
              <a:t> puts the loaded value in the least significant </a:t>
            </a:r>
            <a:r>
              <a:rPr lang="en-US" sz="2800" b="1" dirty="0">
                <a:ea typeface="+mn-lt"/>
                <a:cs typeface="+mn-lt"/>
              </a:rPr>
              <a:t>16 bits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dirty="0"/>
          </a:p>
          <a:p>
            <a:pPr marL="868045" lvl="1" indent="-457200">
              <a:buFont typeface="Courier New" pitchFamily="2" charset="2"/>
              <a:buChar char="o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The least significant 2 bytes </a:t>
            </a:r>
            <a:endParaRPr lang="en-US">
              <a:solidFill>
                <a:srgbClr val="000000"/>
              </a:solidFill>
            </a:endParaRPr>
          </a:p>
          <a:p>
            <a:pPr marL="457200" indent="-457200">
              <a:buFont typeface="Arial" pitchFamily="2" charset="2"/>
              <a:buChar char="•"/>
            </a:pPr>
            <a:r>
              <a:rPr lang="en-US" sz="2800" b="1" dirty="0" err="1">
                <a:ea typeface="+mn-lt"/>
                <a:cs typeface="+mn-lt"/>
              </a:rPr>
              <a:t>lb</a:t>
            </a:r>
            <a:r>
              <a:rPr lang="en-US" sz="2800" dirty="0">
                <a:ea typeface="+mn-lt"/>
                <a:cs typeface="+mn-lt"/>
              </a:rPr>
              <a:t> loads the value to the least significant byte (LSB) </a:t>
            </a:r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AF8533-23E6-FFB1-8970-88DAA0760BFD}"/>
              </a:ext>
            </a:extLst>
          </p:cNvPr>
          <p:cNvGrpSpPr/>
          <p:nvPr/>
        </p:nvGrpSpPr>
        <p:grpSpPr>
          <a:xfrm>
            <a:off x="6487160" y="1368732"/>
            <a:ext cx="5280294" cy="1410028"/>
            <a:chOff x="2971800" y="2438400"/>
            <a:chExt cx="4985654" cy="105442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4B5EC2-06C9-00E8-4533-C81FB698368C}"/>
                </a:ext>
              </a:extLst>
            </p:cNvPr>
            <p:cNvSpPr/>
            <p:nvPr/>
          </p:nvSpPr>
          <p:spPr>
            <a:xfrm>
              <a:off x="4871354" y="3111828"/>
              <a:ext cx="1545772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80EA7A-0344-B388-51D7-A9CDEEF1B1FC}"/>
                </a:ext>
              </a:extLst>
            </p:cNvPr>
            <p:cNvSpPr/>
            <p:nvPr/>
          </p:nvSpPr>
          <p:spPr>
            <a:xfrm>
              <a:off x="3318326" y="2730828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81FDBE-963E-2C79-1930-FEB2DA06FEAF}"/>
                </a:ext>
              </a:extLst>
            </p:cNvPr>
            <p:cNvSpPr/>
            <p:nvPr/>
          </p:nvSpPr>
          <p:spPr>
            <a:xfrm>
              <a:off x="3706583" y="2730828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30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F106FB-E9D2-4D5D-BD80-0D074BFCEDFA}"/>
                </a:ext>
              </a:extLst>
            </p:cNvPr>
            <p:cNvSpPr/>
            <p:nvPr/>
          </p:nvSpPr>
          <p:spPr>
            <a:xfrm>
              <a:off x="4094840" y="2730828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29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EC493A-42D4-4A48-59F5-E4A3BB41094C}"/>
                </a:ext>
              </a:extLst>
            </p:cNvPr>
            <p:cNvSpPr/>
            <p:nvPr/>
          </p:nvSpPr>
          <p:spPr>
            <a:xfrm>
              <a:off x="4483097" y="2730828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28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B88844F-9DCF-62F6-5DEC-5BE1F286CCE8}"/>
                </a:ext>
              </a:extLst>
            </p:cNvPr>
            <p:cNvSpPr txBox="1"/>
            <p:nvPr/>
          </p:nvSpPr>
          <p:spPr>
            <a:xfrm>
              <a:off x="2971800" y="2438400"/>
              <a:ext cx="1984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Bit index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C1A43DC-6195-DB28-9C7E-098964BFFE1F}"/>
                </a:ext>
              </a:extLst>
            </p:cNvPr>
            <p:cNvSpPr/>
            <p:nvPr/>
          </p:nvSpPr>
          <p:spPr>
            <a:xfrm>
              <a:off x="4792252" y="2642078"/>
              <a:ext cx="1700348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DD38720-57BB-796A-EA63-FDAB37C9AB86}"/>
                </a:ext>
              </a:extLst>
            </p:cNvPr>
            <p:cNvSpPr/>
            <p:nvPr/>
          </p:nvSpPr>
          <p:spPr>
            <a:xfrm>
              <a:off x="3318326" y="3111828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EC8538-E4F7-9758-2AEA-F1A2EAFE31D1}"/>
                </a:ext>
              </a:extLst>
            </p:cNvPr>
            <p:cNvSpPr/>
            <p:nvPr/>
          </p:nvSpPr>
          <p:spPr>
            <a:xfrm>
              <a:off x="3706583" y="3111828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1159F0-AF45-33E3-9C15-229965210E35}"/>
                </a:ext>
              </a:extLst>
            </p:cNvPr>
            <p:cNvSpPr/>
            <p:nvPr/>
          </p:nvSpPr>
          <p:spPr>
            <a:xfrm>
              <a:off x="4094840" y="3111828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42E4905-7A3D-F70D-D9DB-7C63C9C905DE}"/>
                </a:ext>
              </a:extLst>
            </p:cNvPr>
            <p:cNvSpPr/>
            <p:nvPr/>
          </p:nvSpPr>
          <p:spPr>
            <a:xfrm>
              <a:off x="4483097" y="3111828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B1AE32-A088-70EC-DF9F-1FCAE1EF5357}"/>
                </a:ext>
              </a:extLst>
            </p:cNvPr>
            <p:cNvSpPr/>
            <p:nvPr/>
          </p:nvSpPr>
          <p:spPr>
            <a:xfrm>
              <a:off x="6411683" y="3111828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5A15601-2BDA-4C97-65EC-748A27A56938}"/>
                </a:ext>
              </a:extLst>
            </p:cNvPr>
            <p:cNvSpPr/>
            <p:nvPr/>
          </p:nvSpPr>
          <p:spPr>
            <a:xfrm>
              <a:off x="6799940" y="3111828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D0D7AA0-C207-9A5D-0CF8-8FEEB66AF371}"/>
                </a:ext>
              </a:extLst>
            </p:cNvPr>
            <p:cNvSpPr/>
            <p:nvPr/>
          </p:nvSpPr>
          <p:spPr>
            <a:xfrm>
              <a:off x="7188197" y="3111828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EC898B-A13E-2FF2-B1F5-7BE9242B4D43}"/>
                </a:ext>
              </a:extLst>
            </p:cNvPr>
            <p:cNvSpPr/>
            <p:nvPr/>
          </p:nvSpPr>
          <p:spPr>
            <a:xfrm>
              <a:off x="7576454" y="3111828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0D9AD2-CD72-E018-1BB5-42875E2D3466}"/>
                </a:ext>
              </a:extLst>
            </p:cNvPr>
            <p:cNvSpPr/>
            <p:nvPr/>
          </p:nvSpPr>
          <p:spPr>
            <a:xfrm>
              <a:off x="6404426" y="2692803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AF4076-BB09-3D66-188E-7ECE487AE23A}"/>
                </a:ext>
              </a:extLst>
            </p:cNvPr>
            <p:cNvSpPr/>
            <p:nvPr/>
          </p:nvSpPr>
          <p:spPr>
            <a:xfrm>
              <a:off x="6792683" y="2692803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C739271-D918-8A86-DB8E-DEDB06DC6AC1}"/>
                </a:ext>
              </a:extLst>
            </p:cNvPr>
            <p:cNvSpPr/>
            <p:nvPr/>
          </p:nvSpPr>
          <p:spPr>
            <a:xfrm>
              <a:off x="7180940" y="2692803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2D7A18F-E7B0-DAE3-2DBB-91315D4F4416}"/>
                </a:ext>
              </a:extLst>
            </p:cNvPr>
            <p:cNvSpPr/>
            <p:nvPr/>
          </p:nvSpPr>
          <p:spPr>
            <a:xfrm>
              <a:off x="7569197" y="2692803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0798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6FC4A-E8B2-2464-CE98-C5E55249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8C5B45-D170-F546-B51D-BB0E9FCD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to memory!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212DED-8D61-5524-B1FD-45C031B48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761133"/>
              </p:ext>
            </p:extLst>
          </p:nvPr>
        </p:nvGraphicFramePr>
        <p:xfrm>
          <a:off x="345056" y="2027207"/>
          <a:ext cx="1118630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High-Level: C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Low-Level: Assembly-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ish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 = *p;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store *p, x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391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13414-E39D-9C20-5C31-13934863D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19EC0E-0E75-95D6-AEF9-922C3C5C7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to memory!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1F8DA1-96FF-C37A-6D12-5FCEF487F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220268"/>
              </p:ext>
            </p:extLst>
          </p:nvPr>
        </p:nvGraphicFramePr>
        <p:xfrm>
          <a:off x="345056" y="2027207"/>
          <a:ext cx="111863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High-Level: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Low-Level: RISC-V Assembly</a:t>
                      </a:r>
                      <a:endParaRPr lang="en-US" sz="2400" dirty="0" err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x = *p;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strike="sngStrike">
                          <a:solidFill>
                            <a:schemeClr val="tx1"/>
                          </a:solidFill>
                        </a:rPr>
                        <a:t>store </a:t>
                      </a:r>
                      <a:r>
                        <a:rPr lang="en-US" sz="2400" strike="sngStrike">
                          <a:solidFill>
                            <a:srgbClr val="FF0000"/>
                          </a:solidFill>
                        </a:rPr>
                        <a:t>*p</a:t>
                      </a:r>
                      <a:r>
                        <a:rPr lang="en-US" sz="2400" strike="sngStrike">
                          <a:solidFill>
                            <a:schemeClr val="tx1"/>
                          </a:solidFill>
                        </a:rPr>
                        <a:t>, x,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sw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t1,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0(a0)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45521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915932F-8505-99A4-202A-B981F070021C}"/>
              </a:ext>
            </a:extLst>
          </p:cNvPr>
          <p:cNvSpPr/>
          <p:nvPr/>
        </p:nvSpPr>
        <p:spPr>
          <a:xfrm>
            <a:off x="112957" y="4297680"/>
            <a:ext cx="8305802" cy="18491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solidFill>
                  <a:schemeClr val="tx1"/>
                </a:solidFill>
              </a:rPr>
              <a:t>Make some assumptions:</a:t>
            </a:r>
          </a:p>
          <a:p>
            <a:pPr algn="ctr"/>
            <a:r>
              <a:rPr lang="en-US" sz="3200">
                <a:solidFill>
                  <a:schemeClr val="tx1"/>
                </a:solidFill>
              </a:rPr>
              <a:t>The address </a:t>
            </a:r>
            <a:r>
              <a:rPr lang="en-US" sz="3200" b="1">
                <a:solidFill>
                  <a:schemeClr val="tx1"/>
                </a:solidFill>
              </a:rPr>
              <a:t>p </a:t>
            </a:r>
            <a:r>
              <a:rPr lang="en-US" sz="3200">
                <a:solidFill>
                  <a:schemeClr val="tx1"/>
                </a:solidFill>
              </a:rPr>
              <a:t>is in register </a:t>
            </a:r>
            <a:r>
              <a:rPr lang="en-US" sz="3200" b="1">
                <a:solidFill>
                  <a:schemeClr val="tx1"/>
                </a:solidFill>
              </a:rPr>
              <a:t>a0 </a:t>
            </a:r>
            <a:r>
              <a:rPr lang="en-US" sz="3200">
                <a:solidFill>
                  <a:schemeClr val="tx1"/>
                </a:solidFill>
              </a:rPr>
              <a:t>and of type </a:t>
            </a:r>
            <a:r>
              <a:rPr lang="en-US" sz="3200" b="1">
                <a:solidFill>
                  <a:schemeClr val="tx1"/>
                </a:solidFill>
              </a:rPr>
              <a:t>int*</a:t>
            </a:r>
          </a:p>
          <a:p>
            <a:pPr algn="ctr"/>
            <a:r>
              <a:rPr lang="en-US" sz="3200" b="1">
                <a:solidFill>
                  <a:schemeClr val="tx1"/>
                </a:solidFill>
              </a:rPr>
              <a:t>x </a:t>
            </a:r>
            <a:r>
              <a:rPr lang="en-US" sz="3200">
                <a:solidFill>
                  <a:schemeClr val="tx1"/>
                </a:solidFill>
              </a:rPr>
              <a:t>goes in register </a:t>
            </a:r>
            <a:r>
              <a:rPr lang="en-US" sz="3200" b="1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FE52BE-2592-9D06-95BB-81CBF11C17B4}"/>
              </a:ext>
            </a:extLst>
          </p:cNvPr>
          <p:cNvSpPr/>
          <p:nvPr/>
        </p:nvSpPr>
        <p:spPr>
          <a:xfrm>
            <a:off x="8840396" y="3738879"/>
            <a:ext cx="3347722" cy="965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sw</a:t>
            </a:r>
            <a:r>
              <a:rPr lang="en-US" sz="2000" dirty="0">
                <a:solidFill>
                  <a:schemeClr val="tx1"/>
                </a:solidFill>
              </a:rPr>
              <a:t> ('store word') reads </a:t>
            </a:r>
            <a:r>
              <a:rPr lang="en-US" sz="2000" b="1" dirty="0">
                <a:solidFill>
                  <a:schemeClr val="tx1"/>
                </a:solidFill>
              </a:rPr>
              <a:t>4 bytes</a:t>
            </a:r>
            <a:r>
              <a:rPr lang="en-US" sz="2000" dirty="0">
                <a:solidFill>
                  <a:schemeClr val="tx1"/>
                </a:solidFill>
              </a:rPr>
              <a:t> (a word) to 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6CB005-06F8-3EBE-B31C-B80CAA95A48C}"/>
              </a:ext>
            </a:extLst>
          </p:cNvPr>
          <p:cNvSpPr/>
          <p:nvPr/>
        </p:nvSpPr>
        <p:spPr>
          <a:xfrm>
            <a:off x="8840396" y="4704078"/>
            <a:ext cx="3347722" cy="965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T1 </a:t>
            </a:r>
            <a:r>
              <a:rPr lang="en-US" sz="2000" dirty="0">
                <a:solidFill>
                  <a:schemeClr val="tx1"/>
                </a:solidFill>
              </a:rPr>
              <a:t>is the input register </a:t>
            </a:r>
            <a:r>
              <a:rPr lang="en-US" sz="2000">
                <a:solidFill>
                  <a:schemeClr val="tx1"/>
                </a:solidFill>
              </a:rPr>
              <a:t>with</a:t>
            </a:r>
            <a:r>
              <a:rPr lang="en-US" sz="2000" dirty="0">
                <a:solidFill>
                  <a:schemeClr val="tx1"/>
                </a:solidFill>
              </a:rPr>
              <a:t> the value of the word to share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512AF6-28DC-428F-80B5-341441A3F560}"/>
              </a:ext>
            </a:extLst>
          </p:cNvPr>
          <p:cNvSpPr/>
          <p:nvPr/>
        </p:nvSpPr>
        <p:spPr>
          <a:xfrm>
            <a:off x="8840396" y="5669278"/>
            <a:ext cx="3347722" cy="965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solidFill>
                  <a:schemeClr val="tx1"/>
                </a:solidFill>
              </a:rPr>
              <a:t>Store to the address </a:t>
            </a:r>
            <a:r>
              <a:rPr lang="en-US" sz="2000" b="1">
                <a:solidFill>
                  <a:schemeClr val="tx1"/>
                </a:solidFill>
              </a:rPr>
              <a:t>a0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offset by the value </a:t>
            </a:r>
            <a:r>
              <a:rPr lang="en-US" sz="2000" b="1" dirty="0">
                <a:solidFill>
                  <a:schemeClr val="tx1"/>
                </a:solidFill>
              </a:rPr>
              <a:t>0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5216DD0A-6288-346E-3CAE-8329AB0E13E3}"/>
              </a:ext>
            </a:extLst>
          </p:cNvPr>
          <p:cNvSpPr/>
          <p:nvPr/>
        </p:nvSpPr>
        <p:spPr>
          <a:xfrm>
            <a:off x="9438556" y="5080"/>
            <a:ext cx="2753360" cy="1808480"/>
          </a:xfrm>
          <a:prstGeom prst="cloudCallout">
            <a:avLst>
              <a:gd name="adj1" fmla="val -76605"/>
              <a:gd name="adj2" fmla="val 52155"/>
            </a:avLst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/>
              <a:t>Beware</a:t>
            </a:r>
            <a:r>
              <a:rPr lang="en-US" sz="2000"/>
              <a:t>: the input register comes first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80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07F9F-9113-35F8-955A-ED0F31DB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2F6169-7B29-12C6-98B2-736944BD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to an array!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F64F05-85AB-A324-E087-9C92B6E70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658085"/>
              </p:ext>
            </p:extLst>
          </p:nvPr>
        </p:nvGraphicFramePr>
        <p:xfrm>
          <a:off x="345056" y="2027207"/>
          <a:ext cx="111863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High-Level: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Low-Level: RISC-V Assembly</a:t>
                      </a:r>
                      <a:endParaRPr lang="en-US" sz="2400" dirty="0" err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A[1] = x;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 dirty="0" err="1">
                          <a:solidFill>
                            <a:schemeClr val="tx1"/>
                          </a:solidFill>
                          <a:latin typeface="Aptos"/>
                        </a:rPr>
                        <a:t>sw</a:t>
                      </a:r>
                      <a:r>
                        <a:rPr lang="en-US" sz="2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t1, </a:t>
                      </a:r>
                      <a:r>
                        <a:rPr lang="en-US" sz="2400" b="0" i="0" u="none" strike="noStrike" noProof="0" dirty="0">
                          <a:solidFill>
                            <a:srgbClr val="FF0000"/>
                          </a:solidFill>
                          <a:latin typeface="Aptos"/>
                        </a:rPr>
                        <a:t>4</a:t>
                      </a:r>
                      <a:r>
                        <a:rPr lang="en-US" sz="24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(a0)</a:t>
                      </a:r>
                      <a:endParaRPr lang="en-US" sz="24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45521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820E57D-61BF-B5D8-1412-8A1BD0009E25}"/>
              </a:ext>
            </a:extLst>
          </p:cNvPr>
          <p:cNvSpPr/>
          <p:nvPr/>
        </p:nvSpPr>
        <p:spPr>
          <a:xfrm>
            <a:off x="112957" y="4297680"/>
            <a:ext cx="8305802" cy="18491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>
                <a:solidFill>
                  <a:schemeClr val="tx1"/>
                </a:solidFill>
              </a:rPr>
              <a:t>Assumptions: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>
                <a:solidFill>
                  <a:schemeClr val="tx1"/>
                </a:solidFill>
              </a:rPr>
              <a:t>The address </a:t>
            </a:r>
            <a:r>
              <a:rPr lang="en-US" sz="2800" b="1">
                <a:solidFill>
                  <a:schemeClr val="tx1"/>
                </a:solidFill>
              </a:rPr>
              <a:t>A[0]</a:t>
            </a:r>
            <a:r>
              <a:rPr lang="en-US" sz="2800" b="1" dirty="0">
                <a:solidFill>
                  <a:schemeClr val="tx1"/>
                </a:solidFill>
              </a:rPr>
              <a:t> </a:t>
            </a:r>
            <a:r>
              <a:rPr lang="en-US" sz="2800" dirty="0">
                <a:solidFill>
                  <a:schemeClr val="tx1"/>
                </a:solidFill>
              </a:rPr>
              <a:t>is in register </a:t>
            </a:r>
            <a:r>
              <a:rPr lang="en-US" sz="2800" b="1" dirty="0">
                <a:solidFill>
                  <a:schemeClr val="tx1"/>
                </a:solidFill>
              </a:rPr>
              <a:t>a0 </a:t>
            </a:r>
            <a:r>
              <a:rPr lang="en-US" sz="2800" dirty="0">
                <a:solidFill>
                  <a:schemeClr val="tx1"/>
                </a:solidFill>
              </a:rPr>
              <a:t>and of type </a:t>
            </a:r>
            <a:r>
              <a:rPr lang="en-US" sz="2800" b="1" dirty="0">
                <a:solidFill>
                  <a:schemeClr val="tx1"/>
                </a:solidFill>
              </a:rPr>
              <a:t>int*</a:t>
            </a:r>
          </a:p>
          <a:p>
            <a:pPr algn="ctr"/>
            <a:r>
              <a:rPr lang="en-US" sz="2800" b="1">
                <a:solidFill>
                  <a:schemeClr val="tx1"/>
                </a:solidFill>
              </a:rPr>
              <a:t>x </a:t>
            </a:r>
            <a:r>
              <a:rPr lang="en-US" sz="2800">
                <a:solidFill>
                  <a:schemeClr val="tx1"/>
                </a:solidFill>
              </a:rPr>
              <a:t>goes in register </a:t>
            </a:r>
            <a:r>
              <a:rPr lang="en-US" sz="2800" b="1">
                <a:solidFill>
                  <a:schemeClr val="tx1"/>
                </a:solidFill>
              </a:rPr>
              <a:t>t1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B76E88-47A9-D345-54BE-BD9D35FB84B3}"/>
              </a:ext>
            </a:extLst>
          </p:cNvPr>
          <p:cNvSpPr/>
          <p:nvPr/>
        </p:nvSpPr>
        <p:spPr>
          <a:xfrm>
            <a:off x="8728636" y="3728719"/>
            <a:ext cx="3347722" cy="965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Store to the address in </a:t>
            </a:r>
            <a:r>
              <a:rPr lang="en-US" sz="2000" b="1" dirty="0">
                <a:solidFill>
                  <a:schemeClr val="tx1"/>
                </a:solidFill>
              </a:rPr>
              <a:t>a0 </a:t>
            </a:r>
            <a:r>
              <a:rPr lang="en-US" sz="2000" dirty="0">
                <a:solidFill>
                  <a:schemeClr val="tx1"/>
                </a:solidFill>
              </a:rPr>
              <a:t>offset by the value </a:t>
            </a:r>
            <a:r>
              <a:rPr lang="en-US" sz="2000" b="1" dirty="0">
                <a:solidFill>
                  <a:schemeClr val="tx1"/>
                </a:solidFill>
              </a:rPr>
              <a:t>4: </a:t>
            </a:r>
            <a:r>
              <a:rPr lang="en-US" sz="2000" b="1" dirty="0" err="1">
                <a:solidFill>
                  <a:schemeClr val="tx1"/>
                </a:solidFill>
              </a:rPr>
              <a:t>sizeof</a:t>
            </a:r>
            <a:r>
              <a:rPr lang="en-US" sz="2000" b="1" dirty="0">
                <a:solidFill>
                  <a:schemeClr val="tx1"/>
                </a:solidFill>
              </a:rPr>
              <a:t>(int)*1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69785DD0-DB81-E091-53CE-878C85045542}"/>
              </a:ext>
            </a:extLst>
          </p:cNvPr>
          <p:cNvSpPr/>
          <p:nvPr/>
        </p:nvSpPr>
        <p:spPr>
          <a:xfrm>
            <a:off x="9916076" y="381000"/>
            <a:ext cx="2275840" cy="1432560"/>
          </a:xfrm>
          <a:prstGeom prst="cloudCallout">
            <a:avLst>
              <a:gd name="adj1" fmla="val -76605"/>
              <a:gd name="adj2" fmla="val 52155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&amp;A[0] == A</a:t>
            </a:r>
          </a:p>
        </p:txBody>
      </p:sp>
    </p:spTree>
    <p:extLst>
      <p:ext uri="{BB962C8B-B14F-4D97-AF65-F5344CB8AC3E}">
        <p14:creationId xmlns:p14="http://schemas.microsoft.com/office/powerpoint/2010/main" val="3746561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9F42A-DF95-930F-92C7-D6C3C7B7F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2125AD-E617-4CFE-5608-46A61AC6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Introduction to endianness.</a:t>
            </a:r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6750C7C-CBAE-09AF-46F9-9298D151F75F}"/>
              </a:ext>
            </a:extLst>
          </p:cNvPr>
          <p:cNvSpPr>
            <a:spLocks noGrp="1"/>
          </p:cNvSpPr>
          <p:nvPr/>
        </p:nvSpPr>
        <p:spPr>
          <a:xfrm>
            <a:off x="203204" y="1371607"/>
            <a:ext cx="11405085" cy="47548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ea typeface="+mn-lt"/>
                <a:cs typeface="+mn-lt"/>
              </a:rPr>
              <a:t>Can choose to </a:t>
            </a:r>
            <a:r>
              <a:rPr lang="en-US" sz="2400" b="1">
                <a:ea typeface="+mn-lt"/>
                <a:cs typeface="+mn-lt"/>
              </a:rPr>
              <a:t>store/load</a:t>
            </a:r>
            <a:r>
              <a:rPr lang="en-US" sz="2400">
                <a:ea typeface="+mn-lt"/>
                <a:cs typeface="+mn-lt"/>
              </a:rPr>
              <a:t> sequence of </a:t>
            </a:r>
            <a:r>
              <a:rPr lang="en-US" sz="2400" b="1">
                <a:ea typeface="+mn-lt"/>
                <a:cs typeface="+mn-lt"/>
              </a:rPr>
              <a:t>bytes of data</a:t>
            </a:r>
            <a:r>
              <a:rPr lang="en-US" sz="2400">
                <a:ea typeface="+mn-lt"/>
                <a:cs typeface="+mn-lt"/>
              </a:rPr>
              <a:t> elements:</a:t>
            </a:r>
            <a:endParaRPr lang="en-US" sz="2400"/>
          </a:p>
          <a:p>
            <a:pPr marL="514350" indent="-514350">
              <a:buFont typeface="Arial" pitchFamily="2" charset="2"/>
              <a:buChar char="•"/>
            </a:pPr>
            <a:r>
              <a:rPr lang="en-US" sz="2400">
                <a:ea typeface="+mn-lt"/>
                <a:cs typeface="+mn-lt"/>
              </a:rPr>
              <a:t>by storing the </a:t>
            </a:r>
            <a:r>
              <a:rPr lang="en-US" sz="2400" i="1">
                <a:ea typeface="+mn-lt"/>
                <a:cs typeface="+mn-lt"/>
              </a:rPr>
              <a:t>least significant byte</a:t>
            </a:r>
            <a:r>
              <a:rPr lang="en-US" sz="2400">
                <a:ea typeface="+mn-lt"/>
                <a:cs typeface="+mn-lt"/>
              </a:rPr>
              <a:t> at the </a:t>
            </a:r>
            <a:r>
              <a:rPr lang="en-US" sz="2400" u="sng">
                <a:ea typeface="+mn-lt"/>
                <a:cs typeface="+mn-lt"/>
              </a:rPr>
              <a:t>lowest address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/>
          </a:p>
          <a:p>
            <a:pPr marL="514350" indent="-514350">
              <a:buFont typeface="Arial" pitchFamily="2" charset="2"/>
              <a:buChar char="•"/>
            </a:pPr>
            <a:r>
              <a:rPr lang="en-US" sz="2400">
                <a:ea typeface="+mn-lt"/>
                <a:cs typeface="+mn-lt"/>
              </a:rPr>
              <a:t>by storing the </a:t>
            </a:r>
            <a:r>
              <a:rPr lang="en-US" sz="2400" i="1">
                <a:ea typeface="+mn-lt"/>
                <a:cs typeface="+mn-lt"/>
              </a:rPr>
              <a:t>most significant byte</a:t>
            </a:r>
            <a:r>
              <a:rPr lang="en-US" sz="2400">
                <a:ea typeface="+mn-lt"/>
                <a:cs typeface="+mn-lt"/>
              </a:rPr>
              <a:t> at the </a:t>
            </a:r>
            <a:r>
              <a:rPr lang="en-US" sz="2400" u="sng">
                <a:ea typeface="+mn-lt"/>
                <a:cs typeface="+mn-lt"/>
              </a:rPr>
              <a:t>lowest address </a:t>
            </a:r>
            <a:endParaRPr lang="en-US" sz="2400" u="sng"/>
          </a:p>
          <a:p>
            <a:pPr marL="514350" indent="-514350">
              <a:buFont typeface="Arial" pitchFamily="2" charset="2"/>
              <a:buChar char="•"/>
            </a:pPr>
            <a:endParaRPr lang="en-US" sz="2400" u="sng" dirty="0">
              <a:ea typeface="+mn-lt"/>
              <a:cs typeface="+mn-lt"/>
            </a:endParaRPr>
          </a:p>
          <a:p>
            <a:r>
              <a:rPr lang="en-US" sz="2400" b="1" u="sng">
                <a:ea typeface="+mn-lt"/>
                <a:cs typeface="+mn-lt"/>
              </a:rPr>
              <a:t>Option A</a:t>
            </a:r>
            <a:r>
              <a:rPr lang="en-US" sz="2400">
                <a:ea typeface="+mn-lt"/>
                <a:cs typeface="+mn-lt"/>
              </a:rPr>
              <a:t>: </a:t>
            </a:r>
            <a:r>
              <a:rPr lang="en-US" sz="2400" b="1" i="1">
                <a:ea typeface="+mn-lt"/>
                <a:cs typeface="+mn-lt"/>
              </a:rPr>
              <a:t>Little endian</a:t>
            </a:r>
            <a:r>
              <a:rPr lang="en-US" sz="2400">
                <a:ea typeface="+mn-lt"/>
                <a:cs typeface="+mn-lt"/>
              </a:rPr>
              <a:t>, because the “little end” of the word comes first </a:t>
            </a:r>
            <a:endParaRPr lang="en-US" sz="2400" b="1" u="sng"/>
          </a:p>
          <a:p>
            <a:r>
              <a:rPr lang="en-US" sz="2400" b="1" u="sng">
                <a:ea typeface="+mn-lt"/>
                <a:cs typeface="+mn-lt"/>
              </a:rPr>
              <a:t>Option B</a:t>
            </a:r>
            <a:r>
              <a:rPr lang="en-US" sz="2400">
                <a:ea typeface="+mn-lt"/>
                <a:cs typeface="+mn-lt"/>
              </a:rPr>
              <a:t>: </a:t>
            </a:r>
            <a:r>
              <a:rPr lang="en-US" sz="2400" b="1" i="1">
                <a:ea typeface="+mn-lt"/>
                <a:cs typeface="+mn-lt"/>
              </a:rPr>
              <a:t>Big endian</a:t>
            </a:r>
            <a:r>
              <a:rPr lang="en-US" sz="2400">
                <a:ea typeface="+mn-lt"/>
                <a:cs typeface="+mn-lt"/>
              </a:rPr>
              <a:t>, the “big end” comes first </a:t>
            </a:r>
            <a:endParaRPr lang="en-US" sz="2400"/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RISC-V</a:t>
            </a:r>
            <a:r>
              <a:rPr lang="en-US" sz="2400" dirty="0">
                <a:ea typeface="+mn-lt"/>
                <a:cs typeface="+mn-lt"/>
              </a:rPr>
              <a:t> data can be little </a:t>
            </a:r>
            <a:r>
              <a:rPr lang="en-US" sz="2400" b="1" dirty="0">
                <a:ea typeface="+mn-lt"/>
                <a:cs typeface="+mn-lt"/>
              </a:rPr>
              <a:t>or</a:t>
            </a:r>
            <a:r>
              <a:rPr lang="en-US" sz="2400">
                <a:ea typeface="+mn-lt"/>
                <a:cs typeface="+mn-lt"/>
              </a:rPr>
              <a:t> big endian</a:t>
            </a:r>
            <a:endParaRPr lang="en-US" sz="2400"/>
          </a:p>
          <a:p>
            <a:pPr marL="342900" indent="-342900">
              <a:buFont typeface="Arial" pitchFamily="2" charset="2"/>
              <a:buChar char="•"/>
            </a:pPr>
            <a:r>
              <a:rPr lang="en-US" sz="2400">
                <a:ea typeface="+mn-lt"/>
                <a:cs typeface="+mn-lt"/>
              </a:rPr>
              <a:t>RISC-V instructions are always </a:t>
            </a:r>
            <a:r>
              <a:rPr lang="en-US" sz="2400" b="1">
                <a:ea typeface="+mn-lt"/>
                <a:cs typeface="+mn-lt"/>
              </a:rPr>
              <a:t>two-byte</a:t>
            </a:r>
            <a:r>
              <a:rPr lang="en-US" sz="2400">
                <a:ea typeface="+mn-lt"/>
                <a:cs typeface="+mn-lt"/>
              </a:rPr>
              <a:t>, little endian. </a:t>
            </a:r>
            <a:endParaRPr lang="en-US" sz="2400"/>
          </a:p>
          <a:p>
            <a:pPr marL="342900" indent="-342900">
              <a:buFont typeface="Arial" pitchFamily="2" charset="2"/>
              <a:buChar char="•"/>
            </a:pPr>
            <a:r>
              <a:rPr lang="en-US" sz="2400">
                <a:ea typeface="+mn-lt"/>
                <a:cs typeface="+mn-lt"/>
              </a:rPr>
              <a:t>This can be confusing since </a:t>
            </a:r>
            <a:r>
              <a:rPr lang="en-US" sz="2400" b="1">
                <a:ea typeface="+mn-lt"/>
                <a:cs typeface="+mn-lt"/>
              </a:rPr>
              <a:t>RV32I</a:t>
            </a:r>
            <a:r>
              <a:rPr lang="en-US" sz="2400">
                <a:ea typeface="+mn-lt"/>
                <a:cs typeface="+mn-lt"/>
              </a:rPr>
              <a:t> uses </a:t>
            </a:r>
            <a:r>
              <a:rPr lang="en-US" sz="2400" b="1">
                <a:ea typeface="+mn-lt"/>
                <a:cs typeface="+mn-lt"/>
              </a:rPr>
              <a:t>4-byte</a:t>
            </a:r>
            <a:r>
              <a:rPr lang="en-US" sz="2400">
                <a:ea typeface="+mn-lt"/>
                <a:cs typeface="+mn-lt"/>
              </a:rPr>
              <a:t> instructions! 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29806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22ECEF3-A436-E285-73EA-98293E5ACC65}"/>
              </a:ext>
            </a:extLst>
          </p:cNvPr>
          <p:cNvSpPr/>
          <p:nvPr/>
        </p:nvSpPr>
        <p:spPr>
          <a:xfrm>
            <a:off x="0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31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526BF2-0F58-E046-9EBC-701C656A5C66}"/>
              </a:ext>
            </a:extLst>
          </p:cNvPr>
          <p:cNvSpPr/>
          <p:nvPr/>
        </p:nvSpPr>
        <p:spPr>
          <a:xfrm>
            <a:off x="312057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30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05936D-493E-C5C2-56AE-4B356E65C516}"/>
              </a:ext>
            </a:extLst>
          </p:cNvPr>
          <p:cNvSpPr/>
          <p:nvPr/>
        </p:nvSpPr>
        <p:spPr>
          <a:xfrm>
            <a:off x="700314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29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D4D2B4-1967-49EB-3F9E-9B7DEEA86A02}"/>
              </a:ext>
            </a:extLst>
          </p:cNvPr>
          <p:cNvSpPr/>
          <p:nvPr/>
        </p:nvSpPr>
        <p:spPr>
          <a:xfrm>
            <a:off x="1088571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0AC71F-A380-6C89-821F-E4C1B21281C6}"/>
              </a:ext>
            </a:extLst>
          </p:cNvPr>
          <p:cNvSpPr txBox="1"/>
          <p:nvPr/>
        </p:nvSpPr>
        <p:spPr>
          <a:xfrm>
            <a:off x="64400" y="1600200"/>
            <a:ext cx="1984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Register bits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F773D4-490E-F13F-995C-F2EA82E8CA86}"/>
              </a:ext>
            </a:extLst>
          </p:cNvPr>
          <p:cNvSpPr/>
          <p:nvPr/>
        </p:nvSpPr>
        <p:spPr>
          <a:xfrm>
            <a:off x="60960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9A2250-0BFC-B61A-31D4-D4EED2F472F4}"/>
              </a:ext>
            </a:extLst>
          </p:cNvPr>
          <p:cNvSpPr/>
          <p:nvPr/>
        </p:nvSpPr>
        <p:spPr>
          <a:xfrm>
            <a:off x="439994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BA84C0-9741-B791-6A12-92FDF25914A3}"/>
              </a:ext>
            </a:extLst>
          </p:cNvPr>
          <p:cNvSpPr/>
          <p:nvPr/>
        </p:nvSpPr>
        <p:spPr>
          <a:xfrm>
            <a:off x="819028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1D68BB-2AE5-2041-D830-86488718D64A}"/>
              </a:ext>
            </a:extLst>
          </p:cNvPr>
          <p:cNvSpPr/>
          <p:nvPr/>
        </p:nvSpPr>
        <p:spPr>
          <a:xfrm>
            <a:off x="1198062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70319D-C97C-F605-34CF-90B0228074C6}"/>
              </a:ext>
            </a:extLst>
          </p:cNvPr>
          <p:cNvSpPr/>
          <p:nvPr/>
        </p:nvSpPr>
        <p:spPr>
          <a:xfrm>
            <a:off x="1577096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9DF2EA-30D7-2DA4-2E6B-DF370B217EF5}"/>
              </a:ext>
            </a:extLst>
          </p:cNvPr>
          <p:cNvSpPr/>
          <p:nvPr/>
        </p:nvSpPr>
        <p:spPr>
          <a:xfrm>
            <a:off x="1956130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5F3335-F9F9-E592-EB62-FB39B2364DC4}"/>
              </a:ext>
            </a:extLst>
          </p:cNvPr>
          <p:cNvSpPr/>
          <p:nvPr/>
        </p:nvSpPr>
        <p:spPr>
          <a:xfrm>
            <a:off x="2335164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136ED5-AA61-356F-7F52-AABED93B5444}"/>
              </a:ext>
            </a:extLst>
          </p:cNvPr>
          <p:cNvSpPr/>
          <p:nvPr/>
        </p:nvSpPr>
        <p:spPr>
          <a:xfrm>
            <a:off x="2714198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15C032-4D1C-0D07-BA68-B6671E7490A4}"/>
              </a:ext>
            </a:extLst>
          </p:cNvPr>
          <p:cNvSpPr/>
          <p:nvPr/>
        </p:nvSpPr>
        <p:spPr>
          <a:xfrm>
            <a:off x="1453246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27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F12655-01F6-6041-5659-C2C3800663CB}"/>
              </a:ext>
            </a:extLst>
          </p:cNvPr>
          <p:cNvSpPr/>
          <p:nvPr/>
        </p:nvSpPr>
        <p:spPr>
          <a:xfrm>
            <a:off x="1841503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26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A31B17-99B9-5325-0F5E-04C768C647E1}"/>
              </a:ext>
            </a:extLst>
          </p:cNvPr>
          <p:cNvSpPr/>
          <p:nvPr/>
        </p:nvSpPr>
        <p:spPr>
          <a:xfrm>
            <a:off x="2229760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25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8CDE40-2DB8-FD01-BA4E-3B0128AD73D3}"/>
              </a:ext>
            </a:extLst>
          </p:cNvPr>
          <p:cNvSpPr/>
          <p:nvPr/>
        </p:nvSpPr>
        <p:spPr>
          <a:xfrm>
            <a:off x="2618017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24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F502F9-36E4-6662-6A43-E80AB10FCCF0}"/>
              </a:ext>
            </a:extLst>
          </p:cNvPr>
          <p:cNvSpPr/>
          <p:nvPr/>
        </p:nvSpPr>
        <p:spPr>
          <a:xfrm>
            <a:off x="2999017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23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2A0048-4736-1DB4-6073-0A6FC6B08075}"/>
              </a:ext>
            </a:extLst>
          </p:cNvPr>
          <p:cNvSpPr/>
          <p:nvPr/>
        </p:nvSpPr>
        <p:spPr>
          <a:xfrm>
            <a:off x="3387274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22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BFB7D4E-1D1E-7B81-CDED-CF3DC9C3A101}"/>
              </a:ext>
            </a:extLst>
          </p:cNvPr>
          <p:cNvSpPr/>
          <p:nvPr/>
        </p:nvSpPr>
        <p:spPr>
          <a:xfrm>
            <a:off x="3775531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21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D75794-0FC8-AF2E-84CC-B01ED26C61EF}"/>
              </a:ext>
            </a:extLst>
          </p:cNvPr>
          <p:cNvSpPr/>
          <p:nvPr/>
        </p:nvSpPr>
        <p:spPr>
          <a:xfrm>
            <a:off x="4163788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20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023433-80B4-6A78-0960-D7AA33C765D8}"/>
              </a:ext>
            </a:extLst>
          </p:cNvPr>
          <p:cNvSpPr/>
          <p:nvPr/>
        </p:nvSpPr>
        <p:spPr>
          <a:xfrm>
            <a:off x="3093232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5D655B-BBE4-FA7E-AAC6-103594955D4B}"/>
              </a:ext>
            </a:extLst>
          </p:cNvPr>
          <p:cNvSpPr/>
          <p:nvPr/>
        </p:nvSpPr>
        <p:spPr>
          <a:xfrm>
            <a:off x="3472266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2075862-56CA-1D8E-9D98-8BE516DC0713}"/>
              </a:ext>
            </a:extLst>
          </p:cNvPr>
          <p:cNvSpPr/>
          <p:nvPr/>
        </p:nvSpPr>
        <p:spPr>
          <a:xfrm>
            <a:off x="3851300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8A35514-B275-58C7-8067-4DA1D9904EE3}"/>
              </a:ext>
            </a:extLst>
          </p:cNvPr>
          <p:cNvSpPr/>
          <p:nvPr/>
        </p:nvSpPr>
        <p:spPr>
          <a:xfrm>
            <a:off x="4230334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7608E3-6029-1F3A-F857-4E1C8E649B4F}"/>
              </a:ext>
            </a:extLst>
          </p:cNvPr>
          <p:cNvSpPr/>
          <p:nvPr/>
        </p:nvSpPr>
        <p:spPr>
          <a:xfrm>
            <a:off x="4609368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5C3034-60D5-471E-3B61-7C612F7E0CC6}"/>
              </a:ext>
            </a:extLst>
          </p:cNvPr>
          <p:cNvSpPr/>
          <p:nvPr/>
        </p:nvSpPr>
        <p:spPr>
          <a:xfrm>
            <a:off x="4988402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43B8A4-8313-A5F0-4084-82A3F40FD216}"/>
              </a:ext>
            </a:extLst>
          </p:cNvPr>
          <p:cNvSpPr/>
          <p:nvPr/>
        </p:nvSpPr>
        <p:spPr>
          <a:xfrm>
            <a:off x="5367436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3728AD-CB0F-6442-791A-90DC035CC705}"/>
              </a:ext>
            </a:extLst>
          </p:cNvPr>
          <p:cNvSpPr/>
          <p:nvPr/>
        </p:nvSpPr>
        <p:spPr>
          <a:xfrm>
            <a:off x="5746470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28F4431-C798-A690-1689-8DCD602A10AD}"/>
              </a:ext>
            </a:extLst>
          </p:cNvPr>
          <p:cNvSpPr/>
          <p:nvPr/>
        </p:nvSpPr>
        <p:spPr>
          <a:xfrm>
            <a:off x="4528463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19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B2E4E30-2CF1-98A0-B22F-A654EBC4AB52}"/>
              </a:ext>
            </a:extLst>
          </p:cNvPr>
          <p:cNvSpPr/>
          <p:nvPr/>
        </p:nvSpPr>
        <p:spPr>
          <a:xfrm>
            <a:off x="4916720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18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41BCE7-F80C-21C7-D89C-F0BE35BC1452}"/>
              </a:ext>
            </a:extLst>
          </p:cNvPr>
          <p:cNvSpPr/>
          <p:nvPr/>
        </p:nvSpPr>
        <p:spPr>
          <a:xfrm>
            <a:off x="5304977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6322304-CB5E-5D42-456D-1614641AC8F1}"/>
              </a:ext>
            </a:extLst>
          </p:cNvPr>
          <p:cNvSpPr/>
          <p:nvPr/>
        </p:nvSpPr>
        <p:spPr>
          <a:xfrm>
            <a:off x="5693234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16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10D158A-F2F8-9F5D-05CE-8CCCF892257F}"/>
              </a:ext>
            </a:extLst>
          </p:cNvPr>
          <p:cNvSpPr/>
          <p:nvPr/>
        </p:nvSpPr>
        <p:spPr>
          <a:xfrm>
            <a:off x="6107795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4ECF040-6A3E-D596-DF13-E42957C7BC27}"/>
              </a:ext>
            </a:extLst>
          </p:cNvPr>
          <p:cNvSpPr/>
          <p:nvPr/>
        </p:nvSpPr>
        <p:spPr>
          <a:xfrm>
            <a:off x="6496052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E943D48-C00A-A569-A95A-C5163D6B24A3}"/>
              </a:ext>
            </a:extLst>
          </p:cNvPr>
          <p:cNvSpPr/>
          <p:nvPr/>
        </p:nvSpPr>
        <p:spPr>
          <a:xfrm>
            <a:off x="6884309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622B4B6-BF69-AF46-FA5C-8D6F59C1938E}"/>
              </a:ext>
            </a:extLst>
          </p:cNvPr>
          <p:cNvSpPr/>
          <p:nvPr/>
        </p:nvSpPr>
        <p:spPr>
          <a:xfrm>
            <a:off x="7272566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D50B8D-C83F-86DD-50F7-161C5CD9223A}"/>
              </a:ext>
            </a:extLst>
          </p:cNvPr>
          <p:cNvSpPr/>
          <p:nvPr/>
        </p:nvSpPr>
        <p:spPr>
          <a:xfrm>
            <a:off x="6125504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F0B8091-152D-5B6A-2355-5C9C17D94496}"/>
              </a:ext>
            </a:extLst>
          </p:cNvPr>
          <p:cNvSpPr/>
          <p:nvPr/>
        </p:nvSpPr>
        <p:spPr>
          <a:xfrm>
            <a:off x="6504538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B6F9F46-556A-9857-0470-8E50BDF4F25D}"/>
              </a:ext>
            </a:extLst>
          </p:cNvPr>
          <p:cNvSpPr/>
          <p:nvPr/>
        </p:nvSpPr>
        <p:spPr>
          <a:xfrm>
            <a:off x="6883572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2F47FAC-3726-E71C-B969-1FE934541B9D}"/>
              </a:ext>
            </a:extLst>
          </p:cNvPr>
          <p:cNvSpPr/>
          <p:nvPr/>
        </p:nvSpPr>
        <p:spPr>
          <a:xfrm>
            <a:off x="7262606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B984D2A-414D-A670-1AFA-5A772AB38B1D}"/>
              </a:ext>
            </a:extLst>
          </p:cNvPr>
          <p:cNvSpPr/>
          <p:nvPr/>
        </p:nvSpPr>
        <p:spPr>
          <a:xfrm>
            <a:off x="7641640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60F2812-6FD2-E905-8CCF-3CD87C10822F}"/>
              </a:ext>
            </a:extLst>
          </p:cNvPr>
          <p:cNvSpPr/>
          <p:nvPr/>
        </p:nvSpPr>
        <p:spPr>
          <a:xfrm>
            <a:off x="8020674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4C03EE3-7B9A-DD35-C8BA-F04D94417210}"/>
              </a:ext>
            </a:extLst>
          </p:cNvPr>
          <p:cNvSpPr/>
          <p:nvPr/>
        </p:nvSpPr>
        <p:spPr>
          <a:xfrm>
            <a:off x="8399708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F4B68A2-A9B1-C669-92B8-CDAC4EB6A6D4}"/>
              </a:ext>
            </a:extLst>
          </p:cNvPr>
          <p:cNvSpPr/>
          <p:nvPr/>
        </p:nvSpPr>
        <p:spPr>
          <a:xfrm>
            <a:off x="8778742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03A416B-9F32-BBDB-F786-84D2D7307294}"/>
              </a:ext>
            </a:extLst>
          </p:cNvPr>
          <p:cNvSpPr/>
          <p:nvPr/>
        </p:nvSpPr>
        <p:spPr>
          <a:xfrm>
            <a:off x="7637241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D8AFEFD-0AB5-EF00-C7D1-EDBBEE4D1F35}"/>
              </a:ext>
            </a:extLst>
          </p:cNvPr>
          <p:cNvSpPr/>
          <p:nvPr/>
        </p:nvSpPr>
        <p:spPr>
          <a:xfrm>
            <a:off x="8025498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D1617E-20E6-6D29-1C65-6EB7F44FD98B}"/>
              </a:ext>
            </a:extLst>
          </p:cNvPr>
          <p:cNvSpPr/>
          <p:nvPr/>
        </p:nvSpPr>
        <p:spPr>
          <a:xfrm>
            <a:off x="8413755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9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B28501E-DE49-9A55-AC87-0DAA7F7BC354}"/>
              </a:ext>
            </a:extLst>
          </p:cNvPr>
          <p:cNvSpPr/>
          <p:nvPr/>
        </p:nvSpPr>
        <p:spPr>
          <a:xfrm>
            <a:off x="8802012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8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8536124-31FD-88A4-C926-25E36A268C5F}"/>
              </a:ext>
            </a:extLst>
          </p:cNvPr>
          <p:cNvSpPr/>
          <p:nvPr/>
        </p:nvSpPr>
        <p:spPr>
          <a:xfrm>
            <a:off x="9197526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693590D-9B5C-47DC-E735-A946374C638D}"/>
              </a:ext>
            </a:extLst>
          </p:cNvPr>
          <p:cNvSpPr/>
          <p:nvPr/>
        </p:nvSpPr>
        <p:spPr>
          <a:xfrm>
            <a:off x="9585783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F72AD1E-E279-ED2F-3A8D-BECCC754F141}"/>
              </a:ext>
            </a:extLst>
          </p:cNvPr>
          <p:cNvSpPr/>
          <p:nvPr/>
        </p:nvSpPr>
        <p:spPr>
          <a:xfrm>
            <a:off x="9974040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79438CF-1A7C-B115-5840-22384B88341B}"/>
              </a:ext>
            </a:extLst>
          </p:cNvPr>
          <p:cNvSpPr/>
          <p:nvPr/>
        </p:nvSpPr>
        <p:spPr>
          <a:xfrm>
            <a:off x="10362297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2F41329-4381-0C10-BF16-FE8A0C70320C}"/>
              </a:ext>
            </a:extLst>
          </p:cNvPr>
          <p:cNvSpPr/>
          <p:nvPr/>
        </p:nvSpPr>
        <p:spPr>
          <a:xfrm>
            <a:off x="9157776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6CB8F3D-EF0E-91AA-531B-C87CDCDE16A1}"/>
              </a:ext>
            </a:extLst>
          </p:cNvPr>
          <p:cNvSpPr/>
          <p:nvPr/>
        </p:nvSpPr>
        <p:spPr>
          <a:xfrm>
            <a:off x="9536810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73A431-CA02-D036-0528-309004916D9A}"/>
              </a:ext>
            </a:extLst>
          </p:cNvPr>
          <p:cNvSpPr/>
          <p:nvPr/>
        </p:nvSpPr>
        <p:spPr>
          <a:xfrm>
            <a:off x="9915844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838672B-794E-D0D9-33EA-76E1FBCCFA4D}"/>
              </a:ext>
            </a:extLst>
          </p:cNvPr>
          <p:cNvSpPr/>
          <p:nvPr/>
        </p:nvSpPr>
        <p:spPr>
          <a:xfrm>
            <a:off x="10294878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CE5585E-4F70-3638-ACF6-4A51F52C5926}"/>
              </a:ext>
            </a:extLst>
          </p:cNvPr>
          <p:cNvSpPr/>
          <p:nvPr/>
        </p:nvSpPr>
        <p:spPr>
          <a:xfrm>
            <a:off x="10673912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A4D697A-DC78-B726-38C2-9FDCA929BAF6}"/>
              </a:ext>
            </a:extLst>
          </p:cNvPr>
          <p:cNvSpPr/>
          <p:nvPr/>
        </p:nvSpPr>
        <p:spPr>
          <a:xfrm>
            <a:off x="11052946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826558C-4C2F-9043-DB16-E2CC65B593B3}"/>
              </a:ext>
            </a:extLst>
          </p:cNvPr>
          <p:cNvSpPr/>
          <p:nvPr/>
        </p:nvSpPr>
        <p:spPr>
          <a:xfrm>
            <a:off x="11431980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540852A-236E-8BDC-135B-E480E6A90FB9}"/>
              </a:ext>
            </a:extLst>
          </p:cNvPr>
          <p:cNvSpPr/>
          <p:nvPr/>
        </p:nvSpPr>
        <p:spPr>
          <a:xfrm>
            <a:off x="11811000" y="2388558"/>
            <a:ext cx="320040" cy="381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2738624-694A-B517-2F0B-B6A53002DE0B}"/>
              </a:ext>
            </a:extLst>
          </p:cNvPr>
          <p:cNvSpPr/>
          <p:nvPr/>
        </p:nvSpPr>
        <p:spPr>
          <a:xfrm>
            <a:off x="10726972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602175A-858D-D082-B80A-7D8A8F41B0E9}"/>
              </a:ext>
            </a:extLst>
          </p:cNvPr>
          <p:cNvSpPr/>
          <p:nvPr/>
        </p:nvSpPr>
        <p:spPr>
          <a:xfrm>
            <a:off x="11115229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FB95587-B509-82F7-728D-3C7B6147BC8F}"/>
              </a:ext>
            </a:extLst>
          </p:cNvPr>
          <p:cNvSpPr/>
          <p:nvPr/>
        </p:nvSpPr>
        <p:spPr>
          <a:xfrm>
            <a:off x="11503486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FC1A53E-1163-A43A-7730-2CE9419A4A58}"/>
              </a:ext>
            </a:extLst>
          </p:cNvPr>
          <p:cNvSpPr/>
          <p:nvPr/>
        </p:nvSpPr>
        <p:spPr>
          <a:xfrm>
            <a:off x="11811000" y="198854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503E426-5490-FC4E-D637-4A8705EE7B55}"/>
              </a:ext>
            </a:extLst>
          </p:cNvPr>
          <p:cNvSpPr/>
          <p:nvPr/>
        </p:nvSpPr>
        <p:spPr>
          <a:xfrm>
            <a:off x="2093683" y="538503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78FF9C8-F166-83EB-C6B7-2E17E3C95085}"/>
              </a:ext>
            </a:extLst>
          </p:cNvPr>
          <p:cNvSpPr/>
          <p:nvPr/>
        </p:nvSpPr>
        <p:spPr>
          <a:xfrm>
            <a:off x="2627083" y="538503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AD2CB64-172A-1AA3-A030-E33896160457}"/>
              </a:ext>
            </a:extLst>
          </p:cNvPr>
          <p:cNvSpPr/>
          <p:nvPr/>
        </p:nvSpPr>
        <p:spPr>
          <a:xfrm>
            <a:off x="3084283" y="538503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FBC3C06-745B-7FE0-2877-4E61E471CB2A}"/>
              </a:ext>
            </a:extLst>
          </p:cNvPr>
          <p:cNvSpPr/>
          <p:nvPr/>
        </p:nvSpPr>
        <p:spPr>
          <a:xfrm>
            <a:off x="3612240" y="5385035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6662CA9-E33B-31F2-3FAE-9281DD4F59B1}"/>
              </a:ext>
            </a:extLst>
          </p:cNvPr>
          <p:cNvSpPr txBox="1"/>
          <p:nvPr/>
        </p:nvSpPr>
        <p:spPr>
          <a:xfrm>
            <a:off x="1507671" y="5708848"/>
            <a:ext cx="1984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Bytes in Memory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179EE4C-8E35-E622-7E2B-E72D274011D9}"/>
              </a:ext>
            </a:extLst>
          </p:cNvPr>
          <p:cNvSpPr/>
          <p:nvPr/>
        </p:nvSpPr>
        <p:spPr>
          <a:xfrm>
            <a:off x="2099126" y="4953470"/>
            <a:ext cx="381000" cy="381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D19E189-46B1-C4D7-B893-D58D82C7AF85}"/>
              </a:ext>
            </a:extLst>
          </p:cNvPr>
          <p:cNvSpPr/>
          <p:nvPr/>
        </p:nvSpPr>
        <p:spPr>
          <a:xfrm>
            <a:off x="2605312" y="4953470"/>
            <a:ext cx="381000" cy="381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F0F7B13-F515-1198-5D8D-9502C30EC948}"/>
              </a:ext>
            </a:extLst>
          </p:cNvPr>
          <p:cNvSpPr/>
          <p:nvPr/>
        </p:nvSpPr>
        <p:spPr>
          <a:xfrm>
            <a:off x="3111498" y="4953470"/>
            <a:ext cx="381000" cy="38100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2DEB1DE-17B3-D5F3-6871-7C44B6F1EFD9}"/>
              </a:ext>
            </a:extLst>
          </p:cNvPr>
          <p:cNvSpPr/>
          <p:nvPr/>
        </p:nvSpPr>
        <p:spPr>
          <a:xfrm>
            <a:off x="3617683" y="4953470"/>
            <a:ext cx="381000" cy="381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B1E914A-5F6D-0556-3288-6547CC430F85}"/>
              </a:ext>
            </a:extLst>
          </p:cNvPr>
          <p:cNvSpPr/>
          <p:nvPr/>
        </p:nvSpPr>
        <p:spPr>
          <a:xfrm>
            <a:off x="6120498" y="5410200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7E4B9DF-B70A-A02F-B033-1E60D5676965}"/>
              </a:ext>
            </a:extLst>
          </p:cNvPr>
          <p:cNvSpPr/>
          <p:nvPr/>
        </p:nvSpPr>
        <p:spPr>
          <a:xfrm>
            <a:off x="6653898" y="5410200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77FCC60-69C2-D629-4A97-E4EE3D232328}"/>
              </a:ext>
            </a:extLst>
          </p:cNvPr>
          <p:cNvSpPr/>
          <p:nvPr/>
        </p:nvSpPr>
        <p:spPr>
          <a:xfrm>
            <a:off x="7111098" y="5410200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DF67052-ACC9-1A73-46C7-2CBC09357D78}"/>
              </a:ext>
            </a:extLst>
          </p:cNvPr>
          <p:cNvSpPr/>
          <p:nvPr/>
        </p:nvSpPr>
        <p:spPr>
          <a:xfrm>
            <a:off x="7639055" y="5410200"/>
            <a:ext cx="3810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0542B2A-0587-D954-919D-784E3DA53AA7}"/>
              </a:ext>
            </a:extLst>
          </p:cNvPr>
          <p:cNvSpPr txBox="1"/>
          <p:nvPr/>
        </p:nvSpPr>
        <p:spPr>
          <a:xfrm>
            <a:off x="5534486" y="5734013"/>
            <a:ext cx="1984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Bytes in Memory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DC9E380-9F1D-1AFD-408E-32A9BFDD379E}"/>
              </a:ext>
            </a:extLst>
          </p:cNvPr>
          <p:cNvSpPr/>
          <p:nvPr/>
        </p:nvSpPr>
        <p:spPr>
          <a:xfrm>
            <a:off x="6125941" y="4978635"/>
            <a:ext cx="381000" cy="381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9653DAC-2F11-CF44-044E-441559D04DD2}"/>
              </a:ext>
            </a:extLst>
          </p:cNvPr>
          <p:cNvSpPr/>
          <p:nvPr/>
        </p:nvSpPr>
        <p:spPr>
          <a:xfrm>
            <a:off x="6632127" y="4978635"/>
            <a:ext cx="381000" cy="38100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E708EF1-650B-1EBB-8AB5-99C80CB64F5C}"/>
              </a:ext>
            </a:extLst>
          </p:cNvPr>
          <p:cNvSpPr/>
          <p:nvPr/>
        </p:nvSpPr>
        <p:spPr>
          <a:xfrm>
            <a:off x="7138313" y="4978635"/>
            <a:ext cx="381000" cy="381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F6725AC-4D54-7887-E555-5558D5A41793}"/>
              </a:ext>
            </a:extLst>
          </p:cNvPr>
          <p:cNvSpPr/>
          <p:nvPr/>
        </p:nvSpPr>
        <p:spPr>
          <a:xfrm>
            <a:off x="7644498" y="4978635"/>
            <a:ext cx="381000" cy="381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6EC2FE6-563A-4667-96AB-13ADF7E1595C}"/>
              </a:ext>
            </a:extLst>
          </p:cNvPr>
          <p:cNvSpPr txBox="1"/>
          <p:nvPr/>
        </p:nvSpPr>
        <p:spPr>
          <a:xfrm>
            <a:off x="320040" y="4978635"/>
            <a:ext cx="1373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Little Endian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05CD9BE-150D-02CE-B438-02166E153353}"/>
              </a:ext>
            </a:extLst>
          </p:cNvPr>
          <p:cNvSpPr txBox="1"/>
          <p:nvPr/>
        </p:nvSpPr>
        <p:spPr>
          <a:xfrm>
            <a:off x="4722769" y="501570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Big Endian</a:t>
            </a:r>
          </a:p>
        </p:txBody>
      </p:sp>
      <p:sp>
        <p:nvSpPr>
          <p:cNvPr id="106" name="Left Brace 105">
            <a:extLst>
              <a:ext uri="{FF2B5EF4-FFF2-40B4-BE49-F238E27FC236}">
                <a16:creationId xmlns:a16="http://schemas.microsoft.com/office/drawing/2014/main" id="{1F3A1308-EA51-A5CD-7DC9-9A6C2A881CDF}"/>
              </a:ext>
            </a:extLst>
          </p:cNvPr>
          <p:cNvSpPr/>
          <p:nvPr/>
        </p:nvSpPr>
        <p:spPr>
          <a:xfrm rot="16200000">
            <a:off x="10400908" y="1671986"/>
            <a:ext cx="487001" cy="2973265"/>
          </a:xfrm>
          <a:prstGeom prst="leftBrace">
            <a:avLst>
              <a:gd name="adj1" fmla="val 60489"/>
              <a:gd name="adj2" fmla="val 49573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Left Brace 106">
            <a:extLst>
              <a:ext uri="{FF2B5EF4-FFF2-40B4-BE49-F238E27FC236}">
                <a16:creationId xmlns:a16="http://schemas.microsoft.com/office/drawing/2014/main" id="{40547011-F39A-C203-8362-0E16C30044AD}"/>
              </a:ext>
            </a:extLst>
          </p:cNvPr>
          <p:cNvSpPr/>
          <p:nvPr/>
        </p:nvSpPr>
        <p:spPr>
          <a:xfrm rot="16200000">
            <a:off x="7368641" y="1671986"/>
            <a:ext cx="487001" cy="2973265"/>
          </a:xfrm>
          <a:prstGeom prst="leftBrace">
            <a:avLst>
              <a:gd name="adj1" fmla="val 60489"/>
              <a:gd name="adj2" fmla="val 49573"/>
            </a:avLst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Left Brace 107">
            <a:extLst>
              <a:ext uri="{FF2B5EF4-FFF2-40B4-BE49-F238E27FC236}">
                <a16:creationId xmlns:a16="http://schemas.microsoft.com/office/drawing/2014/main" id="{4BE34E7F-ED7A-3A46-6EB2-F3BE004A5E90}"/>
              </a:ext>
            </a:extLst>
          </p:cNvPr>
          <p:cNvSpPr/>
          <p:nvPr/>
        </p:nvSpPr>
        <p:spPr>
          <a:xfrm rot="16200000">
            <a:off x="4336373" y="1671985"/>
            <a:ext cx="487001" cy="2973265"/>
          </a:xfrm>
          <a:prstGeom prst="leftBrace">
            <a:avLst>
              <a:gd name="adj1" fmla="val 60489"/>
              <a:gd name="adj2" fmla="val 49573"/>
            </a:avLst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Left Brace 108">
            <a:extLst>
              <a:ext uri="{FF2B5EF4-FFF2-40B4-BE49-F238E27FC236}">
                <a16:creationId xmlns:a16="http://schemas.microsoft.com/office/drawing/2014/main" id="{924DB998-AE2E-559E-D6B3-EF081D7144CE}"/>
              </a:ext>
            </a:extLst>
          </p:cNvPr>
          <p:cNvSpPr/>
          <p:nvPr/>
        </p:nvSpPr>
        <p:spPr>
          <a:xfrm rot="16200000">
            <a:off x="1304105" y="1671986"/>
            <a:ext cx="487001" cy="2973265"/>
          </a:xfrm>
          <a:prstGeom prst="leftBrace">
            <a:avLst>
              <a:gd name="adj1" fmla="val 60489"/>
              <a:gd name="adj2" fmla="val 49573"/>
            </a:avLst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E657256-06C6-AD41-CFCF-C263DC4ABDA5}"/>
              </a:ext>
            </a:extLst>
          </p:cNvPr>
          <p:cNvSpPr/>
          <p:nvPr/>
        </p:nvSpPr>
        <p:spPr>
          <a:xfrm>
            <a:off x="1357106" y="3460952"/>
            <a:ext cx="381000" cy="381000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534D759-8F9B-D3B7-A5F5-FD01E6F04DF0}"/>
              </a:ext>
            </a:extLst>
          </p:cNvPr>
          <p:cNvSpPr/>
          <p:nvPr/>
        </p:nvSpPr>
        <p:spPr>
          <a:xfrm>
            <a:off x="4389373" y="3460952"/>
            <a:ext cx="381000" cy="381000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946441D-0F49-5CF3-64BD-69081B51F3B5}"/>
              </a:ext>
            </a:extLst>
          </p:cNvPr>
          <p:cNvSpPr/>
          <p:nvPr/>
        </p:nvSpPr>
        <p:spPr>
          <a:xfrm>
            <a:off x="7421641" y="3460952"/>
            <a:ext cx="381000" cy="381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7246237-4B17-1BF9-C00B-62A2F99052F2}"/>
              </a:ext>
            </a:extLst>
          </p:cNvPr>
          <p:cNvSpPr/>
          <p:nvPr/>
        </p:nvSpPr>
        <p:spPr>
          <a:xfrm>
            <a:off x="10453908" y="3460952"/>
            <a:ext cx="381000" cy="381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14" name="Thought Bubble: Cloud 113">
            <a:extLst>
              <a:ext uri="{FF2B5EF4-FFF2-40B4-BE49-F238E27FC236}">
                <a16:creationId xmlns:a16="http://schemas.microsoft.com/office/drawing/2014/main" id="{6874ED8F-1D3F-7A3B-9EF9-211C06DD8FE8}"/>
              </a:ext>
            </a:extLst>
          </p:cNvPr>
          <p:cNvSpPr/>
          <p:nvPr/>
        </p:nvSpPr>
        <p:spPr>
          <a:xfrm>
            <a:off x="7802641" y="130759"/>
            <a:ext cx="3949379" cy="1438132"/>
          </a:xfrm>
          <a:prstGeom prst="cloudCallout">
            <a:avLst>
              <a:gd name="adj1" fmla="val -15045"/>
              <a:gd name="adj2" fmla="val 7574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Not about the order of bits in the byte!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669601A-4788-36E1-B628-0A6A3EBB6F89}"/>
              </a:ext>
            </a:extLst>
          </p:cNvPr>
          <p:cNvSpPr txBox="1">
            <a:spLocks/>
          </p:cNvSpPr>
          <p:nvPr/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0000"/>
                </a:solidFill>
                <a:ea typeface="+mj-lt"/>
                <a:cs typeface="+mj-lt"/>
              </a:rPr>
              <a:t>A visualization of endianness.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736968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E368F-FBE0-704D-537A-4FAB2437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924D12-21BD-5D77-7AD5-32227F0B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 programming view of endianness.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6995F-6E79-7829-CA0D-057AB4657FC6}"/>
              </a:ext>
            </a:extLst>
          </p:cNvPr>
          <p:cNvSpPr txBox="1"/>
          <p:nvPr/>
        </p:nvSpPr>
        <p:spPr>
          <a:xfrm>
            <a:off x="2515151" y="1204738"/>
            <a:ext cx="7145392" cy="120032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Assume </a:t>
            </a:r>
            <a:r>
              <a:rPr lang="en-US" sz="2400" b="1" dirty="0">
                <a:solidFill>
                  <a:schemeClr val="tx1"/>
                </a:solidFill>
              </a:rPr>
              <a:t>&amp;A[0]</a:t>
            </a:r>
            <a:r>
              <a:rPr lang="en-US" sz="2400" dirty="0">
                <a:solidFill>
                  <a:schemeClr val="tx1"/>
                </a:solidFill>
              </a:rPr>
              <a:t> is in register </a:t>
            </a:r>
            <a:r>
              <a:rPr lang="en-US" sz="2400" b="1" dirty="0">
                <a:solidFill>
                  <a:schemeClr val="tx1"/>
                </a:solidFill>
              </a:rPr>
              <a:t>a0</a:t>
            </a: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then </a:t>
            </a:r>
            <a:r>
              <a:rPr lang="en-US" sz="2400" b="1" dirty="0" err="1">
                <a:solidFill>
                  <a:schemeClr val="tx1"/>
                </a:solidFill>
              </a:rPr>
              <a:t>sw</a:t>
            </a:r>
            <a:r>
              <a:rPr lang="en-US" sz="2400" b="1" dirty="0">
                <a:solidFill>
                  <a:schemeClr val="tx1"/>
                </a:solidFill>
              </a:rPr>
              <a:t> t1, 0(a0)</a:t>
            </a:r>
            <a:r>
              <a:rPr lang="en-US" sz="2400" dirty="0">
                <a:solidFill>
                  <a:schemeClr val="tx1"/>
                </a:solidFill>
              </a:rPr>
              <a:t> is roughly equivalent to: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CD954AB3-1162-DA15-5557-CF152EEB0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639" y="3424853"/>
            <a:ext cx="2256817" cy="311625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b="1"/>
              <a:t>Little Endian</a:t>
            </a:r>
          </a:p>
          <a:p>
            <a:pPr marL="0" indent="0">
              <a:buNone/>
            </a:pPr>
            <a:r>
              <a:rPr lang="en-US"/>
              <a:t>sb t1, 0(a0)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srl</a:t>
            </a:r>
            <a:r>
              <a:rPr lang="en-US" dirty="0"/>
              <a:t> t1, t1, 8</a:t>
            </a:r>
          </a:p>
          <a:p>
            <a:pPr marL="0" indent="0">
              <a:buNone/>
            </a:pPr>
            <a:r>
              <a:rPr lang="en-US" dirty="0"/>
              <a:t>sb t1, 1(a0)</a:t>
            </a:r>
          </a:p>
          <a:p>
            <a:pPr marL="0" indent="0">
              <a:buNone/>
            </a:pPr>
            <a:r>
              <a:rPr lang="en-US" dirty="0" err="1"/>
              <a:t>srl</a:t>
            </a:r>
            <a:r>
              <a:rPr lang="en-US" dirty="0"/>
              <a:t> t1, t1, 8</a:t>
            </a:r>
          </a:p>
          <a:p>
            <a:pPr marL="0" indent="0">
              <a:buNone/>
            </a:pPr>
            <a:r>
              <a:rPr lang="en-US" dirty="0"/>
              <a:t>sb t1, 2(a0)</a:t>
            </a:r>
          </a:p>
          <a:p>
            <a:pPr marL="0" indent="0">
              <a:buNone/>
            </a:pPr>
            <a:r>
              <a:rPr lang="en-US" dirty="0" err="1"/>
              <a:t>srl</a:t>
            </a:r>
            <a:r>
              <a:rPr lang="en-US" dirty="0"/>
              <a:t> t1, t1, 8</a:t>
            </a:r>
          </a:p>
          <a:p>
            <a:pPr marL="0" indent="0">
              <a:buNone/>
            </a:pPr>
            <a:r>
              <a:rPr lang="en-US" dirty="0"/>
              <a:t>sb t1, 3(a0)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57F28B1-6C97-60E1-429E-089F1559F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89124" y="3421626"/>
            <a:ext cx="2005745" cy="294419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/>
              <a:t>Big Endian</a:t>
            </a:r>
          </a:p>
          <a:p>
            <a:pPr marL="0" indent="0">
              <a:buNone/>
            </a:pPr>
            <a:r>
              <a:rPr lang="en-US"/>
              <a:t>sb t1, 3(a0)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srl</a:t>
            </a:r>
            <a:r>
              <a:rPr lang="en-US" dirty="0"/>
              <a:t> t1, t1, 8</a:t>
            </a:r>
          </a:p>
          <a:p>
            <a:pPr marL="0" indent="0">
              <a:buNone/>
            </a:pPr>
            <a:r>
              <a:rPr lang="en-US" dirty="0"/>
              <a:t>sb t1, 2(a0)</a:t>
            </a:r>
          </a:p>
          <a:p>
            <a:pPr marL="0" indent="0">
              <a:buNone/>
            </a:pPr>
            <a:r>
              <a:rPr lang="en-US" dirty="0" err="1"/>
              <a:t>srl</a:t>
            </a:r>
            <a:r>
              <a:rPr lang="en-US" dirty="0"/>
              <a:t> t1, t1, 8</a:t>
            </a:r>
          </a:p>
          <a:p>
            <a:pPr marL="0" indent="0">
              <a:buNone/>
            </a:pPr>
            <a:r>
              <a:rPr lang="en-US" dirty="0"/>
              <a:t>sb t1, 1(a0)</a:t>
            </a:r>
          </a:p>
          <a:p>
            <a:pPr marL="0" indent="0">
              <a:buNone/>
            </a:pPr>
            <a:r>
              <a:rPr lang="en-US" dirty="0" err="1"/>
              <a:t>srl</a:t>
            </a:r>
            <a:r>
              <a:rPr lang="en-US" dirty="0"/>
              <a:t> t1, t1, 8</a:t>
            </a:r>
          </a:p>
          <a:p>
            <a:pPr marL="0" indent="0">
              <a:buNone/>
            </a:pPr>
            <a:r>
              <a:rPr lang="en-US" dirty="0"/>
              <a:t>sb t1, 0(a0)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DDF436-A3A5-FFE0-0391-52D7E304A2AA}"/>
              </a:ext>
            </a:extLst>
          </p:cNvPr>
          <p:cNvGrpSpPr/>
          <p:nvPr/>
        </p:nvGrpSpPr>
        <p:grpSpPr>
          <a:xfrm>
            <a:off x="2855326" y="4041573"/>
            <a:ext cx="2296885" cy="1454659"/>
            <a:chOff x="6248400" y="1269765"/>
            <a:chExt cx="2296885" cy="145465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FA0899-F61A-4F19-91A4-2FD60F22C90B}"/>
                </a:ext>
              </a:extLst>
            </p:cNvPr>
            <p:cNvSpPr/>
            <p:nvPr/>
          </p:nvSpPr>
          <p:spPr>
            <a:xfrm>
              <a:off x="6662057" y="1530631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08F52A-7B45-A771-8DF9-18465050E4F7}"/>
                </a:ext>
              </a:extLst>
            </p:cNvPr>
            <p:cNvSpPr/>
            <p:nvPr/>
          </p:nvSpPr>
          <p:spPr>
            <a:xfrm>
              <a:off x="7050314" y="1530631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30A56F-2966-0722-BD68-0DF35B785F27}"/>
                </a:ext>
              </a:extLst>
            </p:cNvPr>
            <p:cNvSpPr/>
            <p:nvPr/>
          </p:nvSpPr>
          <p:spPr>
            <a:xfrm>
              <a:off x="7438571" y="1530631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85926A-8EC6-E803-C47E-946A7ABCEC36}"/>
                </a:ext>
              </a:extLst>
            </p:cNvPr>
            <p:cNvSpPr/>
            <p:nvPr/>
          </p:nvSpPr>
          <p:spPr>
            <a:xfrm>
              <a:off x="7826828" y="1530631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1E1A1F2-DDB5-F850-98ED-CBCE03410DA2}"/>
                </a:ext>
              </a:extLst>
            </p:cNvPr>
            <p:cNvSpPr/>
            <p:nvPr/>
          </p:nvSpPr>
          <p:spPr>
            <a:xfrm>
              <a:off x="6248400" y="2343424"/>
              <a:ext cx="827314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&amp;A[0]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045D58-A5A6-1D88-733B-D9C61C810B7F}"/>
                </a:ext>
              </a:extLst>
            </p:cNvPr>
            <p:cNvSpPr txBox="1"/>
            <p:nvPr/>
          </p:nvSpPr>
          <p:spPr>
            <a:xfrm>
              <a:off x="6560458" y="1269765"/>
              <a:ext cx="1984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bytes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3059B4-EE86-A0D7-6848-FB15873F4DE6}"/>
                </a:ext>
              </a:extLst>
            </p:cNvPr>
            <p:cNvSpPr/>
            <p:nvPr/>
          </p:nvSpPr>
          <p:spPr>
            <a:xfrm>
              <a:off x="6667500" y="1905000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LS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2F0D091-1ECE-38A7-C423-3276690757F7}"/>
                </a:ext>
              </a:extLst>
            </p:cNvPr>
            <p:cNvSpPr/>
            <p:nvPr/>
          </p:nvSpPr>
          <p:spPr>
            <a:xfrm>
              <a:off x="7055757" y="1905000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0FF325-9FD9-345E-A1AF-7D3E27E2C30A}"/>
                </a:ext>
              </a:extLst>
            </p:cNvPr>
            <p:cNvSpPr/>
            <p:nvPr/>
          </p:nvSpPr>
          <p:spPr>
            <a:xfrm>
              <a:off x="7444014" y="1905000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72285F-7DF1-E587-7529-A7D525BFA6FC}"/>
                </a:ext>
              </a:extLst>
            </p:cNvPr>
            <p:cNvSpPr/>
            <p:nvPr/>
          </p:nvSpPr>
          <p:spPr>
            <a:xfrm>
              <a:off x="7832271" y="1905000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MS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1DFDE5-9659-8C01-6C3A-15B561E08828}"/>
              </a:ext>
            </a:extLst>
          </p:cNvPr>
          <p:cNvGrpSpPr/>
          <p:nvPr/>
        </p:nvGrpSpPr>
        <p:grpSpPr>
          <a:xfrm>
            <a:off x="8106697" y="4041573"/>
            <a:ext cx="2296885" cy="1454659"/>
            <a:chOff x="6248400" y="1269765"/>
            <a:chExt cx="2296885" cy="145465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DD9C2BF-C767-1BA2-9168-A3C841415978}"/>
                </a:ext>
              </a:extLst>
            </p:cNvPr>
            <p:cNvSpPr/>
            <p:nvPr/>
          </p:nvSpPr>
          <p:spPr>
            <a:xfrm>
              <a:off x="6662057" y="1530631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E382052-BB02-3987-365D-3F0763BC9DDB}"/>
                </a:ext>
              </a:extLst>
            </p:cNvPr>
            <p:cNvSpPr/>
            <p:nvPr/>
          </p:nvSpPr>
          <p:spPr>
            <a:xfrm>
              <a:off x="7050314" y="1530631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E962A12-3791-662A-DC5B-FEF2DD709F48}"/>
                </a:ext>
              </a:extLst>
            </p:cNvPr>
            <p:cNvSpPr/>
            <p:nvPr/>
          </p:nvSpPr>
          <p:spPr>
            <a:xfrm>
              <a:off x="7438571" y="1530631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E5FC9AA-D5D7-8251-4063-D2778B0455AF}"/>
                </a:ext>
              </a:extLst>
            </p:cNvPr>
            <p:cNvSpPr/>
            <p:nvPr/>
          </p:nvSpPr>
          <p:spPr>
            <a:xfrm>
              <a:off x="7826828" y="1530631"/>
              <a:ext cx="381000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92FC9A4-0838-E586-4A75-FFAE80EBB58D}"/>
                </a:ext>
              </a:extLst>
            </p:cNvPr>
            <p:cNvSpPr/>
            <p:nvPr/>
          </p:nvSpPr>
          <p:spPr>
            <a:xfrm>
              <a:off x="6248400" y="2343424"/>
              <a:ext cx="827314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&amp;A[0]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1809B45-9C24-4B28-CCC8-55794C2716BC}"/>
                </a:ext>
              </a:extLst>
            </p:cNvPr>
            <p:cNvSpPr txBox="1"/>
            <p:nvPr/>
          </p:nvSpPr>
          <p:spPr>
            <a:xfrm>
              <a:off x="6560458" y="1269765"/>
              <a:ext cx="1984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bytes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5595062-6000-5F2A-B10D-8080FDE1678E}"/>
                </a:ext>
              </a:extLst>
            </p:cNvPr>
            <p:cNvSpPr/>
            <p:nvPr/>
          </p:nvSpPr>
          <p:spPr>
            <a:xfrm>
              <a:off x="6667500" y="1905000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MS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AB6B07E-D817-1A4E-C8CE-79311935A810}"/>
                </a:ext>
              </a:extLst>
            </p:cNvPr>
            <p:cNvSpPr/>
            <p:nvPr/>
          </p:nvSpPr>
          <p:spPr>
            <a:xfrm>
              <a:off x="7055757" y="1905000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A4DC324-9E50-3A0E-4577-194997A9D5A6}"/>
                </a:ext>
              </a:extLst>
            </p:cNvPr>
            <p:cNvSpPr/>
            <p:nvPr/>
          </p:nvSpPr>
          <p:spPr>
            <a:xfrm>
              <a:off x="7444014" y="1905000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E9E2FD1-167D-0ACA-D34F-824B71137805}"/>
                </a:ext>
              </a:extLst>
            </p:cNvPr>
            <p:cNvSpPr/>
            <p:nvPr/>
          </p:nvSpPr>
          <p:spPr>
            <a:xfrm>
              <a:off x="7832271" y="1905000"/>
              <a:ext cx="381000" cy="38100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0990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10D1B-FC4E-5232-C25D-5766771E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C74ECD-FB7B-3FA9-AA46-F6888448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between registers!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74AA80-2C2A-0989-29CA-514B4A6B2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726685"/>
              </p:ext>
            </p:extLst>
          </p:nvPr>
        </p:nvGraphicFramePr>
        <p:xfrm>
          <a:off x="345056" y="2027207"/>
          <a:ext cx="1118630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High-Level: C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Low-Level: Assembly-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ish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y = x;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mov y, x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868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38BFB-6D95-114F-BBEF-B031D201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0CA590-17E4-C006-47D5-11D8CC16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Let’s move data between registers!</a:t>
            </a:r>
            <a:endParaRPr lang="en-US" b="0">
              <a:solidFill>
                <a:schemeClr val="tx1"/>
              </a:solidFill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C8B07B-FA6C-407B-47BB-F4FBCCE53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216271"/>
              </p:ext>
            </p:extLst>
          </p:nvPr>
        </p:nvGraphicFramePr>
        <p:xfrm>
          <a:off x="345056" y="2027207"/>
          <a:ext cx="111863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152">
                  <a:extLst>
                    <a:ext uri="{9D8B030D-6E8A-4147-A177-3AD203B41FA5}">
                      <a16:colId xmlns:a16="http://schemas.microsoft.com/office/drawing/2014/main" val="923648489"/>
                    </a:ext>
                  </a:extLst>
                </a:gridCol>
                <a:gridCol w="5593152">
                  <a:extLst>
                    <a:ext uri="{9D8B030D-6E8A-4147-A177-3AD203B41FA5}">
                      <a16:colId xmlns:a16="http://schemas.microsoft.com/office/drawing/2014/main" val="3144034159"/>
                    </a:ext>
                  </a:extLst>
                </a:gridCol>
              </a:tblGrid>
              <a:tr h="3958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High-Level: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Low-Level: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RISC-V Assembly (almost)</a:t>
                      </a:r>
                      <a:endParaRPr lang="en-US" sz="2400" dirty="0" err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76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 x = *p;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strike="sngStrike">
                          <a:solidFill>
                            <a:schemeClr val="tx1"/>
                          </a:solidFill>
                        </a:rPr>
                        <a:t>mov y, x</a:t>
                      </a:r>
                      <a:endParaRPr lang="en-US" strike="sngStrike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15926"/>
                  </a:ext>
                </a:extLst>
              </a:tr>
              <a:tr h="3958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mv t1, a0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62465"/>
                  </a:ext>
                </a:extLst>
              </a:tr>
            </a:tbl>
          </a:graphicData>
        </a:graphic>
      </p:graphicFrame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AE909A44-DBEC-3A24-4581-BBDC7442B40C}"/>
              </a:ext>
            </a:extLst>
          </p:cNvPr>
          <p:cNvSpPr/>
          <p:nvPr/>
        </p:nvSpPr>
        <p:spPr>
          <a:xfrm>
            <a:off x="9916076" y="482600"/>
            <a:ext cx="2275840" cy="1432560"/>
          </a:xfrm>
          <a:prstGeom prst="cloudCallout">
            <a:avLst>
              <a:gd name="adj1" fmla="val -76605"/>
              <a:gd name="adj2" fmla="val 52155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Where are </a:t>
            </a:r>
            <a:r>
              <a:rPr lang="en-US" sz="2400" b="1" dirty="0"/>
              <a:t>x, p?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1FE464-6877-8F79-073E-5B047F900FD7}"/>
              </a:ext>
            </a:extLst>
          </p:cNvPr>
          <p:cNvSpPr/>
          <p:nvPr/>
        </p:nvSpPr>
        <p:spPr>
          <a:xfrm>
            <a:off x="1944215" y="4297680"/>
            <a:ext cx="8305802" cy="18491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>
                <a:solidFill>
                  <a:schemeClr val="tx1"/>
                </a:solidFill>
              </a:rPr>
              <a:t>Make some assumptions: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X</a:t>
            </a:r>
            <a:r>
              <a:rPr lang="en-US" sz="2800" dirty="0">
                <a:solidFill>
                  <a:schemeClr val="tx1"/>
                </a:solidFill>
              </a:rPr>
              <a:t> is in register </a:t>
            </a:r>
            <a:r>
              <a:rPr lang="en-US" sz="2800" b="1" dirty="0">
                <a:solidFill>
                  <a:schemeClr val="tx1"/>
                </a:solidFill>
              </a:rPr>
              <a:t>a0</a:t>
            </a:r>
            <a:r>
              <a:rPr lang="en-US" sz="2800" dirty="0">
                <a:solidFill>
                  <a:schemeClr val="tx1"/>
                </a:solidFill>
              </a:rPr>
              <a:t> and of </a:t>
            </a:r>
            <a:r>
              <a:rPr lang="en-US" sz="2800" b="1">
                <a:solidFill>
                  <a:schemeClr val="tx1"/>
                </a:solidFill>
              </a:rPr>
              <a:t>type int</a:t>
            </a:r>
            <a:endParaRPr lang="en-US" b="1">
              <a:solidFill>
                <a:schemeClr val="tx1"/>
              </a:solidFill>
            </a:endParaRPr>
          </a:p>
          <a:p>
            <a:pPr algn="ctr"/>
            <a:r>
              <a:rPr lang="en-US" sz="2800" b="1">
                <a:solidFill>
                  <a:schemeClr val="tx1"/>
                </a:solidFill>
              </a:rPr>
              <a:t>y</a:t>
            </a:r>
            <a:r>
              <a:rPr lang="en-US" sz="2800">
                <a:solidFill>
                  <a:schemeClr val="tx1"/>
                </a:solidFill>
              </a:rPr>
              <a:t> goes in register </a:t>
            </a:r>
            <a:r>
              <a:rPr lang="en-US" sz="2800" b="1">
                <a:solidFill>
                  <a:schemeClr val="tx1"/>
                </a:solidFill>
              </a:rPr>
              <a:t>t1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1231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1E47D-E04B-2B72-9E59-AA0867F3F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416A1F-EC7D-1E1E-4AFF-545659DC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Introduction to pseudo instruc</a:t>
            </a:r>
            <a:r>
              <a:rPr lang="en-US">
                <a:ea typeface="+mj-lt"/>
                <a:cs typeface="+mj-lt"/>
              </a:rPr>
              <a:t>tions.</a:t>
            </a:r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D069350F-CC30-1AB2-0E55-505C0307827C}"/>
              </a:ext>
            </a:extLst>
          </p:cNvPr>
          <p:cNvSpPr>
            <a:spLocks noGrp="1"/>
          </p:cNvSpPr>
          <p:nvPr/>
        </p:nvSpPr>
        <p:spPr>
          <a:xfrm>
            <a:off x="203204" y="1371607"/>
            <a:ext cx="11405085" cy="47548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ea typeface="+mn-lt"/>
                <a:cs typeface="+mn-lt"/>
              </a:rPr>
              <a:t>The </a:t>
            </a:r>
            <a:r>
              <a:rPr lang="en-US" sz="2400" b="1" dirty="0">
                <a:ea typeface="+mn-lt"/>
                <a:cs typeface="+mn-lt"/>
              </a:rPr>
              <a:t>mv </a:t>
            </a:r>
            <a:r>
              <a:rPr lang="en-US" sz="2400" dirty="0">
                <a:ea typeface="+mn-lt"/>
                <a:cs typeface="+mn-lt"/>
              </a:rPr>
              <a:t>instruction in RISC-V is a </a:t>
            </a:r>
            <a:r>
              <a:rPr lang="en-US" sz="2400" b="1" dirty="0">
                <a:ea typeface="+mn-lt"/>
                <a:cs typeface="+mn-lt"/>
              </a:rPr>
              <a:t>pseudo </a:t>
            </a:r>
            <a:r>
              <a:rPr lang="en-US" sz="2400">
                <a:ea typeface="+mn-lt"/>
                <a:cs typeface="+mn-lt"/>
              </a:rPr>
              <a:t>instruction  (as in, kind of an instruction).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 It is converted to an </a:t>
            </a:r>
            <a:r>
              <a:rPr lang="en-US" sz="2400" b="1" dirty="0" err="1">
                <a:ea typeface="+mn-lt"/>
                <a:cs typeface="+mn-lt"/>
              </a:rPr>
              <a:t>addi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instruction </a:t>
            </a:r>
            <a:endParaRPr lang="en-US" dirty="0"/>
          </a:p>
          <a:p>
            <a:pPr algn="ctr"/>
            <a:endParaRPr lang="en-US" sz="2400" dirty="0">
              <a:latin typeface="Consolas"/>
              <a:ea typeface="+mn-lt"/>
              <a:cs typeface="+mn-lt"/>
            </a:endParaRPr>
          </a:p>
          <a:p>
            <a:pPr algn="ctr"/>
            <a:r>
              <a:rPr lang="en-US" sz="2400" dirty="0">
                <a:latin typeface="Consolas"/>
                <a:ea typeface="+mn-lt"/>
                <a:cs typeface="+mn-lt"/>
              </a:rPr>
              <a:t>mv t1, a0  ==&gt;  </a:t>
            </a:r>
            <a:r>
              <a:rPr lang="en-US" sz="2400" dirty="0" err="1">
                <a:latin typeface="Consolas"/>
                <a:ea typeface="+mn-lt"/>
                <a:cs typeface="+mn-lt"/>
              </a:rPr>
              <a:t>addi</a:t>
            </a:r>
            <a:r>
              <a:rPr lang="en-US" sz="2400" dirty="0">
                <a:latin typeface="Consolas"/>
                <a:ea typeface="+mn-lt"/>
                <a:cs typeface="+mn-lt"/>
              </a:rPr>
              <a:t> t1, a0, 0 </a:t>
            </a:r>
            <a:endParaRPr lang="en-US" dirty="0">
              <a:latin typeface="Consolas"/>
            </a:endParaRPr>
          </a:p>
          <a:p>
            <a:pPr algn="ctr"/>
            <a:endParaRPr lang="en-US" sz="2400" dirty="0">
              <a:latin typeface="Consolas"/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Another handy data movement pseudo instruction is the  poorly named “</a:t>
            </a:r>
            <a:r>
              <a:rPr lang="en-US" sz="2400" b="1">
                <a:ea typeface="+mn-lt"/>
                <a:cs typeface="+mn-lt"/>
              </a:rPr>
              <a:t>load immediate</a:t>
            </a:r>
            <a:r>
              <a:rPr lang="en-US" sz="2400">
                <a:ea typeface="+mn-lt"/>
                <a:cs typeface="+mn-lt"/>
              </a:rPr>
              <a:t>”. Puts the immediate (constant) into the output register </a:t>
            </a:r>
          </a:p>
          <a:p>
            <a:endParaRPr lang="en-US" sz="2400" dirty="0"/>
          </a:p>
          <a:p>
            <a:pPr algn="ctr"/>
            <a:r>
              <a:rPr lang="en-US" sz="2400">
                <a:latin typeface="Consolas"/>
                <a:ea typeface="+mn-lt"/>
                <a:cs typeface="+mn-lt"/>
              </a:rPr>
              <a:t>li t1, 1 </a:t>
            </a:r>
            <a:endParaRPr lang="en-US">
              <a:latin typeface="Consolas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44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79D3-CCCC-A788-82E3-5F0BAA67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3A7AED-6DB2-612D-920A-C29D0CDF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Exercise: Convert to RISC-V.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2D1A72-5B05-D09D-2CB6-2845CEA4C2FA}"/>
              </a:ext>
            </a:extLst>
          </p:cNvPr>
          <p:cNvSpPr txBox="1">
            <a:spLocks/>
          </p:cNvSpPr>
          <p:nvPr/>
        </p:nvSpPr>
        <p:spPr bwMode="auto">
          <a:xfrm>
            <a:off x="203200" y="1371600"/>
            <a:ext cx="5694680" cy="5029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dirty="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400" dirty="0" err="1">
                <a:latin typeface="Courier New"/>
                <a:ea typeface="Monaco" charset="0"/>
                <a:cs typeface="Courier New"/>
                <a:sym typeface="Monaco" charset="0"/>
              </a:rPr>
              <a:t>silly_math</a:t>
            </a:r>
            <a:r>
              <a:rPr lang="en-US" sz="2400" dirty="0">
                <a:latin typeface="Courier New"/>
                <a:ea typeface="Monaco" charset="0"/>
                <a:cs typeface="Courier New"/>
                <a:sym typeface="Monaco" charset="0"/>
              </a:rPr>
              <a:t>(int *a, int b)</a:t>
            </a:r>
            <a:endParaRPr lang="en-US"/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  <a:endParaRPr lang="en-US" sz="2400" dirty="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*a = (b – *a) + 11;</a:t>
            </a:r>
            <a:endParaRPr lang="en-US" sz="2400" dirty="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*a;</a:t>
            </a:r>
            <a:endParaRPr lang="en-US" sz="2400" dirty="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  <a:endParaRPr lang="en-US" sz="2400" dirty="0">
              <a:latin typeface="Courier New" pitchFamily="49" charset="0"/>
              <a:ea typeface="Monaco" charset="0"/>
              <a:cs typeface="Courier New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9186CD-0BB5-0E0C-A598-C523EE037BE2}"/>
              </a:ext>
            </a:extLst>
          </p:cNvPr>
          <p:cNvSpPr txBox="1">
            <a:spLocks/>
          </p:cNvSpPr>
          <p:nvPr/>
        </p:nvSpPr>
        <p:spPr>
          <a:xfrm>
            <a:off x="6558280" y="1371600"/>
            <a:ext cx="4648200" cy="50292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Reminders:</a:t>
            </a:r>
            <a:endParaRPr lang="en-US"/>
          </a:p>
          <a:p>
            <a:pPr marL="457200" indent="-457200"/>
            <a:r>
              <a:rPr lang="en-US" dirty="0"/>
              <a:t>a in a0, b in a1</a:t>
            </a:r>
          </a:p>
          <a:p>
            <a:pPr marL="457200" indent="-457200"/>
            <a:r>
              <a:rPr lang="en-US" dirty="0"/>
              <a:t>Put return value in a0</a:t>
            </a:r>
          </a:p>
          <a:p>
            <a:pPr marL="457200" indent="-457200"/>
            <a:r>
              <a:rPr lang="en-US" dirty="0"/>
              <a:t>Can use temporary registers t0-t7</a:t>
            </a:r>
          </a:p>
        </p:txBody>
      </p:sp>
    </p:spTree>
    <p:extLst>
      <p:ext uri="{BB962C8B-B14F-4D97-AF65-F5344CB8AC3E}">
        <p14:creationId xmlns:p14="http://schemas.microsoft.com/office/powerpoint/2010/main" val="31440539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D43F-DB4F-6140-4553-7E319AF25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1A5B1C-6413-0F19-C217-3B5B61D7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Exercise Solution: Convert to RISC-V .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AEA9DA-10EC-DF54-941C-624F8DEF0DA0}"/>
              </a:ext>
            </a:extLst>
          </p:cNvPr>
          <p:cNvSpPr txBox="1">
            <a:spLocks/>
          </p:cNvSpPr>
          <p:nvPr/>
        </p:nvSpPr>
        <p:spPr bwMode="auto">
          <a:xfrm>
            <a:off x="203200" y="1371600"/>
            <a:ext cx="5694680" cy="5029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dirty="0">
                <a:latin typeface="Courier New"/>
                <a:ea typeface="Monaco" charset="0"/>
                <a:cs typeface="Courier New"/>
                <a:sym typeface="Monaco" charset="0"/>
              </a:rPr>
              <a:t>int </a:t>
            </a:r>
            <a:r>
              <a:rPr lang="en-US" sz="2400" dirty="0" err="1">
                <a:latin typeface="Courier New"/>
                <a:ea typeface="Monaco" charset="0"/>
                <a:cs typeface="Courier New"/>
                <a:sym typeface="Monaco" charset="0"/>
              </a:rPr>
              <a:t>silly_math</a:t>
            </a:r>
            <a:r>
              <a:rPr lang="en-US" sz="2400" dirty="0">
                <a:latin typeface="Courier New"/>
                <a:ea typeface="Monaco" charset="0"/>
                <a:cs typeface="Courier New"/>
                <a:sym typeface="Monaco" charset="0"/>
              </a:rPr>
              <a:t>(int *a, int b)</a:t>
            </a:r>
            <a:endParaRPr lang="en-US"/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  <a:endParaRPr lang="en-US" sz="2400" dirty="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*a = (b – *a) + 11;</a:t>
            </a:r>
            <a:endParaRPr lang="en-US" sz="2400" dirty="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*a;</a:t>
            </a:r>
            <a:endParaRPr lang="en-US" sz="2400" dirty="0">
              <a:latin typeface="Courier New" pitchFamily="49" charset="0"/>
              <a:ea typeface="Monaco" charset="0"/>
              <a:cs typeface="Courier New" pitchFamily="49" charset="0"/>
            </a:endParaRPr>
          </a:p>
          <a:p>
            <a:pPr marL="0" indent="0">
              <a:buNone/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  <a:endParaRPr lang="en-US" sz="2400" dirty="0">
              <a:latin typeface="Courier New" pitchFamily="49" charset="0"/>
              <a:ea typeface="Monaco" charset="0"/>
              <a:cs typeface="Courier New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C03385-8DFA-3F90-FEE8-8590D3E5C410}"/>
              </a:ext>
            </a:extLst>
          </p:cNvPr>
          <p:cNvSpPr>
            <a:spLocks noGrp="1"/>
          </p:cNvSpPr>
          <p:nvPr/>
        </p:nvSpPr>
        <p:spPr>
          <a:xfrm>
            <a:off x="5913120" y="1371600"/>
            <a:ext cx="5862320" cy="50292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dirty="0" err="1">
                <a:latin typeface="Consolas"/>
                <a:ea typeface="Monaco" charset="0"/>
                <a:cs typeface="Courier New"/>
                <a:sym typeface="Monaco" charset="0"/>
              </a:rPr>
              <a:t>silly_math</a:t>
            </a:r>
            <a:r>
              <a:rPr lang="en-US" sz="2400" b="1" dirty="0">
                <a:latin typeface="Consolas"/>
                <a:ea typeface="Monaco" charset="0"/>
                <a:cs typeface="Courier New"/>
                <a:sym typeface="Monaco" charset="0"/>
              </a:rPr>
              <a:t>:</a:t>
            </a:r>
            <a:endParaRPr lang="en-US" sz="2400" b="1" dirty="0">
              <a:latin typeface="Consolas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dirty="0">
                <a:latin typeface="Consolas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 dirty="0" err="1">
                <a:latin typeface="Consolas"/>
                <a:ea typeface="Monaco" charset="0"/>
                <a:cs typeface="Courier New"/>
                <a:sym typeface="Monaco" charset="0"/>
              </a:rPr>
              <a:t>lw</a:t>
            </a:r>
            <a:r>
              <a:rPr lang="en-US" sz="2400" b="1" dirty="0">
                <a:latin typeface="Consolas"/>
                <a:ea typeface="Monaco" charset="0"/>
                <a:cs typeface="Courier New"/>
                <a:sym typeface="Monaco" charset="0"/>
              </a:rPr>
              <a:t>     t1, 0(a0)   # = *a</a:t>
            </a:r>
            <a:br>
              <a:rPr lang="en-US" sz="2400" b="1" dirty="0">
                <a:latin typeface="Consolas"/>
                <a:ea typeface="Monaco" charset="0"/>
                <a:cs typeface="Courier New" pitchFamily="49" charset="0"/>
              </a:rPr>
            </a:br>
            <a:r>
              <a:rPr lang="en-US" sz="2400" b="1" dirty="0">
                <a:latin typeface="Consolas"/>
                <a:ea typeface="Monaco" charset="0"/>
                <a:cs typeface="Courier New"/>
                <a:sym typeface="Monaco" charset="0"/>
              </a:rPr>
              <a:t>  sub    t0, a1, t1	# (b-*a)</a:t>
            </a:r>
            <a:endParaRPr lang="en-US" sz="2400" b="1" dirty="0">
              <a:latin typeface="Consolas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dirty="0">
                <a:latin typeface="Consolas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 dirty="0" err="1">
                <a:latin typeface="Consolas"/>
                <a:ea typeface="Monaco" charset="0"/>
                <a:cs typeface="Courier New"/>
                <a:sym typeface="Monaco" charset="0"/>
              </a:rPr>
              <a:t>addi</a:t>
            </a:r>
            <a:r>
              <a:rPr lang="en-US" sz="2400" b="1" dirty="0">
                <a:latin typeface="Consolas"/>
                <a:ea typeface="Monaco" charset="0"/>
                <a:cs typeface="Courier New"/>
                <a:sym typeface="Monaco" charset="0"/>
              </a:rPr>
              <a:t>   t0, t0, 11	# (b-*a)+11</a:t>
            </a:r>
            <a:endParaRPr lang="en-US" sz="2400" b="1" dirty="0">
              <a:latin typeface="Consolas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dirty="0">
                <a:latin typeface="Consolas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 dirty="0" err="1">
                <a:latin typeface="Consolas"/>
                <a:ea typeface="Monaco" charset="0"/>
                <a:cs typeface="Courier New"/>
                <a:sym typeface="Monaco" charset="0"/>
              </a:rPr>
              <a:t>sw</a:t>
            </a:r>
            <a:r>
              <a:rPr lang="en-US" sz="2400" b="1" dirty="0">
                <a:latin typeface="Consolas"/>
                <a:ea typeface="Monaco" charset="0"/>
                <a:cs typeface="Courier New"/>
                <a:sym typeface="Monaco" charset="0"/>
              </a:rPr>
              <a:t>     t0, 0(a0)   # *a =     </a:t>
            </a:r>
            <a:endParaRPr lang="en-US" sz="2400" b="1" dirty="0">
              <a:latin typeface="Consolas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dirty="0">
                <a:latin typeface="Consolas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400" b="1" dirty="0" err="1">
                <a:latin typeface="Consolas"/>
                <a:ea typeface="Monaco" charset="0"/>
                <a:cs typeface="Courier New"/>
                <a:sym typeface="Monaco" charset="0"/>
              </a:rPr>
              <a:t>addi</a:t>
            </a:r>
            <a:r>
              <a:rPr lang="en-US" sz="2400" b="1" dirty="0">
                <a:latin typeface="Consolas"/>
                <a:ea typeface="Monaco" charset="0"/>
                <a:cs typeface="Courier New"/>
                <a:sym typeface="Monaco" charset="0"/>
              </a:rPr>
              <a:t>   a0, t0, 0	# mv a0, t0</a:t>
            </a:r>
            <a:endParaRPr lang="en-US" sz="2400" b="1" dirty="0">
              <a:latin typeface="Consolas"/>
              <a:ea typeface="Monaco" charset="0"/>
              <a:cs typeface="Courier New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2400" b="1" dirty="0">
                <a:latin typeface="Consolas"/>
                <a:cs typeface="Courier New"/>
                <a:sym typeface="Monaco" charset="0"/>
              </a:rPr>
              <a:t>  ret</a:t>
            </a:r>
            <a:endParaRPr lang="en-US" sz="2400">
              <a:latin typeface="Consolas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9967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587CC-E398-4A75-870F-110C87919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Things you should know or go learn more about:</a:t>
            </a:r>
          </a:p>
          <a:p>
            <a:pPr lvl="1"/>
            <a:r>
              <a:rPr lang="en-US"/>
              <a:t>RISC-V assembly programming straight-line code with basic arithmetic</a:t>
            </a:r>
          </a:p>
          <a:p>
            <a:pPr lvl="2"/>
            <a:r>
              <a:rPr lang="en-US"/>
              <a:t>Addition, subtraction, multiplication (shifts and adds)</a:t>
            </a:r>
          </a:p>
          <a:p>
            <a:pPr lvl="2"/>
            <a:r>
              <a:rPr lang="en-US"/>
              <a:t>Loads and stores</a:t>
            </a:r>
            <a:endParaRPr lang="en-US" dirty="0"/>
          </a:p>
          <a:p>
            <a:pPr lvl="1"/>
            <a:r>
              <a:rPr lang="en-US"/>
              <a:t>Basic function call/return</a:t>
            </a:r>
          </a:p>
          <a:p>
            <a:pPr lvl="2"/>
            <a:r>
              <a:rPr lang="en-US"/>
              <a:t>Function calls that don’t make nested function calls (</a:t>
            </a:r>
            <a:r>
              <a:rPr lang="en-US" b="1"/>
              <a:t>leaf procedures</a:t>
            </a:r>
            <a:r>
              <a:rPr lang="en-US"/>
              <a:t>)</a:t>
            </a:r>
          </a:p>
          <a:p>
            <a:endParaRPr lang="en-US"/>
          </a:p>
          <a:p>
            <a:pPr marL="0" indent="0">
              <a:buNone/>
            </a:pPr>
            <a:r>
              <a:rPr lang="en-US" b="1"/>
              <a:t>Next up</a:t>
            </a:r>
            <a:r>
              <a:rPr lang="en-US"/>
              <a:t>: more complex arithmetic and logic.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Read </a:t>
            </a:r>
            <a:r>
              <a:rPr lang="en-US" b="1"/>
              <a:t>chapter 2</a:t>
            </a:r>
            <a:r>
              <a:rPr lang="en-US"/>
              <a:t>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34C6FA-C530-426E-91B6-4360F9E6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Summary.</a:t>
            </a:r>
          </a:p>
        </p:txBody>
      </p:sp>
    </p:spTree>
    <p:extLst>
      <p:ext uri="{BB962C8B-B14F-4D97-AF65-F5344CB8AC3E}">
        <p14:creationId xmlns:p14="http://schemas.microsoft.com/office/powerpoint/2010/main" val="3007357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12156-12F0-4BD2-D35D-EEEDF658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D382-E63F-8072-3870-82AA4242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b="1"/>
              <a:t>Thank you.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95CBB-F04F-4CC7-8926-3050DC67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19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F7041B20C9D84A837902E535A9C631" ma:contentTypeVersion="17" ma:contentTypeDescription="Create a new document." ma:contentTypeScope="" ma:versionID="bf947d493ea0e920a0a55c5a9bbc11a7">
  <xsd:schema xmlns:xsd="http://www.w3.org/2001/XMLSchema" xmlns:xs="http://www.w3.org/2001/XMLSchema" xmlns:p="http://schemas.microsoft.com/office/2006/metadata/properties" xmlns:ns2="4619ee15-d16e-4cab-835a-106b42f09be9" xmlns:ns3="9135097d-3c42-4841-8414-e54f32605794" targetNamespace="http://schemas.microsoft.com/office/2006/metadata/properties" ma:root="true" ma:fieldsID="626080d7c39690040fa29d374903722c" ns2:_="" ns3:_="">
    <xsd:import namespace="4619ee15-d16e-4cab-835a-106b42f09be9"/>
    <xsd:import namespace="9135097d-3c42-4841-8414-e54f326057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commen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ee15-d16e-4cab-835a-106b42f09b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7373dcc-d629-4f14-9a28-796bffe926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" ma:index="23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5097d-3c42-4841-8414-e54f3260579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19991c60-4f88-465e-b0d6-8ccc2d76eff8}" ma:internalName="TaxCatchAll" ma:showField="CatchAllData" ma:web="9135097d-3c42-4841-8414-e54f326057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35097d-3c42-4841-8414-e54f32605794" xsi:nil="true"/>
    <lcf76f155ced4ddcb4097134ff3c332f xmlns="4619ee15-d16e-4cab-835a-106b42f09be9">
      <Terms xmlns="http://schemas.microsoft.com/office/infopath/2007/PartnerControls"/>
    </lcf76f155ced4ddcb4097134ff3c332f>
    <comment xmlns="4619ee15-d16e-4cab-835a-106b42f09be9" xsi:nil="true"/>
  </documentManagement>
</p:properties>
</file>

<file path=customXml/itemProps1.xml><?xml version="1.0" encoding="utf-8"?>
<ds:datastoreItem xmlns:ds="http://schemas.openxmlformats.org/officeDocument/2006/customXml" ds:itemID="{52EBC180-5FF9-4712-8D46-CF33F4FB5C84}">
  <ds:schemaRefs>
    <ds:schemaRef ds:uri="4619ee15-d16e-4cab-835a-106b42f09be9"/>
    <ds:schemaRef ds:uri="9135097d-3c42-4841-8414-e54f326057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830B765-BC9D-41EA-B9D3-9E225854F8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583296-0ED5-46EC-9454-454006AAD442}">
  <ds:schemaRefs>
    <ds:schemaRef ds:uri="4619ee15-d16e-4cab-835a-106b42f09be9"/>
    <ds:schemaRef ds:uri="785cff9e-9d88-40f4-96cb-1285df94b63b"/>
    <ds:schemaRef ds:uri="9135097d-3c42-4841-8414-e54f32605794"/>
    <ds:schemaRef ds:uri="9fdeb73d-c18a-448e-b2ff-a2496585359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CS 2160 Introduction to Assembly Programming and Computer Organization   Lecture 02: Data Movement</vt:lpstr>
      <vt:lpstr>Recap.</vt:lpstr>
      <vt:lpstr>Recap.</vt:lpstr>
      <vt:lpstr>Today’s Agenda.</vt:lpstr>
      <vt:lpstr>A mental model of program execution.</vt:lpstr>
      <vt:lpstr>Moving data withing the machine.</vt:lpstr>
      <vt:lpstr>Data movements vs machine operations.</vt:lpstr>
      <vt:lpstr>Fetch.</vt:lpstr>
      <vt:lpstr>Let’s move data from memory!</vt:lpstr>
      <vt:lpstr>Let’s move data from memory!</vt:lpstr>
      <vt:lpstr>Let’s move data from memory!</vt:lpstr>
      <vt:lpstr>Let’s move data from memory!</vt:lpstr>
      <vt:lpstr>Let’s move data from memory!</vt:lpstr>
      <vt:lpstr>Let’s move data from memory!</vt:lpstr>
      <vt:lpstr>Let’s move data from memory!</vt:lpstr>
      <vt:lpstr>Brief Aside: Addressing Modes</vt:lpstr>
      <vt:lpstr>Brief Aside: Addressing Modes</vt:lpstr>
      <vt:lpstr>Brief Aside: Addressing Modes</vt:lpstr>
      <vt:lpstr>Let’s move data from an array!</vt:lpstr>
      <vt:lpstr>Arrays in C/C++.</vt:lpstr>
      <vt:lpstr>General-purpose register is an array of 32 bits.</vt:lpstr>
      <vt:lpstr>Let’s move data to memory!</vt:lpstr>
      <vt:lpstr>Let’s move data to memory!</vt:lpstr>
      <vt:lpstr>Let’s move data to an array!</vt:lpstr>
      <vt:lpstr>Introduction to endianness.</vt:lpstr>
      <vt:lpstr>PowerPoint Presentation</vt:lpstr>
      <vt:lpstr>A programming view of endianness.</vt:lpstr>
      <vt:lpstr>Let’s move data between registers!</vt:lpstr>
      <vt:lpstr>Let’s move data between registers!</vt:lpstr>
      <vt:lpstr>Introduction to pseudo instructions.</vt:lpstr>
      <vt:lpstr>Exercise: Convert to RISC-V.</vt:lpstr>
      <vt:lpstr>Exercise Solution: Convert to RISC-V .</vt:lpstr>
      <vt:lpstr>Summary.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Himon Thakur</dc:creator>
  <cp:revision>678</cp:revision>
  <dcterms:created xsi:type="dcterms:W3CDTF">2026-02-17T00:04:35Z</dcterms:created>
  <dcterms:modified xsi:type="dcterms:W3CDTF">2026-08-31T21:53:56Z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0x010100EEF7041B20C9D84A837902E535A9C631</vt:lpwstr>
  </property>
</Properties>
</file>