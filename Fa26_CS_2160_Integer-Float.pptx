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55"/>
  </p:notesMasterIdLst>
  <p:sldIdLst>
    <p:sldId id="256" r:id="rId5"/>
    <p:sldId id="257" r:id="rId6"/>
    <p:sldId id="828" r:id="rId7"/>
    <p:sldId id="830" r:id="rId8"/>
    <p:sldId id="364" r:id="rId9"/>
    <p:sldId id="841" r:id="rId10"/>
    <p:sldId id="842" r:id="rId11"/>
    <p:sldId id="782" r:id="rId12"/>
    <p:sldId id="779" r:id="rId13"/>
    <p:sldId id="783" r:id="rId14"/>
    <p:sldId id="784" r:id="rId15"/>
    <p:sldId id="785" r:id="rId16"/>
    <p:sldId id="317" r:id="rId17"/>
    <p:sldId id="318" r:id="rId18"/>
    <p:sldId id="341" r:id="rId19"/>
    <p:sldId id="837" r:id="rId20"/>
    <p:sldId id="319" r:id="rId21"/>
    <p:sldId id="322" r:id="rId22"/>
    <p:sldId id="832" r:id="rId23"/>
    <p:sldId id="835" r:id="rId24"/>
    <p:sldId id="418" r:id="rId25"/>
    <p:sldId id="836" r:id="rId26"/>
    <p:sldId id="840" r:id="rId27"/>
    <p:sldId id="833" r:id="rId28"/>
    <p:sldId id="423" r:id="rId29"/>
    <p:sldId id="844" r:id="rId30"/>
    <p:sldId id="424" r:id="rId31"/>
    <p:sldId id="846" r:id="rId32"/>
    <p:sldId id="425" r:id="rId33"/>
    <p:sldId id="766" r:id="rId34"/>
    <p:sldId id="767" r:id="rId35"/>
    <p:sldId id="768" r:id="rId36"/>
    <p:sldId id="845" r:id="rId37"/>
    <p:sldId id="834" r:id="rId38"/>
    <p:sldId id="429" r:id="rId39"/>
    <p:sldId id="430" r:id="rId40"/>
    <p:sldId id="769" r:id="rId41"/>
    <p:sldId id="770" r:id="rId42"/>
    <p:sldId id="771" r:id="rId43"/>
    <p:sldId id="838" r:id="rId44"/>
    <p:sldId id="772" r:id="rId45"/>
    <p:sldId id="773" r:id="rId46"/>
    <p:sldId id="774" r:id="rId47"/>
    <p:sldId id="775" r:id="rId48"/>
    <p:sldId id="776" r:id="rId49"/>
    <p:sldId id="777" r:id="rId50"/>
    <p:sldId id="778" r:id="rId51"/>
    <p:sldId id="443" r:id="rId52"/>
    <p:sldId id="839" r:id="rId53"/>
    <p:sldId id="270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675" dt="2026-09-17T22:21:52.8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6E351-5889-4606-851F-9CE323549110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9A697-E2F0-4093-9634-3E22EDA0B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19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B4209CE5-1DCB-0754-7B5A-63D3D0F4998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458A4260-DE0C-B3C7-3FE4-608F39F18A6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57BD182-E38B-0445-B7E4-7959FA454D0B}" type="datetime3">
              <a:rPr lang="en-US" altLang="en-US" smtClean="0">
                <a:latin typeface="Times New Roman" panose="02020603050405020304" pitchFamily="18" charset="0"/>
              </a:rPr>
              <a:pPr/>
              <a:t>17 September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00" name="Rectangle 6">
            <a:extLst>
              <a:ext uri="{FF2B5EF4-FFF2-40B4-BE49-F238E27FC236}">
                <a16:creationId xmlns:a16="http://schemas.microsoft.com/office/drawing/2014/main" id="{418F0B1A-84D1-D13E-D189-5D1F805FDB9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29701" name="Rectangle 7">
            <a:extLst>
              <a:ext uri="{FF2B5EF4-FFF2-40B4-BE49-F238E27FC236}">
                <a16:creationId xmlns:a16="http://schemas.microsoft.com/office/drawing/2014/main" id="{FCDC89EF-B42B-AB4A-D419-A3EB981230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6EC4E06-76FC-1D47-9BEC-0E9E9C2B3130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02" name="Rectangle 2">
            <a:extLst>
              <a:ext uri="{FF2B5EF4-FFF2-40B4-BE49-F238E27FC236}">
                <a16:creationId xmlns:a16="http://schemas.microsoft.com/office/drawing/2014/main" id="{DCC41B4F-0712-CE4D-90E4-EE763E4DB7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3" name="Rectangle 3">
            <a:extLst>
              <a:ext uri="{FF2B5EF4-FFF2-40B4-BE49-F238E27FC236}">
                <a16:creationId xmlns:a16="http://schemas.microsoft.com/office/drawing/2014/main" id="{2CDC2CCD-1CB8-C317-80F8-996C63D0CA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658687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746F5-A53F-97FB-3D12-614E5301C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BA733848-4B9E-4290-615E-8426148EF9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C4DC1881-7FA2-5CA2-865F-410EBC36619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57BD182-E38B-0445-B7E4-7959FA454D0B}" type="datetime3">
              <a:rPr lang="en-US" altLang="en-US" smtClean="0">
                <a:latin typeface="Times New Roman" panose="02020603050405020304" pitchFamily="18" charset="0"/>
              </a:rPr>
              <a:pPr/>
              <a:t>17 September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00" name="Rectangle 6">
            <a:extLst>
              <a:ext uri="{FF2B5EF4-FFF2-40B4-BE49-F238E27FC236}">
                <a16:creationId xmlns:a16="http://schemas.microsoft.com/office/drawing/2014/main" id="{353CD64E-ED67-F335-EE39-20BC703B180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29701" name="Rectangle 7">
            <a:extLst>
              <a:ext uri="{FF2B5EF4-FFF2-40B4-BE49-F238E27FC236}">
                <a16:creationId xmlns:a16="http://schemas.microsoft.com/office/drawing/2014/main" id="{047EF6B1-9821-DA1D-60F2-E6782360AE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6EC4E06-76FC-1D47-9BEC-0E9E9C2B3130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02" name="Rectangle 2">
            <a:extLst>
              <a:ext uri="{FF2B5EF4-FFF2-40B4-BE49-F238E27FC236}">
                <a16:creationId xmlns:a16="http://schemas.microsoft.com/office/drawing/2014/main" id="{5DAD89D6-D169-D89A-09D9-50955AD12D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3" name="Rectangle 3">
            <a:extLst>
              <a:ext uri="{FF2B5EF4-FFF2-40B4-BE49-F238E27FC236}">
                <a16:creationId xmlns:a16="http://schemas.microsoft.com/office/drawing/2014/main" id="{B3D5B4D4-FC81-9EFD-E4B5-6F16AD6679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343139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5F8B7AEC-3EAA-8804-457F-49468DEFC2F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20678A9E-B836-15F3-4176-4E18BF7F83A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A5215E8-C30B-5443-BBDF-3A040611EBC3}" type="datetime3">
              <a:rPr lang="en-US" altLang="en-US" smtClean="0">
                <a:latin typeface="Times New Roman" panose="02020603050405020304" pitchFamily="18" charset="0"/>
              </a:rPr>
              <a:pPr/>
              <a:t>17 September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892" name="Rectangle 6">
            <a:extLst>
              <a:ext uri="{FF2B5EF4-FFF2-40B4-BE49-F238E27FC236}">
                <a16:creationId xmlns:a16="http://schemas.microsoft.com/office/drawing/2014/main" id="{D9DF89F6-7661-A318-493E-2F6ADDEE9F5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37893" name="Rectangle 7">
            <a:extLst>
              <a:ext uri="{FF2B5EF4-FFF2-40B4-BE49-F238E27FC236}">
                <a16:creationId xmlns:a16="http://schemas.microsoft.com/office/drawing/2014/main" id="{58A419D6-78BA-5C69-856B-5A8E180DAC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D9711C-7438-754B-8885-7C622E83A779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894" name="Rectangle 2">
            <a:extLst>
              <a:ext uri="{FF2B5EF4-FFF2-40B4-BE49-F238E27FC236}">
                <a16:creationId xmlns:a16="http://schemas.microsoft.com/office/drawing/2014/main" id="{451E857A-C43C-1FAD-CA64-109425FA13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5" name="Rectangle 3">
            <a:extLst>
              <a:ext uri="{FF2B5EF4-FFF2-40B4-BE49-F238E27FC236}">
                <a16:creationId xmlns:a16="http://schemas.microsoft.com/office/drawing/2014/main" id="{96AD0148-78F1-E669-2370-CEE436633A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230648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C0DB-A639-57E7-0CD5-8729A312F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8E9B4B-716D-D128-8B52-0FC761E5A9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E72E57-D075-E9ED-B6B6-827362A507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Since</a:t>
            </a:r>
            <a:r>
              <a:rPr lang="en-US" altLang="en-US" baseline="0" dirty="0"/>
              <a:t> we are familiar with decimal, we will convert everything to decimal for understanding</a:t>
            </a:r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9CDCE-6B54-7283-1250-929BF313EC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433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FC556-C8EC-8639-1D7B-768E995F5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00CEE7-FD08-306B-C18C-E04BFA9AD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D1D828-EF67-2FF8-7F21-07E438546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Since</a:t>
            </a:r>
            <a:r>
              <a:rPr lang="en-US" altLang="en-US" baseline="0" dirty="0"/>
              <a:t> we are familiar with decimal, we will convert everything to decimal for understanding</a:t>
            </a:r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40EAC-0C18-114D-9154-41AA011E45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178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4EABC-53FA-D4D2-CDE1-1A3F2168A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22B319-7E27-349E-2AFD-08AD9754D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77BB4F-E533-2303-3DA1-2D7B68D48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Since</a:t>
            </a:r>
            <a:r>
              <a:rPr lang="en-US" altLang="en-US" baseline="0" dirty="0"/>
              <a:t> we are familiar with decimal, we will convert everything to decimal for understanding</a:t>
            </a:r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DB48C-DC70-9569-4F69-3B5CE4E0E6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659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DD989-DD76-DDDB-CE80-B5CDF56E8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F05B6D-443E-BD82-06BE-C7A4ACF2A3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6CCA4B-82BC-6A17-A075-33AD790AE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Since</a:t>
            </a:r>
            <a:r>
              <a:rPr lang="en-US" altLang="en-US" baseline="0" dirty="0"/>
              <a:t> we are familiar with decimal, we will convert everything to decimal for understanding</a:t>
            </a:r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CF305-8101-97E1-8187-24BD045D44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100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B1256-51F4-9590-D5D6-2476A50C2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75D77F-7BFB-3332-4FBF-4D9385F3D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93D3C8-CBC2-6718-14CB-EE8AA5D47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Since</a:t>
            </a:r>
            <a:r>
              <a:rPr lang="en-US" altLang="en-US" baseline="0" dirty="0"/>
              <a:t> we are familiar with decimal, we will convert everything to decimal for understanding</a:t>
            </a:r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EE16A-A7A5-1E7A-945F-A1ED601FF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642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F5998-C2E5-76B2-0826-E3323523A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40BD7A-837D-209A-6FCD-B2E471365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FF9544-5B08-2A89-BE15-0C6453EF0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4C721-B71F-A2EA-6361-B6F5B25615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1007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ACE23-F782-4C65-7613-66DF87D27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70694-F2E3-7336-26F4-ECE2E5B7A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EE6396-9BAB-36E4-6734-B7C513859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F2FD9-92E0-B126-9D2F-4DF41B54C3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7943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C1939B66-CF87-45F6-9C66-3A59ABE1D7C7}" type="datetime3">
              <a:rPr lang="en-AU"/>
              <a:pPr/>
              <a:t>17 September, 2026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AU"/>
              <a:t>Chapter 3 — Arithmetic for Computers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0BF643-9258-4D17-9B5C-CF438ACFE11C}" type="slidenum">
              <a:rPr lang="en-AU"/>
              <a:pPr/>
              <a:t>3</a:t>
            </a:fld>
            <a:endParaRPr lang="en-AU"/>
          </a:p>
        </p:txBody>
      </p:sp>
      <p:sp>
        <p:nvSpPr>
          <p:cNvPr id="241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334EFBFD-064F-4344-8C51-8599A4105AC2}" type="datetime3">
              <a:rPr lang="en-AU"/>
              <a:pPr/>
              <a:t>17 September, 2026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AU"/>
              <a:t>Chapter 3 — Arithmetic for Computers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2524DC-BCF6-4DEA-A455-2FB50891734A}" type="slidenum">
              <a:rPr lang="en-AU"/>
              <a:pPr/>
              <a:t>4</a:t>
            </a:fld>
            <a:endParaRPr lang="en-AU"/>
          </a:p>
        </p:txBody>
      </p:sp>
      <p:sp>
        <p:nvSpPr>
          <p:cNvPr id="260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0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AU"/>
              <a:t>Morgan Kaufmann Publishers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52C49A79-86BF-404E-9524-19FE4DF518E6}" type="datetime3">
              <a:rPr lang="en-AU"/>
              <a:pPr/>
              <a:t>17 September, 2026</a:t>
            </a:fld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AU"/>
              <a:t>Chapter 3 — Arithmetic for Computers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718805-6775-44E4-B7A6-14206B4DE351}" type="slidenum">
              <a:rPr lang="en-AU"/>
              <a:pPr/>
              <a:t>6</a:t>
            </a:fld>
            <a:endParaRPr lang="en-AU"/>
          </a:p>
        </p:txBody>
      </p:sp>
      <p:sp>
        <p:nvSpPr>
          <p:cNvPr id="262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CEBA5-980F-B20A-E51D-BC45AFC45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D64F36-0BDF-0E53-C61E-E48B34273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0F7B45-4027-D387-E48A-A36A98084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Since</a:t>
            </a:r>
            <a:r>
              <a:rPr lang="en-US" altLang="en-US" baseline="0" dirty="0"/>
              <a:t> we are familiar with decimal, we will convert everything to decimal for understanding</a:t>
            </a:r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C45DA-E168-A0A7-EC3C-72C44D6789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760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3D53B-5E54-B24E-29F6-5AC0F1385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F7F901-4E86-2A7F-8349-BC6CBDA92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CA1E7A-63C7-AA0B-6414-AE6A33CFC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Since</a:t>
            </a:r>
            <a:r>
              <a:rPr lang="en-US" altLang="en-US" baseline="0" dirty="0"/>
              <a:t> we are familiar with decimal, we will convert everything to decimal for understanding</a:t>
            </a:r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097B9-2D37-4999-9043-1D445BB1A2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0422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Planck’s constant</a:t>
            </a:r>
            <a:r>
              <a:rPr lang="en-US" baseline="0" dirty="0"/>
              <a:t> </a:t>
            </a:r>
            <a:r>
              <a:rPr lang="en-US" i="1" baseline="0" dirty="0"/>
              <a:t>h</a:t>
            </a:r>
            <a:r>
              <a:rPr lang="en-US" i="0" baseline="0" dirty="0"/>
              <a:t>. (E = </a:t>
            </a:r>
            <a:r>
              <a:rPr lang="en-US" i="0" baseline="0" dirty="0" err="1"/>
              <a:t>hv</a:t>
            </a:r>
            <a:r>
              <a:rPr lang="en-US" i="0" baseline="0" dirty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E34500-BB8F-47C6-8EB6-733711EA6A42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>
                <a:latin typeface="Times New Roman" pitchFamily="18" charset="0"/>
              </a:rPr>
              <a:t>Morgan Kaufmann Publishers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AD16959-2D97-48BE-999D-C56F41181359}" type="datetime3">
              <a:rPr lang="en-AU" smtClean="0">
                <a:latin typeface="Times New Roman" pitchFamily="18" charset="0"/>
              </a:rPr>
              <a:pPr/>
              <a:t>17 September, 2026</a:t>
            </a:fld>
            <a:endParaRPr lang="en-AU">
              <a:latin typeface="Times New Roman" pitchFamily="18" charset="0"/>
            </a:endParaRPr>
          </a:p>
        </p:txBody>
      </p:sp>
      <p:sp>
        <p:nvSpPr>
          <p:cNvPr id="8397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>
                <a:latin typeface="Times New Roman" pitchFamily="18" charset="0"/>
              </a:rPr>
              <a:t>Chapter 3 — Arithmetic for Computers</a:t>
            </a:r>
          </a:p>
        </p:txBody>
      </p:sp>
      <p:sp>
        <p:nvSpPr>
          <p:cNvPr id="839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14949D3-4BBF-4F93-BC4A-F4FA171EBAC4}" type="slidenum">
              <a:rPr lang="en-AU" smtClean="0">
                <a:latin typeface="Times New Roman" pitchFamily="18" charset="0"/>
              </a:rPr>
              <a:pPr/>
              <a:t>27</a:t>
            </a:fld>
            <a:endParaRPr lang="en-AU">
              <a:latin typeface="Times New Roman" pitchFamily="18" charset="0"/>
            </a:endParaRPr>
          </a:p>
        </p:txBody>
      </p:sp>
      <p:sp>
        <p:nvSpPr>
          <p:cNvPr id="839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EC845-3873-C3E2-6D49-0CF37A537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0CCA2B55-F36B-B7D7-896C-F6E2B01E68B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>
                <a:latin typeface="Times New Roman" pitchFamily="18" charset="0"/>
              </a:rPr>
              <a:t>Morgan Kaufmann Publishers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9E6974B5-2C23-A17A-6BBB-A90AE961334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AD16959-2D97-48BE-999D-C56F41181359}" type="datetime3">
              <a:rPr lang="en-AU" smtClean="0">
                <a:latin typeface="Times New Roman" pitchFamily="18" charset="0"/>
              </a:rPr>
              <a:pPr/>
              <a:t>17 September, 2026</a:t>
            </a:fld>
            <a:endParaRPr lang="en-AU">
              <a:latin typeface="Times New Roman" pitchFamily="18" charset="0"/>
            </a:endParaRPr>
          </a:p>
        </p:txBody>
      </p:sp>
      <p:sp>
        <p:nvSpPr>
          <p:cNvPr id="83972" name="Rectangle 6">
            <a:extLst>
              <a:ext uri="{FF2B5EF4-FFF2-40B4-BE49-F238E27FC236}">
                <a16:creationId xmlns:a16="http://schemas.microsoft.com/office/drawing/2014/main" id="{86AA2436-B28D-5503-67B6-F6FA4C53D61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>
                <a:latin typeface="Times New Roman" pitchFamily="18" charset="0"/>
              </a:rPr>
              <a:t>Chapter 3 — Arithmetic for Computers</a:t>
            </a:r>
          </a:p>
        </p:txBody>
      </p:sp>
      <p:sp>
        <p:nvSpPr>
          <p:cNvPr id="83973" name="Rectangle 7">
            <a:extLst>
              <a:ext uri="{FF2B5EF4-FFF2-40B4-BE49-F238E27FC236}">
                <a16:creationId xmlns:a16="http://schemas.microsoft.com/office/drawing/2014/main" id="{53AE13AE-F2B4-11FA-09BD-78C691157A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614949D3-4BBF-4F93-BC4A-F4FA171EBAC4}" type="slidenum">
              <a:rPr lang="en-AU" smtClean="0">
                <a:latin typeface="Times New Roman" pitchFamily="18" charset="0"/>
              </a:rPr>
              <a:pPr/>
              <a:t>28</a:t>
            </a:fld>
            <a:endParaRPr lang="en-AU">
              <a:latin typeface="Times New Roman" pitchFamily="18" charset="0"/>
            </a:endParaRPr>
          </a:p>
        </p:txBody>
      </p:sp>
      <p:sp>
        <p:nvSpPr>
          <p:cNvPr id="83974" name="Rectangle 2">
            <a:extLst>
              <a:ext uri="{FF2B5EF4-FFF2-40B4-BE49-F238E27FC236}">
                <a16:creationId xmlns:a16="http://schemas.microsoft.com/office/drawing/2014/main" id="{D1BF7DDC-38B9-7542-E210-CEA7E32C3D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5" name="Rectangle 3">
            <a:extLst>
              <a:ext uri="{FF2B5EF4-FFF2-40B4-BE49-F238E27FC236}">
                <a16:creationId xmlns:a16="http://schemas.microsoft.com/office/drawing/2014/main" id="{7453824D-6C7E-83B3-2A8A-A584BF9FA1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57026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>
                <a:latin typeface="Times New Roman" pitchFamily="18" charset="0"/>
              </a:rPr>
              <a:t>Morgan Kaufmann Publishers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C93F31C2-B796-4B8F-B116-051683AB540E}" type="datetime3">
              <a:rPr lang="en-AU" smtClean="0">
                <a:latin typeface="Times New Roman" pitchFamily="18" charset="0"/>
              </a:rPr>
              <a:pPr/>
              <a:t>17 September, 2026</a:t>
            </a:fld>
            <a:endParaRPr lang="en-AU">
              <a:latin typeface="Times New Roman" pitchFamily="18" charset="0"/>
            </a:endParaRPr>
          </a:p>
        </p:txBody>
      </p:sp>
      <p:sp>
        <p:nvSpPr>
          <p:cNvPr id="8499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>
                <a:latin typeface="Times New Roman" pitchFamily="18" charset="0"/>
              </a:rPr>
              <a:t>Chapter 3 — Arithmetic for Computers</a:t>
            </a:r>
          </a:p>
        </p:txBody>
      </p:sp>
      <p:sp>
        <p:nvSpPr>
          <p:cNvPr id="849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4949A185-33AF-47EC-A9EA-3491A113553F}" type="slidenum">
              <a:rPr lang="en-AU" smtClean="0">
                <a:latin typeface="Times New Roman" pitchFamily="18" charset="0"/>
              </a:rPr>
              <a:pPr/>
              <a:t>29</a:t>
            </a:fld>
            <a:endParaRPr lang="en-AU">
              <a:latin typeface="Times New Roman" pitchFamily="18" charset="0"/>
            </a:endParaRPr>
          </a:p>
        </p:txBody>
      </p:sp>
      <p:sp>
        <p:nvSpPr>
          <p:cNvPr id="849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33399-7137-E7C6-57D4-592524DF4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FC75202C-BBD9-FFAE-3763-572038077BA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>
                <a:latin typeface="Times New Roman" pitchFamily="18" charset="0"/>
              </a:rPr>
              <a:t>Morgan Kaufmann Publishers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640A6B1C-BBF7-1DDC-2CE9-3825A8079CF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C93F31C2-B796-4B8F-B116-051683AB540E}" type="datetime3">
              <a:rPr lang="en-AU" smtClean="0">
                <a:latin typeface="Times New Roman" pitchFamily="18" charset="0"/>
              </a:rPr>
              <a:pPr/>
              <a:t>17 September, 2026</a:t>
            </a:fld>
            <a:endParaRPr lang="en-AU">
              <a:latin typeface="Times New Roman" pitchFamily="18" charset="0"/>
            </a:endParaRPr>
          </a:p>
        </p:txBody>
      </p:sp>
      <p:sp>
        <p:nvSpPr>
          <p:cNvPr id="84996" name="Rectangle 6">
            <a:extLst>
              <a:ext uri="{FF2B5EF4-FFF2-40B4-BE49-F238E27FC236}">
                <a16:creationId xmlns:a16="http://schemas.microsoft.com/office/drawing/2014/main" id="{A6C93C4F-7AA3-7A1D-61B1-2D5F99D3796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>
                <a:latin typeface="Times New Roman" pitchFamily="18" charset="0"/>
              </a:rPr>
              <a:t>Chapter 3 — Arithmetic for Computers</a:t>
            </a:r>
          </a:p>
        </p:txBody>
      </p:sp>
      <p:sp>
        <p:nvSpPr>
          <p:cNvPr id="84997" name="Rectangle 7">
            <a:extLst>
              <a:ext uri="{FF2B5EF4-FFF2-40B4-BE49-F238E27FC236}">
                <a16:creationId xmlns:a16="http://schemas.microsoft.com/office/drawing/2014/main" id="{378A98C1-616C-3C49-C8A1-F836830317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4949A185-33AF-47EC-A9EA-3491A113553F}" type="slidenum">
              <a:rPr lang="en-AU" smtClean="0">
                <a:latin typeface="Times New Roman" pitchFamily="18" charset="0"/>
              </a:rPr>
              <a:pPr/>
              <a:t>28</a:t>
            </a:fld>
            <a:endParaRPr lang="en-AU">
              <a:latin typeface="Times New Roman" pitchFamily="18" charset="0"/>
            </a:endParaRPr>
          </a:p>
        </p:txBody>
      </p:sp>
      <p:sp>
        <p:nvSpPr>
          <p:cNvPr id="84998" name="Rectangle 2">
            <a:extLst>
              <a:ext uri="{FF2B5EF4-FFF2-40B4-BE49-F238E27FC236}">
                <a16:creationId xmlns:a16="http://schemas.microsoft.com/office/drawing/2014/main" id="{0CF9E3AA-C2DB-6916-1561-41822CED81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9" name="Rectangle 3">
            <a:extLst>
              <a:ext uri="{FF2B5EF4-FFF2-40B4-BE49-F238E27FC236}">
                <a16:creationId xmlns:a16="http://schemas.microsoft.com/office/drawing/2014/main" id="{3D147558-4D42-8890-C252-AB59BCED9E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3781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>
                <a:latin typeface="Times New Roman" pitchFamily="18" charset="0"/>
              </a:rPr>
              <a:t>Morgan Kaufmann Publishers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AC1B885A-1E88-4F7F-98F2-B9A274A4AE7E}" type="datetime3">
              <a:rPr lang="en-AU" smtClean="0">
                <a:latin typeface="Times New Roman" pitchFamily="18" charset="0"/>
              </a:rPr>
              <a:pPr/>
              <a:t>17 September, 2026</a:t>
            </a:fld>
            <a:endParaRPr lang="en-AU">
              <a:latin typeface="Times New Roman" pitchFamily="18" charset="0"/>
            </a:endParaRPr>
          </a:p>
        </p:txBody>
      </p:sp>
      <p:sp>
        <p:nvSpPr>
          <p:cNvPr id="8090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>
                <a:latin typeface="Times New Roman" pitchFamily="18" charset="0"/>
              </a:rPr>
              <a:t>Chapter 3 — Arithmetic for Computers</a:t>
            </a:r>
          </a:p>
        </p:txBody>
      </p:sp>
      <p:sp>
        <p:nvSpPr>
          <p:cNvPr id="809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CCF4002-8F32-480A-804F-BFA7F7C6A127}" type="slidenum">
              <a:rPr lang="en-AU" smtClean="0">
                <a:latin typeface="Times New Roman" pitchFamily="18" charset="0"/>
              </a:rPr>
              <a:pPr/>
              <a:t>30</a:t>
            </a:fld>
            <a:endParaRPr lang="en-AU">
              <a:latin typeface="Times New Roman" pitchFamily="18" charset="0"/>
            </a:endParaRPr>
          </a:p>
        </p:txBody>
      </p:sp>
      <p:sp>
        <p:nvSpPr>
          <p:cNvPr id="809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B133F-B6B5-7482-7DFB-1F82EEADB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16D29409-1CC8-BBDF-079E-6FF6CD97A62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>
                <a:latin typeface="Times New Roman" pitchFamily="18" charset="0"/>
              </a:rPr>
              <a:t>Morgan Kaufmann Publishers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2FE48838-A4D7-984F-33F4-FABB34714BD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AC1B885A-1E88-4F7F-98F2-B9A274A4AE7E}" type="datetime3">
              <a:rPr lang="en-AU" smtClean="0">
                <a:latin typeface="Times New Roman" pitchFamily="18" charset="0"/>
              </a:rPr>
              <a:pPr/>
              <a:t>17 September, 2026</a:t>
            </a:fld>
            <a:endParaRPr lang="en-AU">
              <a:latin typeface="Times New Roman" pitchFamily="18" charset="0"/>
            </a:endParaRPr>
          </a:p>
        </p:txBody>
      </p:sp>
      <p:sp>
        <p:nvSpPr>
          <p:cNvPr id="80900" name="Rectangle 6">
            <a:extLst>
              <a:ext uri="{FF2B5EF4-FFF2-40B4-BE49-F238E27FC236}">
                <a16:creationId xmlns:a16="http://schemas.microsoft.com/office/drawing/2014/main" id="{64537A37-E748-CD90-BFCE-4C433E0B1BF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>
                <a:latin typeface="Times New Roman" pitchFamily="18" charset="0"/>
              </a:rPr>
              <a:t>Chapter 3 — Arithmetic for Computers</a:t>
            </a:r>
          </a:p>
        </p:txBody>
      </p:sp>
      <p:sp>
        <p:nvSpPr>
          <p:cNvPr id="80901" name="Rectangle 7">
            <a:extLst>
              <a:ext uri="{FF2B5EF4-FFF2-40B4-BE49-F238E27FC236}">
                <a16:creationId xmlns:a16="http://schemas.microsoft.com/office/drawing/2014/main" id="{CC3360BC-538C-CF91-81CB-F61DD2D31A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CCF4002-8F32-480A-804F-BFA7F7C6A127}" type="slidenum">
              <a:rPr lang="en-AU" smtClean="0">
                <a:latin typeface="Times New Roman" pitchFamily="18" charset="0"/>
              </a:rPr>
              <a:pPr/>
              <a:t>31</a:t>
            </a:fld>
            <a:endParaRPr lang="en-AU">
              <a:latin typeface="Times New Roman" pitchFamily="18" charset="0"/>
            </a:endParaRPr>
          </a:p>
        </p:txBody>
      </p:sp>
      <p:sp>
        <p:nvSpPr>
          <p:cNvPr id="80902" name="Rectangle 2">
            <a:extLst>
              <a:ext uri="{FF2B5EF4-FFF2-40B4-BE49-F238E27FC236}">
                <a16:creationId xmlns:a16="http://schemas.microsoft.com/office/drawing/2014/main" id="{CF4CB232-37BA-D97F-F964-90094B60C1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3" name="Rectangle 3">
            <a:extLst>
              <a:ext uri="{FF2B5EF4-FFF2-40B4-BE49-F238E27FC236}">
                <a16:creationId xmlns:a16="http://schemas.microsoft.com/office/drawing/2014/main" id="{057E3505-CCD2-F001-61D3-4FB55629F8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5717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984AA-A1C2-BC23-08DB-1260F2B8F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4FE581A8-632B-73B5-B2BD-7D6E78091AF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>
                <a:latin typeface="Times New Roman" pitchFamily="18" charset="0"/>
              </a:rPr>
              <a:t>Morgan Kaufmann Publishers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4ED143CA-64AA-39D5-9ADC-2001E290CD3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AC1B885A-1E88-4F7F-98F2-B9A274A4AE7E}" type="datetime3">
              <a:rPr lang="en-AU" smtClean="0">
                <a:latin typeface="Times New Roman" pitchFamily="18" charset="0"/>
              </a:rPr>
              <a:pPr/>
              <a:t>17 September, 2026</a:t>
            </a:fld>
            <a:endParaRPr lang="en-AU">
              <a:latin typeface="Times New Roman" pitchFamily="18" charset="0"/>
            </a:endParaRPr>
          </a:p>
        </p:txBody>
      </p:sp>
      <p:sp>
        <p:nvSpPr>
          <p:cNvPr id="80900" name="Rectangle 6">
            <a:extLst>
              <a:ext uri="{FF2B5EF4-FFF2-40B4-BE49-F238E27FC236}">
                <a16:creationId xmlns:a16="http://schemas.microsoft.com/office/drawing/2014/main" id="{8C7EB2C6-7110-FA85-2459-36D50365FD4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>
                <a:latin typeface="Times New Roman" pitchFamily="18" charset="0"/>
              </a:rPr>
              <a:t>Chapter 3 — Arithmetic for Computers</a:t>
            </a:r>
          </a:p>
        </p:txBody>
      </p:sp>
      <p:sp>
        <p:nvSpPr>
          <p:cNvPr id="80901" name="Rectangle 7">
            <a:extLst>
              <a:ext uri="{FF2B5EF4-FFF2-40B4-BE49-F238E27FC236}">
                <a16:creationId xmlns:a16="http://schemas.microsoft.com/office/drawing/2014/main" id="{98B38E07-9CB7-8565-B15A-39006B635C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CCF4002-8F32-480A-804F-BFA7F7C6A127}" type="slidenum">
              <a:rPr lang="en-AU" smtClean="0">
                <a:latin typeface="Times New Roman" pitchFamily="18" charset="0"/>
              </a:rPr>
              <a:pPr/>
              <a:t>32</a:t>
            </a:fld>
            <a:endParaRPr lang="en-AU">
              <a:latin typeface="Times New Roman" pitchFamily="18" charset="0"/>
            </a:endParaRPr>
          </a:p>
        </p:txBody>
      </p:sp>
      <p:sp>
        <p:nvSpPr>
          <p:cNvPr id="80902" name="Rectangle 2">
            <a:extLst>
              <a:ext uri="{FF2B5EF4-FFF2-40B4-BE49-F238E27FC236}">
                <a16:creationId xmlns:a16="http://schemas.microsoft.com/office/drawing/2014/main" id="{E9E1A092-D48D-4CB3-4541-CA246D8598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3" name="Rectangle 3">
            <a:extLst>
              <a:ext uri="{FF2B5EF4-FFF2-40B4-BE49-F238E27FC236}">
                <a16:creationId xmlns:a16="http://schemas.microsoft.com/office/drawing/2014/main" id="{320B760D-90B8-A79C-A7A7-D8376CFDEF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0622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A6D9A-030B-F2E7-3401-05170CFE9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50BB01A9-8B36-DFAE-FA97-6011B4A5C34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>
                <a:latin typeface="Times New Roman" pitchFamily="18" charset="0"/>
              </a:rPr>
              <a:t>Morgan Kaufmann Publishers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A71FBCBB-FE8C-BA24-1FD8-968FE4DAE18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AC1B885A-1E88-4F7F-98F2-B9A274A4AE7E}" type="datetime3">
              <a:rPr lang="en-AU" smtClean="0">
                <a:latin typeface="Times New Roman" pitchFamily="18" charset="0"/>
              </a:rPr>
              <a:pPr/>
              <a:t>17 September, 2026</a:t>
            </a:fld>
            <a:endParaRPr lang="en-AU">
              <a:latin typeface="Times New Roman" pitchFamily="18" charset="0"/>
            </a:endParaRPr>
          </a:p>
        </p:txBody>
      </p:sp>
      <p:sp>
        <p:nvSpPr>
          <p:cNvPr id="80900" name="Rectangle 6">
            <a:extLst>
              <a:ext uri="{FF2B5EF4-FFF2-40B4-BE49-F238E27FC236}">
                <a16:creationId xmlns:a16="http://schemas.microsoft.com/office/drawing/2014/main" id="{F2B93C27-4D65-91FD-C9D7-CC8A050E53A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>
                <a:latin typeface="Times New Roman" pitchFamily="18" charset="0"/>
              </a:rPr>
              <a:t>Chapter 3 — Arithmetic for Computers</a:t>
            </a:r>
          </a:p>
        </p:txBody>
      </p:sp>
      <p:sp>
        <p:nvSpPr>
          <p:cNvPr id="80901" name="Rectangle 7">
            <a:extLst>
              <a:ext uri="{FF2B5EF4-FFF2-40B4-BE49-F238E27FC236}">
                <a16:creationId xmlns:a16="http://schemas.microsoft.com/office/drawing/2014/main" id="{8681A80E-EBC2-FC76-2756-8398178CBE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CCF4002-8F32-480A-804F-BFA7F7C6A127}" type="slidenum">
              <a:rPr lang="en-AU" smtClean="0">
                <a:latin typeface="Times New Roman" pitchFamily="18" charset="0"/>
              </a:rPr>
              <a:pPr/>
              <a:t>33</a:t>
            </a:fld>
            <a:endParaRPr lang="en-AU">
              <a:latin typeface="Times New Roman" pitchFamily="18" charset="0"/>
            </a:endParaRPr>
          </a:p>
        </p:txBody>
      </p:sp>
      <p:sp>
        <p:nvSpPr>
          <p:cNvPr id="80902" name="Rectangle 2">
            <a:extLst>
              <a:ext uri="{FF2B5EF4-FFF2-40B4-BE49-F238E27FC236}">
                <a16:creationId xmlns:a16="http://schemas.microsoft.com/office/drawing/2014/main" id="{7CC0CEB4-462B-79B2-A350-A17AA83383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3" name="Rectangle 3">
            <a:extLst>
              <a:ext uri="{FF2B5EF4-FFF2-40B4-BE49-F238E27FC236}">
                <a16:creationId xmlns:a16="http://schemas.microsoft.com/office/drawing/2014/main" id="{B1210546-6191-3D90-3660-5C7C77095F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774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694C1-9918-6C48-BF39-E5E2B23A2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85F5BD87-6F37-C1AC-D91A-CD8676FF57B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>
                <a:latin typeface="Times New Roman" pitchFamily="18" charset="0"/>
              </a:rPr>
              <a:t>Morgan Kaufmann Publishers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C7DF27FF-DEE8-37E4-33DA-9354BE7F04A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AC1B885A-1E88-4F7F-98F2-B9A274A4AE7E}" type="datetime3">
              <a:rPr lang="en-AU" smtClean="0">
                <a:latin typeface="Times New Roman" pitchFamily="18" charset="0"/>
              </a:rPr>
              <a:pPr/>
              <a:t>17 September, 2026</a:t>
            </a:fld>
            <a:endParaRPr lang="en-AU">
              <a:latin typeface="Times New Roman" pitchFamily="18" charset="0"/>
            </a:endParaRPr>
          </a:p>
        </p:txBody>
      </p:sp>
      <p:sp>
        <p:nvSpPr>
          <p:cNvPr id="80900" name="Rectangle 6">
            <a:extLst>
              <a:ext uri="{FF2B5EF4-FFF2-40B4-BE49-F238E27FC236}">
                <a16:creationId xmlns:a16="http://schemas.microsoft.com/office/drawing/2014/main" id="{28E9F447-E4DC-52DB-2E39-78CFE8777EE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>
                <a:latin typeface="Times New Roman" pitchFamily="18" charset="0"/>
              </a:rPr>
              <a:t>Chapter 3 — Arithmetic for Computers</a:t>
            </a:r>
          </a:p>
        </p:txBody>
      </p:sp>
      <p:sp>
        <p:nvSpPr>
          <p:cNvPr id="80901" name="Rectangle 7">
            <a:extLst>
              <a:ext uri="{FF2B5EF4-FFF2-40B4-BE49-F238E27FC236}">
                <a16:creationId xmlns:a16="http://schemas.microsoft.com/office/drawing/2014/main" id="{9CF7CED3-6DE4-878B-C674-AB3CBEC94B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CCF4002-8F32-480A-804F-BFA7F7C6A127}" type="slidenum">
              <a:rPr lang="en-AU" smtClean="0">
                <a:latin typeface="Times New Roman" pitchFamily="18" charset="0"/>
              </a:rPr>
              <a:pPr/>
              <a:t>34</a:t>
            </a:fld>
            <a:endParaRPr lang="en-AU">
              <a:latin typeface="Times New Roman" pitchFamily="18" charset="0"/>
            </a:endParaRPr>
          </a:p>
        </p:txBody>
      </p:sp>
      <p:sp>
        <p:nvSpPr>
          <p:cNvPr id="80902" name="Rectangle 2">
            <a:extLst>
              <a:ext uri="{FF2B5EF4-FFF2-40B4-BE49-F238E27FC236}">
                <a16:creationId xmlns:a16="http://schemas.microsoft.com/office/drawing/2014/main" id="{2CD21E2E-F7E1-E2B7-E207-52B20CDFCD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3" name="Rectangle 3">
            <a:extLst>
              <a:ext uri="{FF2B5EF4-FFF2-40B4-BE49-F238E27FC236}">
                <a16:creationId xmlns:a16="http://schemas.microsoft.com/office/drawing/2014/main" id="{C76FDCE1-8071-95C1-DBA2-3F4F3CBD80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93008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B7459-E202-EBA0-CB59-E15716DBE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30BC4044-A3FD-9049-6D64-66BC7D1B62C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>
                <a:latin typeface="Times New Roman" pitchFamily="18" charset="0"/>
              </a:rPr>
              <a:t>Morgan Kaufmann Publishers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8104B326-1321-2C3B-BB27-52EB5BED470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AC1B885A-1E88-4F7F-98F2-B9A274A4AE7E}" type="datetime3">
              <a:rPr lang="en-AU" smtClean="0">
                <a:latin typeface="Times New Roman" pitchFamily="18" charset="0"/>
              </a:rPr>
              <a:pPr/>
              <a:t>17 September, 2026</a:t>
            </a:fld>
            <a:endParaRPr lang="en-AU">
              <a:latin typeface="Times New Roman" pitchFamily="18" charset="0"/>
            </a:endParaRPr>
          </a:p>
        </p:txBody>
      </p:sp>
      <p:sp>
        <p:nvSpPr>
          <p:cNvPr id="80900" name="Rectangle 6">
            <a:extLst>
              <a:ext uri="{FF2B5EF4-FFF2-40B4-BE49-F238E27FC236}">
                <a16:creationId xmlns:a16="http://schemas.microsoft.com/office/drawing/2014/main" id="{0DDE70B6-80BD-6145-C50A-C7543B63A83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>
                <a:latin typeface="Times New Roman" pitchFamily="18" charset="0"/>
              </a:rPr>
              <a:t>Chapter 3 — Arithmetic for Computers</a:t>
            </a:r>
          </a:p>
        </p:txBody>
      </p:sp>
      <p:sp>
        <p:nvSpPr>
          <p:cNvPr id="80901" name="Rectangle 7">
            <a:extLst>
              <a:ext uri="{FF2B5EF4-FFF2-40B4-BE49-F238E27FC236}">
                <a16:creationId xmlns:a16="http://schemas.microsoft.com/office/drawing/2014/main" id="{7EEEC5DB-82A1-5E2A-D059-6DBC82D5EF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3CCF4002-8F32-480A-804F-BFA7F7C6A127}" type="slidenum">
              <a:rPr lang="en-AU" smtClean="0">
                <a:latin typeface="Times New Roman" pitchFamily="18" charset="0"/>
              </a:rPr>
              <a:pPr/>
              <a:t>35</a:t>
            </a:fld>
            <a:endParaRPr lang="en-AU">
              <a:latin typeface="Times New Roman" pitchFamily="18" charset="0"/>
            </a:endParaRPr>
          </a:p>
        </p:txBody>
      </p:sp>
      <p:sp>
        <p:nvSpPr>
          <p:cNvPr id="80902" name="Rectangle 2">
            <a:extLst>
              <a:ext uri="{FF2B5EF4-FFF2-40B4-BE49-F238E27FC236}">
                <a16:creationId xmlns:a16="http://schemas.microsoft.com/office/drawing/2014/main" id="{5A0A3298-EB06-B695-C404-95D4B53C30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3" name="Rectangle 3">
            <a:extLst>
              <a:ext uri="{FF2B5EF4-FFF2-40B4-BE49-F238E27FC236}">
                <a16:creationId xmlns:a16="http://schemas.microsoft.com/office/drawing/2014/main" id="{E9FBD638-7339-AD15-6385-100DEF7BF5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7699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>
                <a:latin typeface="Times New Roman" pitchFamily="18" charset="0"/>
              </a:rPr>
              <a:t>Morgan Kaufmann Publishers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A4BF8A7A-CDA3-4E7B-AC1E-D66FC6D8033C}" type="datetime3">
              <a:rPr lang="en-AU" smtClean="0">
                <a:latin typeface="Times New Roman" pitchFamily="18" charset="0"/>
              </a:rPr>
              <a:pPr/>
              <a:t>17 September, 2026</a:t>
            </a:fld>
            <a:endParaRPr lang="en-AU">
              <a:latin typeface="Times New Roman" pitchFamily="18" charset="0"/>
            </a:endParaRPr>
          </a:p>
        </p:txBody>
      </p:sp>
      <p:sp>
        <p:nvSpPr>
          <p:cNvPr id="8704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>
                <a:latin typeface="Times New Roman" pitchFamily="18" charset="0"/>
              </a:rPr>
              <a:t>Chapter 3 — Arithmetic for Computers</a:t>
            </a:r>
          </a:p>
        </p:txBody>
      </p:sp>
      <p:sp>
        <p:nvSpPr>
          <p:cNvPr id="870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442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defTabSz="89244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defTabSz="89244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9293F8F5-5B0E-488D-B101-5D04F87EE0D1}" type="slidenum">
              <a:rPr lang="en-AU" smtClean="0">
                <a:latin typeface="Times New Roman" pitchFamily="18" charset="0"/>
              </a:rPr>
              <a:pPr/>
              <a:t>36</a:t>
            </a:fld>
            <a:endParaRPr lang="en-AU">
              <a:latin typeface="Times New Roman" pitchFamily="18" charset="0"/>
            </a:endParaRPr>
          </a:p>
        </p:txBody>
      </p:sp>
      <p:sp>
        <p:nvSpPr>
          <p:cNvPr id="870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02C08-07DE-F06E-A692-A73990B0D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8DBCC18-2890-CAEF-7818-69D7DB32AB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819FD0-1203-40C6-8A28-7B26D21D7489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260098" name="Rectangle 2">
            <a:extLst>
              <a:ext uri="{FF2B5EF4-FFF2-40B4-BE49-F238E27FC236}">
                <a16:creationId xmlns:a16="http://schemas.microsoft.com/office/drawing/2014/main" id="{5A752B3B-24E6-5014-D24D-5AF2D77DA4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0099" name="Rectangle 3">
            <a:extLst>
              <a:ext uri="{FF2B5EF4-FFF2-40B4-BE49-F238E27FC236}">
                <a16:creationId xmlns:a16="http://schemas.microsoft.com/office/drawing/2014/main" id="{B146DBBB-B623-E5A1-C65B-6AC3CB4A0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67628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AA165-7F14-D650-C17B-62ED384A5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048074F-764E-17B8-93ED-1AAE19E8C3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819FD0-1203-40C6-8A28-7B26D21D7489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260098" name="Rectangle 2">
            <a:extLst>
              <a:ext uri="{FF2B5EF4-FFF2-40B4-BE49-F238E27FC236}">
                <a16:creationId xmlns:a16="http://schemas.microsoft.com/office/drawing/2014/main" id="{90F23CA9-5D84-2432-150D-01EFC664DB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0099" name="Rectangle 3">
            <a:extLst>
              <a:ext uri="{FF2B5EF4-FFF2-40B4-BE49-F238E27FC236}">
                <a16:creationId xmlns:a16="http://schemas.microsoft.com/office/drawing/2014/main" id="{2342DD50-9FF3-B7A1-61F0-189FCD593F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56199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BCD06-A608-0C19-46E2-E3C2205E7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338941E-01A8-6FBF-C234-C66D7C2662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819FD0-1203-40C6-8A28-7B26D21D7489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260098" name="Rectangle 2">
            <a:extLst>
              <a:ext uri="{FF2B5EF4-FFF2-40B4-BE49-F238E27FC236}">
                <a16:creationId xmlns:a16="http://schemas.microsoft.com/office/drawing/2014/main" id="{66B98A9B-E6CA-36E9-0CBA-D77519E4D6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0099" name="Rectangle 3">
            <a:extLst>
              <a:ext uri="{FF2B5EF4-FFF2-40B4-BE49-F238E27FC236}">
                <a16:creationId xmlns:a16="http://schemas.microsoft.com/office/drawing/2014/main" id="{4C344B02-D068-D6F3-C5F6-A02F6552E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97936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05EAD-028A-31E3-8EE9-B9851DAC7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188EA61-94E3-6673-D3BC-923496962A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819FD0-1203-40C6-8A28-7B26D21D7489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260098" name="Rectangle 2">
            <a:extLst>
              <a:ext uri="{FF2B5EF4-FFF2-40B4-BE49-F238E27FC236}">
                <a16:creationId xmlns:a16="http://schemas.microsoft.com/office/drawing/2014/main" id="{953E34AC-3682-A31F-2126-8C2222AFD4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0099" name="Rectangle 3">
            <a:extLst>
              <a:ext uri="{FF2B5EF4-FFF2-40B4-BE49-F238E27FC236}">
                <a16:creationId xmlns:a16="http://schemas.microsoft.com/office/drawing/2014/main" id="{AA6533CE-E020-5AD1-7BA0-64D2CAFEDC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217702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E9715-C843-2D40-4313-52BBB635F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142C373-F540-768B-4A85-16236DE66D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819FD0-1203-40C6-8A28-7B26D21D7489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260098" name="Rectangle 2">
            <a:extLst>
              <a:ext uri="{FF2B5EF4-FFF2-40B4-BE49-F238E27FC236}">
                <a16:creationId xmlns:a16="http://schemas.microsoft.com/office/drawing/2014/main" id="{938FF841-25F0-7E0D-BD93-413F3271F8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0099" name="Rectangle 3">
            <a:extLst>
              <a:ext uri="{FF2B5EF4-FFF2-40B4-BE49-F238E27FC236}">
                <a16:creationId xmlns:a16="http://schemas.microsoft.com/office/drawing/2014/main" id="{7D96EA19-D248-C1B6-C85A-A5D887D5E1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43426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B9692-BE4C-A34E-1B5B-A3A410AB1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770B595-D75C-A73F-648C-F0D2DB0C9E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CB3E71-E8ED-481B-A183-D4E94AE309E1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284674" name="Rectangle 2">
            <a:extLst>
              <a:ext uri="{FF2B5EF4-FFF2-40B4-BE49-F238E27FC236}">
                <a16:creationId xmlns:a16="http://schemas.microsoft.com/office/drawing/2014/main" id="{7C110794-FC35-75B7-BEC7-16A18B7F0F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4675" name="Rectangle 3">
            <a:extLst>
              <a:ext uri="{FF2B5EF4-FFF2-40B4-BE49-F238E27FC236}">
                <a16:creationId xmlns:a16="http://schemas.microsoft.com/office/drawing/2014/main" id="{5AEA39CE-31D2-0C7F-EC13-87BE1FF3E1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64747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84759-4D9C-EDB7-BC8A-4BB2E4907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BE2EBEA-6650-C289-52EF-E06B0E4591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CB3E71-E8ED-481B-A183-D4E94AE309E1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284674" name="Rectangle 2">
            <a:extLst>
              <a:ext uri="{FF2B5EF4-FFF2-40B4-BE49-F238E27FC236}">
                <a16:creationId xmlns:a16="http://schemas.microsoft.com/office/drawing/2014/main" id="{F267A76C-CEF3-B5C3-46B4-9B148AEC85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4675" name="Rectangle 3">
            <a:extLst>
              <a:ext uri="{FF2B5EF4-FFF2-40B4-BE49-F238E27FC236}">
                <a16:creationId xmlns:a16="http://schemas.microsoft.com/office/drawing/2014/main" id="{FD2830E9-3076-85A7-8574-047EAF35D3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5650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4C765-A17F-453B-039E-01700D6CF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7580F5C-9A65-0E1D-E23B-B99FC450C5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CB3E71-E8ED-481B-A183-D4E94AE309E1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284674" name="Rectangle 2">
            <a:extLst>
              <a:ext uri="{FF2B5EF4-FFF2-40B4-BE49-F238E27FC236}">
                <a16:creationId xmlns:a16="http://schemas.microsoft.com/office/drawing/2014/main" id="{47C0D7E3-4C26-299D-0BE2-4946CFA4D0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4675" name="Rectangle 3">
            <a:extLst>
              <a:ext uri="{FF2B5EF4-FFF2-40B4-BE49-F238E27FC236}">
                <a16:creationId xmlns:a16="http://schemas.microsoft.com/office/drawing/2014/main" id="{82BC53BF-09EB-4EE5-C886-3A37AE90C1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954601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2B513-F88D-CC1D-6ABB-AE2336634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7B7D76E-1485-F082-4873-C51FA03137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CB3E71-E8ED-481B-A183-D4E94AE309E1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284674" name="Rectangle 2">
            <a:extLst>
              <a:ext uri="{FF2B5EF4-FFF2-40B4-BE49-F238E27FC236}">
                <a16:creationId xmlns:a16="http://schemas.microsoft.com/office/drawing/2014/main" id="{4343DCB0-4A34-EAE2-A198-1AEE735775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4675" name="Rectangle 3">
            <a:extLst>
              <a:ext uri="{FF2B5EF4-FFF2-40B4-BE49-F238E27FC236}">
                <a16:creationId xmlns:a16="http://schemas.microsoft.com/office/drawing/2014/main" id="{BE99A6D4-01CF-38F7-1FA6-F3A264B200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27903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CE61D-F0F2-9E5C-F01B-C5AE8C66D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D033BBA-4A7F-E30C-7018-FBE5FBA5E4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CB3E71-E8ED-481B-A183-D4E94AE309E1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284674" name="Rectangle 2">
            <a:extLst>
              <a:ext uri="{FF2B5EF4-FFF2-40B4-BE49-F238E27FC236}">
                <a16:creationId xmlns:a16="http://schemas.microsoft.com/office/drawing/2014/main" id="{B850CEC6-37AB-A48C-2351-52DB5A556B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4675" name="Rectangle 3">
            <a:extLst>
              <a:ext uri="{FF2B5EF4-FFF2-40B4-BE49-F238E27FC236}">
                <a16:creationId xmlns:a16="http://schemas.microsoft.com/office/drawing/2014/main" id="{BD6E2BAD-974B-DF15-6931-5D6C0F274B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53544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02769-A898-989B-2C19-BC5ED4B37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D2E35D9-4EAE-AF43-D69D-B8905868E3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CB3E71-E8ED-481B-A183-D4E94AE309E1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284674" name="Rectangle 2">
            <a:extLst>
              <a:ext uri="{FF2B5EF4-FFF2-40B4-BE49-F238E27FC236}">
                <a16:creationId xmlns:a16="http://schemas.microsoft.com/office/drawing/2014/main" id="{2877D088-118D-BEA1-A08F-0E1EE69C60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4675" name="Rectangle 3">
            <a:extLst>
              <a:ext uri="{FF2B5EF4-FFF2-40B4-BE49-F238E27FC236}">
                <a16:creationId xmlns:a16="http://schemas.microsoft.com/office/drawing/2014/main" id="{42B3A9FB-5833-5A62-4B83-BA6BD44EA0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0421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8813A-9329-426C-8047-01C1395FFE36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98ED8-9146-4BE6-B540-8347B7D3438C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3B9B1-624C-4443-9E49-4AE5E8C13226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804C-B05D-4C85-95DC-ACD6E58FC5CF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878C0-F05B-4E10-BEA1-D8C122382F74}" type="datetime1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E8022-ABBB-4C19-AC05-69F05BDFBB5D}" type="datetime1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303E2-840D-4389-90AF-4B66070F5592}" type="datetime1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37C5A-9E50-49CC-95CE-AA003F394609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E9019-D333-4149-8780-C872D9CA9A8F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D8753-E8D8-4E4B-8EC0-E06A258A09C0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AC97C-B3CE-4D72-BCA1-C99A1B0D10C7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838" y="1447800"/>
            <a:ext cx="4788622" cy="65836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 b="1">
                <a:solidFill>
                  <a:schemeClr val="tx1"/>
                </a:solidFill>
                <a:latin typeface="+mn-lt"/>
                <a:cs typeface="Arial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3206" y="2209801"/>
            <a:ext cx="4788624" cy="427042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  <a:latin typeface="+mn-lt"/>
                <a:cs typeface="Arial"/>
              </a:defRPr>
            </a:lvl1pPr>
            <a:lvl2pPr>
              <a:defRPr sz="2400">
                <a:latin typeface="+mn-lt"/>
                <a:cs typeface="Arial"/>
              </a:defRPr>
            </a:lvl2pPr>
            <a:lvl3pPr>
              <a:defRPr sz="2000">
                <a:latin typeface="Arial"/>
                <a:cs typeface="Arial"/>
              </a:defRPr>
            </a:lvl3pPr>
            <a:lvl4pPr>
              <a:defRPr sz="2000">
                <a:latin typeface="Arial"/>
                <a:cs typeface="Arial"/>
              </a:defRPr>
            </a:lvl4pPr>
            <a:lvl5pPr>
              <a:defRPr sz="2000">
                <a:latin typeface="Arial"/>
                <a:cs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5029" y="1447800"/>
            <a:ext cx="4826607" cy="65836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 b="1">
                <a:solidFill>
                  <a:schemeClr val="tx1"/>
                </a:solidFill>
                <a:latin typeface="+mn-lt"/>
                <a:cs typeface="Arial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5400" y="2206574"/>
            <a:ext cx="4820229" cy="427042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  <a:latin typeface="+mn-lt"/>
                <a:cs typeface="Arial"/>
              </a:defRPr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03201" y="152400"/>
            <a:ext cx="11764083" cy="1054250"/>
          </a:xfrm>
          <a:prstGeom prst="rect">
            <a:avLst/>
          </a:prstGeom>
        </p:spPr>
        <p:txBody>
          <a:bodyPr/>
          <a:lstStyle>
            <a:lvl1pPr algn="l">
              <a:defRPr sz="4400" b="1">
                <a:solidFill>
                  <a:schemeClr val="tx2"/>
                </a:solidFill>
                <a:latin typeface="+mj-lt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032239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203200" y="1371600"/>
            <a:ext cx="4638421" cy="5029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  <a:latin typeface="+mn-lt"/>
                <a:cs typeface="Arial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953000" y="1371600"/>
            <a:ext cx="4648200" cy="5029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  <a:latin typeface="+mn-lt"/>
                <a:cs typeface="Arial"/>
              </a:defRPr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03201" y="152400"/>
            <a:ext cx="11764083" cy="1054250"/>
          </a:xfrm>
          <a:prstGeom prst="rect">
            <a:avLst/>
          </a:prstGeom>
        </p:spPr>
        <p:txBody>
          <a:bodyPr/>
          <a:lstStyle>
            <a:lvl1pPr algn="l">
              <a:defRPr sz="4400" b="1">
                <a:solidFill>
                  <a:schemeClr val="tx2"/>
                </a:solidFill>
                <a:latin typeface="+mj-lt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5996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895D1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39787" y="1148493"/>
            <a:ext cx="2597785" cy="3529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895D1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2663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5E7E88-3F9E-4598-A06E-B6F43CDC37BA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thakur@ucc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7.w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2494"/>
            <a:ext cx="12197675" cy="34314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dirty="0">
                <a:ea typeface="+mj-lt"/>
                <a:cs typeface="+mj-lt"/>
              </a:rPr>
              <a:t>CS 2160</a:t>
            </a:r>
            <a:br>
              <a:rPr lang="en-US" sz="3600" b="1" dirty="0">
                <a:ea typeface="+mj-lt"/>
                <a:cs typeface="+mj-lt"/>
              </a:rPr>
            </a:br>
            <a:r>
              <a:rPr lang="en-US" sz="3600" dirty="0"/>
              <a:t>Introduction to Assembly Programming and</a:t>
            </a:r>
            <a:br>
              <a:rPr lang="en-US" sz="3600" dirty="0"/>
            </a:br>
            <a:r>
              <a:rPr lang="en-US" sz="3600" dirty="0"/>
              <a:t>Computer Organization</a:t>
            </a:r>
            <a:br>
              <a:rPr lang="en-US" sz="3600" dirty="0"/>
            </a:br>
            <a:br>
              <a:rPr lang="en-US" sz="3600" dirty="0">
                <a:ea typeface="+mj-lt"/>
                <a:cs typeface="+mj-lt"/>
              </a:rPr>
            </a:br>
            <a:r>
              <a:rPr lang="en-US" sz="3200" b="1" dirty="0">
                <a:ea typeface="+mj-lt"/>
                <a:cs typeface="+mj-lt"/>
              </a:rPr>
              <a:t>Lecture 05</a:t>
            </a:r>
            <a:r>
              <a:rPr lang="en-US" sz="3200" dirty="0">
                <a:ea typeface="+mj-lt"/>
                <a:cs typeface="+mj-lt"/>
              </a:rPr>
              <a:t>: Integer &amp; Floating Point Arithmetic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140" y="3424813"/>
            <a:ext cx="12175382" cy="29816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latin typeface="Aptos"/>
                <a:ea typeface="Calibri"/>
                <a:cs typeface="Calibri"/>
              </a:rPr>
              <a:t>Fall 2026</a:t>
            </a:r>
            <a:endParaRPr lang="en-US">
              <a:latin typeface="Aptos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b="1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b="1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 b="1">
                <a:latin typeface="Calibri"/>
                <a:ea typeface="Calibri"/>
                <a:cs typeface="Calibri"/>
              </a:rPr>
              <a:t>Instructor</a:t>
            </a:r>
            <a:r>
              <a:rPr lang="en-US">
                <a:latin typeface="Calibri"/>
                <a:ea typeface="Calibri"/>
                <a:cs typeface="Calibri"/>
              </a:rPr>
              <a:t>: Himon Thakur</a:t>
            </a:r>
            <a:endParaRPr lang="en-US"/>
          </a:p>
          <a:p>
            <a:pPr>
              <a:spcBef>
                <a:spcPts val="0"/>
              </a:spcBef>
            </a:pPr>
            <a:r>
              <a:rPr lang="en-US" b="1">
                <a:latin typeface="Calibri"/>
                <a:ea typeface="Calibri"/>
                <a:cs typeface="Calibri"/>
              </a:rPr>
              <a:t>TA: </a:t>
            </a:r>
            <a:r>
              <a:rPr lang="en-US">
                <a:latin typeface="Calibri"/>
                <a:ea typeface="Calibri"/>
                <a:cs typeface="Calibri"/>
              </a:rPr>
              <a:t>Hassan Shakil</a:t>
            </a:r>
          </a:p>
          <a:p>
            <a:pPr>
              <a:spcBef>
                <a:spcPts val="0"/>
              </a:spcBef>
            </a:pPr>
            <a:endParaRPr lang="en-US" b="1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b="1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/>
              <a:t>University of Colorado </a:t>
            </a:r>
            <a:r>
              <a:rPr lang="en-US" err="1"/>
              <a:t>Colorado</a:t>
            </a:r>
            <a:r>
              <a:rPr lang="en-US"/>
              <a:t> Springs (UCCS)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23017D99-3D2A-E0CE-054E-E32FE8E968E6}"/>
              </a:ext>
            </a:extLst>
          </p:cNvPr>
          <p:cNvSpPr txBox="1"/>
          <p:nvPr/>
        </p:nvSpPr>
        <p:spPr>
          <a:xfrm>
            <a:off x="20320" y="6407876"/>
            <a:ext cx="12181838" cy="43858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>
                <a:solidFill>
                  <a:srgbClr val="767676"/>
                </a:solidFill>
                <a:latin typeface="Aptos Display"/>
                <a:ea typeface="Calibri"/>
                <a:cs typeface="Calibri"/>
              </a:rPr>
              <a:t>Himon Thakur</a:t>
            </a:r>
            <a:r>
              <a:rPr lang="en-US" sz="1200">
                <a:solidFill>
                  <a:srgbClr val="767676"/>
                </a:solidFill>
                <a:latin typeface="Aptos Display"/>
                <a:ea typeface="Calibri"/>
                <a:cs typeface="Calibri"/>
              </a:rPr>
              <a:t> (</a:t>
            </a:r>
            <a:r>
              <a:rPr lang="en-US" sz="1200">
                <a:solidFill>
                  <a:srgbClr val="767676"/>
                </a:solidFill>
                <a:latin typeface="Aptos Display"/>
                <a:ea typeface="Calibri"/>
                <a:cs typeface="Calibri"/>
                <a:hlinkClick r:id="rId2"/>
              </a:rPr>
              <a:t>hthakur@uccs.edu</a:t>
            </a:r>
            <a:r>
              <a:rPr lang="en-US" sz="1200" i="1">
                <a:solidFill>
                  <a:srgbClr val="767676"/>
                </a:solidFill>
                <a:latin typeface="Aptos Display"/>
                <a:ea typeface="Calibri"/>
                <a:cs typeface="Calibri"/>
              </a:rPr>
              <a:t>); </a:t>
            </a:r>
            <a:r>
              <a:rPr lang="en-US" sz="1200" b="1">
                <a:solidFill>
                  <a:srgbClr val="767676"/>
                </a:solidFill>
                <a:latin typeface="Aptos Display"/>
                <a:ea typeface="Calibri"/>
                <a:cs typeface="Calibri"/>
              </a:rPr>
              <a:t>CC BY-NC-SA 4.0;</a:t>
            </a:r>
            <a:endParaRPr lang="en-US" sz="1200">
              <a:solidFill>
                <a:srgbClr val="000000"/>
              </a:solidFill>
              <a:latin typeface="Aptos Display"/>
              <a:ea typeface="Calibri"/>
              <a:cs typeface="Calibri"/>
            </a:endParaRPr>
          </a:p>
          <a:p>
            <a:pPr algn="ctr"/>
            <a:r>
              <a:rPr lang="en-US" sz="1050" i="1">
                <a:solidFill>
                  <a:srgbClr val="767676"/>
                </a:solidFill>
                <a:latin typeface="Aptos Display"/>
                <a:ea typeface="Calibri"/>
                <a:cs typeface="Calibri"/>
              </a:rPr>
              <a:t>Special Thanks to Dr. Keith Paarpong and Dr. Xi Tan.</a:t>
            </a:r>
            <a:endParaRPr lang="en-US" sz="1050">
              <a:latin typeface="Aptos Display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6786A-DB79-C2E9-C26B-F79D3B665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>
                <a:ea typeface="Calibri"/>
                <a:cs typeface="Calibri"/>
              </a:rPr>
              <a:t>Today’s Agenda.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D16EA-AC3F-5FE5-C0A6-85FAB868C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2DD545-B3A4-BBE9-77EB-C7F4C36452AF}"/>
              </a:ext>
            </a:extLst>
          </p:cNvPr>
          <p:cNvSpPr txBox="1"/>
          <p:nvPr/>
        </p:nvSpPr>
        <p:spPr>
          <a:xfrm>
            <a:off x="846030" y="1294312"/>
            <a:ext cx="10504655" cy="50623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457200" indent="-457200">
              <a:spcBef>
                <a:spcPct val="20000"/>
              </a:spcBef>
              <a:buFont typeface="Arial"/>
              <a:buChar char="•"/>
            </a:pPr>
            <a:r>
              <a:rPr lang="en-US" sz="2800" dirty="0">
                <a:latin typeface="Aptos"/>
                <a:ea typeface="Calibri"/>
                <a:cs typeface="Calibri"/>
              </a:rPr>
              <a:t>Understand RISC-V basic Assembly integers and floating point representation in the hardware.</a:t>
            </a:r>
            <a:endParaRPr lang="en-US" sz="2800" dirty="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Integer &amp; Floating point arithmetic</a:t>
            </a:r>
            <a:endParaRPr lang="en-US" dirty="0" err="1">
              <a:ea typeface="+mn-lt"/>
              <a:cs typeface="+mn-lt"/>
            </a:endParaRPr>
          </a:p>
          <a:p>
            <a:pPr marL="914400" lvl="1" indent="-457200">
              <a:buFont typeface="Courier New"/>
              <a:buChar char="o"/>
            </a:pPr>
            <a:r>
              <a:rPr lang="en-US" sz="2800" dirty="0"/>
              <a:t>Addition</a:t>
            </a:r>
          </a:p>
          <a:p>
            <a:pPr marL="914400" lvl="1" indent="-457200">
              <a:buFont typeface="Courier New"/>
              <a:buChar char="o"/>
            </a:pPr>
            <a:r>
              <a:rPr lang="en-US" sz="2800" dirty="0"/>
              <a:t>Multiplication</a:t>
            </a:r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35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9">
            <a:extLst>
              <a:ext uri="{FF2B5EF4-FFF2-40B4-BE49-F238E27FC236}">
                <a16:creationId xmlns:a16="http://schemas.microsoft.com/office/drawing/2014/main" id="{F5BBC03C-98DC-0F8E-976A-396F350032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0304" y="1196658"/>
            <a:ext cx="10095986" cy="6477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eaLnBrk="1" hangingPunct="1">
              <a:buNone/>
            </a:pPr>
            <a:r>
              <a:rPr lang="en-US" altLang="en-US" dirty="0"/>
              <a:t>Given an n-bit number, x</a:t>
            </a:r>
            <a:r>
              <a:rPr lang="en-US" altLang="en-US" baseline="-25000" dirty="0"/>
              <a:t>i</a:t>
            </a:r>
            <a:r>
              <a:rPr lang="en-US" altLang="en-US" dirty="0"/>
              <a:t> = 0 or 1</a:t>
            </a:r>
            <a:endParaRPr lang="en-AU" altLang="en-US" dirty="0"/>
          </a:p>
        </p:txBody>
      </p:sp>
      <p:graphicFrame>
        <p:nvGraphicFramePr>
          <p:cNvPr id="28677" name="Object 4">
            <a:extLst>
              <a:ext uri="{FF2B5EF4-FFF2-40B4-BE49-F238E27FC236}">
                <a16:creationId xmlns:a16="http://schemas.microsoft.com/office/drawing/2014/main" id="{010A6A6A-EC93-CAB4-95BA-F35D489350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1" y="1844675"/>
          <a:ext cx="6010275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7632600" imgH="5562600" progId="Equation.3">
                  <p:embed/>
                </p:oleObj>
              </mc:Choice>
              <mc:Fallback>
                <p:oleObj name="Equation" r:id="rId3" imgW="57632600" imgH="5562600" progId="Equation.3">
                  <p:embed/>
                  <p:pic>
                    <p:nvPicPr>
                      <p:cNvPr id="28677" name="Object 4">
                        <a:extLst>
                          <a:ext uri="{FF2B5EF4-FFF2-40B4-BE49-F238E27FC236}">
                            <a16:creationId xmlns:a16="http://schemas.microsoft.com/office/drawing/2014/main" id="{010A6A6A-EC93-CAB4-95BA-F35D489350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1844675"/>
                        <a:ext cx="6010275" cy="579438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8" name="Rectangle 5">
            <a:extLst>
              <a:ext uri="{FF2B5EF4-FFF2-40B4-BE49-F238E27FC236}">
                <a16:creationId xmlns:a16="http://schemas.microsoft.com/office/drawing/2014/main" id="{1C67EA23-7EE0-21CA-8296-6D9B51236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65401"/>
            <a:ext cx="9650413" cy="352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chemeClr val="tx2"/>
              </a:buClr>
            </a:pPr>
            <a:endParaRPr lang="en-US" altLang="en-US" dirty="0">
              <a:latin typeface="+mn-lt"/>
            </a:endParaRPr>
          </a:p>
          <a:p>
            <a:pPr marL="0" indent="0" eaLnBrk="1" hangingPunct="1">
              <a:buClr>
                <a:schemeClr val="tx2"/>
              </a:buClr>
              <a:buNone/>
            </a:pPr>
            <a:r>
              <a:rPr lang="en-US" altLang="en-US" dirty="0">
                <a:latin typeface="+mn-lt"/>
              </a:rPr>
              <a:t>Range: 0 to +2</a:t>
            </a:r>
            <a:r>
              <a:rPr lang="en-US" altLang="en-US" baseline="30000" dirty="0">
                <a:latin typeface="+mn-lt"/>
              </a:rPr>
              <a:t>n</a:t>
            </a:r>
            <a:r>
              <a:rPr lang="en-US" altLang="en-US" dirty="0">
                <a:latin typeface="+mn-lt"/>
              </a:rPr>
              <a:t> – 1</a:t>
            </a:r>
          </a:p>
          <a:p>
            <a:pPr eaLnBrk="1" hangingPunct="1">
              <a:buClr>
                <a:schemeClr val="tx2"/>
              </a:buClr>
            </a:pPr>
            <a:endParaRPr lang="en-US" altLang="en-US" dirty="0">
              <a:latin typeface="+mn-lt"/>
            </a:endParaRPr>
          </a:p>
          <a:p>
            <a:pPr marL="0" indent="0" eaLnBrk="1" hangingPunct="1">
              <a:buClr>
                <a:schemeClr val="tx2"/>
              </a:buClr>
              <a:buNone/>
            </a:pPr>
            <a:r>
              <a:rPr lang="en-US" altLang="en-US" dirty="0">
                <a:latin typeface="+mn-lt"/>
              </a:rPr>
              <a:t>Example</a:t>
            </a:r>
          </a:p>
          <a:p>
            <a:pPr marL="457200" lvl="1" indent="0" eaLnBrk="1" hangingPunct="1">
              <a:buClr>
                <a:schemeClr val="tx2"/>
              </a:buClr>
              <a:buNone/>
            </a:pPr>
            <a:r>
              <a:rPr lang="en-US" altLang="en-US" sz="2400" dirty="0">
                <a:latin typeface="+mn-lt"/>
              </a:rPr>
              <a:t>0000 0000 … 0000 1011</a:t>
            </a:r>
            <a:r>
              <a:rPr lang="en-US" altLang="en-US" sz="2400" baseline="-25000" dirty="0">
                <a:latin typeface="+mn-lt"/>
              </a:rPr>
              <a:t>2</a:t>
            </a:r>
            <a:br>
              <a:rPr lang="en-US" altLang="en-US" sz="2400" dirty="0">
                <a:latin typeface="+mn-lt"/>
              </a:rPr>
            </a:br>
            <a:r>
              <a:rPr lang="en-US" altLang="en-US" sz="2400" dirty="0">
                <a:latin typeface="+mn-lt"/>
              </a:rPr>
              <a:t>= 0 + … + 1×2</a:t>
            </a:r>
            <a:r>
              <a:rPr lang="en-US" altLang="en-US" sz="2400" baseline="30000" dirty="0">
                <a:latin typeface="+mn-lt"/>
              </a:rPr>
              <a:t>3</a:t>
            </a:r>
            <a:r>
              <a:rPr lang="en-US" altLang="en-US" sz="2400" dirty="0">
                <a:latin typeface="+mn-lt"/>
              </a:rPr>
              <a:t> + 0×2</a:t>
            </a:r>
            <a:r>
              <a:rPr lang="en-US" altLang="en-US" sz="2400" baseline="30000" dirty="0">
                <a:latin typeface="+mn-lt"/>
              </a:rPr>
              <a:t>2</a:t>
            </a:r>
            <a:r>
              <a:rPr lang="en-US" altLang="en-US" sz="2400" dirty="0">
                <a:latin typeface="+mn-lt"/>
              </a:rPr>
              <a:t> +1×2</a:t>
            </a:r>
            <a:r>
              <a:rPr lang="en-US" altLang="en-US" sz="2400" baseline="30000" dirty="0">
                <a:latin typeface="+mn-lt"/>
              </a:rPr>
              <a:t>1</a:t>
            </a:r>
            <a:r>
              <a:rPr lang="en-US" altLang="en-US" sz="2400" dirty="0">
                <a:latin typeface="+mn-lt"/>
              </a:rPr>
              <a:t> +1×2</a:t>
            </a:r>
            <a:r>
              <a:rPr lang="en-US" altLang="en-US" sz="2400" baseline="30000" dirty="0">
                <a:latin typeface="+mn-lt"/>
              </a:rPr>
              <a:t>0</a:t>
            </a:r>
            <a:br>
              <a:rPr lang="en-US" altLang="en-US" sz="2400" dirty="0">
                <a:latin typeface="+mn-lt"/>
              </a:rPr>
            </a:br>
            <a:r>
              <a:rPr lang="en-US" altLang="en-US" sz="2400" dirty="0">
                <a:latin typeface="+mn-lt"/>
              </a:rPr>
              <a:t>= 0 + … + 8 + 0 + 2 + 1 = 11</a:t>
            </a:r>
            <a:r>
              <a:rPr lang="en-US" altLang="en-US" sz="2400" baseline="-25000" dirty="0">
                <a:latin typeface="+mn-lt"/>
              </a:rPr>
              <a:t>10</a:t>
            </a:r>
            <a:endParaRPr lang="en-US" altLang="en-US" sz="2400" dirty="0">
              <a:latin typeface="+mn-lt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43E9244-F9EA-5BF2-0013-DBE4900026C5}"/>
              </a:ext>
            </a:extLst>
          </p:cNvPr>
          <p:cNvSpPr>
            <a:spLocks noGrp="1"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ea typeface="Calibri"/>
                <a:cs typeface="Calibri"/>
              </a:rPr>
              <a:t>Recall: unsigned integer representation.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545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1DF06-D8EF-2B26-8240-371137AB8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9">
            <a:extLst>
              <a:ext uri="{FF2B5EF4-FFF2-40B4-BE49-F238E27FC236}">
                <a16:creationId xmlns:a16="http://schemas.microsoft.com/office/drawing/2014/main" id="{82843740-7368-6BFF-305F-4C9891C7CD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3104" y="1298258"/>
            <a:ext cx="11275496" cy="487394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90000"/>
              </a:lnSpc>
              <a:tabLst>
                <a:tab pos="1341438" algn="l"/>
                <a:tab pos="2874963" algn="l"/>
              </a:tabLst>
            </a:pPr>
            <a:r>
              <a:rPr lang="en-US" altLang="en-US" sz="2800" dirty="0"/>
              <a:t>Bit 31 is sign bit</a:t>
            </a:r>
            <a:endParaRPr lang="en-US"/>
          </a:p>
          <a:p>
            <a:pPr lvl="1">
              <a:lnSpc>
                <a:spcPct val="90000"/>
              </a:lnSpc>
              <a:tabLst>
                <a:tab pos="1341438" algn="l"/>
                <a:tab pos="2874963" algn="l"/>
              </a:tabLst>
            </a:pPr>
            <a:r>
              <a:rPr lang="en-US" altLang="en-US" dirty="0"/>
              <a:t>1 for negative numbers</a:t>
            </a:r>
          </a:p>
          <a:p>
            <a:pPr lvl="1">
              <a:lnSpc>
                <a:spcPct val="90000"/>
              </a:lnSpc>
              <a:tabLst>
                <a:tab pos="1341438" algn="l"/>
                <a:tab pos="2874963" algn="l"/>
              </a:tabLst>
            </a:pPr>
            <a:r>
              <a:rPr lang="en-US" altLang="en-US" dirty="0"/>
              <a:t>0 for non-negative numbers</a:t>
            </a:r>
          </a:p>
          <a:p>
            <a:pPr>
              <a:lnSpc>
                <a:spcPct val="90000"/>
              </a:lnSpc>
              <a:tabLst>
                <a:tab pos="1341438" algn="l"/>
                <a:tab pos="2874963" algn="l"/>
              </a:tabLst>
            </a:pPr>
            <a:endParaRPr lang="en-US" altLang="en-US" sz="2800" dirty="0"/>
          </a:p>
          <a:p>
            <a:pPr>
              <a:lnSpc>
                <a:spcPct val="90000"/>
              </a:lnSpc>
              <a:tabLst>
                <a:tab pos="1341438" algn="l"/>
                <a:tab pos="2874963" algn="l"/>
              </a:tabLst>
            </a:pPr>
            <a:r>
              <a:rPr lang="en-US" altLang="en-US" sz="2800" dirty="0"/>
              <a:t>Non-negative numbers have the same unsigned and 2s-complement representation</a:t>
            </a:r>
          </a:p>
          <a:p>
            <a:pPr>
              <a:lnSpc>
                <a:spcPct val="90000"/>
              </a:lnSpc>
              <a:tabLst>
                <a:tab pos="1341438" algn="l"/>
                <a:tab pos="2874963" algn="l"/>
              </a:tabLst>
            </a:pPr>
            <a:endParaRPr lang="en-AU" altLang="en-US" sz="2800" dirty="0"/>
          </a:p>
          <a:p>
            <a:pPr>
              <a:lnSpc>
                <a:spcPct val="90000"/>
              </a:lnSpc>
              <a:tabLst>
                <a:tab pos="1341438" algn="l"/>
                <a:tab pos="2874963" algn="l"/>
              </a:tabLst>
            </a:pPr>
            <a:r>
              <a:rPr lang="en-US" altLang="en-US" sz="2800" dirty="0"/>
              <a:t>Some specific numbers</a:t>
            </a:r>
          </a:p>
          <a:p>
            <a:pPr lvl="1">
              <a:lnSpc>
                <a:spcPct val="90000"/>
              </a:lnSpc>
              <a:tabLst>
                <a:tab pos="1341438" algn="l"/>
                <a:tab pos="2874963" algn="l"/>
              </a:tabLst>
            </a:pPr>
            <a:r>
              <a:rPr lang="en-US" altLang="en-US" dirty="0"/>
              <a:t>  </a:t>
            </a:r>
            <a:r>
              <a:rPr lang="en-US" altLang="en-US" b="1" dirty="0"/>
              <a:t>0</a:t>
            </a:r>
            <a:r>
              <a:rPr lang="en-US" altLang="en-US" dirty="0"/>
              <a:t>:	0000 0000 … 0000</a:t>
            </a:r>
          </a:p>
          <a:p>
            <a:pPr lvl="1">
              <a:lnSpc>
                <a:spcPct val="90000"/>
              </a:lnSpc>
              <a:tabLst>
                <a:tab pos="1341438" algn="l"/>
                <a:tab pos="2874963" algn="l"/>
              </a:tabLst>
            </a:pPr>
            <a:r>
              <a:rPr lang="en-AU" altLang="en-US" b="1" dirty="0"/>
              <a:t>–1</a:t>
            </a:r>
            <a:r>
              <a:rPr lang="en-AU" altLang="en-US" dirty="0"/>
              <a:t>:	1111 1111 … 1111</a:t>
            </a:r>
          </a:p>
          <a:p>
            <a:pPr lvl="1">
              <a:lnSpc>
                <a:spcPct val="90000"/>
              </a:lnSpc>
              <a:tabLst>
                <a:tab pos="1341438" algn="l"/>
                <a:tab pos="2874963" algn="l"/>
              </a:tabLst>
            </a:pPr>
            <a:r>
              <a:rPr lang="en-US" altLang="en-US" dirty="0"/>
              <a:t>Most-negative:	1000 0000 … 0000</a:t>
            </a:r>
          </a:p>
          <a:p>
            <a:pPr lvl="1">
              <a:lnSpc>
                <a:spcPct val="90000"/>
              </a:lnSpc>
              <a:tabLst>
                <a:tab pos="1341438" algn="l"/>
                <a:tab pos="2874963" algn="l"/>
              </a:tabLst>
            </a:pPr>
            <a:r>
              <a:rPr lang="en-US" altLang="en-US" dirty="0"/>
              <a:t>Most-positive:	0111 1111 … 1111</a:t>
            </a:r>
            <a:endParaRPr lang="en-AU" alt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466F926-44C9-5BBE-0FDC-E9CC70920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>
                <a:ea typeface="Calibri"/>
                <a:cs typeface="Calibri"/>
              </a:rPr>
              <a:t>Recall: 2's complement.</a:t>
            </a:r>
          </a:p>
        </p:txBody>
      </p:sp>
    </p:spTree>
    <p:extLst>
      <p:ext uri="{BB962C8B-B14F-4D97-AF65-F5344CB8AC3E}">
        <p14:creationId xmlns:p14="http://schemas.microsoft.com/office/powerpoint/2010/main" val="2631184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7">
            <a:extLst>
              <a:ext uri="{FF2B5EF4-FFF2-40B4-BE49-F238E27FC236}">
                <a16:creationId xmlns:a16="http://schemas.microsoft.com/office/drawing/2014/main" id="{4869C428-E579-D66F-3CC3-804FF3BA35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8040" y="1358265"/>
            <a:ext cx="10525760" cy="48186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Representing a number using more bits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Preserve the numeric value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Replicate the sign bit to the left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c.f. unsigned values: extend with 0s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Examples: 8-bit to 16-bit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 dirty="0"/>
              <a:t>+2</a:t>
            </a:r>
            <a:r>
              <a:rPr lang="en-US" altLang="en-US" dirty="0"/>
              <a:t>: </a:t>
            </a:r>
            <a:r>
              <a:rPr lang="en-US" altLang="en-US" dirty="0">
                <a:solidFill>
                  <a:schemeClr val="hlink"/>
                </a:solidFill>
              </a:rPr>
              <a:t>0</a:t>
            </a:r>
            <a:r>
              <a:rPr lang="en-US" altLang="en-US" dirty="0"/>
              <a:t>000 0010 =&gt; </a:t>
            </a:r>
            <a:r>
              <a:rPr lang="en-US" altLang="en-US" dirty="0">
                <a:solidFill>
                  <a:schemeClr val="hlink"/>
                </a:solidFill>
              </a:rPr>
              <a:t>0000 0000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hlink"/>
                </a:solidFill>
              </a:rPr>
              <a:t>0</a:t>
            </a:r>
            <a:r>
              <a:rPr lang="en-US" altLang="en-US" dirty="0"/>
              <a:t>000 0010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b="1" dirty="0"/>
              <a:t>–2</a:t>
            </a:r>
            <a:r>
              <a:rPr lang="en-AU" altLang="en-US" dirty="0"/>
              <a:t>: </a:t>
            </a:r>
            <a:r>
              <a:rPr lang="en-AU" altLang="en-US" dirty="0">
                <a:solidFill>
                  <a:schemeClr val="hlink"/>
                </a:solidFill>
              </a:rPr>
              <a:t>1</a:t>
            </a:r>
            <a:r>
              <a:rPr lang="en-AU" altLang="en-US" dirty="0"/>
              <a:t>111 1110 =&gt; </a:t>
            </a:r>
            <a:r>
              <a:rPr lang="en-AU" altLang="en-US" dirty="0">
                <a:solidFill>
                  <a:schemeClr val="hlink"/>
                </a:solidFill>
              </a:rPr>
              <a:t>1111 1111</a:t>
            </a:r>
            <a:r>
              <a:rPr lang="en-AU" altLang="en-US" dirty="0"/>
              <a:t> </a:t>
            </a:r>
            <a:r>
              <a:rPr lang="en-AU" altLang="en-US" dirty="0">
                <a:solidFill>
                  <a:schemeClr val="hlink"/>
                </a:solidFill>
              </a:rPr>
              <a:t>1</a:t>
            </a:r>
            <a:r>
              <a:rPr lang="en-AU" altLang="en-US" dirty="0"/>
              <a:t>111 1110</a:t>
            </a:r>
          </a:p>
          <a:p>
            <a:pPr lvl="1" eaLnBrk="1" hangingPunct="1">
              <a:lnSpc>
                <a:spcPct val="90000"/>
              </a:lnSpc>
            </a:pPr>
            <a:endParaRPr lang="en-AU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In RISC-V instruction set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 dirty="0">
                <a:latin typeface="Lucida Console"/>
              </a:rPr>
              <a:t>lb</a:t>
            </a:r>
            <a:r>
              <a:rPr lang="en-US" altLang="en-US" dirty="0"/>
              <a:t>:  sign-extend loaded byte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 dirty="0">
                <a:latin typeface="Lucida Console"/>
              </a:rPr>
              <a:t>lbu</a:t>
            </a:r>
            <a:r>
              <a:rPr lang="en-US" altLang="en-US" dirty="0"/>
              <a:t>: zero-extend loaded byte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756786A-DB79-C2E9-C26B-F79D3B6651A5}"/>
              </a:ext>
            </a:extLst>
          </p:cNvPr>
          <p:cNvSpPr>
            <a:spLocks noGrp="1"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ea typeface="Calibri"/>
                <a:cs typeface="Calibri"/>
              </a:rPr>
              <a:t>Recall: sign extension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411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2A76E-4044-4432-E85F-2475DE2F7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5E4B0E-A9AB-8B49-54C9-88CCADBBB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40000"/>
              </a:spcBef>
            </a:pPr>
            <a:r>
              <a:rPr lang="en-US" altLang="en-US" sz="2600" dirty="0"/>
              <a:t>Unlike integer values, fractions (in decimal) do not necessarily have </a:t>
            </a:r>
            <a:r>
              <a:rPr lang="en-US" altLang="en-US" sz="2600" i="1" dirty="0"/>
              <a:t>exact representations</a:t>
            </a:r>
            <a:r>
              <a:rPr lang="en-US" altLang="en-US" sz="2600" dirty="0"/>
              <a:t> under all radices.</a:t>
            </a:r>
          </a:p>
          <a:p>
            <a:pPr>
              <a:spcBef>
                <a:spcPct val="40000"/>
              </a:spcBef>
            </a:pPr>
            <a:r>
              <a:rPr lang="en-US" altLang="en-US" dirty="0"/>
              <a:t>But can be approximated in all base systems.</a:t>
            </a:r>
          </a:p>
          <a:p>
            <a:r>
              <a:rPr lang="en-US" altLang="en-US" sz="2600" dirty="0"/>
              <a:t>The quantity </a:t>
            </a:r>
            <a:r>
              <a:rPr lang="en-US" altLang="en-US" sz="3000" b="1" dirty="0"/>
              <a:t>½</a:t>
            </a:r>
            <a:r>
              <a:rPr lang="en-US" altLang="en-US" sz="2600" b="1" dirty="0"/>
              <a:t> </a:t>
            </a:r>
            <a:r>
              <a:rPr lang="en-US" altLang="en-US" sz="2600" dirty="0"/>
              <a:t> is exactly representable in the binary and decimal systems, but is not in the ternary (</a:t>
            </a:r>
            <a:r>
              <a:rPr lang="en-US" altLang="en-US" sz="2600" b="1" dirty="0"/>
              <a:t>base 3</a:t>
            </a:r>
            <a:r>
              <a:rPr lang="en-US" altLang="en-US" sz="2600" dirty="0"/>
              <a:t>) numbering system.</a:t>
            </a:r>
            <a:endParaRPr lang="en-US" altLang="en-US" sz="2800" baseline="-250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0761E58-E526-2177-5151-FA684CF264FE}"/>
              </a:ext>
            </a:extLst>
          </p:cNvPr>
          <p:cNvSpPr>
            <a:spLocks noGrp="1"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ea typeface="Calibri"/>
                <a:cs typeface="Calibri"/>
              </a:rPr>
              <a:t>Converting fractions between bases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168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CD3AC-2BA4-B998-7033-BAF37213A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B09B53-7A54-8D50-FDA7-9B5055D5E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040" y="1297305"/>
            <a:ext cx="10525760" cy="48796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 sz="2600" dirty="0"/>
              <a:t>Fractional decimal values have non-zero digits to the right of the decimal point.</a:t>
            </a:r>
            <a:endParaRPr lang="en-US" altLang="en-US" sz="2800" baseline="-25000" dirty="0"/>
          </a:p>
          <a:p>
            <a:r>
              <a:rPr lang="en-US" altLang="en-US" sz="2600" dirty="0"/>
              <a:t>Fractional values of other radix systems have non-zero digits to the right of the </a:t>
            </a:r>
            <a:r>
              <a:rPr lang="en-US" altLang="en-US" sz="2600" i="1" dirty="0"/>
              <a:t>radix point</a:t>
            </a:r>
            <a:r>
              <a:rPr lang="en-US" altLang="en-US" sz="2600" dirty="0"/>
              <a:t>.</a:t>
            </a:r>
          </a:p>
          <a:p>
            <a:r>
              <a:rPr lang="en-US" altLang="en-US" sz="2600" dirty="0"/>
              <a:t>Numerals to the right of a radix point represent negative powers of the radix:</a:t>
            </a:r>
            <a:endParaRPr lang="en-US" altLang="en-US" sz="2800" baseline="-25000" dirty="0"/>
          </a:p>
        </p:txBody>
      </p:sp>
      <p:sp>
        <p:nvSpPr>
          <p:cNvPr id="2" name="Text Box 1028">
            <a:extLst>
              <a:ext uri="{FF2B5EF4-FFF2-40B4-BE49-F238E27FC236}">
                <a16:creationId xmlns:a16="http://schemas.microsoft.com/office/drawing/2014/main" id="{27D02DF9-3162-3908-8CD5-86DF255DB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7120" y="4090330"/>
            <a:ext cx="5775960" cy="1777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40" tIns="45720" rIns="91440" bIns="45720" anchor="ctr">
            <a:spAutoFit/>
          </a:bodyPr>
          <a:lstStyle/>
          <a:p>
            <a:pPr lvl="1">
              <a:spcBef>
                <a:spcPct val="20000"/>
              </a:spcBef>
            </a:pPr>
            <a:r>
              <a:rPr lang="en-US" altLang="en-US" sz="2400" b="1" dirty="0"/>
              <a:t>0.47</a:t>
            </a:r>
            <a:r>
              <a:rPr lang="en-US" altLang="en-US" sz="2400" b="1" baseline="-25000" dirty="0"/>
              <a:t>10</a:t>
            </a:r>
            <a:r>
              <a:rPr lang="en-US" altLang="en-US" sz="2400" b="1" dirty="0"/>
              <a:t> =  4 </a:t>
            </a:r>
            <a:r>
              <a:rPr lang="en-US" altLang="en-US" sz="2400" b="1" dirty="0">
                <a:sym typeface="Symbol" pitchFamily="18" charset="2"/>
              </a:rPr>
              <a:t></a:t>
            </a:r>
            <a:r>
              <a:rPr lang="en-US" altLang="en-US" sz="2400" b="1" dirty="0"/>
              <a:t> 10 </a:t>
            </a:r>
            <a:r>
              <a:rPr lang="en-US" altLang="en-US" sz="2400" b="1" baseline="30000" dirty="0"/>
              <a:t>-1</a:t>
            </a:r>
            <a:r>
              <a:rPr lang="en-US" altLang="en-US" sz="2400" b="1" dirty="0"/>
              <a:t> + 7 </a:t>
            </a:r>
            <a:r>
              <a:rPr lang="en-US" altLang="en-US" sz="2400" b="1" dirty="0">
                <a:sym typeface="Symbol" pitchFamily="18" charset="2"/>
              </a:rPr>
              <a:t></a:t>
            </a:r>
            <a:r>
              <a:rPr lang="en-US" altLang="en-US" sz="2400" b="1" dirty="0"/>
              <a:t> 10 </a:t>
            </a:r>
            <a:r>
              <a:rPr lang="en-US" altLang="en-US" sz="2400" b="1" baseline="30000" dirty="0"/>
              <a:t>-2</a:t>
            </a:r>
            <a:r>
              <a:rPr lang="en-US" altLang="en-US" b="1" dirty="0"/>
              <a:t> </a:t>
            </a:r>
          </a:p>
          <a:p>
            <a:pPr lvl="1">
              <a:spcBef>
                <a:spcPct val="20000"/>
              </a:spcBef>
            </a:pPr>
            <a:r>
              <a:rPr lang="en-US" altLang="en-US" sz="2400" b="1" dirty="0"/>
              <a:t>0.11</a:t>
            </a:r>
            <a:r>
              <a:rPr lang="en-US" altLang="en-US" sz="2400" b="1" baseline="-25000" dirty="0"/>
              <a:t>2</a:t>
            </a:r>
            <a:r>
              <a:rPr lang="en-US" altLang="en-US" sz="2400" b="1" dirty="0"/>
              <a:t>  =  1 </a:t>
            </a:r>
            <a:r>
              <a:rPr lang="en-US" altLang="en-US" sz="2400" b="1" dirty="0">
                <a:sym typeface="Symbol" pitchFamily="18" charset="2"/>
              </a:rPr>
              <a:t></a:t>
            </a:r>
            <a:r>
              <a:rPr lang="en-US" altLang="en-US" sz="2400" b="1" dirty="0"/>
              <a:t> 2 </a:t>
            </a:r>
            <a:r>
              <a:rPr lang="en-US" altLang="en-US" sz="2400" b="1" baseline="30000" dirty="0"/>
              <a:t>-1</a:t>
            </a:r>
            <a:r>
              <a:rPr lang="en-US" altLang="en-US" sz="2400" b="1" dirty="0"/>
              <a:t> + 1 </a:t>
            </a:r>
            <a:r>
              <a:rPr lang="en-US" altLang="en-US" sz="2400" b="1" dirty="0">
                <a:sym typeface="Symbol" pitchFamily="18" charset="2"/>
              </a:rPr>
              <a:t></a:t>
            </a:r>
            <a:r>
              <a:rPr lang="en-US" altLang="en-US" sz="2400" b="1" dirty="0"/>
              <a:t> 2 </a:t>
            </a:r>
            <a:r>
              <a:rPr lang="en-US" altLang="en-US" sz="2400" b="1" baseline="30000" dirty="0"/>
              <a:t>-2</a:t>
            </a:r>
            <a:r>
              <a:rPr lang="en-US" altLang="en-US" sz="2400" b="1" dirty="0"/>
              <a:t>  </a:t>
            </a:r>
          </a:p>
          <a:p>
            <a:pPr lvl="1">
              <a:spcBef>
                <a:spcPct val="5000"/>
              </a:spcBef>
            </a:pPr>
            <a:r>
              <a:rPr lang="en-US" altLang="en-US" sz="2400" b="1" dirty="0"/>
              <a:t>          =     </a:t>
            </a:r>
            <a:r>
              <a:rPr lang="en-US" altLang="en-US" sz="3000" b="1" dirty="0"/>
              <a:t>½    </a:t>
            </a:r>
            <a:r>
              <a:rPr lang="en-US" altLang="en-US" sz="2400" b="1" dirty="0"/>
              <a:t>+</a:t>
            </a:r>
            <a:r>
              <a:rPr lang="en-US" altLang="en-US" sz="3000" b="1" dirty="0"/>
              <a:t>   ¼</a:t>
            </a:r>
            <a:r>
              <a:rPr lang="en-US" altLang="en-US" b="1" dirty="0"/>
              <a:t> </a:t>
            </a:r>
            <a:endParaRPr lang="en-US" altLang="en-US" sz="2400" b="1" dirty="0"/>
          </a:p>
          <a:p>
            <a:pPr lvl="1">
              <a:spcBef>
                <a:spcPct val="5000"/>
              </a:spcBef>
            </a:pPr>
            <a:r>
              <a:rPr lang="en-US" altLang="en-US" sz="2400" b="1" dirty="0"/>
              <a:t>          =    0.5</a:t>
            </a:r>
            <a:r>
              <a:rPr lang="en-US" altLang="en-US" sz="2400" b="1" baseline="-25000" dirty="0"/>
              <a:t>      </a:t>
            </a:r>
            <a:r>
              <a:rPr lang="en-US" altLang="en-US" sz="2400" b="1" dirty="0"/>
              <a:t>+    0.25 =  0.75</a:t>
            </a:r>
            <a:endParaRPr lang="en-US" altLang="en-US" b="1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F6BC02B-C859-6EB3-6F13-AE2E7B15D600}"/>
              </a:ext>
            </a:extLst>
          </p:cNvPr>
          <p:cNvSpPr>
            <a:spLocks noGrp="1"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ea typeface="Calibri"/>
                <a:cs typeface="Calibri"/>
              </a:rPr>
              <a:t>Converting fractions between bases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6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B1632-98BE-A881-6B8C-74F93D59A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F41C42-5021-225D-E571-F9FDD80F0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5" y="1371607"/>
            <a:ext cx="6426196" cy="487679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altLang="en-US" dirty="0">
                <a:cs typeface="Arial"/>
              </a:rPr>
              <a:t>Converting 0.8125 to binary . . .</a:t>
            </a:r>
            <a:endParaRPr lang="en-US" dirty="0">
              <a:cs typeface="Arial"/>
            </a:endParaRPr>
          </a:p>
          <a:p>
            <a:pPr marL="0" indent="0">
              <a:buNone/>
            </a:pPr>
            <a:endParaRPr lang="en-US" altLang="en-US" dirty="0">
              <a:cs typeface="Arial"/>
            </a:endParaRPr>
          </a:p>
          <a:p>
            <a:pPr marL="0" indent="0">
              <a:buNone/>
            </a:pPr>
            <a:r>
              <a:rPr lang="en-US" altLang="en-US" dirty="0">
                <a:cs typeface="Arial"/>
              </a:rPr>
              <a:t>You are finished when the product is zero, or until you have reached the desired number of binary places.</a:t>
            </a:r>
            <a:endParaRPr lang="en-US">
              <a:cs typeface="Arial"/>
            </a:endParaRPr>
          </a:p>
          <a:p>
            <a:pPr marL="0" indent="0">
              <a:buNone/>
            </a:pPr>
            <a:endParaRPr lang="en-US" altLang="en-US" dirty="0">
              <a:cs typeface="Arial"/>
            </a:endParaRPr>
          </a:p>
          <a:p>
            <a:pPr marL="0" indent="0">
              <a:buNone/>
            </a:pPr>
            <a:r>
              <a:rPr lang="en-US" altLang="en-US" dirty="0">
                <a:cs typeface="Arial"/>
              </a:rPr>
              <a:t>Our result, reading from top to bottom is:</a:t>
            </a:r>
            <a:endParaRPr lang="en-US" dirty="0">
              <a:cs typeface="Arial"/>
            </a:endParaRPr>
          </a:p>
          <a:p>
            <a:pPr marL="0" indent="0">
              <a:buNone/>
            </a:pPr>
            <a:r>
              <a:rPr lang="en-US" altLang="en-US" dirty="0">
                <a:cs typeface="Arial"/>
              </a:rPr>
              <a:t>0.8125</a:t>
            </a:r>
            <a:r>
              <a:rPr lang="en-US" altLang="en-US" baseline="-25000" dirty="0">
                <a:cs typeface="Arial"/>
              </a:rPr>
              <a:t>10</a:t>
            </a:r>
            <a:r>
              <a:rPr lang="en-US" altLang="en-US" dirty="0">
                <a:cs typeface="Arial"/>
              </a:rPr>
              <a:t> = 0.1101</a:t>
            </a:r>
            <a:r>
              <a:rPr lang="en-US" altLang="en-US" baseline="-25000" dirty="0">
                <a:cs typeface="Arial"/>
              </a:rPr>
              <a:t>2</a:t>
            </a:r>
            <a:endParaRPr lang="en-US" dirty="0">
              <a:cs typeface="Arial"/>
            </a:endParaRPr>
          </a:p>
          <a:p>
            <a:pPr marL="0" indent="0">
              <a:buNone/>
            </a:pPr>
            <a:endParaRPr lang="en-US" altLang="en-US" baseline="-25000" dirty="0">
              <a:cs typeface="Arial"/>
            </a:endParaRPr>
          </a:p>
          <a:p>
            <a:pPr marL="0" indent="0">
              <a:buNone/>
            </a:pPr>
            <a:r>
              <a:rPr lang="en-US" altLang="en-US" dirty="0">
                <a:cs typeface="Arial"/>
              </a:rPr>
              <a:t>This method also works with any base. Just use the target radix as the multiplier.</a:t>
            </a:r>
            <a:endParaRPr lang="en-US">
              <a:cs typeface="Arial"/>
            </a:endParaRPr>
          </a:p>
          <a:p>
            <a:pPr lvl="1">
              <a:spcBef>
                <a:spcPct val="40000"/>
              </a:spcBef>
            </a:pPr>
            <a:endParaRPr lang="en-US" altLang="en-US" dirty="0">
              <a:cs typeface="Arial" panose="020B0604020202020204" pitchFamily="34" charset="0"/>
            </a:endParaRPr>
          </a:p>
        </p:txBody>
      </p:sp>
      <p:pic>
        <p:nvPicPr>
          <p:cNvPr id="3" name="Picture 1029" descr="5C">
            <a:extLst>
              <a:ext uri="{FF2B5EF4-FFF2-40B4-BE49-F238E27FC236}">
                <a16:creationId xmlns:a16="http://schemas.microsoft.com/office/drawing/2014/main" id="{E51819FE-34A2-6AC6-A242-68647FB51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626" y="1571626"/>
            <a:ext cx="3135313" cy="4589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68826D3-7C4D-71E5-7594-B7DB90CAFB1D}"/>
              </a:ext>
            </a:extLst>
          </p:cNvPr>
          <p:cNvSpPr>
            <a:spLocks noGrp="1"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ea typeface="Calibri"/>
                <a:cs typeface="Calibri"/>
              </a:rPr>
              <a:t>Converting fractions between bases.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00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578CF-2E82-416F-98E7-AF51164DB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6FC78D-AED4-3D8E-63A5-8F24A4BA1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5" y="1371607"/>
            <a:ext cx="6426196" cy="48767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en-US" dirty="0">
                <a:cs typeface="Arial"/>
              </a:rPr>
              <a:t>The calculation to the right is an example of using the </a:t>
            </a:r>
            <a:r>
              <a:rPr lang="en-US" altLang="en-US" b="1" i="1" dirty="0">
                <a:cs typeface="Arial"/>
              </a:rPr>
              <a:t>subtraction method</a:t>
            </a:r>
            <a:r>
              <a:rPr lang="en-US" altLang="en-US" dirty="0">
                <a:cs typeface="Arial"/>
              </a:rPr>
              <a:t> to convert the decimal 0.8125 to binary.</a:t>
            </a:r>
            <a:endParaRPr lang="en-US" dirty="0"/>
          </a:p>
          <a:p>
            <a:pPr marL="0" indent="0">
              <a:buNone/>
            </a:pPr>
            <a:endParaRPr lang="en-US" altLang="en-US" dirty="0">
              <a:cs typeface="Arial"/>
            </a:endParaRPr>
          </a:p>
          <a:p>
            <a:pPr marL="0" indent="0">
              <a:buNone/>
            </a:pPr>
            <a:r>
              <a:rPr lang="en-US" altLang="en-US" dirty="0">
                <a:cs typeface="Arial"/>
              </a:rPr>
              <a:t>Our result, reading from </a:t>
            </a:r>
            <a:r>
              <a:rPr lang="en-US" altLang="en-US" u="sng" dirty="0">
                <a:cs typeface="Arial"/>
              </a:rPr>
              <a:t>top to bottom</a:t>
            </a:r>
            <a:r>
              <a:rPr lang="en-US" altLang="en-US" dirty="0">
                <a:cs typeface="Arial"/>
              </a:rPr>
              <a:t> is:</a:t>
            </a:r>
            <a:endParaRPr lang="en-US"/>
          </a:p>
          <a:p>
            <a:pPr lvl="1">
              <a:spcBef>
                <a:spcPct val="40000"/>
              </a:spcBef>
              <a:buNone/>
            </a:pPr>
            <a:r>
              <a:rPr lang="en-US" altLang="en-US" dirty="0">
                <a:cs typeface="Arial"/>
              </a:rPr>
              <a:t>         0.8125</a:t>
            </a:r>
            <a:r>
              <a:rPr lang="en-US" altLang="en-US" baseline="-25000" dirty="0">
                <a:cs typeface="Arial"/>
              </a:rPr>
              <a:t>10</a:t>
            </a:r>
            <a:r>
              <a:rPr lang="en-US" altLang="en-US" dirty="0">
                <a:cs typeface="Arial"/>
              </a:rPr>
              <a:t> = 0.1101</a:t>
            </a:r>
            <a:r>
              <a:rPr lang="en-US" altLang="en-US" baseline="-25000" dirty="0">
                <a:cs typeface="Arial"/>
              </a:rPr>
              <a:t>2</a:t>
            </a:r>
            <a:endParaRPr lang="en-US" altLang="en-US" b="1">
              <a:cs typeface="Arial"/>
            </a:endParaRPr>
          </a:p>
        </p:txBody>
      </p:sp>
      <p:pic>
        <p:nvPicPr>
          <p:cNvPr id="2" name="Picture 1030" descr="4">
            <a:extLst>
              <a:ext uri="{FF2B5EF4-FFF2-40B4-BE49-F238E27FC236}">
                <a16:creationId xmlns:a16="http://schemas.microsoft.com/office/drawing/2014/main" id="{7152719B-3BA0-262D-9F15-941017B5B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1" y="1677988"/>
            <a:ext cx="3821113" cy="434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95A53D5-65ED-3214-3ADB-EC2D30009641}"/>
              </a:ext>
            </a:extLst>
          </p:cNvPr>
          <p:cNvSpPr>
            <a:spLocks noGrp="1"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ea typeface="Calibri"/>
                <a:cs typeface="Calibri"/>
              </a:rPr>
              <a:t>Converting fractions between bases.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520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84AD4-AEB3-BE69-406F-1459959F6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71A369-5A63-7BDD-0245-DACC86469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40000"/>
              </a:spcBef>
            </a:pPr>
            <a:r>
              <a:rPr lang="en-US" altLang="en-US" sz="2600" dirty="0"/>
              <a:t>The binary numbering system is the most important radix system for digital computers.</a:t>
            </a:r>
          </a:p>
          <a:p>
            <a:pPr>
              <a:spcBef>
                <a:spcPct val="40000"/>
              </a:spcBef>
            </a:pPr>
            <a:endParaRPr lang="en-US" altLang="en-US" sz="2600" dirty="0"/>
          </a:p>
          <a:p>
            <a:pPr>
              <a:spcBef>
                <a:spcPct val="40000"/>
              </a:spcBef>
            </a:pPr>
            <a:r>
              <a:rPr lang="en-US" altLang="en-US" sz="2600" dirty="0"/>
              <a:t>However, it is difficult to read long strings of binary numbers -- and even a modestly-sized decimal number becomes a very long binary number.</a:t>
            </a:r>
          </a:p>
          <a:p>
            <a:pPr lvl="1">
              <a:spcBef>
                <a:spcPct val="40000"/>
              </a:spcBef>
            </a:pPr>
            <a:r>
              <a:rPr lang="en-US" altLang="en-US" dirty="0"/>
              <a:t>For example:    11010100011011</a:t>
            </a:r>
            <a:r>
              <a:rPr lang="en-US" altLang="en-US" baseline="-25000" dirty="0"/>
              <a:t>2</a:t>
            </a:r>
            <a:r>
              <a:rPr lang="en-US" altLang="en-US" dirty="0"/>
              <a:t> = 13595</a:t>
            </a:r>
            <a:r>
              <a:rPr lang="en-US" altLang="en-US" baseline="-25000" dirty="0"/>
              <a:t>10</a:t>
            </a:r>
            <a:endParaRPr lang="en-US" altLang="en-US" dirty="0"/>
          </a:p>
          <a:p>
            <a:pPr lvl="1">
              <a:spcBef>
                <a:spcPct val="40000"/>
              </a:spcBef>
            </a:pPr>
            <a:endParaRPr lang="en-US" altLang="en-US" baseline="-25000" dirty="0"/>
          </a:p>
          <a:p>
            <a:pPr>
              <a:spcBef>
                <a:spcPct val="40000"/>
              </a:spcBef>
            </a:pPr>
            <a:r>
              <a:rPr lang="en-US" altLang="en-US" sz="2600" dirty="0"/>
              <a:t>For compactness and ease of reading, binary values are usually expressed using the </a:t>
            </a:r>
            <a:r>
              <a:rPr lang="en-US" altLang="en-US" sz="2600" b="1" i="1" dirty="0"/>
              <a:t>hexadecimal</a:t>
            </a:r>
            <a:r>
              <a:rPr lang="en-US" altLang="en-US" sz="2600" dirty="0"/>
              <a:t>, or base 16, numbering system.</a:t>
            </a:r>
            <a:endParaRPr lang="en-US" altLang="en-US" sz="2800" baseline="-250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26B48B0-E67A-09B2-992A-BEBE1CB17658}"/>
              </a:ext>
            </a:extLst>
          </p:cNvPr>
          <p:cNvSpPr>
            <a:spLocks noGrp="1"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ea typeface="Calibri"/>
                <a:cs typeface="Calibri"/>
              </a:rPr>
              <a:t>Converting fractions between bases.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069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8493F-8CB1-ED40-DF3D-D788704F8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0B8985-6705-AFCB-3CBB-349C918D2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10000"/>
              </a:spcBef>
            </a:pPr>
            <a:r>
              <a:rPr lang="en-US" altLang="en-US" sz="2600" dirty="0"/>
              <a:t>The hexadecimal numbering system uses the numerals 0 through 9 and the letters A through F.</a:t>
            </a:r>
          </a:p>
          <a:p>
            <a:pPr lvl="1">
              <a:spcBef>
                <a:spcPct val="10000"/>
              </a:spcBef>
            </a:pPr>
            <a:r>
              <a:rPr lang="en-US" altLang="en-US" dirty="0"/>
              <a:t>The decimal number 12 is C</a:t>
            </a:r>
            <a:r>
              <a:rPr lang="en-US" altLang="en-US" baseline="-25000" dirty="0"/>
              <a:t>16</a:t>
            </a:r>
            <a:r>
              <a:rPr lang="en-US" altLang="en-US" dirty="0"/>
              <a:t>.</a:t>
            </a:r>
          </a:p>
          <a:p>
            <a:pPr lvl="1">
              <a:spcBef>
                <a:spcPct val="10000"/>
              </a:spcBef>
            </a:pPr>
            <a:r>
              <a:rPr lang="en-US" altLang="en-US" dirty="0"/>
              <a:t>The decimal number 26 is 1A</a:t>
            </a:r>
            <a:r>
              <a:rPr lang="en-US" altLang="en-US" baseline="-25000" dirty="0"/>
              <a:t>16</a:t>
            </a:r>
            <a:r>
              <a:rPr lang="en-US" altLang="en-US" dirty="0"/>
              <a:t>.</a:t>
            </a:r>
          </a:p>
          <a:p>
            <a:pPr>
              <a:spcBef>
                <a:spcPct val="10000"/>
              </a:spcBef>
            </a:pPr>
            <a:r>
              <a:rPr lang="en-US" altLang="en-US" sz="2600" dirty="0"/>
              <a:t>It is easy to convert between base 16 and base 2, because 16 = 2</a:t>
            </a:r>
            <a:r>
              <a:rPr lang="en-US" altLang="en-US" sz="2600" baseline="30000" dirty="0"/>
              <a:t>4</a:t>
            </a:r>
            <a:r>
              <a:rPr lang="en-US" altLang="en-US" sz="2600" dirty="0"/>
              <a:t>.</a:t>
            </a:r>
          </a:p>
          <a:p>
            <a:pPr>
              <a:spcBef>
                <a:spcPct val="10000"/>
              </a:spcBef>
            </a:pPr>
            <a:r>
              <a:rPr lang="en-US" altLang="en-US" sz="2600" dirty="0"/>
              <a:t>Thus, to convert from binary to hexadecimal, all we need to do is group the binary digits into groups of four.</a:t>
            </a:r>
          </a:p>
          <a:p>
            <a:pPr>
              <a:spcBef>
                <a:spcPct val="10000"/>
              </a:spcBef>
            </a:pPr>
            <a:endParaRPr lang="en-US" altLang="en-US" sz="2800" baseline="-25000" dirty="0"/>
          </a:p>
        </p:txBody>
      </p:sp>
      <p:sp>
        <p:nvSpPr>
          <p:cNvPr id="2" name="Text Box 1029">
            <a:extLst>
              <a:ext uri="{FF2B5EF4-FFF2-40B4-BE49-F238E27FC236}">
                <a16:creationId xmlns:a16="http://schemas.microsoft.com/office/drawing/2014/main" id="{DE775AB1-5A7D-B6DE-E5FD-86D836636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7608" y="5301208"/>
            <a:ext cx="7029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1440" tIns="45720" rIns="91440" bIns="45720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>
                <a:solidFill>
                  <a:srgbClr val="CC3300"/>
                </a:solidFill>
              </a:rPr>
              <a:t>A group of four binary digits is called a </a:t>
            </a:r>
            <a:r>
              <a:rPr lang="en-US" altLang="en-US" sz="2400" b="1" i="1" dirty="0">
                <a:solidFill>
                  <a:srgbClr val="CC3300"/>
                </a:solidFill>
              </a:rPr>
              <a:t>hextet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9DBC03A-F8F1-6A1E-88B4-F60E7D697E29}"/>
              </a:ext>
            </a:extLst>
          </p:cNvPr>
          <p:cNvSpPr>
            <a:spLocks noGrp="1"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ea typeface="Calibri"/>
                <a:cs typeface="Calibri"/>
              </a:rPr>
              <a:t>Converting fractions between bases.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100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37945-E7B3-CCCA-402B-436A94573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41D96A-FB44-0BDE-4B6F-907E1CF17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ct val="40000"/>
              </a:spcBef>
              <a:buNone/>
            </a:pPr>
            <a:r>
              <a:rPr lang="en-US" altLang="en-US" sz="2600" dirty="0"/>
              <a:t>Using groups of </a:t>
            </a:r>
            <a:r>
              <a:rPr lang="en-US" altLang="en-US" sz="2600" b="1" i="1" dirty="0" err="1"/>
              <a:t>hextets</a:t>
            </a:r>
            <a:r>
              <a:rPr lang="en-US" altLang="en-US" sz="2600" dirty="0"/>
              <a:t>, the binary number 11010100011011</a:t>
            </a:r>
            <a:r>
              <a:rPr lang="en-US" altLang="en-US" sz="2600" baseline="-25000" dirty="0"/>
              <a:t>2</a:t>
            </a:r>
            <a:r>
              <a:rPr lang="en-US" altLang="en-US" sz="2600" dirty="0"/>
              <a:t> (= 13595</a:t>
            </a:r>
            <a:r>
              <a:rPr lang="en-US" altLang="en-US" sz="2600" baseline="-25000" dirty="0"/>
              <a:t>10</a:t>
            </a:r>
            <a:r>
              <a:rPr lang="en-US" altLang="en-US" sz="2600" dirty="0"/>
              <a:t>) in hexadecimal is:</a:t>
            </a:r>
            <a:endParaRPr lang="en-US"/>
          </a:p>
          <a:p>
            <a:pPr>
              <a:spcBef>
                <a:spcPct val="40000"/>
              </a:spcBef>
            </a:pPr>
            <a:endParaRPr lang="en-US" altLang="en-US" sz="2600" dirty="0"/>
          </a:p>
          <a:p>
            <a:pPr>
              <a:spcBef>
                <a:spcPct val="40000"/>
              </a:spcBef>
            </a:pPr>
            <a:endParaRPr lang="en-US" altLang="en-US" sz="2600" dirty="0"/>
          </a:p>
          <a:p>
            <a:pPr marL="0" indent="0">
              <a:spcBef>
                <a:spcPct val="40000"/>
              </a:spcBef>
              <a:buNone/>
            </a:pPr>
            <a:r>
              <a:rPr lang="en-US" altLang="en-US" sz="2600" dirty="0"/>
              <a:t>Octal (base 8) values are derived from binary by using groups of three bits (8 = 2</a:t>
            </a:r>
            <a:r>
              <a:rPr lang="en-US" altLang="en-US" sz="2600" baseline="30000" dirty="0"/>
              <a:t>3</a:t>
            </a:r>
            <a:r>
              <a:rPr lang="en-US" altLang="en-US" sz="2600" dirty="0"/>
              <a:t>):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4C5CC5EE-A749-8BD4-7169-EB73BE1E8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5716429"/>
            <a:ext cx="890524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>
                <a:solidFill>
                  <a:srgbClr val="CC3300"/>
                </a:solidFill>
              </a:rPr>
              <a:t>Octal was very useful when computers used six-bit words.</a:t>
            </a:r>
          </a:p>
        </p:txBody>
      </p:sp>
      <p:pic>
        <p:nvPicPr>
          <p:cNvPr id="6" name="Picture 5" descr="6">
            <a:extLst>
              <a:ext uri="{FF2B5EF4-FFF2-40B4-BE49-F238E27FC236}">
                <a16:creationId xmlns:a16="http://schemas.microsoft.com/office/drawing/2014/main" id="{497BCDCD-BE4B-82FD-A3D2-B2946D9D4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616201"/>
            <a:ext cx="3665538" cy="91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7">
            <a:extLst>
              <a:ext uri="{FF2B5EF4-FFF2-40B4-BE49-F238E27FC236}">
                <a16:creationId xmlns:a16="http://schemas.microsoft.com/office/drawing/2014/main" id="{FC8C5091-2807-6173-C2CD-C1DF52371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7360" y="4312920"/>
            <a:ext cx="3638550" cy="896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9">
            <a:extLst>
              <a:ext uri="{FF2B5EF4-FFF2-40B4-BE49-F238E27FC236}">
                <a16:creationId xmlns:a16="http://schemas.microsoft.com/office/drawing/2014/main" id="{73563638-7C24-66CF-6AB1-DD5771E2C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2440" y="2606040"/>
            <a:ext cx="2667000" cy="825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0" tIns="45720" rIns="91440" bIns="45720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 b="1" dirty="0"/>
              <a:t>If the number of bits is not a multiple of 4, pad on the left with zeros.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742E7B1-361F-D2AA-F4FF-C8B79E8E7607}"/>
              </a:ext>
            </a:extLst>
          </p:cNvPr>
          <p:cNvSpPr>
            <a:spLocks noGrp="1"/>
          </p:cNvSpPr>
          <p:nvPr/>
        </p:nvSpPr>
        <p:spPr>
          <a:xfrm>
            <a:off x="82803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 err="1">
                <a:ea typeface="Calibri"/>
                <a:cs typeface="Calibri"/>
              </a:rPr>
              <a:t>Hextets</a:t>
            </a:r>
            <a:r>
              <a:rPr lang="en-US" sz="4500" b="1" dirty="0">
                <a:ea typeface="Calibri"/>
                <a:cs typeface="Calibri"/>
              </a:rPr>
              <a:t> and Octets to bits.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06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649" name="Picture 9" descr="f03-01-P37449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40013" y="1844675"/>
            <a:ext cx="6938962" cy="1619250"/>
          </a:xfrm>
          <a:prstGeom prst="rect">
            <a:avLst/>
          </a:prstGeom>
          <a:noFill/>
        </p:spPr>
      </p:pic>
      <p:sp>
        <p:nvSpPr>
          <p:cNvPr id="240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3202" y="1125539"/>
            <a:ext cx="10275888" cy="6746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Example: </a:t>
            </a:r>
            <a:r>
              <a:rPr lang="en-US" b="1" dirty="0"/>
              <a:t>7 + 6</a:t>
            </a:r>
            <a:endParaRPr lang="en-AU" b="1" dirty="0"/>
          </a:p>
        </p:txBody>
      </p:sp>
      <p:sp>
        <p:nvSpPr>
          <p:cNvPr id="240647" name="Rectangle 7"/>
          <p:cNvSpPr>
            <a:spLocks noChangeArrowheads="1"/>
          </p:cNvSpPr>
          <p:nvPr/>
        </p:nvSpPr>
        <p:spPr bwMode="auto">
          <a:xfrm>
            <a:off x="203201" y="3644900"/>
            <a:ext cx="9777412" cy="25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440" tIns="45720" rIns="91440" bIns="45720" anchor="t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sz="2800" dirty="0"/>
              <a:t>Overflow if result </a:t>
            </a:r>
            <a:r>
              <a:rPr lang="en-US" sz="2800" u="sng" dirty="0"/>
              <a:t>out of range</a:t>
            </a:r>
            <a:endParaRPr lang="en-US" u="sng" dirty="0"/>
          </a:p>
          <a:p>
            <a:pPr marL="342900" indent="-342900">
              <a:spcBef>
                <a:spcPct val="20000"/>
              </a:spcBef>
              <a:buFont typeface="Calibri"/>
              <a:buChar char="-"/>
            </a:pPr>
            <a:r>
              <a:rPr lang="en-US" sz="2400" dirty="0"/>
              <a:t>Adding </a:t>
            </a:r>
            <a:r>
              <a:rPr lang="en-US" sz="2400" b="1" dirty="0"/>
              <a:t>+</a:t>
            </a:r>
            <a:r>
              <a:rPr lang="en-US" sz="2400" b="1" dirty="0" err="1"/>
              <a:t>ve</a:t>
            </a:r>
            <a:r>
              <a:rPr lang="en-US" sz="2400" dirty="0"/>
              <a:t> and </a:t>
            </a:r>
            <a:r>
              <a:rPr lang="en-US" sz="2400" b="1" dirty="0"/>
              <a:t>–</a:t>
            </a:r>
            <a:r>
              <a:rPr lang="en-US" sz="2400" b="1" dirty="0" err="1"/>
              <a:t>ve</a:t>
            </a:r>
            <a:r>
              <a:rPr lang="en-US" sz="2400" dirty="0"/>
              <a:t> operands, no overflow</a:t>
            </a:r>
            <a:endParaRPr lang="en-US" dirty="0"/>
          </a:p>
          <a:p>
            <a:pPr marL="342900" indent="-342900">
              <a:spcBef>
                <a:spcPct val="20000"/>
              </a:spcBef>
              <a:buFont typeface="Calibri"/>
              <a:buChar char="-"/>
            </a:pPr>
            <a:r>
              <a:rPr lang="en-US" sz="2400" dirty="0"/>
              <a:t>Adding two </a:t>
            </a:r>
            <a:r>
              <a:rPr lang="en-US" sz="2400" b="1" dirty="0"/>
              <a:t>+</a:t>
            </a:r>
            <a:r>
              <a:rPr lang="en-US" sz="2400" b="1" dirty="0" err="1"/>
              <a:t>ve</a:t>
            </a:r>
            <a:r>
              <a:rPr lang="en-US" sz="2400" dirty="0"/>
              <a:t> operands</a:t>
            </a:r>
            <a:endParaRPr lang="en-US" dirty="0"/>
          </a:p>
          <a:p>
            <a:pPr marL="800100" lvl="1" indent="-342900">
              <a:spcBef>
                <a:spcPct val="20000"/>
              </a:spcBef>
              <a:buFont typeface="Courier New"/>
              <a:buChar char="o"/>
            </a:pPr>
            <a:r>
              <a:rPr lang="en-US" sz="2000" dirty="0"/>
              <a:t>Overflow if </a:t>
            </a:r>
            <a:r>
              <a:rPr lang="en-US" sz="2000" b="1" dirty="0"/>
              <a:t>result sign is 1</a:t>
            </a:r>
            <a:endParaRPr lang="en-US" b="1"/>
          </a:p>
          <a:p>
            <a:pPr marL="342900" indent="-342900">
              <a:spcBef>
                <a:spcPct val="20000"/>
              </a:spcBef>
              <a:buFont typeface="Calibri"/>
              <a:buChar char="-"/>
            </a:pPr>
            <a:r>
              <a:rPr lang="en-US" sz="2400" dirty="0"/>
              <a:t>Adding two </a:t>
            </a:r>
            <a:r>
              <a:rPr lang="en-US" sz="2400" b="1" dirty="0"/>
              <a:t>–</a:t>
            </a:r>
            <a:r>
              <a:rPr lang="en-US" sz="2400" b="1" dirty="0" err="1"/>
              <a:t>ve</a:t>
            </a:r>
            <a:r>
              <a:rPr lang="en-US" sz="2400" dirty="0"/>
              <a:t> operands</a:t>
            </a:r>
            <a:endParaRPr lang="en-US" dirty="0"/>
          </a:p>
          <a:p>
            <a:pPr marL="800100" lvl="1" indent="-342900">
              <a:spcBef>
                <a:spcPct val="20000"/>
              </a:spcBef>
              <a:buFont typeface="Courier New"/>
              <a:buChar char="o"/>
            </a:pPr>
            <a:r>
              <a:rPr lang="en-US" sz="2000" dirty="0"/>
              <a:t>Overflow if </a:t>
            </a:r>
            <a:r>
              <a:rPr lang="en-US" sz="2000" b="1" dirty="0"/>
              <a:t>result sign is 0</a:t>
            </a:r>
            <a:endParaRPr lang="en-US" b="1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7D7097E-D5DB-7B77-A5F8-976C88EE4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>
                <a:ea typeface="Calibri"/>
                <a:cs typeface="Calibri"/>
              </a:rPr>
              <a:t>Integer addition.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28040" y="1297305"/>
            <a:ext cx="10525760" cy="487965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/>
              <a:t>Add negation of second operand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dirty="0"/>
              <a:t>Example: 7 – 6 = 7 + (–6)</a:t>
            </a:r>
            <a:endParaRPr lang="en-US" dirty="0"/>
          </a:p>
          <a:p>
            <a:pPr lvl="1">
              <a:buNone/>
            </a:pPr>
            <a:r>
              <a:rPr lang="en-US" dirty="0"/>
              <a:t>     </a:t>
            </a:r>
            <a:r>
              <a:rPr lang="en-US" b="1" dirty="0"/>
              <a:t>+7</a:t>
            </a:r>
            <a:r>
              <a:rPr lang="en-US" dirty="0"/>
              <a:t>:	0000 0000 … 0000 0111</a:t>
            </a:r>
          </a:p>
          <a:p>
            <a:pPr lvl="1">
              <a:buNone/>
            </a:pPr>
            <a:r>
              <a:rPr lang="en-US" u="sng" dirty="0"/>
              <a:t>          </a:t>
            </a:r>
            <a:r>
              <a:rPr lang="en-US" b="1" u="sng" dirty="0"/>
              <a:t>–6</a:t>
            </a:r>
            <a:r>
              <a:rPr lang="en-US" u="sng" dirty="0"/>
              <a:t>:	 1111 1111 … 1111 1010</a:t>
            </a:r>
            <a:br>
              <a:rPr lang="en-US" dirty="0"/>
            </a:br>
            <a:r>
              <a:rPr lang="en-US" dirty="0"/>
              <a:t>      </a:t>
            </a:r>
            <a:r>
              <a:rPr lang="en-US" b="1" dirty="0"/>
              <a:t>+1</a:t>
            </a:r>
            <a:r>
              <a:rPr lang="en-US" dirty="0"/>
              <a:t>: 	0000 0000 … 0000 0001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dirty="0"/>
              <a:t>Overflow if result out of </a:t>
            </a:r>
            <a:r>
              <a:rPr lang="en-US" dirty="0"/>
              <a:t>range</a:t>
            </a:r>
          </a:p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 dirty="0"/>
              <a:t>Subtracting two </a:t>
            </a:r>
            <a:r>
              <a:rPr lang="en-US" b="1" dirty="0"/>
              <a:t>+</a:t>
            </a:r>
            <a:r>
              <a:rPr lang="en-US" b="1" dirty="0" err="1"/>
              <a:t>ve</a:t>
            </a:r>
            <a:r>
              <a:rPr lang="en-US" dirty="0"/>
              <a:t> or two </a:t>
            </a:r>
            <a:r>
              <a:rPr lang="en-US" b="1" dirty="0"/>
              <a:t>–</a:t>
            </a:r>
            <a:r>
              <a:rPr lang="en-US" b="1" dirty="0" err="1"/>
              <a:t>ve</a:t>
            </a:r>
            <a:r>
              <a:rPr lang="en-US" dirty="0"/>
              <a:t> operands, no overflow</a:t>
            </a:r>
          </a:p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 dirty="0"/>
              <a:t>Subtracting </a:t>
            </a:r>
            <a:r>
              <a:rPr lang="en-US" b="1" dirty="0"/>
              <a:t>+</a:t>
            </a:r>
            <a:r>
              <a:rPr lang="en-US" b="1" dirty="0" err="1"/>
              <a:t>ve</a:t>
            </a:r>
            <a:r>
              <a:rPr lang="en-US" dirty="0"/>
              <a:t> from </a:t>
            </a:r>
            <a:r>
              <a:rPr lang="en-US" b="1" dirty="0"/>
              <a:t>–</a:t>
            </a:r>
            <a:r>
              <a:rPr lang="en-US" b="1" dirty="0" err="1"/>
              <a:t>ve</a:t>
            </a:r>
            <a:r>
              <a:rPr lang="en-US" dirty="0"/>
              <a:t> operand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dirty="0"/>
              <a:t>Overflow if result sign is 0</a:t>
            </a:r>
          </a:p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 dirty="0"/>
              <a:t>Subtracting </a:t>
            </a:r>
            <a:r>
              <a:rPr lang="en-US" b="1" dirty="0"/>
              <a:t>–</a:t>
            </a:r>
            <a:r>
              <a:rPr lang="en-US" b="1" dirty="0" err="1"/>
              <a:t>ve</a:t>
            </a:r>
            <a:r>
              <a:rPr lang="en-US" dirty="0"/>
              <a:t> from </a:t>
            </a:r>
            <a:r>
              <a:rPr lang="en-US" b="1" dirty="0"/>
              <a:t>+</a:t>
            </a:r>
            <a:r>
              <a:rPr lang="en-US" b="1" dirty="0" err="1"/>
              <a:t>ve</a:t>
            </a:r>
            <a:r>
              <a:rPr lang="en-US" dirty="0"/>
              <a:t> operand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dirty="0"/>
              <a:t>Overflow if result sign is 1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36F525-F974-2BAE-E18E-C279C0886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>
                <a:ea typeface="Calibri"/>
                <a:cs typeface="Calibri"/>
              </a:rPr>
              <a:t>Integer subtraction.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FB37B-6771-164E-848A-14F0CDD58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B9716C3-16BE-0E73-CB70-558B280C1B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9099102"/>
              </p:ext>
            </p:extLst>
          </p:nvPr>
        </p:nvGraphicFramePr>
        <p:xfrm>
          <a:off x="3048000" y="2067580"/>
          <a:ext cx="6096000" cy="25908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81700A9F-383E-BC1F-B06F-34DA076A9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>
                <a:ea typeface="Calibri"/>
                <a:cs typeface="Calibri"/>
              </a:rPr>
              <a:t>Z = X + Y.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964F2F-E867-BBC5-B8C8-FCEA0B6EC216}"/>
              </a:ext>
            </a:extLst>
          </p:cNvPr>
          <p:cNvSpPr txBox="1"/>
          <p:nvPr/>
        </p:nvSpPr>
        <p:spPr>
          <a:xfrm>
            <a:off x="3048000" y="4658380"/>
            <a:ext cx="60960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dirty="0"/>
              <a:t>What Boolean operator is this?</a:t>
            </a:r>
          </a:p>
        </p:txBody>
      </p:sp>
    </p:spTree>
    <p:extLst>
      <p:ext uri="{BB962C8B-B14F-4D97-AF65-F5344CB8AC3E}">
        <p14:creationId xmlns:p14="http://schemas.microsoft.com/office/powerpoint/2010/main" val="2922178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BDA8F-51C3-FD6C-66BB-FAD5075DC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608B4C3-4396-76A1-0275-F85A784539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0141405"/>
              </p:ext>
            </p:extLst>
          </p:nvPr>
        </p:nvGraphicFramePr>
        <p:xfrm>
          <a:off x="3048000" y="2067580"/>
          <a:ext cx="6096000" cy="25908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39E7FE5-9E46-8EB9-3B6B-7D0A36BB581F}"/>
              </a:ext>
            </a:extLst>
          </p:cNvPr>
          <p:cNvSpPr txBox="1"/>
          <p:nvPr/>
        </p:nvSpPr>
        <p:spPr>
          <a:xfrm>
            <a:off x="3048000" y="4658380"/>
            <a:ext cx="6096000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dirty="0"/>
              <a:t>What Boolean operator is this?</a:t>
            </a:r>
          </a:p>
          <a:p>
            <a:pPr algn="ctr"/>
            <a:r>
              <a:rPr lang="en-US" sz="2800" b="1" dirty="0"/>
              <a:t>XOR</a:t>
            </a:r>
            <a:r>
              <a:rPr lang="en-US" sz="2800" dirty="0"/>
              <a:t> (</a:t>
            </a:r>
            <a:r>
              <a:rPr lang="en-US" sz="2800" b="1" dirty="0"/>
              <a:t>^</a:t>
            </a:r>
            <a:r>
              <a:rPr lang="en-US" sz="2800" dirty="0"/>
              <a:t>)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747DD47-1680-896F-EBAB-D6A2B912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>
                <a:ea typeface="Calibri"/>
                <a:cs typeface="Calibri"/>
              </a:rPr>
              <a:t>Z = X + 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484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28040" y="1297305"/>
            <a:ext cx="10525760" cy="48796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dirty="0"/>
              <a:t>Some languages (e.g., </a:t>
            </a:r>
            <a:r>
              <a:rPr lang="en-US" b="1" dirty="0"/>
              <a:t>C</a:t>
            </a:r>
            <a:r>
              <a:rPr lang="en-US" dirty="0"/>
              <a:t>) </a:t>
            </a:r>
            <a:r>
              <a:rPr lang="en-US" b="1" i="1" dirty="0"/>
              <a:t>ignore</a:t>
            </a:r>
            <a:r>
              <a:rPr lang="en-US" dirty="0"/>
              <a:t> overflow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 dirty="0"/>
              <a:t>Use MIPS </a:t>
            </a:r>
            <a:r>
              <a:rPr lang="en-US" dirty="0">
                <a:latin typeface="Lucida Console"/>
              </a:rPr>
              <a:t>addu</a:t>
            </a:r>
            <a:r>
              <a:rPr lang="en-US" dirty="0"/>
              <a:t>, </a:t>
            </a:r>
            <a:r>
              <a:rPr lang="en-US" dirty="0">
                <a:latin typeface="Lucida Console"/>
              </a:rPr>
              <a:t>addui</a:t>
            </a:r>
            <a:r>
              <a:rPr lang="en-US" dirty="0"/>
              <a:t>, </a:t>
            </a:r>
            <a:r>
              <a:rPr lang="en-US" dirty="0">
                <a:latin typeface="Lucida Console"/>
              </a:rPr>
              <a:t>subu</a:t>
            </a:r>
            <a:r>
              <a:rPr lang="en-US" dirty="0"/>
              <a:t> instructions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Other languages (e.g., </a:t>
            </a:r>
            <a:r>
              <a:rPr lang="en-US" b="1" dirty="0"/>
              <a:t>Ada, Fortran</a:t>
            </a:r>
            <a:r>
              <a:rPr lang="en-US" dirty="0"/>
              <a:t>) require raising an exception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Use MIPS </a:t>
            </a:r>
            <a:r>
              <a:rPr lang="en-US" dirty="0">
                <a:latin typeface="Lucida Console" pitchFamily="49" charset="0"/>
              </a:rPr>
              <a:t>add</a:t>
            </a:r>
            <a:r>
              <a:rPr lang="en-US" dirty="0"/>
              <a:t>, </a:t>
            </a:r>
            <a:r>
              <a:rPr lang="en-US" dirty="0">
                <a:latin typeface="Lucida Console" pitchFamily="49" charset="0"/>
              </a:rPr>
              <a:t>addi</a:t>
            </a:r>
            <a:r>
              <a:rPr lang="en-US" dirty="0"/>
              <a:t>, </a:t>
            </a:r>
            <a:r>
              <a:rPr lang="en-US" dirty="0">
                <a:latin typeface="Lucida Console" pitchFamily="49" charset="0"/>
              </a:rPr>
              <a:t>sub</a:t>
            </a:r>
            <a:r>
              <a:rPr lang="en-US" dirty="0"/>
              <a:t> instructions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On overflow, invoke exception handler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Save PC in exception program counter (EPC) register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Jump to predefined handler address</a:t>
            </a:r>
          </a:p>
          <a:p>
            <a:pPr lvl="2">
              <a:lnSpc>
                <a:spcPct val="90000"/>
              </a:lnSpc>
            </a:pPr>
            <a:r>
              <a:rPr lang="en-US" dirty="0">
                <a:latin typeface="Lucida Console" pitchFamily="49" charset="0"/>
              </a:rPr>
              <a:t>mfc0</a:t>
            </a:r>
            <a:r>
              <a:rPr lang="en-US" dirty="0"/>
              <a:t> (move from coprocessor reg) instruction can retrieve EPC value, to return after corrective action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8E18696-6E17-F501-D874-AE0DDE6DF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>
                <a:ea typeface="Calibri"/>
                <a:cs typeface="Calibri"/>
              </a:rPr>
              <a:t>Integer subtraction.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048000" y="2067580"/>
          <a:ext cx="60960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Carry-in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Carry-out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Overflow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048000" y="4658380"/>
            <a:ext cx="609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What Boolean operator is this?</a:t>
            </a:r>
          </a:p>
          <a:p>
            <a:pPr algn="ctr"/>
            <a:r>
              <a:rPr lang="en-US" sz="2800" dirty="0"/>
              <a:t>XOR (^)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2179CE0-5D3B-F8D5-A656-9C98894C6E30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ea typeface="+mj-lt"/>
                <a:cs typeface="+mj-lt"/>
              </a:rPr>
              <a:t>Overflow conditions from sign bit carry-in and carry-out.</a:t>
            </a:r>
            <a:endParaRPr lang="en-US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85C8C-32C3-50BF-7CDA-B9F0EB290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C50C51F-47BC-54CA-17C3-AEFD9B5D3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0411"/>
            <a:ext cx="10515600" cy="50951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ct val="40000"/>
              </a:spcBef>
              <a:buNone/>
            </a:pPr>
            <a:r>
              <a:rPr lang="en-US" altLang="en-US" sz="2400" dirty="0">
                <a:cs typeface="Arial"/>
              </a:rPr>
              <a:t>The sequence </a:t>
            </a:r>
            <a:r>
              <a:rPr lang="en-US" altLang="en-US" sz="2400" b="1" dirty="0">
                <a:cs typeface="Arial"/>
              </a:rPr>
              <a:t>11001 </a:t>
            </a:r>
            <a:r>
              <a:rPr lang="en-US" altLang="en-US" sz="2400" dirty="0">
                <a:cs typeface="Arial"/>
              </a:rPr>
              <a:t>in the binary system </a:t>
            </a:r>
            <a:r>
              <a:rPr lang="en-US" altLang="en-US" sz="2400" i="1" dirty="0">
                <a:cs typeface="Arial"/>
              </a:rPr>
              <a:t>(Base = 2</a:t>
            </a:r>
            <a:r>
              <a:rPr lang="en-US" altLang="en-US" sz="2400" dirty="0">
                <a:cs typeface="Arial"/>
              </a:rPr>
              <a:t>) is:</a:t>
            </a:r>
            <a:endParaRPr lang="en-US"/>
          </a:p>
          <a:p>
            <a:pPr>
              <a:spcBef>
                <a:spcPct val="40000"/>
              </a:spcBef>
            </a:pPr>
            <a:endParaRPr lang="en-US" altLang="en-US" sz="2400" dirty="0">
              <a:cs typeface="Arial" panose="020B0604020202020204" pitchFamily="34" charset="0"/>
            </a:endParaRPr>
          </a:p>
          <a:p>
            <a:pPr>
              <a:spcBef>
                <a:spcPct val="40000"/>
              </a:spcBef>
            </a:pPr>
            <a:endParaRPr lang="en-US" altLang="en-US" sz="2400" dirty="0">
              <a:cs typeface="Arial"/>
            </a:endParaRPr>
          </a:p>
          <a:p>
            <a:pPr marL="0" indent="0">
              <a:spcBef>
                <a:spcPct val="40000"/>
              </a:spcBef>
              <a:buNone/>
            </a:pPr>
            <a:endParaRPr lang="en-US" altLang="en-US" sz="2000" baseline="-25000" dirty="0">
              <a:cs typeface="Arial"/>
            </a:endParaRPr>
          </a:p>
          <a:p>
            <a:pPr marL="0" indent="0">
              <a:spcBef>
                <a:spcPct val="40000"/>
              </a:spcBef>
              <a:buNone/>
            </a:pPr>
            <a:endParaRPr lang="en-US" altLang="en-US" sz="2400" dirty="0">
              <a:cs typeface="Arial"/>
            </a:endParaRPr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A3C29A5E-9AB3-2B8A-B96B-815AEE33E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4941" y="1889966"/>
            <a:ext cx="928887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40" tIns="45720" rIns="91440" bIns="45720" anchor="ctr">
            <a:spAutoFit/>
          </a:bodyPr>
          <a:lstStyle/>
          <a:p>
            <a:pPr marL="0" lvl="1"/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   1 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  <a:sym typeface="Symbol" pitchFamily="18" charset="2"/>
              </a:rPr>
              <a:t>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2 </a:t>
            </a:r>
            <a:r>
              <a:rPr lang="en-US" altLang="en-US" sz="2400" b="1" baseline="30000" dirty="0">
                <a:solidFill>
                  <a:schemeClr val="tx2">
                    <a:lumMod val="49000"/>
                    <a:lumOff val="51000"/>
                  </a:schemeClr>
                </a:solidFill>
              </a:rPr>
              <a:t>4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+ 1 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  <a:sym typeface="Symbol" pitchFamily="18" charset="2"/>
              </a:rPr>
              <a:t>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2 </a:t>
            </a:r>
            <a:r>
              <a:rPr lang="en-US" altLang="en-US" sz="2400" b="1" baseline="30000" dirty="0">
                <a:solidFill>
                  <a:schemeClr val="tx2">
                    <a:lumMod val="49000"/>
                    <a:lumOff val="51000"/>
                  </a:schemeClr>
                </a:solidFill>
              </a:rPr>
              <a:t>3 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+ 0 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  <a:sym typeface="Symbol" pitchFamily="18" charset="2"/>
              </a:rPr>
              <a:t>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2 </a:t>
            </a:r>
            <a:r>
              <a:rPr lang="en-US" altLang="en-US" sz="2400" b="1" baseline="30000" dirty="0">
                <a:solidFill>
                  <a:schemeClr val="tx2">
                    <a:lumMod val="49000"/>
                    <a:lumOff val="51000"/>
                  </a:schemeClr>
                </a:solidFill>
              </a:rPr>
              <a:t>2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 + 0 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  <a:sym typeface="Symbol" pitchFamily="18" charset="2"/>
              </a:rPr>
              <a:t>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2 </a:t>
            </a:r>
            <a:r>
              <a:rPr lang="en-US" altLang="en-US" sz="2400" b="1" baseline="30000" dirty="0">
                <a:solidFill>
                  <a:schemeClr val="tx2">
                    <a:lumMod val="49000"/>
                    <a:lumOff val="51000"/>
                  </a:schemeClr>
                </a:solidFill>
              </a:rPr>
              <a:t>1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+ 1 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  <a:sym typeface="Symbol" pitchFamily="18" charset="2"/>
              </a:rPr>
              <a:t>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2 </a:t>
            </a:r>
            <a:r>
              <a:rPr lang="en-US" altLang="en-US" sz="2400" b="1" baseline="30000" dirty="0">
                <a:solidFill>
                  <a:schemeClr val="tx2">
                    <a:lumMod val="49000"/>
                    <a:lumOff val="51000"/>
                  </a:schemeClr>
                </a:solidFill>
              </a:rPr>
              <a:t>0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</a:t>
            </a:r>
            <a:endParaRPr lang="en-US" b="1">
              <a:solidFill>
                <a:schemeClr val="tx2">
                  <a:lumMod val="49000"/>
                  <a:lumOff val="51000"/>
                </a:schemeClr>
              </a:solidFill>
            </a:endParaRPr>
          </a:p>
          <a:p>
            <a:pPr marL="0" lvl="1"/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=   16      +    8       +    0       +     0      +    1    =   25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EAE4C15-FBEF-0F49-A1F6-F2A3C5B07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>
                <a:ea typeface="Calibri"/>
                <a:cs typeface="Calibri"/>
              </a:rPr>
              <a:t>Recall: numbering systems.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76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3379-1852-5676-E133-4C93E3887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FB5985-DF21-C062-1F5C-CBCB726C5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0411"/>
            <a:ext cx="10515600" cy="50951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ct val="40000"/>
              </a:spcBef>
              <a:buNone/>
            </a:pPr>
            <a:r>
              <a:rPr lang="en-US" altLang="en-US" sz="2400" dirty="0">
                <a:cs typeface="Arial"/>
              </a:rPr>
              <a:t>The sequence </a:t>
            </a:r>
            <a:r>
              <a:rPr lang="en-US" altLang="en-US" sz="2400" b="1" dirty="0">
                <a:cs typeface="Arial"/>
              </a:rPr>
              <a:t>11001 </a:t>
            </a:r>
            <a:r>
              <a:rPr lang="en-US" altLang="en-US" sz="2400" dirty="0">
                <a:cs typeface="Arial"/>
              </a:rPr>
              <a:t>in the binary system </a:t>
            </a:r>
            <a:r>
              <a:rPr lang="en-US" altLang="en-US" sz="2400" i="1" dirty="0">
                <a:cs typeface="Arial"/>
              </a:rPr>
              <a:t>(Base = 2</a:t>
            </a:r>
            <a:r>
              <a:rPr lang="en-US" altLang="en-US" sz="2400" dirty="0">
                <a:cs typeface="Arial"/>
              </a:rPr>
              <a:t>) is:</a:t>
            </a:r>
            <a:endParaRPr lang="en-US"/>
          </a:p>
          <a:p>
            <a:pPr>
              <a:spcBef>
                <a:spcPct val="40000"/>
              </a:spcBef>
            </a:pPr>
            <a:endParaRPr lang="en-US" altLang="en-US" sz="2400" dirty="0">
              <a:cs typeface="Arial" panose="020B0604020202020204" pitchFamily="34" charset="0"/>
            </a:endParaRPr>
          </a:p>
          <a:p>
            <a:pPr>
              <a:spcBef>
                <a:spcPct val="40000"/>
              </a:spcBef>
            </a:pPr>
            <a:endParaRPr lang="en-US" altLang="en-US" sz="2400" dirty="0">
              <a:cs typeface="Arial"/>
            </a:endParaRPr>
          </a:p>
          <a:p>
            <a:pPr>
              <a:spcBef>
                <a:spcPct val="40000"/>
              </a:spcBef>
            </a:pPr>
            <a:endParaRPr lang="en-US" altLang="en-US" sz="2400" dirty="0">
              <a:cs typeface="Arial"/>
            </a:endParaRPr>
          </a:p>
          <a:p>
            <a:pPr marL="0" indent="0">
              <a:spcBef>
                <a:spcPts val="2400"/>
              </a:spcBef>
              <a:buNone/>
            </a:pPr>
            <a:r>
              <a:rPr lang="en-US" altLang="en-US" sz="2400" dirty="0">
                <a:cs typeface="Arial"/>
              </a:rPr>
              <a:t>The sequence </a:t>
            </a:r>
            <a:r>
              <a:rPr lang="en-US" altLang="en-US" sz="2400" b="1" dirty="0">
                <a:cs typeface="Arial"/>
              </a:rPr>
              <a:t>11.001</a:t>
            </a:r>
            <a:r>
              <a:rPr lang="en-US" altLang="en-US" sz="2400" dirty="0">
                <a:cs typeface="Arial"/>
              </a:rPr>
              <a:t> in the binary system (</a:t>
            </a:r>
            <a:r>
              <a:rPr lang="en-US" altLang="en-US" sz="2400" b="1" dirty="0">
                <a:cs typeface="Arial"/>
              </a:rPr>
              <a:t>B = 2</a:t>
            </a:r>
            <a:r>
              <a:rPr lang="en-US" altLang="en-US" sz="2400" dirty="0">
                <a:cs typeface="Arial"/>
              </a:rPr>
              <a:t>) is:</a:t>
            </a:r>
          </a:p>
          <a:p>
            <a:pPr>
              <a:spcBef>
                <a:spcPct val="40000"/>
              </a:spcBef>
            </a:pPr>
            <a:endParaRPr lang="en-US" altLang="en-US" sz="2400" dirty="0">
              <a:cs typeface="Arial" panose="020B0604020202020204" pitchFamily="34" charset="0"/>
            </a:endParaRPr>
          </a:p>
          <a:p>
            <a:pPr>
              <a:spcBef>
                <a:spcPct val="40000"/>
              </a:spcBef>
            </a:pPr>
            <a:endParaRPr lang="en-US" altLang="en-US" sz="1400" dirty="0">
              <a:cs typeface="Arial" panose="020B0604020202020204" pitchFamily="34" charset="0"/>
            </a:endParaRPr>
          </a:p>
          <a:p>
            <a:pPr>
              <a:spcBef>
                <a:spcPct val="40000"/>
              </a:spcBef>
            </a:pPr>
            <a:endParaRPr lang="en-US" altLang="en-US" sz="1400" dirty="0">
              <a:cs typeface="Arial"/>
            </a:endParaRPr>
          </a:p>
          <a:p>
            <a:pPr marL="0" indent="0">
              <a:spcBef>
                <a:spcPct val="40000"/>
              </a:spcBef>
              <a:buNone/>
            </a:pPr>
            <a:endParaRPr lang="en-US" altLang="en-US" sz="2000" baseline="-25000" dirty="0">
              <a:cs typeface="Arial"/>
            </a:endParaRPr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0AD0E0FC-A83B-CB0A-F895-7F6DF3282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4941" y="1889966"/>
            <a:ext cx="928887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40" tIns="45720" rIns="91440" bIns="45720" anchor="ctr">
            <a:spAutoFit/>
          </a:bodyPr>
          <a:lstStyle/>
          <a:p>
            <a:pPr marL="0" lvl="1"/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   1 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  <a:sym typeface="Symbol" pitchFamily="18" charset="2"/>
              </a:rPr>
              <a:t>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2 </a:t>
            </a:r>
            <a:r>
              <a:rPr lang="en-US" altLang="en-US" sz="2400" b="1" baseline="30000" dirty="0">
                <a:solidFill>
                  <a:schemeClr val="tx2">
                    <a:lumMod val="49000"/>
                    <a:lumOff val="51000"/>
                  </a:schemeClr>
                </a:solidFill>
              </a:rPr>
              <a:t>4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+ 1 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  <a:sym typeface="Symbol" pitchFamily="18" charset="2"/>
              </a:rPr>
              <a:t>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2 </a:t>
            </a:r>
            <a:r>
              <a:rPr lang="en-US" altLang="en-US" sz="2400" b="1" baseline="30000" dirty="0">
                <a:solidFill>
                  <a:schemeClr val="tx2">
                    <a:lumMod val="49000"/>
                    <a:lumOff val="51000"/>
                  </a:schemeClr>
                </a:solidFill>
              </a:rPr>
              <a:t>3 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+ 0 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  <a:sym typeface="Symbol" pitchFamily="18" charset="2"/>
              </a:rPr>
              <a:t>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2 </a:t>
            </a:r>
            <a:r>
              <a:rPr lang="en-US" altLang="en-US" sz="2400" b="1" baseline="30000" dirty="0">
                <a:solidFill>
                  <a:schemeClr val="tx2">
                    <a:lumMod val="49000"/>
                    <a:lumOff val="51000"/>
                  </a:schemeClr>
                </a:solidFill>
              </a:rPr>
              <a:t>2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 + 0 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  <a:sym typeface="Symbol" pitchFamily="18" charset="2"/>
              </a:rPr>
              <a:t>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2 </a:t>
            </a:r>
            <a:r>
              <a:rPr lang="en-US" altLang="en-US" sz="2400" b="1" baseline="30000" dirty="0">
                <a:solidFill>
                  <a:schemeClr val="tx2">
                    <a:lumMod val="49000"/>
                    <a:lumOff val="51000"/>
                  </a:schemeClr>
                </a:solidFill>
              </a:rPr>
              <a:t>1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+ 1 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  <a:sym typeface="Symbol" pitchFamily="18" charset="2"/>
              </a:rPr>
              <a:t>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2 </a:t>
            </a:r>
            <a:r>
              <a:rPr lang="en-US" altLang="en-US" sz="2400" b="1" baseline="30000" dirty="0">
                <a:solidFill>
                  <a:schemeClr val="tx2">
                    <a:lumMod val="49000"/>
                    <a:lumOff val="51000"/>
                  </a:schemeClr>
                </a:solidFill>
              </a:rPr>
              <a:t>0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</a:t>
            </a:r>
            <a:endParaRPr lang="en-US" b="1">
              <a:solidFill>
                <a:schemeClr val="tx2">
                  <a:lumMod val="49000"/>
                  <a:lumOff val="51000"/>
                </a:schemeClr>
              </a:solidFill>
            </a:endParaRPr>
          </a:p>
          <a:p>
            <a:pPr marL="0" lvl="1"/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=   16      +    8       +    0       +     0      +    1    =   25</a:t>
            </a: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56EF6ED3-4B2B-B422-C3B3-B8E9B4D12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1251" y="3838435"/>
            <a:ext cx="9217024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40" tIns="45720" rIns="91440" bIns="45720" anchor="ctr">
            <a:spAutoFit/>
          </a:bodyPr>
          <a:lstStyle/>
          <a:p>
            <a:pPr lvl="1">
              <a:spcBef>
                <a:spcPct val="40000"/>
              </a:spcBef>
            </a:pP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   1 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  <a:sym typeface="Symbol" pitchFamily="18" charset="2"/>
              </a:rPr>
              <a:t>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2 </a:t>
            </a:r>
            <a:r>
              <a:rPr lang="en-US" altLang="en-US" sz="2400" b="1" baseline="30000" dirty="0">
                <a:solidFill>
                  <a:schemeClr val="tx2">
                    <a:lumMod val="49000"/>
                    <a:lumOff val="51000"/>
                  </a:schemeClr>
                </a:solidFill>
              </a:rPr>
              <a:t>1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+ 1 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  <a:sym typeface="Symbol" pitchFamily="18" charset="2"/>
              </a:rPr>
              <a:t>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2 </a:t>
            </a:r>
            <a:r>
              <a:rPr lang="en-US" altLang="en-US" sz="2400" b="1" baseline="30000" dirty="0">
                <a:solidFill>
                  <a:schemeClr val="tx2">
                    <a:lumMod val="49000"/>
                    <a:lumOff val="51000"/>
                  </a:schemeClr>
                </a:solidFill>
              </a:rPr>
              <a:t>0 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+ 0 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  <a:sym typeface="Symbol" pitchFamily="18" charset="2"/>
              </a:rPr>
              <a:t>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2 </a:t>
            </a:r>
            <a:r>
              <a:rPr lang="en-US" altLang="en-US" sz="2400" b="1" baseline="30000" dirty="0">
                <a:solidFill>
                  <a:schemeClr val="tx2">
                    <a:lumMod val="49000"/>
                    <a:lumOff val="51000"/>
                  </a:schemeClr>
                </a:solidFill>
              </a:rPr>
              <a:t>-1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 + 0 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  <a:sym typeface="Symbol" pitchFamily="18" charset="2"/>
              </a:rPr>
              <a:t>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2 </a:t>
            </a:r>
            <a:r>
              <a:rPr lang="en-US" altLang="en-US" sz="2400" b="1" baseline="30000" dirty="0">
                <a:solidFill>
                  <a:schemeClr val="tx2">
                    <a:lumMod val="49000"/>
                    <a:lumOff val="51000"/>
                  </a:schemeClr>
                </a:solidFill>
              </a:rPr>
              <a:t>-2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+ 1 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  <a:sym typeface="Symbol" pitchFamily="18" charset="2"/>
              </a:rPr>
              <a:t>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2 </a:t>
            </a:r>
            <a:r>
              <a:rPr lang="en-US" altLang="en-US" sz="2400" b="1" baseline="30000" dirty="0">
                <a:solidFill>
                  <a:schemeClr val="tx2">
                    <a:lumMod val="49000"/>
                    <a:lumOff val="51000"/>
                  </a:schemeClr>
                </a:solidFill>
              </a:rPr>
              <a:t>-3</a:t>
            </a: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</a:t>
            </a:r>
          </a:p>
          <a:p>
            <a:pPr lvl="1">
              <a:spcBef>
                <a:spcPct val="40000"/>
              </a:spcBef>
            </a:pPr>
            <a:r>
              <a:rPr lang="en-US" altLang="en-U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=   2      +    1       +    0       +     0      +    0.125    =   3.125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0511F27-3DE4-3E18-F77A-A42591B2C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>
                <a:ea typeface="Calibri"/>
                <a:cs typeface="Calibri"/>
              </a:rPr>
              <a:t>Recall: numbering systems.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373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93686" y="2086429"/>
            <a:ext cx="8001000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600" dirty="0"/>
              <a:t>+6.626 * 10</a:t>
            </a:r>
            <a:r>
              <a:rPr lang="en-US" sz="9600" baseline="30000" dirty="0"/>
              <a:t>-34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33779" y="3657600"/>
            <a:ext cx="76200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/>
              <a:t>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9814" y="3657600"/>
            <a:ext cx="259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/>
              <a:t>significand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7148286" y="3657600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886" y="3693886"/>
            <a:ext cx="160020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/>
              <a:t>exponent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873171-C039-ADD6-7667-197870D0F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>
                <a:ea typeface="Calibri"/>
                <a:cs typeface="Calibri"/>
              </a:rPr>
              <a:t>Recall: numbering systems.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95651-A14D-01C7-E682-390365927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E3FBDF8-F268-C905-4A5B-688CBFFBA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>
                <a:ea typeface="Calibri"/>
                <a:cs typeface="Calibri"/>
              </a:rPr>
              <a:t>IEEE 754 Single Precision.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A47644B-A040-FEE3-67FF-82E5B7A2B4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345971"/>
              </p:ext>
            </p:extLst>
          </p:nvPr>
        </p:nvGraphicFramePr>
        <p:xfrm>
          <a:off x="841466" y="1293876"/>
          <a:ext cx="11071541" cy="16065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2246">
                  <a:extLst>
                    <a:ext uri="{9D8B030D-6E8A-4147-A177-3AD203B41FA5}">
                      <a16:colId xmlns:a16="http://schemas.microsoft.com/office/drawing/2014/main" val="3638280019"/>
                    </a:ext>
                  </a:extLst>
                </a:gridCol>
                <a:gridCol w="3120075">
                  <a:extLst>
                    <a:ext uri="{9D8B030D-6E8A-4147-A177-3AD203B41FA5}">
                      <a16:colId xmlns:a16="http://schemas.microsoft.com/office/drawing/2014/main" val="3433456208"/>
                    </a:ext>
                  </a:extLst>
                </a:gridCol>
                <a:gridCol w="7419220">
                  <a:extLst>
                    <a:ext uri="{9D8B030D-6E8A-4147-A177-3AD203B41FA5}">
                      <a16:colId xmlns:a16="http://schemas.microsoft.com/office/drawing/2014/main" val="2198498180"/>
                    </a:ext>
                  </a:extLst>
                </a:gridCol>
              </a:tblGrid>
              <a:tr h="4175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31</a:t>
                      </a:r>
                      <a:r>
                        <a:rPr lang="en-US" sz="2000" b="1" dirty="0"/>
                        <a:t> </a:t>
                      </a:r>
                      <a:endParaRPr lang="en-US" sz="2000" b="1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9050">
                      <a:solidFill>
                        <a:schemeClr val="tx1"/>
                      </a:solidFill>
                    </a:lnL>
                    <a:lnR w="19050">
                      <a:solidFill>
                        <a:schemeClr val="tx1"/>
                      </a:solidFill>
                    </a:lnR>
                    <a:lnT w="19050">
                      <a:solidFill>
                        <a:schemeClr val="tx1"/>
                      </a:solidFill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u="none" strike="noStrike" noProof="0" dirty="0">
                          <a:solidFill>
                            <a:schemeClr val="tx2">
                              <a:lumMod val="76000"/>
                              <a:lumOff val="24000"/>
                            </a:schemeClr>
                          </a:solidFill>
                        </a:rPr>
                        <a:t>30  29  28  27  26  25  24  23</a:t>
                      </a:r>
                      <a:endParaRPr lang="en-US" sz="2000" b="1">
                        <a:solidFill>
                          <a:schemeClr val="tx2">
                            <a:lumMod val="76000"/>
                            <a:lumOff val="24000"/>
                          </a:schemeClr>
                        </a:solidFill>
                      </a:endParaRPr>
                    </a:p>
                  </a:txBody>
                  <a:tcPr>
                    <a:lnL w="19050">
                      <a:solidFill>
                        <a:schemeClr val="tx1"/>
                      </a:solidFill>
                    </a:lnL>
                    <a:lnR w="19050">
                      <a:solidFill>
                        <a:schemeClr val="tx1"/>
                      </a:solidFill>
                    </a:lnR>
                    <a:lnT w="19050">
                      <a:solidFill>
                        <a:schemeClr val="tx1"/>
                      </a:solidFill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u="none" strike="noStrike" noProof="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22  21  20  19  18  17  16  15  14  13  12  11  10  9  8  7  6  5  4  3  2  1  0</a:t>
                      </a:r>
                      <a:endParaRPr lang="en-US" sz="2000" b="1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>
                      <a:solidFill>
                        <a:schemeClr val="tx1"/>
                      </a:solidFill>
                    </a:lnL>
                    <a:lnR w="19050">
                      <a:solidFill>
                        <a:schemeClr val="tx1"/>
                      </a:solidFill>
                    </a:lnR>
                    <a:lnT w="19050">
                      <a:solidFill>
                        <a:schemeClr val="tx1"/>
                      </a:solidFill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671500"/>
                  </a:ext>
                </a:extLst>
              </a:tr>
              <a:tr h="39914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dirty="0"/>
                        <a:t>sign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chemeClr val="tx1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u="none" strike="noStrike" noProof="0" dirty="0">
                          <a:solidFill>
                            <a:schemeClr val="tx1"/>
                          </a:solidFill>
                        </a:rPr>
                        <a:t>exponent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chemeClr val="tx1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u="none" strike="noStrike" noProof="0" dirty="0">
                          <a:solidFill>
                            <a:schemeClr val="tx1"/>
                          </a:solidFill>
                        </a:rPr>
                        <a:t>fraction/mantissa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chemeClr val="tx1"/>
                      </a:solidFill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6315293"/>
                  </a:ext>
                </a:extLst>
              </a:tr>
              <a:tr h="4717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500" b="1" dirty="0">
                          <a:solidFill>
                            <a:srgbClr val="FF0000"/>
                          </a:solidFill>
                        </a:rPr>
                        <a:t>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500" b="1" u="none" strike="noStrike" noProof="0" dirty="0">
                          <a:solidFill>
                            <a:schemeClr val="tx2">
                              <a:lumMod val="49000"/>
                              <a:lumOff val="51000"/>
                            </a:schemeClr>
                          </a:solidFill>
                        </a:rPr>
                        <a:t>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500" b="1" u="none" strike="noStrike" noProof="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F/M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4564656"/>
                  </a:ext>
                </a:extLst>
              </a:tr>
              <a:tr h="31749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u="sng" dirty="0"/>
                        <a:t>1 bit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u="sng" strike="noStrike" noProof="0" dirty="0">
                          <a:solidFill>
                            <a:schemeClr val="tx1"/>
                          </a:solidFill>
                        </a:rPr>
                        <a:t>8 bit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u="sng" strike="noStrike" noProof="0" dirty="0">
                          <a:solidFill>
                            <a:schemeClr val="tx1"/>
                          </a:solidFill>
                        </a:rPr>
                        <a:t>23 bits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3932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7877447-0E80-8AF0-ACD1-3DDDCDE8E527}"/>
              </a:ext>
            </a:extLst>
          </p:cNvPr>
          <p:cNvSpPr txBox="1"/>
          <p:nvPr/>
        </p:nvSpPr>
        <p:spPr>
          <a:xfrm>
            <a:off x="2722880" y="3312161"/>
            <a:ext cx="7391400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7200" dirty="0"/>
              <a:t>(-1)</a:t>
            </a:r>
            <a:r>
              <a:rPr lang="en-US" sz="7200" baseline="30000" dirty="0">
                <a:solidFill>
                  <a:srgbClr val="FF0000"/>
                </a:solidFill>
              </a:rPr>
              <a:t>s</a:t>
            </a:r>
            <a:r>
              <a:rPr lang="en-US" sz="7200" dirty="0"/>
              <a:t> * 1.</a:t>
            </a:r>
            <a:r>
              <a:rPr lang="en-US" sz="7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</a:t>
            </a:r>
            <a:r>
              <a:rPr lang="en-US" sz="7200" dirty="0"/>
              <a:t> * 2</a:t>
            </a:r>
            <a:r>
              <a:rPr lang="en-US" sz="7200" baseline="30000" dirty="0"/>
              <a:t>(</a:t>
            </a:r>
            <a:r>
              <a:rPr lang="en-US" sz="7200" baseline="30000" dirty="0">
                <a:solidFill>
                  <a:schemeClr val="tx2">
                    <a:lumMod val="49000"/>
                    <a:lumOff val="51000"/>
                  </a:schemeClr>
                </a:solidFill>
              </a:rPr>
              <a:t>E</a:t>
            </a:r>
            <a:r>
              <a:rPr lang="en-US" sz="7200" baseline="30000" dirty="0"/>
              <a:t>-127)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87A8BF-5257-836F-375E-F25573315C09}"/>
              </a:ext>
            </a:extLst>
          </p:cNvPr>
          <p:cNvSpPr txBox="1"/>
          <p:nvPr/>
        </p:nvSpPr>
        <p:spPr>
          <a:xfrm>
            <a:off x="2974519" y="4627880"/>
            <a:ext cx="102616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2800" dirty="0"/>
              <a:t>sign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7AA022-EE7E-6A0B-953A-4AA82C8D08F1}"/>
              </a:ext>
            </a:extLst>
          </p:cNvPr>
          <p:cNvSpPr txBox="1"/>
          <p:nvPr/>
        </p:nvSpPr>
        <p:spPr>
          <a:xfrm>
            <a:off x="4815840" y="4505961"/>
            <a:ext cx="2235200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2400" dirty="0"/>
              <a:t>Normalized significand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7AF35E-3DBA-8104-0D17-21E28B863EBE}"/>
              </a:ext>
            </a:extLst>
          </p:cNvPr>
          <p:cNvSpPr txBox="1"/>
          <p:nvPr/>
        </p:nvSpPr>
        <p:spPr>
          <a:xfrm>
            <a:off x="7233920" y="4617720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base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8F2161-101B-84C0-2FB0-45C979774E1B}"/>
              </a:ext>
            </a:extLst>
          </p:cNvPr>
          <p:cNvSpPr txBox="1"/>
          <p:nvPr/>
        </p:nvSpPr>
        <p:spPr>
          <a:xfrm>
            <a:off x="8158480" y="4475481"/>
            <a:ext cx="1600200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400" dirty="0"/>
              <a:t>biased exponent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E9E14D-1A11-AF1E-FB5A-BBC104127B73}"/>
              </a:ext>
            </a:extLst>
          </p:cNvPr>
          <p:cNvSpPr txBox="1"/>
          <p:nvPr/>
        </p:nvSpPr>
        <p:spPr>
          <a:xfrm>
            <a:off x="1869439" y="5879347"/>
            <a:ext cx="929640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2400" dirty="0"/>
              <a:t>Designed for compromise between precision (</a:t>
            </a:r>
            <a:r>
              <a:rPr lang="en-US" sz="2400" b="1" dirty="0"/>
              <a:t>F</a:t>
            </a:r>
            <a:r>
              <a:rPr lang="en-US" sz="2400" dirty="0"/>
              <a:t>) and range (</a:t>
            </a:r>
            <a:r>
              <a:rPr lang="en-US" sz="2400" b="1" dirty="0"/>
              <a:t>E</a:t>
            </a:r>
            <a:r>
              <a:rPr lang="en-US" sz="2400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2012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A5351-83E3-7B09-5674-F7C1F33D8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EFD2E46-4823-6D7C-47C1-184234BE4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>
                <a:ea typeface="Calibri"/>
                <a:cs typeface="Calibri"/>
              </a:rPr>
              <a:t>IEEE 754 Single Precision.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405DD51-EB9A-EFC8-1CE8-4A6D04769287}"/>
              </a:ext>
            </a:extLst>
          </p:cNvPr>
          <p:cNvGraphicFramePr>
            <a:graphicFrameLocks noGrp="1"/>
          </p:cNvGraphicFramePr>
          <p:nvPr/>
        </p:nvGraphicFramePr>
        <p:xfrm>
          <a:off x="841466" y="1293876"/>
          <a:ext cx="11071541" cy="16065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2246">
                  <a:extLst>
                    <a:ext uri="{9D8B030D-6E8A-4147-A177-3AD203B41FA5}">
                      <a16:colId xmlns:a16="http://schemas.microsoft.com/office/drawing/2014/main" val="3638280019"/>
                    </a:ext>
                  </a:extLst>
                </a:gridCol>
                <a:gridCol w="3120075">
                  <a:extLst>
                    <a:ext uri="{9D8B030D-6E8A-4147-A177-3AD203B41FA5}">
                      <a16:colId xmlns:a16="http://schemas.microsoft.com/office/drawing/2014/main" val="3433456208"/>
                    </a:ext>
                  </a:extLst>
                </a:gridCol>
                <a:gridCol w="7419220">
                  <a:extLst>
                    <a:ext uri="{9D8B030D-6E8A-4147-A177-3AD203B41FA5}">
                      <a16:colId xmlns:a16="http://schemas.microsoft.com/office/drawing/2014/main" val="2198498180"/>
                    </a:ext>
                  </a:extLst>
                </a:gridCol>
              </a:tblGrid>
              <a:tr h="4175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31</a:t>
                      </a:r>
                      <a:r>
                        <a:rPr lang="en-US" sz="2000" b="1" dirty="0"/>
                        <a:t> </a:t>
                      </a:r>
                      <a:endParaRPr lang="en-US" sz="2000" b="1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9050">
                      <a:solidFill>
                        <a:schemeClr val="tx1"/>
                      </a:solidFill>
                    </a:lnL>
                    <a:lnR w="19050">
                      <a:solidFill>
                        <a:schemeClr val="tx1"/>
                      </a:solidFill>
                    </a:lnR>
                    <a:lnT w="19050">
                      <a:solidFill>
                        <a:schemeClr val="tx1"/>
                      </a:solidFill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u="none" strike="noStrike" noProof="0" dirty="0">
                          <a:solidFill>
                            <a:schemeClr val="tx2">
                              <a:lumMod val="76000"/>
                              <a:lumOff val="24000"/>
                            </a:schemeClr>
                          </a:solidFill>
                        </a:rPr>
                        <a:t>30  29  28  27  26  25  24  23</a:t>
                      </a:r>
                      <a:endParaRPr lang="en-US" sz="2000" b="1">
                        <a:solidFill>
                          <a:schemeClr val="tx2">
                            <a:lumMod val="76000"/>
                            <a:lumOff val="24000"/>
                          </a:schemeClr>
                        </a:solidFill>
                      </a:endParaRPr>
                    </a:p>
                  </a:txBody>
                  <a:tcPr>
                    <a:lnL w="19050">
                      <a:solidFill>
                        <a:schemeClr val="tx1"/>
                      </a:solidFill>
                    </a:lnL>
                    <a:lnR w="19050">
                      <a:solidFill>
                        <a:schemeClr val="tx1"/>
                      </a:solidFill>
                    </a:lnR>
                    <a:lnT w="19050">
                      <a:solidFill>
                        <a:schemeClr val="tx1"/>
                      </a:solidFill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u="none" strike="noStrike" noProof="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22  21  20  19  18  17  16  15  14  13  12  11  10  9  8  7  6  5  4  3  2  1  0</a:t>
                      </a:r>
                      <a:endParaRPr lang="en-US" sz="2000" b="1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>
                    <a:lnL w="19050">
                      <a:solidFill>
                        <a:schemeClr val="tx1"/>
                      </a:solidFill>
                    </a:lnL>
                    <a:lnR w="19050">
                      <a:solidFill>
                        <a:schemeClr val="tx1"/>
                      </a:solidFill>
                    </a:lnR>
                    <a:lnT w="19050">
                      <a:solidFill>
                        <a:schemeClr val="tx1"/>
                      </a:solidFill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671500"/>
                  </a:ext>
                </a:extLst>
              </a:tr>
              <a:tr h="39914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dirty="0"/>
                        <a:t>sign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chemeClr val="tx1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u="none" strike="noStrike" noProof="0" dirty="0">
                          <a:solidFill>
                            <a:schemeClr val="tx1"/>
                          </a:solidFill>
                        </a:rPr>
                        <a:t>exponent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chemeClr val="tx1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u="none" strike="noStrike" noProof="0" dirty="0">
                          <a:solidFill>
                            <a:schemeClr val="tx1"/>
                          </a:solidFill>
                        </a:rPr>
                        <a:t>fraction/mantissa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chemeClr val="tx1"/>
                      </a:solidFill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6315293"/>
                  </a:ext>
                </a:extLst>
              </a:tr>
              <a:tr h="47171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500" b="1" dirty="0">
                          <a:solidFill>
                            <a:srgbClr val="FF0000"/>
                          </a:solidFill>
                        </a:rPr>
                        <a:t>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500" b="1" u="none" strike="noStrike" noProof="0" dirty="0">
                          <a:solidFill>
                            <a:schemeClr val="tx2">
                              <a:lumMod val="49000"/>
                              <a:lumOff val="51000"/>
                            </a:schemeClr>
                          </a:solidFill>
                        </a:rPr>
                        <a:t>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500" b="1" u="none" strike="noStrike" noProof="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F/M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4564656"/>
                  </a:ext>
                </a:extLst>
              </a:tr>
              <a:tr h="31749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u="sng" dirty="0"/>
                        <a:t>1 bit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u="sng" strike="noStrike" noProof="0" dirty="0">
                          <a:solidFill>
                            <a:schemeClr val="tx1"/>
                          </a:solidFill>
                        </a:rPr>
                        <a:t>8 bit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1" u="sng" strike="noStrike" noProof="0" dirty="0">
                          <a:solidFill>
                            <a:schemeClr val="tx1"/>
                          </a:solidFill>
                        </a:rPr>
                        <a:t>23 bits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3932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970EDA16-7573-36A4-01F4-0574CD878D7E}"/>
              </a:ext>
            </a:extLst>
          </p:cNvPr>
          <p:cNvSpPr txBox="1"/>
          <p:nvPr/>
        </p:nvSpPr>
        <p:spPr>
          <a:xfrm>
            <a:off x="1869439" y="5879347"/>
            <a:ext cx="929640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lang="en-US" sz="2400" dirty="0"/>
              <a:t>Designed for compromise between precision (</a:t>
            </a:r>
            <a:r>
              <a:rPr lang="en-US" sz="2400" b="1" dirty="0"/>
              <a:t>F</a:t>
            </a:r>
            <a:r>
              <a:rPr lang="en-US" sz="2400" dirty="0"/>
              <a:t>) and range (</a:t>
            </a:r>
            <a:r>
              <a:rPr lang="en-US" sz="2400" b="1" dirty="0"/>
              <a:t>E</a:t>
            </a:r>
            <a:r>
              <a:rPr lang="en-US" sz="2400" dirty="0"/>
              <a:t>)</a:t>
            </a:r>
            <a:endParaRPr lang="en-US" dirty="0"/>
          </a:p>
        </p:txBody>
      </p:sp>
      <p:sp>
        <p:nvSpPr>
          <p:cNvPr id="2" name="Text Box 7">
            <a:extLst>
              <a:ext uri="{FF2B5EF4-FFF2-40B4-BE49-F238E27FC236}">
                <a16:creationId xmlns:a16="http://schemas.microsoft.com/office/drawing/2014/main" id="{48DBDBEE-804B-0BBF-D698-F8B2D0353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0019" y="3259774"/>
            <a:ext cx="3087687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altLang="zh-CN" sz="2000" b="1" dirty="0">
                <a:latin typeface="Tahoma"/>
                <a:ea typeface="宋体"/>
                <a:cs typeface="Tahoma"/>
              </a:rPr>
              <a:t>half</a:t>
            </a:r>
            <a:r>
              <a:rPr lang="en-US" altLang="zh-CN" sz="2000" dirty="0">
                <a:latin typeface="Tahoma"/>
                <a:ea typeface="宋体"/>
                <a:cs typeface="Tahoma"/>
              </a:rPr>
              <a:t>: 5 bits</a:t>
            </a:r>
            <a:endParaRPr lang="en-US" dirty="0">
              <a:latin typeface="Tahoma"/>
              <a:ea typeface="宋体"/>
              <a:cs typeface="Tahoma"/>
            </a:endParaRPr>
          </a:p>
          <a:p>
            <a:pPr algn="ctr" eaLnBrk="1" hangingPunct="1"/>
            <a:r>
              <a:rPr lang="en-US" altLang="zh-CN" sz="2000" b="1" dirty="0">
                <a:latin typeface="Tahoma"/>
                <a:ea typeface="宋体"/>
                <a:cs typeface="Tahoma"/>
              </a:rPr>
              <a:t>single</a:t>
            </a:r>
            <a:r>
              <a:rPr lang="en-US" altLang="zh-CN" sz="2000" dirty="0">
                <a:latin typeface="Tahoma"/>
                <a:ea typeface="宋体"/>
                <a:cs typeface="Tahoma"/>
              </a:rPr>
              <a:t>: 8 bits</a:t>
            </a:r>
            <a:br>
              <a:rPr lang="en-US" altLang="zh-CN" sz="2000" dirty="0">
                <a:latin typeface="Tahoma" pitchFamily="34" charset="0"/>
                <a:ea typeface="宋体" pitchFamily="2" charset="-122"/>
              </a:rPr>
            </a:br>
            <a:r>
              <a:rPr lang="en-US" altLang="zh-CN" sz="2000" b="1" dirty="0">
                <a:latin typeface="Tahoma"/>
                <a:ea typeface="宋体"/>
                <a:cs typeface="Tahoma"/>
              </a:rPr>
              <a:t>double</a:t>
            </a:r>
            <a:r>
              <a:rPr lang="en-US" altLang="zh-CN" sz="2000" dirty="0">
                <a:latin typeface="Tahoma"/>
                <a:ea typeface="宋体"/>
                <a:cs typeface="Tahoma"/>
              </a:rPr>
              <a:t>: 11 bits</a:t>
            </a:r>
          </a:p>
          <a:p>
            <a:pPr algn="ctr" eaLnBrk="1" hangingPunct="1"/>
            <a:r>
              <a:rPr lang="en-US" altLang="zh-CN" sz="2000" b="1" dirty="0">
                <a:latin typeface="Tahoma"/>
                <a:ea typeface="宋体"/>
                <a:cs typeface="Tahoma"/>
              </a:rPr>
              <a:t>quad</a:t>
            </a:r>
            <a:r>
              <a:rPr lang="en-US" altLang="zh-CN" sz="2000" dirty="0">
                <a:latin typeface="Tahoma"/>
                <a:ea typeface="宋体"/>
                <a:cs typeface="Tahoma"/>
              </a:rPr>
              <a:t>: 15 bits</a:t>
            </a:r>
          </a:p>
        </p:txBody>
      </p:sp>
      <p:sp>
        <p:nvSpPr>
          <p:cNvPr id="4" name="Text Box 8">
            <a:extLst>
              <a:ext uri="{FF2B5EF4-FFF2-40B4-BE49-F238E27FC236}">
                <a16:creationId xmlns:a16="http://schemas.microsoft.com/office/drawing/2014/main" id="{CB7A5FAE-DB8F-4343-92A2-8B0FC2E0C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818" y="3261361"/>
            <a:ext cx="741299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altLang="zh-CN" sz="2000" b="1" dirty="0">
                <a:latin typeface="Tahoma"/>
                <a:ea typeface="宋体"/>
                <a:cs typeface="Tahoma"/>
              </a:rPr>
              <a:t>half</a:t>
            </a:r>
            <a:r>
              <a:rPr lang="en-US" altLang="zh-CN" sz="2000" dirty="0">
                <a:latin typeface="Tahoma"/>
                <a:ea typeface="宋体"/>
                <a:cs typeface="Tahoma"/>
              </a:rPr>
              <a:t>: 10 bits</a:t>
            </a:r>
            <a:endParaRPr lang="en-US" dirty="0">
              <a:latin typeface="Tahoma"/>
              <a:ea typeface="宋体"/>
              <a:cs typeface="Tahoma"/>
            </a:endParaRPr>
          </a:p>
          <a:p>
            <a:pPr algn="ctr" eaLnBrk="1" hangingPunct="1"/>
            <a:r>
              <a:rPr lang="en-US" altLang="zh-CN" sz="2000" b="1" dirty="0">
                <a:latin typeface="Tahoma"/>
                <a:ea typeface="宋体"/>
                <a:cs typeface="Tahoma"/>
              </a:rPr>
              <a:t>single</a:t>
            </a:r>
            <a:r>
              <a:rPr lang="en-US" altLang="zh-CN" sz="2000" dirty="0">
                <a:latin typeface="Tahoma"/>
                <a:ea typeface="宋体"/>
                <a:cs typeface="Tahoma"/>
              </a:rPr>
              <a:t>: 23 bits</a:t>
            </a:r>
            <a:br>
              <a:rPr lang="en-US" altLang="zh-CN" sz="2000" dirty="0">
                <a:latin typeface="Tahoma" pitchFamily="34" charset="0"/>
                <a:ea typeface="宋体" pitchFamily="2" charset="-122"/>
              </a:rPr>
            </a:br>
            <a:r>
              <a:rPr lang="en-US" altLang="zh-CN" sz="2000" b="1" dirty="0">
                <a:latin typeface="Tahoma"/>
                <a:ea typeface="宋体"/>
                <a:cs typeface="Tahoma"/>
              </a:rPr>
              <a:t>double</a:t>
            </a:r>
            <a:r>
              <a:rPr lang="en-US" altLang="zh-CN" sz="2000" dirty="0">
                <a:latin typeface="Tahoma"/>
                <a:ea typeface="宋体"/>
                <a:cs typeface="Tahoma"/>
              </a:rPr>
              <a:t>: 52 bits</a:t>
            </a:r>
          </a:p>
          <a:p>
            <a:pPr algn="ctr" eaLnBrk="1" hangingPunct="1"/>
            <a:r>
              <a:rPr lang="en-US" altLang="zh-CN" sz="2000" b="1" dirty="0">
                <a:latin typeface="Tahoma"/>
                <a:ea typeface="宋体"/>
                <a:cs typeface="Tahoma"/>
              </a:rPr>
              <a:t>quad</a:t>
            </a:r>
            <a:r>
              <a:rPr lang="en-US" altLang="zh-CN" sz="2000" dirty="0">
                <a:latin typeface="Tahoma"/>
                <a:ea typeface="宋体"/>
                <a:cs typeface="Tahoma"/>
              </a:rPr>
              <a:t>: 112 bits</a:t>
            </a:r>
          </a:p>
        </p:txBody>
      </p:sp>
    </p:spTree>
    <p:extLst>
      <p:ext uri="{BB962C8B-B14F-4D97-AF65-F5344CB8AC3E}">
        <p14:creationId xmlns:p14="http://schemas.microsoft.com/office/powerpoint/2010/main" val="1152926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457200" lvl="1" indent="0">
              <a:buNone/>
            </a:pPr>
            <a:r>
              <a:rPr lang="en-US" b="1" dirty="0"/>
              <a:t>Pros</a:t>
            </a:r>
            <a:r>
              <a:rPr lang="en-US" dirty="0"/>
              <a:t>:</a:t>
            </a:r>
          </a:p>
          <a:p>
            <a:pPr lvl="1">
              <a:buFont typeface="Calibri" panose="020B0604020202020204" pitchFamily="34" charset="0"/>
              <a:buChar char="-"/>
            </a:pPr>
            <a:r>
              <a:rPr lang="en-US" dirty="0"/>
              <a:t>Increases range at cost of precision</a:t>
            </a:r>
          </a:p>
          <a:p>
            <a:pPr lvl="1">
              <a:buFont typeface="Calibri" panose="020B0604020202020204" pitchFamily="34" charset="0"/>
              <a:buChar char="-"/>
            </a:pPr>
            <a:endParaRPr lang="en-US" dirty="0"/>
          </a:p>
          <a:p>
            <a:pPr marL="457200" lvl="1" indent="0">
              <a:buNone/>
            </a:pPr>
            <a:r>
              <a:rPr lang="en-US" b="1" dirty="0"/>
              <a:t>Cons:</a:t>
            </a:r>
          </a:p>
          <a:p>
            <a:pPr lvl="1">
              <a:buFont typeface="Calibri" pitchFamily="34" charset="0"/>
              <a:buChar char="-"/>
            </a:pPr>
            <a:r>
              <a:rPr lang="en-US" dirty="0"/>
              <a:t> Rounding error, </a:t>
            </a:r>
            <a:r>
              <a:rPr lang="en-US" b="1" dirty="0"/>
              <a:t>e.g</a:t>
            </a:r>
            <a:r>
              <a:rPr lang="en-US" dirty="0"/>
              <a:t>.,  0.1 vs 0.10000000149…</a:t>
            </a:r>
          </a:p>
          <a:p>
            <a:pPr lvl="1">
              <a:buFont typeface="Calibri" pitchFamily="34" charset="0"/>
              <a:buChar char="-"/>
            </a:pPr>
            <a:r>
              <a:rPr lang="en-US" dirty="0"/>
              <a:t> Loss of significance, </a:t>
            </a:r>
            <a:r>
              <a:rPr lang="en-US" b="1" dirty="0"/>
              <a:t>e.g.</a:t>
            </a:r>
            <a:r>
              <a:rPr lang="en-US" dirty="0"/>
              <a:t>, subtraction of two large numbers that are very close to each other</a:t>
            </a:r>
          </a:p>
          <a:p>
            <a:pPr lvl="1">
              <a:buFont typeface="Calibri" pitchFamily="34" charset="0"/>
              <a:buChar char="-"/>
            </a:pPr>
            <a:r>
              <a:rPr lang="en-US" dirty="0"/>
              <a:t> Exceptions</a:t>
            </a:r>
          </a:p>
          <a:p>
            <a:pPr lvl="2">
              <a:buFont typeface="Calibri" pitchFamily="34" charset="0"/>
              <a:buChar char="-"/>
            </a:pPr>
            <a:r>
              <a:rPr lang="en-US" dirty="0"/>
              <a:t> Divide-by-zero</a:t>
            </a:r>
          </a:p>
          <a:p>
            <a:pPr lvl="2">
              <a:buFont typeface="Calibri" pitchFamily="34" charset="0"/>
              <a:buChar char="-"/>
            </a:pPr>
            <a:r>
              <a:rPr lang="en-US" dirty="0"/>
              <a:t> Invalid (NaN)</a:t>
            </a:r>
          </a:p>
          <a:p>
            <a:pPr lvl="2">
              <a:buFont typeface="Calibri" pitchFamily="34" charset="0"/>
              <a:buChar char="-"/>
            </a:pPr>
            <a:r>
              <a:rPr lang="en-US" dirty="0"/>
              <a:t> Overflow/Underflow</a:t>
            </a:r>
          </a:p>
          <a:p>
            <a:pPr lvl="2">
              <a:buFont typeface="Calibri" pitchFamily="34" charset="0"/>
              <a:buChar char="-"/>
            </a:pPr>
            <a:r>
              <a:rPr lang="en-US" dirty="0"/>
              <a:t> Inexact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538934-E997-98B0-F7C0-4FA22407A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>
                <a:ea typeface="Calibri"/>
                <a:cs typeface="Calibri"/>
              </a:rPr>
              <a:t>IEEE 754 is the standard.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605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8040" y="1297305"/>
            <a:ext cx="10525760" cy="48796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zh-CN" dirty="0">
                <a:ea typeface="宋体"/>
              </a:rPr>
              <a:t>Represent </a:t>
            </a:r>
            <a:r>
              <a:rPr lang="en-US" altLang="zh-CN" b="1" dirty="0">
                <a:ea typeface="宋体"/>
              </a:rPr>
              <a:t>–0.75</a:t>
            </a:r>
            <a:endParaRPr lang="en-US" b="1">
              <a:ea typeface="宋体"/>
            </a:endParaRPr>
          </a:p>
          <a:p>
            <a:pPr marL="0" indent="0">
              <a:buNone/>
            </a:pPr>
            <a:endParaRPr lang="en-US" altLang="zh-CN" b="1" dirty="0">
              <a:ea typeface="宋体"/>
            </a:endParaRPr>
          </a:p>
          <a:p>
            <a:pPr lvl="1">
              <a:buNone/>
            </a:pPr>
            <a:r>
              <a:rPr lang="en-US" altLang="zh-CN" dirty="0">
                <a:ea typeface="宋体" pitchFamily="2" charset="-122"/>
              </a:rPr>
              <a:t>–0.75 = (–1)</a:t>
            </a:r>
            <a:r>
              <a:rPr lang="en-US" altLang="zh-CN" baseline="30000" dirty="0">
                <a:ea typeface="宋体" pitchFamily="2" charset="-122"/>
              </a:rPr>
              <a:t>1</a:t>
            </a:r>
            <a:r>
              <a:rPr lang="en-US" altLang="zh-CN" dirty="0">
                <a:ea typeface="宋体" pitchFamily="2" charset="-122"/>
              </a:rPr>
              <a:t> × 1.1</a:t>
            </a:r>
            <a:r>
              <a:rPr lang="en-US" altLang="zh-CN" baseline="-25000" dirty="0">
                <a:ea typeface="宋体" pitchFamily="2" charset="-122"/>
              </a:rPr>
              <a:t>2</a:t>
            </a:r>
            <a:r>
              <a:rPr lang="en-US" altLang="zh-CN" dirty="0">
                <a:ea typeface="宋体" pitchFamily="2" charset="-122"/>
              </a:rPr>
              <a:t> × 2</a:t>
            </a:r>
            <a:r>
              <a:rPr lang="en-US" altLang="zh-CN" baseline="30000" dirty="0">
                <a:ea typeface="宋体" pitchFamily="2" charset="-122"/>
              </a:rPr>
              <a:t>–1</a:t>
            </a:r>
          </a:p>
          <a:p>
            <a:pPr lvl="1">
              <a:buNone/>
            </a:pPr>
            <a:endParaRPr lang="en-US" altLang="zh-CN" baseline="30000" dirty="0">
              <a:ea typeface="宋体"/>
            </a:endParaRPr>
          </a:p>
          <a:p>
            <a:pPr lvl="1">
              <a:buNone/>
            </a:pPr>
            <a:r>
              <a:rPr lang="en-US" altLang="zh-CN" b="1" dirty="0">
                <a:ea typeface="宋体"/>
              </a:rPr>
              <a:t>S </a:t>
            </a:r>
            <a:r>
              <a:rPr lang="en-US" altLang="zh-CN" dirty="0">
                <a:ea typeface="宋体"/>
              </a:rPr>
              <a:t>= </a:t>
            </a:r>
            <a:r>
              <a:rPr lang="en-US" altLang="zh-CN" dirty="0">
                <a:solidFill>
                  <a:schemeClr val="hlink"/>
                </a:solidFill>
                <a:ea typeface="宋体"/>
              </a:rPr>
              <a:t>1</a:t>
            </a:r>
          </a:p>
          <a:p>
            <a:pPr marL="457200" lvl="1" indent="0">
              <a:buNone/>
            </a:pPr>
            <a:r>
              <a:rPr lang="en-US" altLang="zh-CN" b="1" dirty="0">
                <a:ea typeface="宋体"/>
                <a:sym typeface="Symbol" pitchFamily="18" charset="2"/>
              </a:rPr>
              <a:t>Significand</a:t>
            </a:r>
            <a:r>
              <a:rPr lang="en-US" altLang="zh-CN" b="1" dirty="0">
                <a:ea typeface="宋体"/>
              </a:rPr>
              <a:t> </a:t>
            </a:r>
            <a:r>
              <a:rPr lang="en-US" altLang="zh-CN" dirty="0">
                <a:ea typeface="宋体"/>
              </a:rPr>
              <a:t>= 1000…00</a:t>
            </a:r>
            <a:r>
              <a:rPr lang="en-US" altLang="zh-CN" baseline="-25000" dirty="0">
                <a:ea typeface="宋体"/>
              </a:rPr>
              <a:t>2</a:t>
            </a:r>
            <a:endParaRPr lang="en-US" altLang="zh-CN" dirty="0">
              <a:solidFill>
                <a:schemeClr val="folHlink"/>
              </a:solidFill>
              <a:ea typeface="宋体" pitchFamily="2" charset="-122"/>
            </a:endParaRPr>
          </a:p>
          <a:p>
            <a:pPr lvl="1">
              <a:buNone/>
            </a:pPr>
            <a:r>
              <a:rPr lang="en-US" altLang="zh-CN" b="1" dirty="0">
                <a:ea typeface="宋体"/>
              </a:rPr>
              <a:t>Exponent </a:t>
            </a:r>
            <a:r>
              <a:rPr lang="en-US" altLang="zh-CN" dirty="0">
                <a:ea typeface="宋体"/>
              </a:rPr>
              <a:t>= –1 + Bias</a:t>
            </a:r>
          </a:p>
          <a:p>
            <a:pPr lvl="2"/>
            <a:r>
              <a:rPr lang="en-US" altLang="zh-CN" dirty="0">
                <a:ea typeface="宋体"/>
              </a:rPr>
              <a:t>Single(</a:t>
            </a:r>
            <a:r>
              <a:rPr lang="en-US" altLang="zh-CN" b="1" dirty="0">
                <a:ea typeface="宋体"/>
              </a:rPr>
              <a:t>8-bit</a:t>
            </a:r>
            <a:r>
              <a:rPr lang="en-US" altLang="zh-CN" dirty="0">
                <a:ea typeface="宋体"/>
              </a:rPr>
              <a:t>): –1 + 127 = 126 = </a:t>
            </a:r>
            <a:r>
              <a:rPr lang="en-US" altLang="zh-CN" dirty="0">
                <a:solidFill>
                  <a:srgbClr val="FF0000"/>
                </a:solidFill>
                <a:ea typeface="宋体"/>
              </a:rPr>
              <a:t>01111110</a:t>
            </a:r>
            <a:r>
              <a:rPr lang="en-US" altLang="zh-CN" baseline="-25000" dirty="0">
                <a:ea typeface="宋体"/>
              </a:rPr>
              <a:t>2</a:t>
            </a:r>
            <a:endParaRPr lang="en-US" altLang="zh-CN" dirty="0">
              <a:ea typeface="宋体"/>
            </a:endParaRPr>
          </a:p>
          <a:p>
            <a:pPr lvl="2"/>
            <a:r>
              <a:rPr lang="en-US" altLang="zh-CN" dirty="0">
                <a:ea typeface="宋体"/>
              </a:rPr>
              <a:t>Double(</a:t>
            </a:r>
            <a:r>
              <a:rPr lang="en-US" altLang="zh-CN" b="1" dirty="0">
                <a:ea typeface="宋体"/>
              </a:rPr>
              <a:t>11-bit</a:t>
            </a:r>
            <a:r>
              <a:rPr lang="en-US" altLang="zh-CN" dirty="0">
                <a:ea typeface="宋体"/>
              </a:rPr>
              <a:t>): –1 + 1023 = 1022 = </a:t>
            </a:r>
            <a:r>
              <a:rPr lang="en-US" altLang="zh-CN" dirty="0">
                <a:solidFill>
                  <a:srgbClr val="FF0000"/>
                </a:solidFill>
                <a:ea typeface="宋体"/>
              </a:rPr>
              <a:t>01111111110</a:t>
            </a:r>
            <a:r>
              <a:rPr lang="en-US" altLang="zh-CN" baseline="-25000" dirty="0">
                <a:ea typeface="宋体"/>
              </a:rPr>
              <a:t>2</a:t>
            </a:r>
            <a:endParaRPr lang="en-US" altLang="zh-CN" dirty="0">
              <a:ea typeface="宋体"/>
            </a:endParaRPr>
          </a:p>
          <a:p>
            <a:pPr lvl="2"/>
            <a:endParaRPr lang="en-US" altLang="zh-CN" baseline="-25000" dirty="0">
              <a:ea typeface="宋体"/>
            </a:endParaRPr>
          </a:p>
          <a:p>
            <a:pPr marL="0" indent="0">
              <a:buNone/>
            </a:pPr>
            <a:r>
              <a:rPr lang="en-US" altLang="zh-CN" dirty="0">
                <a:ea typeface="宋体"/>
              </a:rPr>
              <a:t>Single(</a:t>
            </a:r>
            <a:r>
              <a:rPr lang="en-US" altLang="zh-CN" b="1" dirty="0">
                <a:ea typeface="宋体"/>
              </a:rPr>
              <a:t>23-bit</a:t>
            </a:r>
            <a:r>
              <a:rPr lang="en-US" altLang="zh-CN" dirty="0">
                <a:ea typeface="宋体"/>
              </a:rPr>
              <a:t>): 	</a:t>
            </a:r>
            <a:r>
              <a:rPr lang="en-US" altLang="zh-CN" dirty="0">
                <a:solidFill>
                  <a:schemeClr val="hlink"/>
                </a:solidFill>
                <a:ea typeface="宋体"/>
              </a:rPr>
              <a:t>1</a:t>
            </a:r>
            <a:r>
              <a:rPr lang="en-US" altLang="zh-CN" dirty="0">
                <a:solidFill>
                  <a:srgbClr val="FF0000"/>
                </a:solidFill>
                <a:ea typeface="宋体"/>
              </a:rPr>
              <a:t>01111110</a:t>
            </a:r>
            <a:r>
              <a:rPr lang="en-US" altLang="zh-CN" dirty="0">
                <a:ea typeface="宋体"/>
              </a:rPr>
              <a:t>1000…00</a:t>
            </a:r>
          </a:p>
          <a:p>
            <a:pPr marL="0" indent="0">
              <a:buNone/>
            </a:pPr>
            <a:r>
              <a:rPr lang="en-US" altLang="zh-CN" dirty="0">
                <a:ea typeface="宋体"/>
              </a:rPr>
              <a:t>Double(</a:t>
            </a:r>
            <a:r>
              <a:rPr lang="en-US" altLang="zh-CN" b="1" dirty="0">
                <a:ea typeface="宋体"/>
              </a:rPr>
              <a:t>52-bit</a:t>
            </a:r>
            <a:r>
              <a:rPr lang="en-US" altLang="zh-CN" dirty="0">
                <a:ea typeface="宋体"/>
              </a:rPr>
              <a:t>): 	</a:t>
            </a:r>
            <a:r>
              <a:rPr lang="en-US" altLang="zh-CN" dirty="0">
                <a:solidFill>
                  <a:schemeClr val="hlink"/>
                </a:solidFill>
                <a:ea typeface="宋体"/>
              </a:rPr>
              <a:t>1</a:t>
            </a:r>
            <a:r>
              <a:rPr lang="en-US" altLang="zh-CN" dirty="0">
                <a:solidFill>
                  <a:srgbClr val="FF0000"/>
                </a:solidFill>
                <a:ea typeface="宋体"/>
              </a:rPr>
              <a:t>01111111110</a:t>
            </a:r>
            <a:r>
              <a:rPr lang="en-US" altLang="zh-CN" dirty="0">
                <a:ea typeface="宋体"/>
              </a:rPr>
              <a:t>1000…00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4C06962-53C4-8574-AD9B-27FBE0AC6D9B}"/>
              </a:ext>
            </a:extLst>
          </p:cNvPr>
          <p:cNvSpPr>
            <a:spLocks noGrp="1"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ea typeface="Calibri"/>
                <a:cs typeface="Calibri"/>
              </a:rPr>
              <a:t>Floating-point example.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047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BFD6-D53E-AA85-478E-DA292252C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>
            <a:extLst>
              <a:ext uri="{FF2B5EF4-FFF2-40B4-BE49-F238E27FC236}">
                <a16:creationId xmlns:a16="http://schemas.microsoft.com/office/drawing/2014/main" id="{07141C23-468B-FC5D-B2DC-5F2C02B9E0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8040" y="1297305"/>
            <a:ext cx="10525760" cy="487965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>
                <a:ea typeface="宋体"/>
              </a:rPr>
              <a:t>Represent </a:t>
            </a:r>
            <a:r>
              <a:rPr lang="en-US" altLang="zh-CN" b="1" dirty="0">
                <a:ea typeface="宋体"/>
              </a:rPr>
              <a:t>124.67</a:t>
            </a:r>
            <a:endParaRPr lang="en-US" b="1">
              <a:ea typeface="宋体"/>
            </a:endParaRPr>
          </a:p>
          <a:p>
            <a:pPr marL="0" indent="0">
              <a:buNone/>
            </a:pPr>
            <a:endParaRPr lang="en-US" altLang="zh-CN" b="1" dirty="0">
              <a:ea typeface="宋体"/>
            </a:endParaRPr>
          </a:p>
          <a:p>
            <a:pPr marL="457200" lvl="1" indent="0">
              <a:buNone/>
            </a:pPr>
            <a:r>
              <a:rPr lang="en-US" altLang="zh-CN" b="1" dirty="0">
                <a:ea typeface="宋体"/>
              </a:rPr>
              <a:t>integer </a:t>
            </a:r>
            <a:r>
              <a:rPr lang="en-US" altLang="zh-CN" dirty="0">
                <a:ea typeface="宋体"/>
              </a:rPr>
              <a:t>part: 124 = </a:t>
            </a:r>
            <a:r>
              <a:rPr lang="en-US" dirty="0"/>
              <a:t>1111100₂</a:t>
            </a:r>
            <a:r>
              <a:rPr lang="en-US" altLang="zh-CN" dirty="0">
                <a:ea typeface="宋体"/>
              </a:rPr>
              <a:t>, </a:t>
            </a:r>
            <a:r>
              <a:rPr lang="en-US" altLang="zh-CN" b="1" dirty="0">
                <a:ea typeface="宋体"/>
              </a:rPr>
              <a:t>fraction</a:t>
            </a:r>
            <a:r>
              <a:rPr lang="en-US" altLang="zh-CN" dirty="0">
                <a:ea typeface="宋体"/>
              </a:rPr>
              <a:t>: 0.67 = 0.</a:t>
            </a:r>
            <a:r>
              <a:rPr lang="en-US" dirty="0"/>
              <a:t>101010…₂</a:t>
            </a:r>
            <a:endParaRPr lang="en-US" altLang="zh-CN" dirty="0">
              <a:ea typeface="宋体" pitchFamily="2" charset="-122"/>
            </a:endParaRPr>
          </a:p>
          <a:p>
            <a:pPr marL="457200" lvl="1" indent="0">
              <a:buNone/>
            </a:pPr>
            <a:r>
              <a:rPr lang="en-US" altLang="zh-CN" dirty="0">
                <a:ea typeface="宋体" pitchFamily="2" charset="-122"/>
              </a:rPr>
              <a:t>124.67= (–1)</a:t>
            </a:r>
            <a:r>
              <a:rPr lang="en-US" altLang="zh-CN" baseline="30000" dirty="0">
                <a:ea typeface="宋体" pitchFamily="2" charset="-122"/>
              </a:rPr>
              <a:t>0</a:t>
            </a:r>
            <a:r>
              <a:rPr lang="en-US" altLang="zh-CN" dirty="0">
                <a:ea typeface="宋体" pitchFamily="2" charset="-122"/>
              </a:rPr>
              <a:t> × 1. 111100101010…</a:t>
            </a:r>
            <a:r>
              <a:rPr lang="en-US" altLang="zh-CN" baseline="-25000" dirty="0">
                <a:ea typeface="宋体" pitchFamily="2" charset="-122"/>
              </a:rPr>
              <a:t>2</a:t>
            </a:r>
            <a:r>
              <a:rPr lang="en-US" altLang="zh-CN" dirty="0">
                <a:ea typeface="宋体" pitchFamily="2" charset="-122"/>
              </a:rPr>
              <a:t> × 2</a:t>
            </a:r>
            <a:r>
              <a:rPr lang="en-US" altLang="zh-CN" baseline="30000" dirty="0">
                <a:ea typeface="宋体" pitchFamily="2" charset="-122"/>
              </a:rPr>
              <a:t>6</a:t>
            </a:r>
          </a:p>
          <a:p>
            <a:pPr marL="457200" lvl="1" indent="0">
              <a:buNone/>
            </a:pPr>
            <a:endParaRPr lang="en-US" altLang="zh-CN" baseline="30000" dirty="0">
              <a:ea typeface="宋体"/>
            </a:endParaRPr>
          </a:p>
          <a:p>
            <a:pPr lvl="1">
              <a:buNone/>
            </a:pPr>
            <a:r>
              <a:rPr lang="en-US" altLang="zh-CN" b="1" dirty="0">
                <a:ea typeface="宋体"/>
              </a:rPr>
              <a:t>S </a:t>
            </a:r>
            <a:r>
              <a:rPr lang="en-US" altLang="zh-CN" dirty="0">
                <a:ea typeface="宋体"/>
              </a:rPr>
              <a:t>= </a:t>
            </a:r>
            <a:r>
              <a:rPr lang="en-US" altLang="zh-CN" dirty="0">
                <a:solidFill>
                  <a:schemeClr val="hlink"/>
                </a:solidFill>
                <a:ea typeface="宋体"/>
              </a:rPr>
              <a:t>0</a:t>
            </a:r>
          </a:p>
          <a:p>
            <a:pPr marL="457200" lvl="1" indent="0">
              <a:buNone/>
            </a:pPr>
            <a:r>
              <a:rPr lang="en-US" altLang="zh-CN" b="1" dirty="0">
                <a:ea typeface="宋体"/>
                <a:sym typeface="Symbol" pitchFamily="18" charset="2"/>
              </a:rPr>
              <a:t>Significand</a:t>
            </a:r>
            <a:r>
              <a:rPr lang="en-US" altLang="zh-CN" b="1" dirty="0">
                <a:ea typeface="宋体"/>
              </a:rPr>
              <a:t> </a:t>
            </a:r>
            <a:r>
              <a:rPr lang="en-US" altLang="zh-CN" dirty="0">
                <a:ea typeface="宋体"/>
              </a:rPr>
              <a:t>= </a:t>
            </a:r>
            <a:r>
              <a:rPr lang="en-US" dirty="0"/>
              <a:t>111100101010…</a:t>
            </a:r>
            <a:r>
              <a:rPr lang="en-US" altLang="zh-CN" baseline="-25000" dirty="0">
                <a:ea typeface="宋体"/>
              </a:rPr>
              <a:t>2</a:t>
            </a:r>
            <a:endParaRPr lang="en-US" altLang="zh-CN" dirty="0">
              <a:solidFill>
                <a:schemeClr val="folHlink"/>
              </a:solidFill>
              <a:ea typeface="宋体"/>
            </a:endParaRPr>
          </a:p>
          <a:p>
            <a:pPr lvl="1">
              <a:buNone/>
            </a:pPr>
            <a:r>
              <a:rPr lang="en-US" altLang="zh-CN" b="1" dirty="0">
                <a:ea typeface="宋体"/>
              </a:rPr>
              <a:t>Exponent </a:t>
            </a:r>
            <a:r>
              <a:rPr lang="en-US" altLang="zh-CN" dirty="0">
                <a:ea typeface="宋体"/>
              </a:rPr>
              <a:t>= 6 + Bias</a:t>
            </a:r>
          </a:p>
          <a:p>
            <a:pPr lvl="2"/>
            <a:r>
              <a:rPr lang="en-US" altLang="zh-CN" dirty="0">
                <a:ea typeface="宋体"/>
              </a:rPr>
              <a:t>Single(</a:t>
            </a:r>
            <a:r>
              <a:rPr lang="en-US" altLang="zh-CN" b="1" dirty="0">
                <a:ea typeface="宋体"/>
              </a:rPr>
              <a:t>8-bit</a:t>
            </a:r>
            <a:r>
              <a:rPr lang="en-US" altLang="zh-CN" dirty="0">
                <a:ea typeface="宋体"/>
              </a:rPr>
              <a:t>): 	6 + 127 = 133 = </a:t>
            </a:r>
            <a:r>
              <a:rPr lang="en-US" altLang="zh-CN" dirty="0">
                <a:solidFill>
                  <a:srgbClr val="FF0000"/>
                </a:solidFill>
                <a:ea typeface="宋体"/>
              </a:rPr>
              <a:t>10000101</a:t>
            </a:r>
            <a:r>
              <a:rPr lang="en-US" altLang="zh-CN" baseline="-25000" dirty="0">
                <a:ea typeface="宋体"/>
              </a:rPr>
              <a:t>2</a:t>
            </a:r>
            <a:endParaRPr lang="en-US" altLang="zh-CN" dirty="0">
              <a:ea typeface="宋体"/>
            </a:endParaRPr>
          </a:p>
          <a:p>
            <a:pPr lvl="2"/>
            <a:r>
              <a:rPr lang="en-US" altLang="zh-CN" dirty="0">
                <a:ea typeface="宋体"/>
              </a:rPr>
              <a:t>Double(</a:t>
            </a:r>
            <a:r>
              <a:rPr lang="en-US" altLang="zh-CN" b="1" dirty="0">
                <a:ea typeface="宋体"/>
              </a:rPr>
              <a:t>11-bit</a:t>
            </a:r>
            <a:r>
              <a:rPr lang="en-US" altLang="zh-CN" dirty="0">
                <a:ea typeface="宋体"/>
              </a:rPr>
              <a:t>): 	6 + 1023 = 1029 = </a:t>
            </a:r>
            <a:r>
              <a:rPr lang="en-US" altLang="zh-CN" dirty="0">
                <a:solidFill>
                  <a:srgbClr val="FF0000"/>
                </a:solidFill>
                <a:ea typeface="宋体"/>
              </a:rPr>
              <a:t>10000000101</a:t>
            </a:r>
            <a:r>
              <a:rPr lang="en-US" altLang="zh-CN" baseline="-25000" dirty="0">
                <a:ea typeface="宋体"/>
              </a:rPr>
              <a:t>2</a:t>
            </a:r>
            <a:endParaRPr lang="en-US" altLang="zh-CN" dirty="0">
              <a:ea typeface="宋体"/>
            </a:endParaRPr>
          </a:p>
          <a:p>
            <a:pPr lvl="2"/>
            <a:endParaRPr lang="en-US" altLang="zh-CN" baseline="-25000" dirty="0">
              <a:ea typeface="宋体"/>
            </a:endParaRPr>
          </a:p>
          <a:p>
            <a:r>
              <a:rPr lang="en-US" altLang="zh-CN" dirty="0">
                <a:ea typeface="宋体"/>
              </a:rPr>
              <a:t>Single(</a:t>
            </a:r>
            <a:r>
              <a:rPr lang="en-US" altLang="zh-CN" b="1" dirty="0">
                <a:ea typeface="宋体"/>
              </a:rPr>
              <a:t>32-bit</a:t>
            </a:r>
            <a:r>
              <a:rPr lang="en-US" altLang="zh-CN" dirty="0">
                <a:ea typeface="宋体"/>
              </a:rPr>
              <a:t>): 	</a:t>
            </a:r>
            <a:r>
              <a:rPr lang="en-US" altLang="zh-CN" dirty="0">
                <a:solidFill>
                  <a:schemeClr val="hlink"/>
                </a:solidFill>
                <a:ea typeface="宋体"/>
              </a:rPr>
              <a:t>0</a:t>
            </a:r>
            <a:r>
              <a:rPr lang="en-US" altLang="zh-CN" dirty="0">
                <a:solidFill>
                  <a:srgbClr val="FF0000"/>
                </a:solidFill>
                <a:ea typeface="宋体"/>
              </a:rPr>
              <a:t>10000101</a:t>
            </a:r>
            <a:r>
              <a:rPr lang="en-US" dirty="0"/>
              <a:t>111100101010…</a:t>
            </a:r>
            <a:endParaRPr lang="en-US" altLang="zh-CN" dirty="0">
              <a:ea typeface="宋体" pitchFamily="2" charset="-122"/>
            </a:endParaRPr>
          </a:p>
          <a:p>
            <a:r>
              <a:rPr lang="en-US" altLang="zh-CN" dirty="0">
                <a:ea typeface="宋体"/>
              </a:rPr>
              <a:t>Double(</a:t>
            </a:r>
            <a:r>
              <a:rPr lang="en-US" altLang="zh-CN" b="1" dirty="0">
                <a:ea typeface="宋体"/>
              </a:rPr>
              <a:t>52-bit</a:t>
            </a:r>
            <a:r>
              <a:rPr lang="en-US" altLang="zh-CN" dirty="0">
                <a:ea typeface="宋体"/>
              </a:rPr>
              <a:t>): 	</a:t>
            </a:r>
            <a:r>
              <a:rPr lang="en-US" altLang="zh-CN" dirty="0">
                <a:solidFill>
                  <a:schemeClr val="hlink"/>
                </a:solidFill>
                <a:ea typeface="宋体"/>
              </a:rPr>
              <a:t>0</a:t>
            </a:r>
            <a:r>
              <a:rPr lang="en-US" altLang="zh-CN" dirty="0">
                <a:solidFill>
                  <a:srgbClr val="FF0000"/>
                </a:solidFill>
                <a:ea typeface="宋体"/>
              </a:rPr>
              <a:t>10000000101</a:t>
            </a:r>
            <a:r>
              <a:rPr lang="en-US" dirty="0"/>
              <a:t>111100101010…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F70567-6E46-A3A8-D260-FC8EB02B1CB2}"/>
              </a:ext>
            </a:extLst>
          </p:cNvPr>
          <p:cNvSpPr>
            <a:spLocks noGrp="1"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ea typeface="Calibri"/>
                <a:cs typeface="Calibri"/>
              </a:rPr>
              <a:t>Floating-point example.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947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altLang="zh-CN" dirty="0">
                <a:ea typeface="宋体"/>
              </a:rPr>
              <a:t>	What number </a:t>
            </a:r>
            <a:r>
              <a:rPr lang="en-US" altLang="zh-CN" b="1" i="1" dirty="0">
                <a:ea typeface="宋体"/>
              </a:rPr>
              <a:t>x</a:t>
            </a:r>
            <a:r>
              <a:rPr lang="en-US" altLang="zh-CN" b="1" dirty="0">
                <a:ea typeface="宋体"/>
              </a:rPr>
              <a:t> </a:t>
            </a:r>
            <a:r>
              <a:rPr lang="en-US" altLang="zh-CN" dirty="0">
                <a:ea typeface="宋体"/>
              </a:rPr>
              <a:t>is represented by the single-precision float</a:t>
            </a:r>
          </a:p>
          <a:p>
            <a:pPr algn="ctr">
              <a:buFont typeface="Wingdings" pitchFamily="2" charset="2"/>
              <a:buNone/>
            </a:pPr>
            <a:r>
              <a:rPr lang="en-US" altLang="zh-CN" dirty="0">
                <a:solidFill>
                  <a:schemeClr val="hlink"/>
                </a:solidFill>
                <a:ea typeface="宋体"/>
              </a:rPr>
              <a:t>1</a:t>
            </a:r>
            <a:r>
              <a:rPr lang="en-US" altLang="zh-CN" dirty="0">
                <a:solidFill>
                  <a:srgbClr val="FF0000"/>
                </a:solidFill>
                <a:ea typeface="宋体"/>
              </a:rPr>
              <a:t>10000001</a:t>
            </a:r>
            <a:r>
              <a:rPr lang="en-US" altLang="zh-CN" dirty="0">
                <a:solidFill>
                  <a:srgbClr val="000000"/>
                </a:solidFill>
                <a:ea typeface="宋体"/>
              </a:rPr>
              <a:t>01000…00</a:t>
            </a:r>
            <a:r>
              <a:rPr lang="en-US" altLang="zh-CN" dirty="0">
                <a:ea typeface="宋体"/>
              </a:rPr>
              <a:t>?</a:t>
            </a:r>
            <a:endParaRPr lang="en-US" altLang="zh-CN" dirty="0">
              <a:ea typeface="宋体" pitchFamily="2" charset="-122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altLang="zh-CN" dirty="0">
              <a:ea typeface="宋体" pitchFamily="2" charset="-122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428C16C-39C6-E80D-FAC6-65AFD2861C28}"/>
              </a:ext>
            </a:extLst>
          </p:cNvPr>
          <p:cNvSpPr>
            <a:spLocks noGrp="1"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ea typeface="Calibri"/>
                <a:cs typeface="Calibri"/>
              </a:rPr>
              <a:t>Floating-point example.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5783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F1C8-321C-B082-E37E-EC15847B3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>
            <a:extLst>
              <a:ext uri="{FF2B5EF4-FFF2-40B4-BE49-F238E27FC236}">
                <a16:creationId xmlns:a16="http://schemas.microsoft.com/office/drawing/2014/main" id="{487D1E0A-7FB8-415C-01C5-333C73317C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altLang="zh-CN" dirty="0">
                <a:ea typeface="宋体"/>
              </a:rPr>
              <a:t>	What number </a:t>
            </a:r>
            <a:r>
              <a:rPr lang="en-US" altLang="zh-CN" b="1" i="1" dirty="0">
                <a:ea typeface="宋体"/>
              </a:rPr>
              <a:t>x</a:t>
            </a:r>
            <a:r>
              <a:rPr lang="en-US" altLang="zh-CN" b="1" dirty="0">
                <a:ea typeface="宋体"/>
              </a:rPr>
              <a:t> </a:t>
            </a:r>
            <a:r>
              <a:rPr lang="en-US" altLang="zh-CN" dirty="0">
                <a:ea typeface="宋体"/>
              </a:rPr>
              <a:t>is represented by the single-precision float</a:t>
            </a:r>
          </a:p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chemeClr val="hlink"/>
                </a:solidFill>
                <a:ea typeface="宋体"/>
              </a:rPr>
              <a:t>	1</a:t>
            </a:r>
            <a:r>
              <a:rPr lang="en-US" altLang="zh-CN" dirty="0">
                <a:solidFill>
                  <a:srgbClr val="FF0000"/>
                </a:solidFill>
                <a:ea typeface="宋体"/>
              </a:rPr>
              <a:t>10000001</a:t>
            </a:r>
            <a:r>
              <a:rPr lang="en-US" altLang="zh-CN" dirty="0">
                <a:ea typeface="宋体"/>
              </a:rPr>
              <a:t>01000…00?</a:t>
            </a:r>
            <a:endParaRPr lang="en-US" altLang="zh-CN" dirty="0">
              <a:ea typeface="宋体" pitchFamily="2" charset="-122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ea typeface="宋体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CN" b="1" dirty="0">
                <a:ea typeface="宋体"/>
              </a:rPr>
              <a:t>S </a:t>
            </a:r>
            <a:r>
              <a:rPr lang="en-US" altLang="zh-CN" dirty="0">
                <a:ea typeface="宋体"/>
              </a:rPr>
              <a:t>= </a:t>
            </a:r>
            <a:r>
              <a:rPr lang="en-US" altLang="zh-CN" dirty="0">
                <a:solidFill>
                  <a:schemeClr val="hlink"/>
                </a:solidFill>
                <a:ea typeface="宋体"/>
              </a:rPr>
              <a:t>1</a:t>
            </a:r>
          </a:p>
          <a:p>
            <a:pPr lvl="1">
              <a:lnSpc>
                <a:spcPct val="90000"/>
              </a:lnSpc>
              <a:buNone/>
            </a:pPr>
            <a:r>
              <a:rPr lang="en-US" altLang="zh-CN" b="1" dirty="0">
                <a:ea typeface="宋体"/>
              </a:rPr>
              <a:t>Fraction </a:t>
            </a:r>
            <a:r>
              <a:rPr lang="en-US" altLang="zh-CN" dirty="0">
                <a:ea typeface="宋体"/>
              </a:rPr>
              <a:t>= 01000…00</a:t>
            </a:r>
            <a:r>
              <a:rPr lang="en-US" altLang="zh-CN" baseline="-25000" dirty="0">
                <a:ea typeface="宋体"/>
              </a:rPr>
              <a:t>2</a:t>
            </a:r>
            <a:endParaRPr lang="en-US" altLang="zh-CN" dirty="0">
              <a:solidFill>
                <a:schemeClr val="folHlink"/>
              </a:solidFill>
              <a:ea typeface="宋体" pitchFamily="2" charset="-122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CN" b="1" dirty="0">
                <a:ea typeface="宋体"/>
              </a:rPr>
              <a:t>Exponent </a:t>
            </a:r>
            <a:r>
              <a:rPr lang="en-US" altLang="zh-CN" dirty="0">
                <a:ea typeface="宋体"/>
              </a:rPr>
              <a:t>= </a:t>
            </a:r>
            <a:r>
              <a:rPr lang="en-US" altLang="zh-CN" dirty="0">
                <a:solidFill>
                  <a:srgbClr val="FF0000"/>
                </a:solidFill>
                <a:ea typeface="宋体"/>
              </a:rPr>
              <a:t>10000001</a:t>
            </a:r>
            <a:r>
              <a:rPr lang="en-US" altLang="zh-CN" baseline="-25000" dirty="0">
                <a:ea typeface="宋体"/>
              </a:rPr>
              <a:t>2</a:t>
            </a:r>
            <a:r>
              <a:rPr lang="en-US" altLang="zh-CN" dirty="0">
                <a:ea typeface="宋体"/>
              </a:rPr>
              <a:t> = 129</a:t>
            </a:r>
          </a:p>
          <a:p>
            <a:pPr>
              <a:buNone/>
            </a:pPr>
            <a:r>
              <a:rPr lang="en-US" altLang="zh-CN" dirty="0">
                <a:ea typeface="宋体"/>
              </a:rPr>
              <a:t>	</a:t>
            </a:r>
            <a:r>
              <a:rPr lang="en-US" altLang="zh-CN" i="1" dirty="0">
                <a:ea typeface="宋体"/>
              </a:rPr>
              <a:t>  x</a:t>
            </a:r>
            <a:r>
              <a:rPr lang="en-US" altLang="zh-CN" dirty="0">
                <a:ea typeface="宋体"/>
              </a:rPr>
              <a:t> = (–1)</a:t>
            </a:r>
            <a:r>
              <a:rPr lang="en-US" altLang="zh-CN" baseline="30000" dirty="0">
                <a:ea typeface="宋体"/>
              </a:rPr>
              <a:t>1</a:t>
            </a:r>
            <a:r>
              <a:rPr lang="en-US" altLang="zh-CN" dirty="0">
                <a:ea typeface="宋体"/>
              </a:rPr>
              <a:t> × (1 + 0.01</a:t>
            </a:r>
            <a:r>
              <a:rPr lang="en-US" altLang="zh-CN" baseline="-25000" dirty="0">
                <a:ea typeface="宋体"/>
              </a:rPr>
              <a:t>2</a:t>
            </a:r>
            <a:r>
              <a:rPr lang="en-US" altLang="zh-CN" dirty="0">
                <a:ea typeface="宋体"/>
              </a:rPr>
              <a:t>) × 2</a:t>
            </a:r>
            <a:r>
              <a:rPr lang="en-US" altLang="zh-CN" baseline="30000" dirty="0">
                <a:ea typeface="宋体"/>
              </a:rPr>
              <a:t>(129 – 127)</a:t>
            </a:r>
            <a:endParaRPr lang="en-US" altLang="zh-CN" dirty="0">
              <a:ea typeface="宋体"/>
            </a:endParaRPr>
          </a:p>
          <a:p>
            <a:pPr lvl="1">
              <a:buNone/>
            </a:pPr>
            <a:r>
              <a:rPr lang="en-US" altLang="zh-CN" dirty="0">
                <a:ea typeface="宋体"/>
              </a:rPr>
              <a:t>	    = (–1) × 1.25 × 2</a:t>
            </a:r>
            <a:r>
              <a:rPr lang="en-US" altLang="zh-CN" baseline="30000" dirty="0">
                <a:ea typeface="宋体"/>
              </a:rPr>
              <a:t>2</a:t>
            </a:r>
            <a:endParaRPr lang="en-US" altLang="zh-CN" dirty="0">
              <a:ea typeface="宋体"/>
            </a:endParaRPr>
          </a:p>
          <a:p>
            <a:pPr lvl="1">
              <a:buNone/>
            </a:pPr>
            <a:r>
              <a:rPr lang="en-US" altLang="zh-CN" dirty="0">
                <a:ea typeface="宋体"/>
              </a:rPr>
              <a:t>	    = –5.0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91D836B-F4C6-A439-EA80-999D7F8C7229}"/>
              </a:ext>
            </a:extLst>
          </p:cNvPr>
          <p:cNvSpPr>
            <a:spLocks noGrp="1"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ea typeface="Calibri"/>
                <a:cs typeface="Calibri"/>
              </a:rPr>
              <a:t>Floating-point example.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927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833121" y="1296354"/>
            <a:ext cx="10069513" cy="502443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altLang="zh-CN" sz="2800" dirty="0">
                <a:latin typeface="Arial"/>
                <a:ea typeface="宋体"/>
                <a:cs typeface="Arial"/>
              </a:rPr>
              <a:t>Exponents </a:t>
            </a:r>
            <a:r>
              <a:rPr lang="en-US" altLang="zh-CN" sz="2800" b="1" dirty="0">
                <a:latin typeface="Arial"/>
                <a:ea typeface="宋体"/>
                <a:cs typeface="Arial"/>
              </a:rPr>
              <a:t>00000000 </a:t>
            </a:r>
            <a:r>
              <a:rPr lang="en-US" altLang="zh-CN" sz="2800" dirty="0">
                <a:latin typeface="Arial"/>
                <a:ea typeface="宋体"/>
                <a:cs typeface="Arial"/>
              </a:rPr>
              <a:t>and </a:t>
            </a:r>
            <a:r>
              <a:rPr lang="en-US" altLang="zh-CN" sz="2800" b="1" dirty="0">
                <a:latin typeface="Arial"/>
                <a:ea typeface="宋体"/>
                <a:cs typeface="Arial"/>
              </a:rPr>
              <a:t>11111111 </a:t>
            </a:r>
            <a:r>
              <a:rPr lang="en-US" altLang="zh-CN" sz="2800" i="1" dirty="0">
                <a:latin typeface="Arial"/>
                <a:ea typeface="宋体"/>
                <a:cs typeface="Arial"/>
              </a:rPr>
              <a:t>reserved</a:t>
            </a:r>
            <a:endParaRPr lang="en-US" i="1">
              <a:latin typeface="Arial"/>
              <a:ea typeface="宋体"/>
              <a:cs typeface="Arial"/>
            </a:endParaRPr>
          </a:p>
          <a:p>
            <a:pPr marL="0" indent="0">
              <a:buNone/>
            </a:pPr>
            <a:endParaRPr lang="en-US" altLang="zh-CN" dirty="0">
              <a:latin typeface="Arial"/>
              <a:ea typeface="宋体"/>
              <a:cs typeface="Arial"/>
            </a:endParaRPr>
          </a:p>
          <a:p>
            <a:pPr marL="0" indent="0"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Smallest value: 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0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00000001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00000000000000000000000 </a:t>
            </a:r>
          </a:p>
          <a:p>
            <a:pPr marL="457200" lvl="1" indent="0">
              <a:buNone/>
            </a:pP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Exponent: 00000001</a:t>
            </a:r>
            <a:b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 actual exponent = 1 – 127 = –126</a:t>
            </a:r>
            <a:endParaRPr lang="en-US" altLang="zh-CN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altLang="zh-CN" dirty="0">
                <a:latin typeface="Arial"/>
                <a:ea typeface="宋体"/>
                <a:cs typeface="Arial"/>
                <a:sym typeface="Symbol" pitchFamily="18" charset="2"/>
              </a:rPr>
              <a:t>Fraction: 000…00</a:t>
            </a:r>
            <a:r>
              <a:rPr lang="en-US" altLang="zh-CN" dirty="0">
                <a:latin typeface="Arial"/>
                <a:ea typeface="宋体"/>
                <a:cs typeface="Arial"/>
              </a:rPr>
              <a:t> </a:t>
            </a:r>
            <a:r>
              <a:rPr lang="en-US" altLang="zh-CN" dirty="0">
                <a:latin typeface="Arial"/>
                <a:ea typeface="宋体"/>
                <a:cs typeface="Arial"/>
                <a:sym typeface="Symbol" pitchFamily="18" charset="2"/>
              </a:rPr>
              <a:t> significand = 1.0</a:t>
            </a:r>
            <a:endParaRPr lang="en-US" altLang="zh-CN" dirty="0">
              <a:latin typeface="Arial"/>
              <a:ea typeface="宋体"/>
              <a:cs typeface="Arial"/>
            </a:endParaRPr>
          </a:p>
          <a:p>
            <a:pPr marL="457200" lvl="1" indent="0">
              <a:buNone/>
            </a:pP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±1.0 × 2</a:t>
            </a:r>
            <a:r>
              <a:rPr lang="en-US" altLang="zh-CN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–126</a:t>
            </a: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 ≈ ±1.2 × 10</a:t>
            </a:r>
            <a:r>
              <a:rPr lang="en-US" altLang="zh-CN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–38</a:t>
            </a:r>
            <a:endParaRPr lang="en-US" altLang="zh-CN" baseline="300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lvl="1"/>
            <a:endParaRPr lang="en-US" altLang="zh-CN" baseline="30000" dirty="0">
              <a:latin typeface="Arial"/>
              <a:ea typeface="宋体"/>
              <a:cs typeface="Arial"/>
              <a:sym typeface="Symbol" pitchFamily="18" charset="2"/>
            </a:endParaRPr>
          </a:p>
          <a:p>
            <a:pPr marL="0" indent="0"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Largest value: </a:t>
            </a:r>
            <a:r>
              <a:rPr lang="en-US" altLang="zh-CN" sz="2800" dirty="0">
                <a:solidFill>
                  <a:schemeClr val="accent2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0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11111110</a:t>
            </a: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 11111111111111111111111</a:t>
            </a: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 </a:t>
            </a:r>
            <a:endParaRPr lang="en-US" altLang="zh-CN" sz="2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Exponent: 11111110</a:t>
            </a:r>
            <a:b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</a:b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 actual exponent = 254 – 127 = +127</a:t>
            </a:r>
            <a:endParaRPr lang="en-US" altLang="zh-CN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altLang="zh-CN" dirty="0">
                <a:latin typeface="Arial"/>
                <a:ea typeface="宋体"/>
                <a:cs typeface="Arial"/>
                <a:sym typeface="Symbol" pitchFamily="18" charset="2"/>
              </a:rPr>
              <a:t>Fraction: 111…11</a:t>
            </a:r>
            <a:r>
              <a:rPr lang="en-US" altLang="zh-CN" dirty="0">
                <a:latin typeface="Arial"/>
                <a:ea typeface="宋体"/>
                <a:cs typeface="Arial"/>
              </a:rPr>
              <a:t> </a:t>
            </a:r>
            <a:r>
              <a:rPr lang="en-US" altLang="zh-CN" dirty="0">
                <a:latin typeface="Arial"/>
                <a:ea typeface="宋体"/>
                <a:cs typeface="Arial"/>
                <a:sym typeface="Symbol" pitchFamily="18" charset="2"/>
              </a:rPr>
              <a:t> significand ≈ 2.0</a:t>
            </a:r>
            <a:endParaRPr lang="en-US" altLang="zh-CN" dirty="0">
              <a:latin typeface="Arial"/>
              <a:ea typeface="宋体"/>
              <a:cs typeface="Arial"/>
            </a:endParaRPr>
          </a:p>
          <a:p>
            <a:pPr marL="457200" lvl="1" indent="0">
              <a:buNone/>
            </a:pP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±2.0 × 2</a:t>
            </a:r>
            <a:r>
              <a:rPr lang="en-US" altLang="zh-CN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+127</a:t>
            </a: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 ≈ ±3.4 × 10</a:t>
            </a:r>
            <a:r>
              <a:rPr lang="en-US" altLang="zh-CN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+38</a:t>
            </a:r>
            <a:endParaRPr lang="en-US" altLang="zh-CN" baseline="300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A849EC6-E756-BA6C-E601-B48C0BB3C8A5}"/>
              </a:ext>
            </a:extLst>
          </p:cNvPr>
          <p:cNvSpPr>
            <a:spLocks noGrp="1"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ea typeface="Calibri"/>
                <a:cs typeface="Calibri"/>
              </a:rPr>
              <a:t>Single-precision range.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958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F2A9C-1432-719B-A796-021A96F96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7">
            <a:extLst>
              <a:ext uri="{FF2B5EF4-FFF2-40B4-BE49-F238E27FC236}">
                <a16:creationId xmlns:a16="http://schemas.microsoft.com/office/drawing/2014/main" id="{39757FB0-713C-68AC-0CB9-233AD8CE89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3121" y="1296354"/>
            <a:ext cx="10069513" cy="502443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altLang="zh-CN" sz="2800" dirty="0">
                <a:latin typeface="Arial"/>
                <a:ea typeface="宋体"/>
                <a:cs typeface="Arial"/>
              </a:rPr>
              <a:t>Exponents </a:t>
            </a:r>
            <a:r>
              <a:rPr lang="en-US" altLang="zh-CN" sz="2800" b="1" dirty="0">
                <a:latin typeface="Arial"/>
                <a:ea typeface="宋体"/>
                <a:cs typeface="Arial"/>
              </a:rPr>
              <a:t>0000…00</a:t>
            </a:r>
            <a:r>
              <a:rPr lang="en-US" altLang="zh-CN" sz="2800" dirty="0">
                <a:latin typeface="Arial"/>
                <a:ea typeface="宋体"/>
                <a:cs typeface="Arial"/>
              </a:rPr>
              <a:t> and </a:t>
            </a:r>
            <a:r>
              <a:rPr lang="en-US" altLang="zh-CN" sz="2800" b="1" dirty="0">
                <a:latin typeface="Arial"/>
                <a:ea typeface="宋体"/>
                <a:cs typeface="Arial"/>
              </a:rPr>
              <a:t>1111…11</a:t>
            </a:r>
            <a:r>
              <a:rPr lang="en-US" altLang="zh-CN" sz="2800" dirty="0">
                <a:latin typeface="Arial"/>
                <a:ea typeface="宋体"/>
                <a:cs typeface="Arial"/>
              </a:rPr>
              <a:t> </a:t>
            </a:r>
            <a:r>
              <a:rPr lang="en-US" altLang="zh-CN" sz="2800" i="1" dirty="0">
                <a:latin typeface="Arial"/>
                <a:ea typeface="宋体"/>
                <a:cs typeface="Arial"/>
              </a:rPr>
              <a:t>reserved</a:t>
            </a:r>
            <a:endParaRPr lang="en-US" i="1">
              <a:latin typeface="Arial"/>
              <a:ea typeface="宋体"/>
              <a:cs typeface="Arial"/>
            </a:endParaRPr>
          </a:p>
          <a:p>
            <a:pPr marL="0" indent="0">
              <a:buNone/>
            </a:pPr>
            <a:endParaRPr lang="en-US" altLang="zh-CN" dirty="0">
              <a:latin typeface="Arial"/>
              <a:ea typeface="宋体"/>
              <a:cs typeface="Arial"/>
            </a:endParaRPr>
          </a:p>
          <a:p>
            <a:pPr marL="0" indent="0"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Smallest value</a:t>
            </a:r>
          </a:p>
          <a:p>
            <a:pPr marL="457200" lvl="1" indent="0">
              <a:buNone/>
            </a:pP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Exponent: 00000000001</a:t>
            </a:r>
            <a:b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 actual exponent = 1 – 1023 = –1022</a:t>
            </a:r>
            <a:endParaRPr lang="en-US" altLang="zh-CN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Fraction: 000…00</a:t>
            </a: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 significand = 1.0</a:t>
            </a:r>
            <a:endParaRPr lang="en-US" altLang="zh-CN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±1.0 × 2</a:t>
            </a:r>
            <a:r>
              <a:rPr lang="en-US" altLang="zh-CN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–1022</a:t>
            </a: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 ≈ ±2.2 × 10</a:t>
            </a:r>
            <a:r>
              <a:rPr lang="en-US" altLang="zh-CN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–308</a:t>
            </a:r>
            <a:endParaRPr lang="en-US" altLang="zh-CN" baseline="300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US" altLang="zh-CN" baseline="30000" dirty="0">
              <a:latin typeface="Arial"/>
              <a:ea typeface="宋体"/>
              <a:cs typeface="Arial"/>
              <a:sym typeface="Symbol" pitchFamily="18" charset="2"/>
            </a:endParaRPr>
          </a:p>
          <a:p>
            <a:pPr marL="0" indent="0"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Largest value</a:t>
            </a:r>
            <a:endParaRPr lang="en-US" altLang="zh-CN" sz="28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Exponent: 11111111110</a:t>
            </a:r>
            <a:b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</a:b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 actual exponent = 2046 – 1023 = +1023</a:t>
            </a:r>
            <a:endParaRPr lang="en-US" altLang="zh-CN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Fraction: 111…11</a:t>
            </a: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 significand ≈ 2.0</a:t>
            </a:r>
            <a:endParaRPr lang="en-US" altLang="zh-CN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±2.0 × 2</a:t>
            </a:r>
            <a:r>
              <a:rPr lang="en-US" altLang="zh-CN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+1023</a:t>
            </a: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 ≈ ±1.8 × 10</a:t>
            </a:r>
            <a:r>
              <a:rPr lang="en-US" altLang="zh-CN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+308</a:t>
            </a:r>
            <a:endParaRPr lang="en-US" altLang="zh-CN" baseline="300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D3C99F-8B4B-26BA-C560-BB70934948DC}"/>
              </a:ext>
            </a:extLst>
          </p:cNvPr>
          <p:cNvSpPr>
            <a:spLocks noGrp="1"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ea typeface="Calibri"/>
                <a:cs typeface="Calibri"/>
              </a:rPr>
              <a:t>Double-precision range.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624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526BC-307C-6E39-21C3-3EE569D93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7">
            <a:extLst>
              <a:ext uri="{FF2B5EF4-FFF2-40B4-BE49-F238E27FC236}">
                <a16:creationId xmlns:a16="http://schemas.microsoft.com/office/drawing/2014/main" id="{EFD6A059-39A1-9084-F1D3-905471AD3C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1" y="1296354"/>
            <a:ext cx="11379199" cy="50244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zh-CN" b="1" dirty="0">
                <a:ea typeface="宋体"/>
              </a:rPr>
              <a:t>Overflow</a:t>
            </a:r>
            <a:r>
              <a:rPr lang="en-US" altLang="zh-CN" dirty="0">
                <a:ea typeface="宋体"/>
              </a:rPr>
              <a:t>: the exponent is too large to be represented in the exponent field, e.g. </a:t>
            </a:r>
            <a:r>
              <a:rPr lang="en-US" altLang="zh-CN" b="1" dirty="0">
                <a:ea typeface="宋体"/>
              </a:rPr>
              <a:t>10</a:t>
            </a:r>
            <a:r>
              <a:rPr lang="en-US" altLang="zh-CN" b="1" baseline="30000" dirty="0">
                <a:ea typeface="宋体"/>
              </a:rPr>
              <a:t>39</a:t>
            </a:r>
            <a:r>
              <a:rPr lang="en-US" altLang="zh-CN" baseline="30000" dirty="0">
                <a:ea typeface="宋体"/>
              </a:rPr>
              <a:t> </a:t>
            </a:r>
            <a:r>
              <a:rPr lang="en-US" altLang="zh-CN" dirty="0">
                <a:ea typeface="宋体"/>
              </a:rPr>
              <a:t>(</a:t>
            </a:r>
            <a:r>
              <a:rPr lang="en-US" altLang="zh-CN" i="1" dirty="0">
                <a:ea typeface="宋体"/>
              </a:rPr>
              <a:t>single precision</a:t>
            </a:r>
            <a:r>
              <a:rPr lang="en-US" altLang="zh-CN" dirty="0">
                <a:ea typeface="宋体"/>
              </a:rPr>
              <a:t>)</a:t>
            </a:r>
            <a:endParaRPr lang="en-US">
              <a:ea typeface="宋体"/>
            </a:endParaRPr>
          </a:p>
          <a:p>
            <a:pPr lvl="1"/>
            <a:endParaRPr lang="en-US" altLang="zh-CN" dirty="0">
              <a:ea typeface="宋体"/>
            </a:endParaRPr>
          </a:p>
          <a:p>
            <a:pPr marL="0" indent="0">
              <a:buNone/>
            </a:pPr>
            <a:r>
              <a:rPr lang="en-US" altLang="zh-CN" b="1" dirty="0">
                <a:ea typeface="宋体"/>
              </a:rPr>
              <a:t>Underflow</a:t>
            </a:r>
            <a:r>
              <a:rPr lang="en-US" altLang="zh-CN" dirty="0">
                <a:ea typeface="宋体"/>
              </a:rPr>
              <a:t>: the negative exponent is too large to fit in the exponent field, may lead to </a:t>
            </a:r>
            <a:r>
              <a:rPr lang="en-US" altLang="zh-CN" i="1" dirty="0">
                <a:ea typeface="宋体"/>
              </a:rPr>
              <a:t>divide-by zero, e</a:t>
            </a:r>
            <a:r>
              <a:rPr lang="en-US" altLang="zh-CN" dirty="0">
                <a:ea typeface="宋体"/>
              </a:rPr>
              <a:t>.g. </a:t>
            </a:r>
            <a:r>
              <a:rPr lang="en-US" altLang="zh-CN" b="1" dirty="0">
                <a:ea typeface="宋体"/>
              </a:rPr>
              <a:t>10</a:t>
            </a:r>
            <a:r>
              <a:rPr lang="en-US" altLang="zh-CN" b="1" baseline="30000" dirty="0">
                <a:ea typeface="宋体"/>
              </a:rPr>
              <a:t>-39 </a:t>
            </a:r>
            <a:r>
              <a:rPr lang="en-US" altLang="zh-CN" dirty="0">
                <a:ea typeface="宋体"/>
              </a:rPr>
              <a:t>(</a:t>
            </a:r>
            <a:r>
              <a:rPr lang="en-US" altLang="zh-CN" i="1" dirty="0">
                <a:ea typeface="宋体"/>
              </a:rPr>
              <a:t>single precision</a:t>
            </a:r>
            <a:r>
              <a:rPr lang="en-US" altLang="zh-CN" dirty="0">
                <a:ea typeface="宋体"/>
              </a:rPr>
              <a:t>)</a:t>
            </a:r>
          </a:p>
          <a:p>
            <a:pPr lvl="1"/>
            <a:endParaRPr lang="en-US" altLang="zh-CN" dirty="0">
              <a:ea typeface="宋体"/>
            </a:endParaRPr>
          </a:p>
          <a:p>
            <a:pPr marL="0" indent="0">
              <a:buNone/>
            </a:pPr>
            <a:r>
              <a:rPr lang="en-US" altLang="zh-CN" dirty="0">
                <a:ea typeface="宋体"/>
              </a:rPr>
              <a:t>Not all numbers between the min and max can be represented precisely, e.g. </a:t>
            </a:r>
            <a:r>
              <a:rPr lang="en-US" altLang="zh-CN" b="1" dirty="0">
                <a:ea typeface="宋体"/>
              </a:rPr>
              <a:t>1.00…001</a:t>
            </a:r>
            <a:r>
              <a:rPr lang="en-US" altLang="zh-CN" dirty="0">
                <a:ea typeface="宋体"/>
              </a:rPr>
              <a:t> (= </a:t>
            </a:r>
            <a:r>
              <a:rPr lang="en-US" altLang="zh-CN" b="1" dirty="0">
                <a:ea typeface="宋体"/>
              </a:rPr>
              <a:t>1 + 2</a:t>
            </a:r>
            <a:r>
              <a:rPr lang="en-US" altLang="zh-CN" b="1" baseline="30000" dirty="0">
                <a:ea typeface="宋体"/>
              </a:rPr>
              <a:t>-24</a:t>
            </a:r>
            <a:r>
              <a:rPr lang="en-US" altLang="zh-CN" dirty="0">
                <a:ea typeface="宋体"/>
              </a:rPr>
              <a:t>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5F94D4C-C786-55F4-FB9B-68D2A133ADE5}"/>
              </a:ext>
            </a:extLst>
          </p:cNvPr>
          <p:cNvSpPr>
            <a:spLocks noGrp="1"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ea typeface="Calibri"/>
                <a:cs typeface="Calibri"/>
              </a:rPr>
              <a:t>Overflow, underflow, precision.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1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56D4F-36AB-FA96-D3D1-9E4ED841D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7">
            <a:extLst>
              <a:ext uri="{FF2B5EF4-FFF2-40B4-BE49-F238E27FC236}">
                <a16:creationId xmlns:a16="http://schemas.microsoft.com/office/drawing/2014/main" id="{E5FA91EB-E7C6-F9F2-AB85-ECDBFFA819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3281" y="1296354"/>
            <a:ext cx="10859843" cy="50244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zh-CN" dirty="0">
                <a:ea typeface="宋体"/>
              </a:rPr>
              <a:t>Denormal numbers are special values that fill the gap between </a:t>
            </a:r>
            <a:r>
              <a:rPr lang="en-US" altLang="zh-CN" b="1" dirty="0">
                <a:ea typeface="宋体"/>
              </a:rPr>
              <a:t>0 </a:t>
            </a:r>
            <a:r>
              <a:rPr lang="en-US" altLang="zh-CN" dirty="0">
                <a:ea typeface="宋体"/>
              </a:rPr>
              <a:t>and the </a:t>
            </a:r>
            <a:r>
              <a:rPr lang="en-US" altLang="zh-CN" b="1" dirty="0">
                <a:ea typeface="宋体"/>
              </a:rPr>
              <a:t>smallest</a:t>
            </a:r>
            <a:r>
              <a:rPr lang="en-US" altLang="zh-CN" dirty="0">
                <a:ea typeface="宋体"/>
              </a:rPr>
              <a:t> normal (non-zero) floating-point number. </a:t>
            </a:r>
            <a:endParaRPr lang="en-US">
              <a:ea typeface="宋体"/>
            </a:endParaRPr>
          </a:p>
          <a:p>
            <a:endParaRPr lang="en-US" altLang="zh-CN" dirty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ea typeface="宋体" pitchFamily="2" charset="-122"/>
              </a:rPr>
              <a:t>They are used to maintain gradual underflow instead of abruptly rounding to zero when results become extremely small.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F175DF5-1818-177A-3DA4-837D0449FAB6}"/>
              </a:ext>
            </a:extLst>
          </p:cNvPr>
          <p:cNvSpPr>
            <a:spLocks noGrp="1"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ea typeface="Calibri"/>
                <a:cs typeface="Calibri"/>
              </a:rPr>
              <a:t>Denormal numbers.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8688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5B641-8897-710B-14FE-D8E08A1EA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7">
            <a:extLst>
              <a:ext uri="{FF2B5EF4-FFF2-40B4-BE49-F238E27FC236}">
                <a16:creationId xmlns:a16="http://schemas.microsoft.com/office/drawing/2014/main" id="{C9534E83-596A-9607-3859-4BC4C8C06D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3201" y="1357314"/>
            <a:ext cx="10069513" cy="50244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zh-CN" dirty="0">
                <a:ea typeface="宋体" pitchFamily="2" charset="-122"/>
              </a:rPr>
              <a:t>Exponent = 000...0 </a:t>
            </a:r>
            <a:r>
              <a:rPr lang="en-US" altLang="zh-CN" dirty="0">
                <a:ea typeface="宋体" pitchFamily="2" charset="-122"/>
                <a:sym typeface="Symbol" pitchFamily="18" charset="2"/>
              </a:rPr>
              <a:t> </a:t>
            </a:r>
            <a:r>
              <a:rPr lang="en-US" altLang="zh-CN" dirty="0">
                <a:ea typeface="宋体" pitchFamily="2" charset="-122"/>
              </a:rPr>
              <a:t>hidden bit is 0</a:t>
            </a:r>
            <a:endParaRPr lang="en-US"/>
          </a:p>
          <a:p>
            <a:endParaRPr lang="en-US" altLang="zh-CN" dirty="0">
              <a:ea typeface="宋体" pitchFamily="2" charset="-122"/>
            </a:endParaRPr>
          </a:p>
          <a:p>
            <a:endParaRPr lang="en-US" altLang="zh-CN" sz="2000" dirty="0">
              <a:ea typeface="宋体" pitchFamily="2" charset="-122"/>
            </a:endParaRPr>
          </a:p>
          <a:p>
            <a:pPr marL="457200" lvl="1" indent="0">
              <a:buNone/>
            </a:pPr>
            <a:r>
              <a:rPr lang="en-US" altLang="zh-CN" dirty="0">
                <a:ea typeface="宋体" pitchFamily="2" charset="-122"/>
              </a:rPr>
              <a:t>Smaller than normal numbers</a:t>
            </a:r>
          </a:p>
          <a:p>
            <a:endParaRPr lang="en-US" altLang="zh-CN" dirty="0">
              <a:ea typeface="宋体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ea typeface="宋体" pitchFamily="2" charset="-122"/>
              </a:rPr>
              <a:t>Denormal with fraction = 000...0</a:t>
            </a:r>
          </a:p>
        </p:txBody>
      </p:sp>
      <p:sp>
        <p:nvSpPr>
          <p:cNvPr id="3" name="AutoShape 7">
            <a:extLst>
              <a:ext uri="{FF2B5EF4-FFF2-40B4-BE49-F238E27FC236}">
                <a16:creationId xmlns:a16="http://schemas.microsoft.com/office/drawing/2014/main" id="{07563D9A-52BD-523F-9965-5AB7295B359E}"/>
              </a:ext>
            </a:extLst>
          </p:cNvPr>
          <p:cNvSpPr>
            <a:spLocks/>
          </p:cNvSpPr>
          <p:nvPr/>
        </p:nvSpPr>
        <p:spPr bwMode="auto">
          <a:xfrm>
            <a:off x="4656139" y="5589588"/>
            <a:ext cx="2287587" cy="647700"/>
          </a:xfrm>
          <a:prstGeom prst="borderCallout1">
            <a:avLst>
              <a:gd name="adj1" fmla="val 17648"/>
              <a:gd name="adj2" fmla="val 103333"/>
              <a:gd name="adj3" fmla="val -26472"/>
              <a:gd name="adj4" fmla="val 12325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lIns="91440" tIns="45720" rIns="91440" bIns="45720" anchor="t"/>
          <a:lstStyle/>
          <a:p>
            <a:pPr algn="ctr"/>
            <a:r>
              <a:rPr lang="en-US" altLang="zh-CN" dirty="0">
                <a:ea typeface="宋体"/>
              </a:rPr>
              <a:t>Two representations of 0.0!</a:t>
            </a:r>
            <a:endParaRPr lang="en-AU" dirty="0">
              <a:ea typeface="宋体"/>
            </a:endParaRP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68A3CFFC-6601-E4D0-3FCC-07F4CD7FCF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9150" y="2235200"/>
          <a:ext cx="48641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32000" imgH="228600" progId="Equation.3">
                  <p:embed/>
                </p:oleObj>
              </mc:Choice>
              <mc:Fallback>
                <p:oleObj name="Equation" r:id="rId3" imgW="2032000" imgH="228600" progId="Equation.3">
                  <p:embed/>
                  <p:pic>
                    <p:nvPicPr>
                      <p:cNvPr id="4" name="Object 2">
                        <a:extLst>
                          <a:ext uri="{FF2B5EF4-FFF2-40B4-BE49-F238E27FC236}">
                            <a16:creationId xmlns:a16="http://schemas.microsoft.com/office/drawing/2014/main" id="{68A3CFFC-6601-E4D0-3FCC-07F4CD7FCF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2235200"/>
                        <a:ext cx="4864100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folHlink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5988862E-E18A-B2AF-B910-0100910444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9150" y="4868863"/>
          <a:ext cx="4833938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19300" imgH="228600" progId="Equation.3">
                  <p:embed/>
                </p:oleObj>
              </mc:Choice>
              <mc:Fallback>
                <p:oleObj name="Equation" r:id="rId5" imgW="2019300" imgH="228600" progId="Equation.3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5988862E-E18A-B2AF-B910-0100910444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4868863"/>
                        <a:ext cx="4833938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folHlink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2F1762F9-CA29-6C5D-ABDD-1F437E06C5B9}"/>
              </a:ext>
            </a:extLst>
          </p:cNvPr>
          <p:cNvSpPr>
            <a:spLocks noGrp="1"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ea typeface="Calibri"/>
                <a:cs typeface="Calibri"/>
              </a:rPr>
              <a:t>Denormal numbers.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9247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2C2E2-27E9-2731-0F7E-53E0027FC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7">
            <a:extLst>
              <a:ext uri="{FF2B5EF4-FFF2-40B4-BE49-F238E27FC236}">
                <a16:creationId xmlns:a16="http://schemas.microsoft.com/office/drawing/2014/main" id="{E269FD2C-EAFD-6E1C-C963-29C3D4AE38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3201" y="1357314"/>
            <a:ext cx="10069513" cy="5024437"/>
          </a:xfrm>
        </p:spPr>
        <p:txBody>
          <a:bodyPr/>
          <a:lstStyle/>
          <a:p>
            <a:r>
              <a:rPr lang="en-US" altLang="zh-CN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Largest value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Exponent: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00000000</a:t>
            </a:r>
            <a:b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</a:br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 actual exponent = 2046 – 1023 = +1023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  <a:sym typeface="Symbol" pitchFamily="18" charset="2"/>
              </a:rPr>
              <a:t>Fraction: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11111111111111111111111</a:t>
            </a:r>
            <a:endParaRPr lang="en-US" altLang="zh-CN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  <a:sym typeface="Symbol" pitchFamily="18" charset="2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0.11111111111111111111111</a:t>
            </a:r>
            <a:r>
              <a:rPr lang="en-US" altLang="zh-CN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2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​×2</a:t>
            </a:r>
            <a:r>
              <a:rPr lang="en-US" altLang="zh-CN" baseline="30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−126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≈ (1 − 2</a:t>
            </a:r>
            <a:r>
              <a:rPr lang="en-US" altLang="zh-CN" baseline="30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−23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) × 2</a:t>
            </a:r>
            <a:r>
              <a:rPr lang="en-US" altLang="zh-CN" baseline="30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−126</a:t>
            </a:r>
            <a:endParaRPr lang="en-US" altLang="zh-CN" baseline="300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  <a:sym typeface="Symbol" pitchFamily="18" charset="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4DF9F9-D1CD-56DE-0E8C-6393C317DFA1}"/>
              </a:ext>
            </a:extLst>
          </p:cNvPr>
          <p:cNvSpPr>
            <a:spLocks noGrp="1"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ea typeface="Calibri"/>
                <a:cs typeface="Calibri"/>
              </a:rPr>
              <a:t>Denormal numbers.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65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828040" y="1297305"/>
            <a:ext cx="10525760" cy="48796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zh-CN" dirty="0">
                <a:ea typeface="宋体" pitchFamily="2" charset="-122"/>
              </a:rPr>
              <a:t>Exponent = 111...1, Fraction = 000...0</a:t>
            </a:r>
            <a:endParaRPr lang="en-US"/>
          </a:p>
          <a:p>
            <a:pPr lvl="1"/>
            <a:r>
              <a:rPr lang="en-US" altLang="zh-CN" dirty="0">
                <a:ea typeface="宋体" pitchFamily="2" charset="-122"/>
              </a:rPr>
              <a:t>±Infinity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Can be used in subsequent calculations, avoiding need for overflow check</a:t>
            </a:r>
          </a:p>
          <a:p>
            <a:pPr lvl="1"/>
            <a:endParaRPr lang="en-US" altLang="zh-CN" dirty="0">
              <a:ea typeface="宋体"/>
            </a:endParaRPr>
          </a:p>
          <a:p>
            <a:pPr marL="0" indent="0">
              <a:buNone/>
            </a:pPr>
            <a:r>
              <a:rPr lang="en-US" altLang="zh-CN" dirty="0">
                <a:ea typeface="宋体" pitchFamily="2" charset="-122"/>
              </a:rPr>
              <a:t>Exponent = 111...1, Fraction ≠ 000...0</a:t>
            </a:r>
          </a:p>
          <a:p>
            <a:pPr lvl="1"/>
            <a:r>
              <a:rPr lang="en-US" altLang="zh-CN" dirty="0">
                <a:ea typeface="宋体"/>
              </a:rPr>
              <a:t>Not-a-Number (NaN)</a:t>
            </a:r>
          </a:p>
          <a:p>
            <a:pPr lvl="1"/>
            <a:r>
              <a:rPr lang="en-US" altLang="zh-CN" dirty="0">
                <a:ea typeface="宋体"/>
              </a:rPr>
              <a:t>Indicates illegal or undefined result, e.g., 0.0 / 0.0</a:t>
            </a:r>
          </a:p>
          <a:p>
            <a:pPr lvl="1"/>
            <a:r>
              <a:rPr lang="en-US" altLang="zh-CN" dirty="0">
                <a:ea typeface="宋体" pitchFamily="2" charset="-122"/>
              </a:rPr>
              <a:t>Can be used in subsequent calculations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0238477-AAC6-056E-9D2C-EFA457E967BA}"/>
              </a:ext>
            </a:extLst>
          </p:cNvPr>
          <p:cNvSpPr>
            <a:spLocks noGrp="1"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ea typeface="Calibri"/>
                <a:cs typeface="Calibri"/>
              </a:rPr>
              <a:t>Infinites and </a:t>
            </a:r>
            <a:r>
              <a:rPr lang="en-US" sz="4500" b="1" dirty="0" err="1">
                <a:ea typeface="Calibri"/>
                <a:cs typeface="Calibri"/>
              </a:rPr>
              <a:t>NaNs</a:t>
            </a:r>
            <a:r>
              <a:rPr lang="en-US" sz="4500" b="1" dirty="0">
                <a:ea typeface="Calibri"/>
                <a:cs typeface="Calibri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928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9951572"/>
              </p:ext>
            </p:extLst>
          </p:nvPr>
        </p:nvGraphicFramePr>
        <p:xfrm>
          <a:off x="2021841" y="3236159"/>
          <a:ext cx="8229599" cy="20726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68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8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2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7071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M =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M ≠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E =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±zero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Other non-normalized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0 &lt; E &lt; 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±2</a:t>
                      </a:r>
                      <a:r>
                        <a:rPr lang="en-US" sz="2800" baseline="30000" dirty="0">
                          <a:solidFill>
                            <a:srgbClr val="000000"/>
                          </a:solidFill>
                        </a:rPr>
                        <a:t>E-127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Regular</a:t>
                      </a:r>
                      <a:r>
                        <a:rPr lang="en-US" sz="2800" baseline="0" dirty="0">
                          <a:solidFill>
                            <a:srgbClr val="000000"/>
                          </a:solidFill>
                        </a:rPr>
                        <a:t> floating point</a:t>
                      </a:r>
                      <a:endParaRPr lang="en-US" sz="28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E = 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±∞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Not-a-Number</a:t>
                      </a:r>
                      <a:r>
                        <a:rPr lang="en-US" sz="2800" baseline="0" dirty="0">
                          <a:solidFill>
                            <a:srgbClr val="000000"/>
                          </a:solidFill>
                        </a:rPr>
                        <a:t> (NaN)</a:t>
                      </a:r>
                      <a:endParaRPr lang="en-US" sz="28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438400" y="1295401"/>
            <a:ext cx="739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/>
              <a:t>(-1)</a:t>
            </a:r>
            <a:r>
              <a:rPr lang="en-US" sz="7200" baseline="30000" dirty="0"/>
              <a:t>s</a:t>
            </a:r>
            <a:r>
              <a:rPr lang="en-US" sz="7200" dirty="0"/>
              <a:t> * 1.M * 2</a:t>
            </a:r>
            <a:r>
              <a:rPr lang="en-US" sz="7200" baseline="30000" dirty="0"/>
              <a:t>(E-127)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54D8930-D7E7-9ACE-0649-42672459AC77}"/>
              </a:ext>
            </a:extLst>
          </p:cNvPr>
          <p:cNvSpPr>
            <a:spLocks noGrp="1"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ea typeface="Calibri"/>
                <a:cs typeface="Calibri"/>
              </a:rPr>
              <a:t>IEEE 754 special numbers.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62051-3ED4-4A53-B377-E2E22DD77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>
            <a:extLst>
              <a:ext uri="{FF2B5EF4-FFF2-40B4-BE49-F238E27FC236}">
                <a16:creationId xmlns:a16="http://schemas.microsoft.com/office/drawing/2014/main" id="{32F5E216-21CE-CBAC-5E9E-D062217BF9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3281" y="1453416"/>
            <a:ext cx="9769211" cy="501872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CN" sz="2800" dirty="0">
                <a:ea typeface="宋体"/>
              </a:rPr>
              <a:t>Consider a 4-digit decimal example</a:t>
            </a:r>
            <a:endParaRPr lang="en-US">
              <a:ea typeface="宋体"/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b="1" dirty="0">
                <a:ea typeface="宋体"/>
              </a:rPr>
              <a:t>9.999 × 10</a:t>
            </a:r>
            <a:r>
              <a:rPr lang="en-US" altLang="zh-CN" b="1" baseline="30000" dirty="0">
                <a:ea typeface="宋体"/>
              </a:rPr>
              <a:t>1</a:t>
            </a:r>
            <a:r>
              <a:rPr lang="en-US" altLang="zh-CN" b="1" dirty="0">
                <a:ea typeface="宋体"/>
              </a:rPr>
              <a:t> + 1.610 × 10</a:t>
            </a:r>
            <a:r>
              <a:rPr lang="en-US" altLang="zh-CN" b="1" baseline="30000" dirty="0">
                <a:ea typeface="宋体"/>
              </a:rPr>
              <a:t>–1</a:t>
            </a:r>
          </a:p>
          <a:p>
            <a:pPr marL="457200" lvl="1" indent="0">
              <a:buNone/>
            </a:pPr>
            <a:endParaRPr lang="en-US" altLang="zh-CN" b="1" baseline="30000" dirty="0">
              <a:ea typeface="宋体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800" dirty="0">
                <a:ea typeface="宋体"/>
              </a:rPr>
              <a:t>1. Align decimal points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dirty="0">
                <a:ea typeface="宋体"/>
              </a:rPr>
              <a:t>Shift number with smaller exponent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b="1" dirty="0">
                <a:ea typeface="宋体"/>
              </a:rPr>
              <a:t>9.999 × 10</a:t>
            </a:r>
            <a:r>
              <a:rPr lang="en-US" altLang="zh-CN" b="1" baseline="30000" dirty="0">
                <a:ea typeface="宋体"/>
              </a:rPr>
              <a:t>1</a:t>
            </a:r>
            <a:r>
              <a:rPr lang="en-US" altLang="zh-CN" b="1" dirty="0">
                <a:ea typeface="宋体"/>
              </a:rPr>
              <a:t> + 0.016 × 10</a:t>
            </a:r>
            <a:r>
              <a:rPr lang="en-US" altLang="zh-CN" b="1" baseline="30000" dirty="0">
                <a:ea typeface="宋体"/>
              </a:rPr>
              <a:t>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800" dirty="0">
                <a:ea typeface="宋体"/>
              </a:rPr>
              <a:t>2. Add significands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b="1" dirty="0">
                <a:ea typeface="宋体"/>
              </a:rPr>
              <a:t>9.999 × 10</a:t>
            </a:r>
            <a:r>
              <a:rPr lang="en-US" altLang="zh-CN" b="1" baseline="30000" dirty="0">
                <a:ea typeface="宋体"/>
              </a:rPr>
              <a:t>1</a:t>
            </a:r>
            <a:r>
              <a:rPr lang="en-US" altLang="zh-CN" b="1" dirty="0">
                <a:ea typeface="宋体"/>
              </a:rPr>
              <a:t> + 0.016 × 10</a:t>
            </a:r>
            <a:r>
              <a:rPr lang="en-US" altLang="zh-CN" b="1" baseline="30000" dirty="0">
                <a:ea typeface="宋体"/>
              </a:rPr>
              <a:t>1</a:t>
            </a:r>
            <a:r>
              <a:rPr lang="en-US" altLang="zh-CN" b="1" dirty="0">
                <a:ea typeface="宋体"/>
              </a:rPr>
              <a:t> = 10.015 × 10</a:t>
            </a:r>
            <a:r>
              <a:rPr lang="en-US" altLang="zh-CN" b="1" baseline="30000" dirty="0">
                <a:ea typeface="宋体"/>
              </a:rPr>
              <a:t>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800" dirty="0">
                <a:ea typeface="宋体"/>
              </a:rPr>
              <a:t>3. Normalize result &amp; check for over/underflow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b="1" dirty="0">
                <a:ea typeface="宋体"/>
              </a:rPr>
              <a:t>1.0015 × 10</a:t>
            </a:r>
            <a:r>
              <a:rPr lang="en-US" altLang="zh-CN" b="1" baseline="30000" dirty="0">
                <a:ea typeface="宋体"/>
              </a:rPr>
              <a:t>2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800" dirty="0">
                <a:ea typeface="宋体"/>
              </a:rPr>
              <a:t>4. Round and renormalize if necessary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b="1" dirty="0">
                <a:ea typeface="宋体"/>
              </a:rPr>
              <a:t>1.002 × 10</a:t>
            </a:r>
            <a:r>
              <a:rPr lang="en-US" altLang="zh-CN" b="1" baseline="30000" dirty="0">
                <a:ea typeface="宋体"/>
              </a:rPr>
              <a:t>2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797ACE3-FDEB-7CB5-160D-B019F7433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>
                <a:ea typeface="Calibri"/>
                <a:cs typeface="Calibri"/>
              </a:rPr>
              <a:t>Floating-point addition.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299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035AB-F3E7-E9B6-9D4D-E15D76330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>
            <a:extLst>
              <a:ext uri="{FF2B5EF4-FFF2-40B4-BE49-F238E27FC236}">
                <a16:creationId xmlns:a16="http://schemas.microsoft.com/office/drawing/2014/main" id="{82F0737D-194C-E95A-35B3-3DB72ECB3D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81761" y="1300480"/>
            <a:ext cx="9779371" cy="6905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Bef>
                <a:spcPct val="40000"/>
              </a:spcBef>
              <a:buFont typeface="Wingdings" pitchFamily="2" charset="2"/>
              <a:buNone/>
            </a:pPr>
            <a:r>
              <a:rPr lang="en-US" altLang="zh-CN" sz="3600" b="1" dirty="0">
                <a:ea typeface="宋体"/>
                <a:sym typeface="Symbol" pitchFamily="18" charset="2"/>
              </a:rPr>
              <a:t>(F1  2</a:t>
            </a:r>
            <a:r>
              <a:rPr lang="en-US" altLang="zh-CN" sz="3600" b="1" baseline="30000" dirty="0">
                <a:ea typeface="宋体"/>
                <a:sym typeface="Symbol" pitchFamily="18" charset="2"/>
              </a:rPr>
              <a:t>E1</a:t>
            </a:r>
            <a:r>
              <a:rPr lang="en-US" altLang="zh-CN" sz="3600" b="1" dirty="0">
                <a:ea typeface="宋体"/>
                <a:sym typeface="Symbol" pitchFamily="18" charset="2"/>
              </a:rPr>
              <a:t>) + (F2  2</a:t>
            </a:r>
            <a:r>
              <a:rPr lang="en-US" altLang="zh-CN" sz="3600" b="1" baseline="30000" dirty="0">
                <a:ea typeface="宋体"/>
                <a:sym typeface="Symbol" pitchFamily="18" charset="2"/>
              </a:rPr>
              <a:t>E2</a:t>
            </a:r>
            <a:r>
              <a:rPr lang="en-US" altLang="zh-CN" sz="3600" b="1" dirty="0">
                <a:ea typeface="宋体"/>
                <a:sym typeface="Symbol" pitchFamily="18" charset="2"/>
              </a:rPr>
              <a:t>) = F3  2</a:t>
            </a:r>
            <a:r>
              <a:rPr lang="en-US" altLang="zh-CN" sz="3600" b="1" baseline="30000" dirty="0">
                <a:ea typeface="宋体"/>
                <a:sym typeface="Symbol" pitchFamily="18" charset="2"/>
              </a:rPr>
              <a:t>E3</a:t>
            </a:r>
            <a:endParaRPr lang="en-US" altLang="zh-CN" sz="3600" b="1" dirty="0">
              <a:ea typeface="宋体"/>
            </a:endParaRP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7AAC9F0A-5413-601A-A041-424E6B527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6161" y="2248364"/>
            <a:ext cx="10495279" cy="382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3500" tIns="25400" rIns="63500" bIns="25400" anchor="t">
            <a:spAutoFit/>
          </a:bodyPr>
          <a:lstStyle/>
          <a:p>
            <a:pPr lvl="1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75000"/>
            </a:pPr>
            <a:r>
              <a:rPr lang="en-US" altLang="zh-CN" sz="2000" b="1" dirty="0">
                <a:ea typeface="宋体"/>
                <a:sym typeface="Symbol" pitchFamily="18" charset="2"/>
              </a:rPr>
              <a:t>Step 0</a:t>
            </a:r>
            <a:r>
              <a:rPr lang="en-US" altLang="zh-CN" sz="2000" dirty="0">
                <a:ea typeface="宋体"/>
                <a:sym typeface="Symbol" pitchFamily="18" charset="2"/>
              </a:rPr>
              <a:t>: Restore the hidden bit in </a:t>
            </a:r>
            <a:r>
              <a:rPr lang="en-US" altLang="zh-CN" sz="2000" b="1" dirty="0">
                <a:ea typeface="宋体"/>
                <a:sym typeface="Symbol" pitchFamily="18" charset="2"/>
              </a:rPr>
              <a:t>F1 </a:t>
            </a:r>
            <a:r>
              <a:rPr lang="en-US" altLang="zh-CN" sz="2000" dirty="0">
                <a:ea typeface="宋体"/>
                <a:sym typeface="Symbol" pitchFamily="18" charset="2"/>
              </a:rPr>
              <a:t>and in </a:t>
            </a:r>
            <a:r>
              <a:rPr lang="en-US" altLang="zh-CN" sz="2000" b="1" dirty="0">
                <a:ea typeface="宋体"/>
                <a:sym typeface="Symbol" pitchFamily="18" charset="2"/>
              </a:rPr>
              <a:t>F2</a:t>
            </a:r>
            <a:endParaRPr lang="en-US" b="1"/>
          </a:p>
          <a:p>
            <a:pPr lvl="1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75000"/>
            </a:pPr>
            <a:r>
              <a:rPr lang="en-US" altLang="zh-CN" sz="2000" b="1" dirty="0">
                <a:ea typeface="宋体"/>
                <a:sym typeface="Symbol" pitchFamily="18" charset="2"/>
              </a:rPr>
              <a:t>Step 1</a:t>
            </a:r>
            <a:r>
              <a:rPr lang="en-US" altLang="zh-CN" sz="2000" dirty="0">
                <a:ea typeface="宋体"/>
                <a:sym typeface="Symbol" pitchFamily="18" charset="2"/>
              </a:rPr>
              <a:t>: Align fractions by right shifting </a:t>
            </a:r>
            <a:r>
              <a:rPr lang="en-US" altLang="zh-CN" sz="2000" b="1" dirty="0">
                <a:ea typeface="宋体"/>
                <a:sym typeface="Symbol" pitchFamily="18" charset="2"/>
              </a:rPr>
              <a:t>F2 </a:t>
            </a:r>
            <a:r>
              <a:rPr lang="en-US" altLang="zh-CN" sz="2000" dirty="0">
                <a:ea typeface="宋体"/>
                <a:sym typeface="Symbol" pitchFamily="18" charset="2"/>
              </a:rPr>
              <a:t>by </a:t>
            </a:r>
            <a:r>
              <a:rPr lang="en-US" altLang="zh-CN" sz="2000" b="1" dirty="0">
                <a:ea typeface="宋体"/>
                <a:sym typeface="Symbol" pitchFamily="18" charset="2"/>
              </a:rPr>
              <a:t>E1 - E2</a:t>
            </a:r>
            <a:r>
              <a:rPr lang="en-US" altLang="zh-CN" sz="2000" dirty="0">
                <a:ea typeface="宋体"/>
                <a:sym typeface="Symbol" pitchFamily="18" charset="2"/>
              </a:rPr>
              <a:t> positions (assuming </a:t>
            </a:r>
            <a:r>
              <a:rPr lang="en-US" altLang="zh-CN" sz="2000" b="1" dirty="0">
                <a:ea typeface="宋体"/>
                <a:sym typeface="Symbol" pitchFamily="18" charset="2"/>
              </a:rPr>
              <a:t>E1  E2</a:t>
            </a:r>
            <a:r>
              <a:rPr lang="en-US" altLang="zh-CN" sz="2000" dirty="0">
                <a:ea typeface="宋体"/>
                <a:sym typeface="Symbol" pitchFamily="18" charset="2"/>
              </a:rPr>
              <a:t>) keeping track of (three of) the bits shifted out in </a:t>
            </a:r>
            <a:r>
              <a:rPr lang="en-US" altLang="zh-CN" sz="2000" b="1" dirty="0">
                <a:ea typeface="宋体"/>
                <a:sym typeface="Symbol" pitchFamily="18" charset="2"/>
              </a:rPr>
              <a:t>G R</a:t>
            </a:r>
            <a:r>
              <a:rPr lang="en-US" altLang="zh-CN" sz="2000" dirty="0">
                <a:ea typeface="宋体"/>
                <a:sym typeface="Symbol" pitchFamily="18" charset="2"/>
              </a:rPr>
              <a:t> and </a:t>
            </a:r>
            <a:r>
              <a:rPr lang="en-US" altLang="zh-CN" sz="2000" b="1" dirty="0">
                <a:ea typeface="宋体"/>
                <a:sym typeface="Symbol" pitchFamily="18" charset="2"/>
              </a:rPr>
              <a:t>S</a:t>
            </a:r>
            <a:endParaRPr lang="en-US" altLang="zh-CN" sz="2000" b="1" dirty="0">
              <a:ea typeface="宋体"/>
            </a:endParaRPr>
          </a:p>
          <a:p>
            <a:pPr lvl="1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75000"/>
            </a:pPr>
            <a:r>
              <a:rPr lang="en-US" altLang="zh-CN" sz="2000" b="1" dirty="0">
                <a:ea typeface="宋体"/>
                <a:sym typeface="Symbol" pitchFamily="18" charset="2"/>
              </a:rPr>
              <a:t>Step 2</a:t>
            </a:r>
            <a:r>
              <a:rPr lang="en-US" altLang="zh-CN" sz="2000" dirty="0">
                <a:ea typeface="宋体"/>
                <a:sym typeface="Symbol" pitchFamily="18" charset="2"/>
              </a:rPr>
              <a:t>: Add the resulting </a:t>
            </a:r>
            <a:r>
              <a:rPr lang="en-US" altLang="zh-CN" sz="2000" b="1" dirty="0">
                <a:ea typeface="宋体"/>
                <a:sym typeface="Symbol" pitchFamily="18" charset="2"/>
              </a:rPr>
              <a:t>F2 </a:t>
            </a:r>
            <a:r>
              <a:rPr lang="en-US" altLang="zh-CN" sz="2000" dirty="0">
                <a:ea typeface="宋体"/>
                <a:sym typeface="Symbol" pitchFamily="18" charset="2"/>
              </a:rPr>
              <a:t>to </a:t>
            </a:r>
            <a:r>
              <a:rPr lang="en-US" altLang="zh-CN" sz="2000" b="1" dirty="0">
                <a:ea typeface="宋体"/>
                <a:sym typeface="Symbol" pitchFamily="18" charset="2"/>
              </a:rPr>
              <a:t>F1 </a:t>
            </a:r>
            <a:r>
              <a:rPr lang="en-US" altLang="zh-CN" sz="2000" dirty="0">
                <a:ea typeface="宋体"/>
                <a:sym typeface="Symbol" pitchFamily="18" charset="2"/>
              </a:rPr>
              <a:t>to form </a:t>
            </a:r>
            <a:r>
              <a:rPr lang="en-US" altLang="zh-CN" sz="2000" b="1" dirty="0">
                <a:ea typeface="宋体"/>
                <a:sym typeface="Symbol" pitchFamily="18" charset="2"/>
              </a:rPr>
              <a:t>F3</a:t>
            </a:r>
            <a:endParaRPr lang="en-US" altLang="zh-CN" sz="2000" b="1" dirty="0">
              <a:ea typeface="宋体"/>
            </a:endParaRPr>
          </a:p>
          <a:p>
            <a:pPr lvl="1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75000"/>
            </a:pPr>
            <a:r>
              <a:rPr lang="en-US" altLang="zh-CN" sz="2000" b="1" dirty="0">
                <a:ea typeface="宋体"/>
                <a:sym typeface="Symbol" pitchFamily="18" charset="2"/>
              </a:rPr>
              <a:t>Step 3</a:t>
            </a:r>
            <a:r>
              <a:rPr lang="en-US" altLang="zh-CN" sz="2000" dirty="0">
                <a:ea typeface="宋体"/>
                <a:sym typeface="Symbol" pitchFamily="18" charset="2"/>
              </a:rPr>
              <a:t>: Normalize </a:t>
            </a:r>
            <a:r>
              <a:rPr lang="en-US" altLang="zh-CN" sz="2000" b="1" dirty="0">
                <a:ea typeface="宋体"/>
                <a:sym typeface="Symbol" pitchFamily="18" charset="2"/>
              </a:rPr>
              <a:t>F3 </a:t>
            </a:r>
            <a:r>
              <a:rPr lang="en-US" altLang="zh-CN" sz="2000" dirty="0">
                <a:ea typeface="宋体"/>
                <a:sym typeface="Symbol" pitchFamily="18" charset="2"/>
              </a:rPr>
              <a:t>(so it is in the form </a:t>
            </a:r>
            <a:r>
              <a:rPr lang="en-US" altLang="zh-CN" sz="2000" b="1" dirty="0">
                <a:ea typeface="宋体"/>
                <a:sym typeface="Symbol" pitchFamily="18" charset="2"/>
              </a:rPr>
              <a:t>1.XXXXX</a:t>
            </a:r>
            <a:r>
              <a:rPr lang="en-US" altLang="zh-CN" sz="2000" dirty="0">
                <a:ea typeface="宋体"/>
                <a:sym typeface="Symbol" pitchFamily="18" charset="2"/>
              </a:rPr>
              <a:t>…)</a:t>
            </a:r>
            <a:endParaRPr lang="en-US" altLang="zh-CN" sz="2000" dirty="0">
              <a:ea typeface="宋体"/>
            </a:endParaRPr>
          </a:p>
          <a:p>
            <a:pPr marL="1143000" lvl="2" indent="-228600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100000"/>
              <a:buFontTx/>
              <a:buChar char="-"/>
            </a:pPr>
            <a:r>
              <a:rPr lang="en-US" altLang="zh-CN" dirty="0">
                <a:ea typeface="宋体"/>
                <a:sym typeface="Symbol" pitchFamily="18" charset="2"/>
              </a:rPr>
              <a:t>If </a:t>
            </a:r>
            <a:r>
              <a:rPr lang="en-US" altLang="zh-CN" b="1" dirty="0">
                <a:ea typeface="宋体"/>
                <a:sym typeface="Symbol" pitchFamily="18" charset="2"/>
              </a:rPr>
              <a:t>F1 </a:t>
            </a:r>
            <a:r>
              <a:rPr lang="en-US" altLang="zh-CN" dirty="0">
                <a:ea typeface="宋体"/>
                <a:sym typeface="Symbol" pitchFamily="18" charset="2"/>
              </a:rPr>
              <a:t>and </a:t>
            </a:r>
            <a:r>
              <a:rPr lang="en-US" altLang="zh-CN" b="1" dirty="0">
                <a:ea typeface="宋体"/>
                <a:sym typeface="Symbol" pitchFamily="18" charset="2"/>
              </a:rPr>
              <a:t>F2 </a:t>
            </a:r>
            <a:r>
              <a:rPr lang="en-US" altLang="zh-CN" dirty="0">
                <a:ea typeface="宋体"/>
                <a:sym typeface="Symbol" pitchFamily="18" charset="2"/>
              </a:rPr>
              <a:t>have the </a:t>
            </a:r>
            <a:r>
              <a:rPr lang="en-US" altLang="zh-CN" i="1" dirty="0">
                <a:ea typeface="宋体"/>
                <a:sym typeface="Symbol" pitchFamily="18" charset="2"/>
              </a:rPr>
              <a:t>same sign</a:t>
            </a:r>
            <a:r>
              <a:rPr lang="en-US" altLang="zh-CN" dirty="0">
                <a:ea typeface="宋体"/>
                <a:sym typeface="Symbol" pitchFamily="18" charset="2"/>
              </a:rPr>
              <a:t>  </a:t>
            </a:r>
            <a:r>
              <a:rPr lang="en-US" altLang="zh-CN" b="1" dirty="0">
                <a:ea typeface="宋体"/>
                <a:sym typeface="Symbol" pitchFamily="18" charset="2"/>
              </a:rPr>
              <a:t>F3 [1,4)</a:t>
            </a:r>
            <a:r>
              <a:rPr lang="en-US" altLang="zh-CN" dirty="0">
                <a:ea typeface="宋体"/>
                <a:sym typeface="Symbol" pitchFamily="18" charset="2"/>
              </a:rPr>
              <a:t>  1 bit </a:t>
            </a:r>
            <a:r>
              <a:rPr lang="en-US" altLang="zh-CN" b="1" i="1" dirty="0">
                <a:ea typeface="宋体"/>
                <a:sym typeface="Symbol" pitchFamily="18" charset="2"/>
              </a:rPr>
              <a:t>right shift</a:t>
            </a:r>
            <a:r>
              <a:rPr lang="en-US" altLang="zh-CN" dirty="0">
                <a:ea typeface="宋体"/>
                <a:sym typeface="Symbol" pitchFamily="18" charset="2"/>
              </a:rPr>
              <a:t> </a:t>
            </a:r>
            <a:r>
              <a:rPr lang="en-US" altLang="zh-CN" b="1" dirty="0">
                <a:ea typeface="宋体"/>
                <a:sym typeface="Symbol" pitchFamily="18" charset="2"/>
              </a:rPr>
              <a:t>F3 </a:t>
            </a:r>
            <a:r>
              <a:rPr lang="en-US" altLang="zh-CN" dirty="0">
                <a:ea typeface="宋体"/>
                <a:sym typeface="Symbol" pitchFamily="18" charset="2"/>
              </a:rPr>
              <a:t>and </a:t>
            </a:r>
            <a:r>
              <a:rPr lang="en-US" altLang="zh-CN" b="1" i="1" dirty="0">
                <a:ea typeface="宋体"/>
                <a:sym typeface="Symbol" pitchFamily="18" charset="2"/>
              </a:rPr>
              <a:t>increment</a:t>
            </a:r>
            <a:r>
              <a:rPr lang="en-US" altLang="zh-CN" dirty="0">
                <a:ea typeface="宋体"/>
                <a:sym typeface="Symbol" pitchFamily="18" charset="2"/>
              </a:rPr>
              <a:t> </a:t>
            </a:r>
            <a:r>
              <a:rPr lang="en-US" altLang="zh-CN" b="1" dirty="0">
                <a:ea typeface="宋体"/>
                <a:sym typeface="Symbol" pitchFamily="18" charset="2"/>
              </a:rPr>
              <a:t>E3 </a:t>
            </a:r>
            <a:r>
              <a:rPr lang="en-US" altLang="zh-CN" dirty="0">
                <a:ea typeface="宋体"/>
                <a:sym typeface="Symbol" pitchFamily="18" charset="2"/>
              </a:rPr>
              <a:t>(check for overflow)</a:t>
            </a:r>
            <a:endParaRPr lang="en-US" altLang="zh-CN" dirty="0">
              <a:ea typeface="宋体"/>
            </a:endParaRPr>
          </a:p>
          <a:p>
            <a:pPr marL="1143000" lvl="2" indent="-228600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100000"/>
              <a:buFontTx/>
              <a:buChar char="-"/>
            </a:pPr>
            <a:r>
              <a:rPr lang="en-US" altLang="zh-CN" dirty="0">
                <a:ea typeface="宋体"/>
                <a:sym typeface="Symbol" pitchFamily="18" charset="2"/>
              </a:rPr>
              <a:t>If </a:t>
            </a:r>
            <a:r>
              <a:rPr lang="en-US" altLang="zh-CN" b="1" dirty="0">
                <a:ea typeface="宋体"/>
                <a:sym typeface="Symbol" pitchFamily="18" charset="2"/>
              </a:rPr>
              <a:t>F1 </a:t>
            </a:r>
            <a:r>
              <a:rPr lang="en-US" altLang="zh-CN" dirty="0">
                <a:ea typeface="宋体"/>
                <a:sym typeface="Symbol" pitchFamily="18" charset="2"/>
              </a:rPr>
              <a:t>and </a:t>
            </a:r>
            <a:r>
              <a:rPr lang="en-US" altLang="zh-CN" b="1" dirty="0">
                <a:ea typeface="宋体"/>
                <a:sym typeface="Symbol" pitchFamily="18" charset="2"/>
              </a:rPr>
              <a:t>F2 </a:t>
            </a:r>
            <a:r>
              <a:rPr lang="en-US" altLang="zh-CN" dirty="0">
                <a:ea typeface="宋体"/>
                <a:sym typeface="Symbol" pitchFamily="18" charset="2"/>
              </a:rPr>
              <a:t>have </a:t>
            </a:r>
            <a:r>
              <a:rPr lang="en-US" altLang="zh-CN" i="1" dirty="0">
                <a:ea typeface="宋体"/>
                <a:sym typeface="Symbol" pitchFamily="18" charset="2"/>
              </a:rPr>
              <a:t>different signs</a:t>
            </a:r>
            <a:r>
              <a:rPr lang="en-US" altLang="zh-CN" dirty="0">
                <a:ea typeface="宋体"/>
                <a:sym typeface="Symbol" pitchFamily="18" charset="2"/>
              </a:rPr>
              <a:t>  </a:t>
            </a:r>
            <a:r>
              <a:rPr lang="en-US" altLang="zh-CN" b="1" dirty="0">
                <a:ea typeface="宋体"/>
                <a:sym typeface="Symbol" pitchFamily="18" charset="2"/>
              </a:rPr>
              <a:t>F3 </a:t>
            </a:r>
            <a:r>
              <a:rPr lang="en-US" altLang="zh-CN" dirty="0">
                <a:ea typeface="宋体"/>
                <a:sym typeface="Symbol" pitchFamily="18" charset="2"/>
              </a:rPr>
              <a:t>may require </a:t>
            </a:r>
            <a:r>
              <a:rPr lang="en-US" altLang="zh-CN" i="1" dirty="0">
                <a:ea typeface="宋体"/>
                <a:sym typeface="Symbol" pitchFamily="18" charset="2"/>
              </a:rPr>
              <a:t>many</a:t>
            </a:r>
            <a:r>
              <a:rPr lang="en-US" altLang="zh-CN" dirty="0">
                <a:ea typeface="宋体"/>
                <a:sym typeface="Symbol" pitchFamily="18" charset="2"/>
              </a:rPr>
              <a:t> </a:t>
            </a:r>
            <a:r>
              <a:rPr lang="en-US" altLang="zh-CN" b="1" i="1" dirty="0">
                <a:ea typeface="宋体"/>
                <a:sym typeface="Symbol" pitchFamily="18" charset="2"/>
              </a:rPr>
              <a:t>left shifts</a:t>
            </a:r>
            <a:r>
              <a:rPr lang="en-US" altLang="zh-CN" dirty="0">
                <a:ea typeface="宋体"/>
                <a:sym typeface="Symbol" pitchFamily="18" charset="2"/>
              </a:rPr>
              <a:t> each time decrementing </a:t>
            </a:r>
            <a:r>
              <a:rPr lang="en-US" altLang="zh-CN" b="1" dirty="0">
                <a:ea typeface="宋体"/>
                <a:sym typeface="Symbol" pitchFamily="18" charset="2"/>
              </a:rPr>
              <a:t>E3 </a:t>
            </a:r>
            <a:r>
              <a:rPr lang="en-US" altLang="zh-CN" dirty="0">
                <a:ea typeface="宋体"/>
                <a:sym typeface="Symbol" pitchFamily="18" charset="2"/>
              </a:rPr>
              <a:t>(check for underflow)</a:t>
            </a:r>
            <a:endParaRPr lang="en-US" altLang="zh-CN" dirty="0">
              <a:ea typeface="宋体"/>
            </a:endParaRPr>
          </a:p>
          <a:p>
            <a:pPr lvl="1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75000"/>
            </a:pPr>
            <a:r>
              <a:rPr lang="en-US" altLang="zh-CN" sz="2000" b="1" dirty="0">
                <a:ea typeface="宋体"/>
                <a:sym typeface="Symbol" pitchFamily="18" charset="2"/>
              </a:rPr>
              <a:t>Step 4</a:t>
            </a:r>
            <a:r>
              <a:rPr lang="en-US" altLang="zh-CN" sz="2000" dirty="0">
                <a:ea typeface="宋体"/>
                <a:sym typeface="Symbol" pitchFamily="18" charset="2"/>
              </a:rPr>
              <a:t>: Round </a:t>
            </a:r>
            <a:r>
              <a:rPr lang="en-US" altLang="zh-CN" sz="2000" b="1" dirty="0">
                <a:ea typeface="宋体"/>
                <a:sym typeface="Symbol" pitchFamily="18" charset="2"/>
              </a:rPr>
              <a:t>F3 </a:t>
            </a:r>
            <a:r>
              <a:rPr lang="en-US" altLang="zh-CN" sz="2000" dirty="0">
                <a:ea typeface="宋体"/>
                <a:sym typeface="Symbol" pitchFamily="18" charset="2"/>
              </a:rPr>
              <a:t>and possibly normalize </a:t>
            </a:r>
            <a:r>
              <a:rPr lang="en-US" altLang="zh-CN" sz="2000" b="1" dirty="0">
                <a:ea typeface="宋体"/>
                <a:sym typeface="Symbol" pitchFamily="18" charset="2"/>
              </a:rPr>
              <a:t>F3 </a:t>
            </a:r>
            <a:r>
              <a:rPr lang="en-US" altLang="zh-CN" sz="2000" dirty="0">
                <a:ea typeface="宋体"/>
                <a:sym typeface="Symbol" pitchFamily="18" charset="2"/>
              </a:rPr>
              <a:t>again</a:t>
            </a:r>
            <a:endParaRPr lang="en-US" altLang="zh-CN" sz="2000" dirty="0">
              <a:ea typeface="宋体"/>
            </a:endParaRPr>
          </a:p>
          <a:p>
            <a:pPr lvl="1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75000"/>
            </a:pPr>
            <a:r>
              <a:rPr lang="en-US" altLang="zh-CN" sz="2000" b="1" dirty="0">
                <a:ea typeface="宋体"/>
                <a:sym typeface="Symbol" pitchFamily="18" charset="2"/>
              </a:rPr>
              <a:t>Step 5</a:t>
            </a:r>
            <a:r>
              <a:rPr lang="en-US" altLang="zh-CN" sz="2000" dirty="0">
                <a:ea typeface="宋体"/>
                <a:sym typeface="Symbol" pitchFamily="18" charset="2"/>
              </a:rPr>
              <a:t>: Re-hide the most significant bit of </a:t>
            </a:r>
            <a:r>
              <a:rPr lang="en-US" altLang="zh-CN" sz="2000" b="1" dirty="0">
                <a:ea typeface="宋体"/>
                <a:sym typeface="Symbol" pitchFamily="18" charset="2"/>
              </a:rPr>
              <a:t>F3 </a:t>
            </a:r>
            <a:r>
              <a:rPr lang="en-US" altLang="zh-CN" sz="2000" dirty="0">
                <a:ea typeface="宋体"/>
                <a:sym typeface="Symbol" pitchFamily="18" charset="2"/>
              </a:rPr>
              <a:t>before storing the result </a:t>
            </a:r>
            <a:endParaRPr lang="en-US" altLang="zh-CN" sz="2000" dirty="0">
              <a:ea typeface="宋体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16DE91-E18F-7C23-C17F-DE77F6498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>
                <a:ea typeface="Calibri"/>
                <a:cs typeface="Calibri"/>
              </a:rPr>
              <a:t>Floating-point addition </a:t>
            </a:r>
            <a:r>
              <a:rPr lang="en-US" sz="4500" b="1" dirty="0">
                <a:ea typeface="+mj-lt"/>
                <a:cs typeface="+mj-lt"/>
              </a:rPr>
              <a:t>(and subtraction)</a:t>
            </a:r>
            <a:r>
              <a:rPr lang="en-US" sz="4500" b="1" dirty="0">
                <a:ea typeface="Calibri"/>
                <a:cs typeface="Calibri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638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5AB1B-3D23-D0D3-E1D0-21CE150FA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>
            <a:extLst>
              <a:ext uri="{FF2B5EF4-FFF2-40B4-BE49-F238E27FC236}">
                <a16:creationId xmlns:a16="http://schemas.microsoft.com/office/drawing/2014/main" id="{DF169C36-D798-9A11-69BC-8EE0B9B943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25601" y="1097280"/>
            <a:ext cx="9779371" cy="112744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ct val="40000"/>
              </a:spcBef>
              <a:buNone/>
            </a:pPr>
            <a:r>
              <a:rPr lang="en-US" altLang="zh-CN" sz="2000" dirty="0">
                <a:ea typeface="宋体"/>
              </a:rPr>
              <a:t>(</a:t>
            </a:r>
            <a:r>
              <a:rPr lang="en-US" altLang="zh-CN" sz="2000" i="1" dirty="0">
                <a:ea typeface="宋体"/>
              </a:rPr>
              <a:t>non-limited bits of storge</a:t>
            </a:r>
            <a:r>
              <a:rPr lang="en-US" altLang="zh-CN" sz="2000" dirty="0">
                <a:ea typeface="宋体"/>
              </a:rPr>
              <a:t>)</a:t>
            </a:r>
            <a:r>
              <a:rPr lang="en-US" altLang="zh-CN" sz="2800" dirty="0">
                <a:ea typeface="宋体"/>
              </a:rPr>
              <a:t> </a:t>
            </a:r>
            <a:r>
              <a:rPr lang="en-US" altLang="zh-CN" sz="2800" b="1" dirty="0">
                <a:ea typeface="宋体"/>
              </a:rPr>
              <a:t>2.0 + (-0.0546875)</a:t>
            </a:r>
            <a:endParaRPr lang="en-US" b="1" dirty="0">
              <a:ea typeface="宋体"/>
            </a:endParaRPr>
          </a:p>
          <a:p>
            <a:pPr algn="ctr">
              <a:spcBef>
                <a:spcPct val="40000"/>
              </a:spcBef>
              <a:buFont typeface="Wingdings" pitchFamily="2" charset="2"/>
              <a:buNone/>
            </a:pPr>
            <a:r>
              <a:rPr lang="en-US" altLang="zh-CN" sz="2800" b="1" dirty="0">
                <a:ea typeface="宋体"/>
                <a:sym typeface="Symbol" pitchFamily="18" charset="2"/>
              </a:rPr>
              <a:t>(2.0 = 1.0000  2</a:t>
            </a:r>
            <a:r>
              <a:rPr lang="en-US" altLang="zh-CN" sz="2800" b="1" baseline="30000" dirty="0">
                <a:ea typeface="宋体"/>
                <a:sym typeface="Symbol" pitchFamily="18" charset="2"/>
              </a:rPr>
              <a:t>1</a:t>
            </a:r>
            <a:r>
              <a:rPr lang="en-US" altLang="zh-CN" sz="2800" b="1" dirty="0">
                <a:ea typeface="宋体"/>
                <a:sym typeface="Symbol" pitchFamily="18" charset="2"/>
              </a:rPr>
              <a:t>) + (- 0.0546875 = - 1.1100  2</a:t>
            </a:r>
            <a:r>
              <a:rPr lang="en-US" altLang="zh-CN" sz="2800" b="1" baseline="30000" dirty="0">
                <a:ea typeface="宋体"/>
                <a:sym typeface="Symbol" pitchFamily="18" charset="2"/>
              </a:rPr>
              <a:t>-5</a:t>
            </a:r>
            <a:r>
              <a:rPr lang="en-US" altLang="zh-CN" sz="2800" b="1" dirty="0">
                <a:ea typeface="宋体"/>
                <a:sym typeface="Symbol" pitchFamily="18" charset="2"/>
              </a:rPr>
              <a:t>) </a:t>
            </a:r>
            <a:endParaRPr lang="en-US" altLang="zh-CN" sz="2800" b="1" dirty="0">
              <a:ea typeface="宋体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5BED400-C0AB-0F49-DE2F-BA9A8C6AABCB}"/>
              </a:ext>
            </a:extLst>
          </p:cNvPr>
          <p:cNvGrpSpPr/>
          <p:nvPr/>
        </p:nvGrpSpPr>
        <p:grpSpPr>
          <a:xfrm>
            <a:off x="1046480" y="2224086"/>
            <a:ext cx="10083800" cy="4385271"/>
            <a:chOff x="213360" y="2224086"/>
            <a:chExt cx="10083800" cy="4385271"/>
          </a:xfrm>
        </p:grpSpPr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D0EDBBB-FE71-1311-5E3B-ADCA2C457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" y="2279967"/>
              <a:ext cx="10083800" cy="43293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3500" tIns="25400" rIns="63500" bIns="25400" anchor="t">
              <a:spAutoFit/>
            </a:bodyPr>
            <a:lstStyle/>
            <a:p>
              <a:pPr lvl="1">
                <a:lnSpc>
                  <a:spcPct val="90000"/>
                </a:lnSpc>
                <a:spcBef>
                  <a:spcPct val="40000"/>
                </a:spcBef>
                <a:buClr>
                  <a:schemeClr val="accent1"/>
                </a:buClr>
                <a:buSzPct val="75000"/>
              </a:pPr>
              <a:r>
                <a:rPr lang="en-US" altLang="zh-CN" sz="2000" b="1" dirty="0">
                  <a:ea typeface="宋体"/>
                  <a:sym typeface="Symbol" pitchFamily="18" charset="2"/>
                </a:rPr>
                <a:t>Step 0: </a:t>
              </a:r>
              <a:endParaRPr lang="en-US" b="1">
                <a:ea typeface="宋体"/>
              </a:endParaRPr>
            </a:p>
            <a:p>
              <a:pPr lvl="1">
                <a:lnSpc>
                  <a:spcPct val="90000"/>
                </a:lnSpc>
                <a:spcBef>
                  <a:spcPct val="40000"/>
                </a:spcBef>
                <a:buClr>
                  <a:schemeClr val="accent1"/>
                </a:buClr>
                <a:buSzPct val="75000"/>
              </a:pPr>
              <a:r>
                <a:rPr lang="en-US" altLang="zh-CN" sz="2000" b="1" dirty="0">
                  <a:ea typeface="宋体"/>
                  <a:sym typeface="Symbol" pitchFamily="18" charset="2"/>
                </a:rPr>
                <a:t>Step 1:</a:t>
              </a:r>
              <a:endParaRPr lang="en-US" altLang="zh-CN" sz="2000" b="1" dirty="0">
                <a:ea typeface="宋体"/>
              </a:endParaRPr>
            </a:p>
            <a:p>
              <a:pPr marL="742950" lvl="1" indent="-285750">
                <a:lnSpc>
                  <a:spcPct val="90000"/>
                </a:lnSpc>
                <a:spcBef>
                  <a:spcPct val="40000"/>
                </a:spcBef>
                <a:buClr>
                  <a:schemeClr val="accent1"/>
                </a:buClr>
                <a:buSzPct val="75000"/>
              </a:pPr>
              <a:r>
                <a:rPr lang="en-US" altLang="zh-CN" sz="2000" b="1" dirty="0">
                  <a:ea typeface="宋体"/>
                  <a:sym typeface="Symbol" pitchFamily="18" charset="2"/>
                </a:rPr>
                <a:t> </a:t>
              </a:r>
              <a:endParaRPr lang="en-US" altLang="zh-CN" sz="2000" b="1" dirty="0">
                <a:ea typeface="宋体"/>
              </a:endParaRPr>
            </a:p>
            <a:p>
              <a:pPr marL="742950" lvl="1" indent="-285750">
                <a:lnSpc>
                  <a:spcPct val="90000"/>
                </a:lnSpc>
                <a:spcBef>
                  <a:spcPct val="4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</a:pPr>
              <a:endParaRPr lang="en-US" altLang="zh-CN" sz="2000" b="1" dirty="0">
                <a:ea typeface="宋体" pitchFamily="2" charset="-122"/>
              </a:endParaRPr>
            </a:p>
            <a:p>
              <a:pPr lvl="1">
                <a:lnSpc>
                  <a:spcPct val="90000"/>
                </a:lnSpc>
                <a:spcBef>
                  <a:spcPct val="40000"/>
                </a:spcBef>
                <a:buClr>
                  <a:schemeClr val="accent1"/>
                </a:buClr>
                <a:buSzPct val="75000"/>
              </a:pPr>
              <a:r>
                <a:rPr lang="en-US" altLang="zh-CN" sz="2000" b="1" dirty="0">
                  <a:ea typeface="宋体"/>
                  <a:sym typeface="Symbol" pitchFamily="18" charset="2"/>
                </a:rPr>
                <a:t>Step 2:</a:t>
              </a:r>
              <a:endParaRPr lang="en-US" altLang="zh-CN" sz="2000" b="1" dirty="0">
                <a:ea typeface="宋体"/>
              </a:endParaRPr>
            </a:p>
            <a:p>
              <a:pPr marL="742950" lvl="1" indent="-285750">
                <a:lnSpc>
                  <a:spcPct val="90000"/>
                </a:lnSpc>
                <a:spcBef>
                  <a:spcPct val="4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</a:pPr>
              <a:endParaRPr lang="en-US" altLang="zh-CN" sz="2000" b="1" dirty="0">
                <a:ea typeface="宋体" pitchFamily="2" charset="-122"/>
              </a:endParaRPr>
            </a:p>
            <a:p>
              <a:pPr marL="742950" lvl="1" indent="-285750">
                <a:lnSpc>
                  <a:spcPct val="90000"/>
                </a:lnSpc>
                <a:spcBef>
                  <a:spcPct val="40000"/>
                </a:spcBef>
                <a:buClr>
                  <a:schemeClr val="accent1"/>
                </a:buClr>
                <a:buSzPct val="75000"/>
              </a:pPr>
              <a:r>
                <a:rPr lang="en-US" altLang="zh-CN" sz="2000" b="1" dirty="0">
                  <a:ea typeface="宋体"/>
                  <a:sym typeface="Symbol" pitchFamily="18" charset="2"/>
                </a:rPr>
                <a:t> </a:t>
              </a:r>
              <a:endParaRPr lang="en-US" altLang="zh-CN" sz="2000" b="1" dirty="0">
                <a:ea typeface="宋体"/>
              </a:endParaRPr>
            </a:p>
            <a:p>
              <a:pPr lvl="1">
                <a:lnSpc>
                  <a:spcPct val="90000"/>
                </a:lnSpc>
                <a:spcBef>
                  <a:spcPct val="40000"/>
                </a:spcBef>
                <a:buClr>
                  <a:schemeClr val="accent1"/>
                </a:buClr>
                <a:buSzPct val="75000"/>
              </a:pPr>
              <a:r>
                <a:rPr lang="en-US" altLang="zh-CN" sz="2000" b="1" dirty="0">
                  <a:ea typeface="宋体"/>
                  <a:sym typeface="Symbol" pitchFamily="18" charset="2"/>
                </a:rPr>
                <a:t>Step 3:</a:t>
              </a:r>
              <a:endParaRPr lang="en-US" altLang="zh-CN" sz="2000" b="1" dirty="0">
                <a:ea typeface="宋体"/>
              </a:endParaRPr>
            </a:p>
            <a:p>
              <a:pPr marL="742950" lvl="1" indent="-285750">
                <a:lnSpc>
                  <a:spcPct val="90000"/>
                </a:lnSpc>
                <a:spcBef>
                  <a:spcPct val="40000"/>
                </a:spcBef>
                <a:buClr>
                  <a:schemeClr val="accent1"/>
                </a:buClr>
                <a:buSzPct val="75000"/>
              </a:pPr>
              <a:r>
                <a:rPr lang="en-US" altLang="zh-CN" sz="2000" b="1" dirty="0">
                  <a:ea typeface="宋体"/>
                  <a:sym typeface="Symbol" pitchFamily="18" charset="2"/>
                </a:rPr>
                <a:t> </a:t>
              </a:r>
              <a:endParaRPr lang="en-US" altLang="zh-CN" sz="2000" b="1" dirty="0">
                <a:ea typeface="宋体"/>
              </a:endParaRPr>
            </a:p>
            <a:p>
              <a:pPr lvl="1">
                <a:lnSpc>
                  <a:spcPct val="90000"/>
                </a:lnSpc>
                <a:spcBef>
                  <a:spcPct val="40000"/>
                </a:spcBef>
                <a:buClr>
                  <a:schemeClr val="accent1"/>
                </a:buClr>
                <a:buSzPct val="75000"/>
              </a:pPr>
              <a:r>
                <a:rPr lang="en-US" altLang="zh-CN" sz="2000" b="1" dirty="0">
                  <a:ea typeface="宋体"/>
                  <a:sym typeface="Symbol" pitchFamily="18" charset="2"/>
                </a:rPr>
                <a:t>Step 4:</a:t>
              </a:r>
              <a:endParaRPr lang="en-US" altLang="zh-CN" sz="2000" b="1" dirty="0">
                <a:ea typeface="宋体"/>
              </a:endParaRPr>
            </a:p>
            <a:p>
              <a:pPr lvl="1">
                <a:lnSpc>
                  <a:spcPct val="90000"/>
                </a:lnSpc>
                <a:spcBef>
                  <a:spcPct val="40000"/>
                </a:spcBef>
                <a:buClr>
                  <a:schemeClr val="accent1"/>
                </a:buClr>
                <a:buSzPct val="75000"/>
              </a:pPr>
              <a:r>
                <a:rPr lang="en-US" altLang="zh-CN" sz="2000" b="1" dirty="0">
                  <a:ea typeface="宋体"/>
                  <a:sym typeface="Symbol" pitchFamily="18" charset="2"/>
                </a:rPr>
                <a:t>Step 5:</a:t>
              </a:r>
              <a:endParaRPr lang="en-US" altLang="zh-CN" sz="2000" b="1" dirty="0">
                <a:ea typeface="宋体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D91FB8D-94C5-EE9E-D9C1-3B95FD6F90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1" y="2224086"/>
              <a:ext cx="565467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zh-CN" sz="2000">
                  <a:ea typeface="宋体" pitchFamily="2" charset="-122"/>
                </a:rPr>
                <a:t>Hidden bits restored in the representation above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D876E3C-BC2C-6E50-AFF4-7FBBFC6F4A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0" y="2605087"/>
              <a:ext cx="8001372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zh-CN" sz="2000">
                  <a:ea typeface="宋体" pitchFamily="2" charset="-122"/>
                </a:rPr>
                <a:t>Shift </a:t>
              </a:r>
              <a:r>
                <a:rPr lang="en-US" altLang="zh-CN" sz="2000" err="1">
                  <a:ea typeface="宋体" pitchFamily="2" charset="-122"/>
                </a:rPr>
                <a:t>significand</a:t>
              </a:r>
              <a:r>
                <a:rPr lang="en-US" altLang="zh-CN" sz="2000">
                  <a:ea typeface="宋体" pitchFamily="2" charset="-122"/>
                </a:rPr>
                <a:t> with the smaller exponent (1.1100) right until its exponent matches the larger exponent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F15BAE3-8593-E232-CCE7-E84033F47B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0" y="3708737"/>
              <a:ext cx="6553200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t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Arial"/>
                  <a:ea typeface="宋体"/>
                  <a:cs typeface="Arial"/>
                </a:rPr>
                <a:t>Add significands</a:t>
              </a:r>
            </a:p>
            <a:p>
              <a:pPr eaLnBrk="1" hangingPunct="1"/>
              <a:r>
                <a:rPr lang="en-US" altLang="zh-CN" sz="2000" dirty="0">
                  <a:latin typeface="Arial"/>
                  <a:ea typeface="宋体"/>
                  <a:cs typeface="Arial"/>
                </a:rPr>
                <a:t>    1.0000 - 0.00000111 =  0.11111001</a:t>
              </a:r>
            </a:p>
            <a:p>
              <a:pPr eaLnBrk="1" hangingPunct="1"/>
              <a:r>
                <a:rPr lang="en-US" altLang="zh-CN" sz="2000" dirty="0">
                  <a:latin typeface="Arial"/>
                  <a:ea typeface="宋体"/>
                  <a:cs typeface="Arial"/>
                </a:rPr>
                <a:t>Exponent = 1</a:t>
              </a:r>
              <a:endParaRPr lang="zh-CN" altLang="en-US" sz="2000" dirty="0">
                <a:latin typeface="Arial"/>
                <a:ea typeface="宋体"/>
                <a:cs typeface="Arial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8AB6E52-FD75-B4B3-1787-8306169E0B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5000" y="4953000"/>
              <a:ext cx="6858000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t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Arial"/>
                  <a:ea typeface="宋体"/>
                  <a:cs typeface="Arial"/>
                </a:rPr>
                <a:t>Normalize the sum, checking for exponent over/underflow</a:t>
              </a:r>
            </a:p>
            <a:p>
              <a:pPr eaLnBrk="1" hangingPunct="1"/>
              <a:r>
                <a:rPr lang="en-US" altLang="zh-CN" sz="2000" dirty="0">
                  <a:latin typeface="Arial"/>
                  <a:ea typeface="宋体"/>
                  <a:cs typeface="Arial"/>
                </a:rPr>
                <a:t>    0.11111001 x 2</a:t>
              </a:r>
              <a:r>
                <a:rPr lang="en-US" altLang="zh-CN" sz="2000" baseline="30000" dirty="0">
                  <a:latin typeface="Arial"/>
                  <a:ea typeface="宋体"/>
                  <a:cs typeface="Arial"/>
                </a:rPr>
                <a:t>1</a:t>
              </a:r>
              <a:r>
                <a:rPr lang="en-US" altLang="zh-CN" sz="2000" dirty="0">
                  <a:latin typeface="Arial"/>
                  <a:ea typeface="宋体"/>
                  <a:cs typeface="Arial"/>
                </a:rPr>
                <a:t> = 1.1111001 x 2</a:t>
              </a:r>
              <a:r>
                <a:rPr lang="en-US" altLang="zh-CN" sz="2000" baseline="30000" dirty="0">
                  <a:latin typeface="Arial"/>
                  <a:ea typeface="宋体"/>
                  <a:cs typeface="Arial"/>
                </a:rPr>
                <a:t>0</a:t>
              </a:r>
              <a:r>
                <a:rPr lang="en-US" altLang="zh-CN" sz="2000" dirty="0">
                  <a:latin typeface="Arial"/>
                  <a:ea typeface="宋体"/>
                  <a:cs typeface="Arial"/>
                </a:rPr>
                <a:t>, Exp. = 0</a:t>
              </a:r>
              <a:endParaRPr lang="en-US" altLang="zh-CN" sz="2000" baseline="30000" dirty="0">
                <a:latin typeface="Arial"/>
                <a:ea typeface="宋体"/>
                <a:cs typeface="Arial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6E3ED70-BB6B-709B-7EE9-4213289539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5000" y="5791200"/>
              <a:ext cx="65532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zh-CN" sz="2000">
                  <a:ea typeface="宋体" pitchFamily="2" charset="-122"/>
                </a:rPr>
                <a:t>The sum is already rounded, so we’re done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D2B6100-F2D0-9684-6080-5E6EF55C98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5000" y="6186486"/>
              <a:ext cx="65532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t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Arial"/>
                  <a:ea typeface="宋体"/>
                  <a:cs typeface="Arial"/>
                </a:rPr>
                <a:t>Re-hide the hidden bit before storing</a:t>
              </a: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4135A10A-EFFD-0A44-16BF-14403EE01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>
                <a:ea typeface="Calibri"/>
                <a:cs typeface="Calibri"/>
              </a:rPr>
              <a:t>Floating-point addition </a:t>
            </a:r>
            <a:r>
              <a:rPr lang="en-US" sz="4500" b="1" dirty="0">
                <a:ea typeface="+mj-lt"/>
                <a:cs typeface="+mj-lt"/>
              </a:rPr>
              <a:t>(and subtraction)</a:t>
            </a:r>
            <a:r>
              <a:rPr lang="en-US" sz="4500" b="1" dirty="0">
                <a:ea typeface="Calibri"/>
                <a:cs typeface="Calibri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0200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AD0FE-08E6-39A2-82EB-834F16EBB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>
            <a:extLst>
              <a:ext uri="{FF2B5EF4-FFF2-40B4-BE49-F238E27FC236}">
                <a16:creationId xmlns:a16="http://schemas.microsoft.com/office/drawing/2014/main" id="{5FF9295B-3555-70A6-8EBB-21A480A7DD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3201" y="2362200"/>
            <a:ext cx="11764083" cy="407924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spcBef>
                <a:spcPct val="40000"/>
              </a:spcBef>
              <a:buNone/>
            </a:pPr>
            <a:r>
              <a:rPr lang="en-US" altLang="zh-CN" sz="2400" dirty="0">
                <a:ea typeface="宋体"/>
              </a:rPr>
              <a:t>These are extra bits used during floating-point arithmetic (particularly addition/subtraction) to help handle rounding more accurately.</a:t>
            </a:r>
            <a:endParaRPr lang="en-US" sz="2400">
              <a:ea typeface="宋体"/>
            </a:endParaRPr>
          </a:p>
          <a:p>
            <a:pPr marL="0" indent="0">
              <a:spcBef>
                <a:spcPct val="40000"/>
              </a:spcBef>
              <a:buNone/>
            </a:pPr>
            <a:endParaRPr lang="en-US" altLang="zh-CN" sz="2400" dirty="0">
              <a:ea typeface="宋体"/>
            </a:endParaRPr>
          </a:p>
          <a:p>
            <a:pPr marL="514350" indent="-514350">
              <a:spcBef>
                <a:spcPct val="40000"/>
              </a:spcBef>
              <a:buFont typeface="+mj-lt"/>
              <a:buAutoNum type="arabicPeriod"/>
            </a:pPr>
            <a:r>
              <a:rPr lang="en-US" altLang="zh-CN" sz="2400" b="1" dirty="0">
                <a:ea typeface="宋体"/>
              </a:rPr>
              <a:t>Guard bit (G)</a:t>
            </a:r>
            <a:r>
              <a:rPr lang="en-US" altLang="zh-CN" sz="2400" dirty="0">
                <a:ea typeface="宋体"/>
              </a:rPr>
              <a:t>: An extra bit to the right of the fraction’s normal precision.</a:t>
            </a:r>
          </a:p>
          <a:p>
            <a:pPr marL="514350" indent="-514350">
              <a:spcBef>
                <a:spcPct val="40000"/>
              </a:spcBef>
              <a:buFont typeface="+mj-lt"/>
              <a:buAutoNum type="arabicPeriod"/>
            </a:pPr>
            <a:r>
              <a:rPr lang="en-US" altLang="zh-CN" sz="2400" b="1" dirty="0">
                <a:ea typeface="宋体"/>
              </a:rPr>
              <a:t>Round bit (R)</a:t>
            </a:r>
            <a:r>
              <a:rPr lang="en-US" altLang="zh-CN" sz="2400" dirty="0">
                <a:ea typeface="宋体"/>
              </a:rPr>
              <a:t>: Another bit beyond the guard bit.</a:t>
            </a:r>
          </a:p>
          <a:p>
            <a:pPr marL="514350" indent="-514350">
              <a:spcBef>
                <a:spcPct val="40000"/>
              </a:spcBef>
              <a:buFont typeface="+mj-lt"/>
              <a:buAutoNum type="arabicPeriod"/>
            </a:pPr>
            <a:r>
              <a:rPr lang="en-US" altLang="zh-CN" sz="2400" b="1" dirty="0">
                <a:ea typeface="宋体"/>
              </a:rPr>
              <a:t>Sticky bit (S)</a:t>
            </a:r>
            <a:r>
              <a:rPr lang="en-US" altLang="zh-CN" sz="2400" dirty="0">
                <a:ea typeface="宋体"/>
              </a:rPr>
              <a:t>: A single bit that indicates if any remaining bits (after </a:t>
            </a:r>
            <a:r>
              <a:rPr lang="en-US" altLang="zh-CN" sz="2400" b="1" dirty="0">
                <a:ea typeface="宋体"/>
              </a:rPr>
              <a:t>R</a:t>
            </a:r>
            <a:r>
              <a:rPr lang="en-US" altLang="zh-CN" sz="2400" dirty="0">
                <a:ea typeface="宋体"/>
              </a:rPr>
              <a:t>) are set to </a:t>
            </a:r>
            <a:r>
              <a:rPr lang="en-US" altLang="zh-CN" sz="2400" b="1" dirty="0">
                <a:ea typeface="宋体"/>
              </a:rPr>
              <a:t>1</a:t>
            </a:r>
            <a:r>
              <a:rPr lang="en-US" altLang="zh-CN" sz="2400" dirty="0">
                <a:ea typeface="宋体"/>
              </a:rPr>
              <a:t>. If you shift in any </a:t>
            </a:r>
            <a:r>
              <a:rPr lang="en-US" altLang="zh-CN" sz="2400" b="1" dirty="0">
                <a:ea typeface="宋体"/>
              </a:rPr>
              <a:t>1s</a:t>
            </a:r>
            <a:r>
              <a:rPr lang="en-US" altLang="zh-CN" sz="2400" dirty="0">
                <a:ea typeface="宋体"/>
              </a:rPr>
              <a:t> past </a:t>
            </a:r>
            <a:r>
              <a:rPr lang="en-US" altLang="zh-CN" sz="2400" b="1" dirty="0">
                <a:ea typeface="宋体"/>
              </a:rPr>
              <a:t>R</a:t>
            </a:r>
            <a:r>
              <a:rPr lang="en-US" altLang="zh-CN" sz="2400" dirty="0">
                <a:ea typeface="宋体"/>
              </a:rPr>
              <a:t>, the Sticky bit becomes </a:t>
            </a:r>
            <a:r>
              <a:rPr lang="en-US" altLang="zh-CN" sz="2400" b="1" dirty="0">
                <a:ea typeface="宋体"/>
              </a:rPr>
              <a:t>1</a:t>
            </a:r>
            <a:r>
              <a:rPr lang="en-US" altLang="zh-CN" sz="2400" dirty="0">
                <a:ea typeface="宋体"/>
              </a:rPr>
              <a:t>.</a:t>
            </a:r>
          </a:p>
          <a:p>
            <a:pPr marL="514350" indent="-514350">
              <a:spcBef>
                <a:spcPct val="40000"/>
              </a:spcBef>
              <a:buAutoNum type="arabicPeriod"/>
            </a:pPr>
            <a:endParaRPr lang="en-US" altLang="zh-CN" sz="2400" dirty="0">
              <a:ea typeface="宋体"/>
            </a:endParaRPr>
          </a:p>
          <a:p>
            <a:pPr marL="0" indent="0">
              <a:spcBef>
                <a:spcPct val="40000"/>
              </a:spcBef>
              <a:buNone/>
            </a:pPr>
            <a:r>
              <a:rPr lang="en-US" altLang="zh-CN" sz="2400" dirty="0">
                <a:ea typeface="宋体"/>
              </a:rPr>
              <a:t>These extra bits help the hardware correctly round the final result after the addition or subtraction is done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70722AF-6BF3-69CC-8357-9F3EF27591AC}"/>
              </a:ext>
            </a:extLst>
          </p:cNvPr>
          <p:cNvSpPr txBox="1">
            <a:spLocks noChangeArrowheads="1"/>
          </p:cNvSpPr>
          <p:nvPr/>
        </p:nvSpPr>
        <p:spPr>
          <a:xfrm>
            <a:off x="1625601" y="1026160"/>
            <a:ext cx="9779371" cy="1219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 lIns="91440" tIns="45720" rIns="91440" bIns="45720" anchor="t">
            <a:normAutofit/>
          </a:bodyPr>
          <a:lstStyle>
            <a:lvl1pPr marL="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41147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777221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1188690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508722" indent="0" algn="l" defTabSz="914377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148786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18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850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882" indent="-274313" algn="l" defTabSz="914377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40000"/>
              </a:spcBef>
            </a:pPr>
            <a:r>
              <a:rPr lang="en-US" altLang="zh-CN" sz="2000" dirty="0">
                <a:ea typeface="宋体"/>
              </a:rPr>
              <a:t>(</a:t>
            </a:r>
            <a:r>
              <a:rPr lang="en-US" altLang="zh-CN" sz="2000" i="1" dirty="0">
                <a:ea typeface="宋体"/>
              </a:rPr>
              <a:t>four bits of storage</a:t>
            </a:r>
            <a:r>
              <a:rPr lang="en-US" altLang="zh-CN" sz="2000" dirty="0">
                <a:ea typeface="宋体"/>
              </a:rPr>
              <a:t>)</a:t>
            </a:r>
            <a:r>
              <a:rPr lang="en-US" altLang="zh-CN" sz="2800" dirty="0">
                <a:ea typeface="宋体"/>
              </a:rPr>
              <a:t> </a:t>
            </a:r>
            <a:r>
              <a:rPr lang="en-US" altLang="zh-CN" sz="2800" b="1" dirty="0">
                <a:ea typeface="宋体"/>
              </a:rPr>
              <a:t>2.0 + (-0.0546875)</a:t>
            </a:r>
          </a:p>
          <a:p>
            <a:pPr algn="ctr">
              <a:spcBef>
                <a:spcPct val="40000"/>
              </a:spcBef>
            </a:pPr>
            <a:r>
              <a:rPr lang="en-US" altLang="zh-CN" sz="2800" b="1" dirty="0">
                <a:ea typeface="宋体"/>
                <a:sym typeface="Symbol" pitchFamily="18" charset="2"/>
              </a:rPr>
              <a:t>(2.0 = 1.0000  2</a:t>
            </a:r>
            <a:r>
              <a:rPr lang="en-US" altLang="zh-CN" sz="2800" b="1" baseline="30000" dirty="0">
                <a:ea typeface="宋体"/>
                <a:sym typeface="Symbol" pitchFamily="18" charset="2"/>
              </a:rPr>
              <a:t>1</a:t>
            </a:r>
            <a:r>
              <a:rPr lang="en-US" altLang="zh-CN" sz="2800" b="1" dirty="0">
                <a:ea typeface="宋体"/>
                <a:sym typeface="Symbol" pitchFamily="18" charset="2"/>
              </a:rPr>
              <a:t>) + (- 0.0546875 = - 1.1100  2</a:t>
            </a:r>
            <a:r>
              <a:rPr lang="en-US" altLang="zh-CN" sz="2800" b="1" baseline="30000" dirty="0">
                <a:ea typeface="宋体"/>
                <a:sym typeface="Symbol" pitchFamily="18" charset="2"/>
              </a:rPr>
              <a:t>-5</a:t>
            </a:r>
            <a:r>
              <a:rPr lang="en-US" altLang="zh-CN" sz="2800" b="1" dirty="0">
                <a:ea typeface="宋体"/>
                <a:sym typeface="Symbol" pitchFamily="18" charset="2"/>
              </a:rPr>
              <a:t>) </a:t>
            </a:r>
            <a:endParaRPr lang="en-US" altLang="zh-CN" sz="2800" b="1" dirty="0">
              <a:ea typeface="宋体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2F36282-9AC9-91D0-14E0-C9733A8B2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>
                <a:ea typeface="Calibri"/>
                <a:cs typeface="Calibri"/>
              </a:rPr>
              <a:t>Floating-point operation with GRS bits.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281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E420E-DAF8-3D72-AD98-1C67EDE28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>
            <a:extLst>
              <a:ext uri="{FF2B5EF4-FFF2-40B4-BE49-F238E27FC236}">
                <a16:creationId xmlns:a16="http://schemas.microsoft.com/office/drawing/2014/main" id="{44009956-CDB2-EA5C-79F4-F4DAB994D5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25601" y="1087120"/>
            <a:ext cx="9779371" cy="113760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ct val="40000"/>
              </a:spcBef>
              <a:buNone/>
            </a:pPr>
            <a:r>
              <a:rPr lang="en-US" altLang="zh-CN" sz="2000" dirty="0">
                <a:ea typeface="宋体"/>
              </a:rPr>
              <a:t>(</a:t>
            </a:r>
            <a:r>
              <a:rPr lang="en-US" altLang="zh-CN" sz="2000" i="1" dirty="0">
                <a:ea typeface="宋体"/>
              </a:rPr>
              <a:t>four bits of storage</a:t>
            </a:r>
            <a:r>
              <a:rPr lang="en-US" altLang="zh-CN" sz="2000" dirty="0">
                <a:ea typeface="宋体"/>
              </a:rPr>
              <a:t>)</a:t>
            </a:r>
            <a:r>
              <a:rPr lang="en-US" altLang="zh-CN" sz="2800" dirty="0">
                <a:ea typeface="宋体"/>
              </a:rPr>
              <a:t> </a:t>
            </a:r>
            <a:r>
              <a:rPr lang="en-US" altLang="zh-CN" sz="2800" b="1" dirty="0">
                <a:ea typeface="宋体"/>
              </a:rPr>
              <a:t>2.0 + (-0.0546875)</a:t>
            </a:r>
            <a:endParaRPr lang="en-US" b="1"/>
          </a:p>
          <a:p>
            <a:pPr algn="ctr">
              <a:spcBef>
                <a:spcPct val="40000"/>
              </a:spcBef>
              <a:buFont typeface="Wingdings" pitchFamily="2" charset="2"/>
              <a:buNone/>
            </a:pPr>
            <a:r>
              <a:rPr lang="en-US" altLang="zh-CN" sz="2800" b="1" dirty="0">
                <a:ea typeface="宋体"/>
                <a:sym typeface="Symbol" pitchFamily="18" charset="2"/>
              </a:rPr>
              <a:t>(2.0 = 1.0000  2</a:t>
            </a:r>
            <a:r>
              <a:rPr lang="en-US" altLang="zh-CN" sz="2800" b="1" baseline="30000" dirty="0">
                <a:ea typeface="宋体"/>
                <a:sym typeface="Symbol" pitchFamily="18" charset="2"/>
              </a:rPr>
              <a:t>1</a:t>
            </a:r>
            <a:r>
              <a:rPr lang="en-US" altLang="zh-CN" sz="2800" b="1" dirty="0">
                <a:ea typeface="宋体"/>
                <a:sym typeface="Symbol" pitchFamily="18" charset="2"/>
              </a:rPr>
              <a:t>) + (- 0.0546875 = - 1.1100  2</a:t>
            </a:r>
            <a:r>
              <a:rPr lang="en-US" altLang="zh-CN" sz="2800" b="1" baseline="30000" dirty="0">
                <a:ea typeface="宋体"/>
                <a:sym typeface="Symbol" pitchFamily="18" charset="2"/>
              </a:rPr>
              <a:t>-5</a:t>
            </a:r>
            <a:r>
              <a:rPr lang="en-US" altLang="zh-CN" sz="2800" b="1" dirty="0">
                <a:ea typeface="宋体"/>
                <a:sym typeface="Symbol" pitchFamily="18" charset="2"/>
              </a:rPr>
              <a:t>) </a:t>
            </a:r>
            <a:endParaRPr lang="en-US" altLang="zh-CN" sz="2800" b="1" dirty="0">
              <a:ea typeface="宋体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CEC82DF-BC8B-9F97-011C-CCF97356FAE8}"/>
              </a:ext>
            </a:extLst>
          </p:cNvPr>
          <p:cNvGrpSpPr/>
          <p:nvPr/>
        </p:nvGrpSpPr>
        <p:grpSpPr>
          <a:xfrm>
            <a:off x="975360" y="2224086"/>
            <a:ext cx="10083800" cy="4364951"/>
            <a:chOff x="203200" y="2224086"/>
            <a:chExt cx="10083800" cy="4364951"/>
          </a:xfrm>
        </p:grpSpPr>
        <p:sp>
          <p:nvSpPr>
            <p:cNvPr id="2" name="Rectangle 4">
              <a:extLst>
                <a:ext uri="{FF2B5EF4-FFF2-40B4-BE49-F238E27FC236}">
                  <a16:creationId xmlns:a16="http://schemas.microsoft.com/office/drawing/2014/main" id="{640A8CE8-6D94-FF92-391B-DBA041B57D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200" y="2259647"/>
              <a:ext cx="10083800" cy="43293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3500" tIns="25400" rIns="63500" bIns="25400" anchor="t">
              <a:spAutoFit/>
            </a:bodyPr>
            <a:lstStyle/>
            <a:p>
              <a:pPr lvl="1">
                <a:lnSpc>
                  <a:spcPct val="90000"/>
                </a:lnSpc>
                <a:spcBef>
                  <a:spcPct val="40000"/>
                </a:spcBef>
                <a:buClr>
                  <a:schemeClr val="accent1"/>
                </a:buClr>
                <a:buSzPct val="75000"/>
              </a:pPr>
              <a:r>
                <a:rPr lang="en-US" altLang="zh-CN" sz="2000" b="1" dirty="0">
                  <a:ea typeface="宋体"/>
                  <a:sym typeface="Symbol" pitchFamily="18" charset="2"/>
                </a:rPr>
                <a:t>Step 0: </a:t>
              </a:r>
              <a:endParaRPr lang="en-US" b="1" dirty="0">
                <a:ea typeface="宋体"/>
              </a:endParaRPr>
            </a:p>
            <a:p>
              <a:pPr lvl="1">
                <a:lnSpc>
                  <a:spcPct val="90000"/>
                </a:lnSpc>
                <a:spcBef>
                  <a:spcPct val="40000"/>
                </a:spcBef>
                <a:buClr>
                  <a:schemeClr val="accent1"/>
                </a:buClr>
                <a:buSzPct val="75000"/>
              </a:pPr>
              <a:r>
                <a:rPr lang="en-US" altLang="zh-CN" sz="2000" b="1" dirty="0">
                  <a:ea typeface="宋体"/>
                  <a:sym typeface="Symbol" pitchFamily="18" charset="2"/>
                </a:rPr>
                <a:t>Step 1:</a:t>
              </a:r>
              <a:endParaRPr lang="en-US" altLang="zh-CN" sz="2000" b="1" dirty="0">
                <a:ea typeface="宋体"/>
              </a:endParaRPr>
            </a:p>
            <a:p>
              <a:pPr marL="742950" lvl="1" indent="-285750">
                <a:lnSpc>
                  <a:spcPct val="90000"/>
                </a:lnSpc>
                <a:spcBef>
                  <a:spcPct val="40000"/>
                </a:spcBef>
                <a:buClr>
                  <a:schemeClr val="accent1"/>
                </a:buClr>
                <a:buSzPct val="75000"/>
              </a:pPr>
              <a:r>
                <a:rPr lang="en-US" altLang="zh-CN" sz="2000" b="1" dirty="0">
                  <a:ea typeface="宋体"/>
                  <a:sym typeface="Symbol" pitchFamily="18" charset="2"/>
                </a:rPr>
                <a:t> </a:t>
              </a:r>
              <a:endParaRPr lang="en-US" altLang="zh-CN" sz="2000" b="1" dirty="0">
                <a:ea typeface="宋体"/>
              </a:endParaRPr>
            </a:p>
            <a:p>
              <a:pPr marL="742950" lvl="1" indent="-285750">
                <a:lnSpc>
                  <a:spcPct val="90000"/>
                </a:lnSpc>
                <a:spcBef>
                  <a:spcPct val="40000"/>
                </a:spcBef>
                <a:buClr>
                  <a:schemeClr val="accent1"/>
                </a:buClr>
                <a:buSzPct val="75000"/>
              </a:pPr>
              <a:endParaRPr lang="en-US" altLang="zh-CN" sz="2000" b="1" dirty="0">
                <a:ea typeface="宋体" pitchFamily="2" charset="-122"/>
              </a:endParaRPr>
            </a:p>
            <a:p>
              <a:pPr lvl="1">
                <a:lnSpc>
                  <a:spcPct val="90000"/>
                </a:lnSpc>
                <a:spcBef>
                  <a:spcPct val="40000"/>
                </a:spcBef>
                <a:buClr>
                  <a:schemeClr val="accent1"/>
                </a:buClr>
                <a:buSzPct val="75000"/>
              </a:pPr>
              <a:r>
                <a:rPr lang="en-US" altLang="zh-CN" sz="2000" b="1" dirty="0">
                  <a:ea typeface="宋体"/>
                  <a:sym typeface="Symbol" pitchFamily="18" charset="2"/>
                </a:rPr>
                <a:t>Step 2:</a:t>
              </a:r>
              <a:endParaRPr lang="en-US" altLang="zh-CN" sz="2000" b="1" dirty="0">
                <a:ea typeface="宋体"/>
              </a:endParaRPr>
            </a:p>
            <a:p>
              <a:pPr marL="742950" lvl="1" indent="-285750">
                <a:lnSpc>
                  <a:spcPct val="90000"/>
                </a:lnSpc>
                <a:spcBef>
                  <a:spcPct val="4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</a:pPr>
              <a:endParaRPr lang="en-US" altLang="zh-CN" sz="2000" b="1" dirty="0">
                <a:ea typeface="宋体" pitchFamily="2" charset="-122"/>
              </a:endParaRPr>
            </a:p>
            <a:p>
              <a:pPr marL="742950" lvl="1" indent="-285750">
                <a:lnSpc>
                  <a:spcPct val="90000"/>
                </a:lnSpc>
                <a:spcBef>
                  <a:spcPct val="40000"/>
                </a:spcBef>
                <a:buClr>
                  <a:schemeClr val="accent1"/>
                </a:buClr>
                <a:buSzPct val="75000"/>
              </a:pPr>
              <a:r>
                <a:rPr lang="en-US" altLang="zh-CN" sz="2000" b="1" dirty="0">
                  <a:ea typeface="宋体"/>
                  <a:sym typeface="Symbol" pitchFamily="18" charset="2"/>
                </a:rPr>
                <a:t> </a:t>
              </a:r>
              <a:endParaRPr lang="en-US" altLang="zh-CN" sz="2000" b="1" dirty="0">
                <a:ea typeface="宋体"/>
              </a:endParaRPr>
            </a:p>
            <a:p>
              <a:pPr lvl="1">
                <a:lnSpc>
                  <a:spcPct val="90000"/>
                </a:lnSpc>
                <a:spcBef>
                  <a:spcPct val="40000"/>
                </a:spcBef>
                <a:buClr>
                  <a:schemeClr val="accent1"/>
                </a:buClr>
                <a:buSzPct val="75000"/>
              </a:pPr>
              <a:r>
                <a:rPr lang="en-US" altLang="zh-CN" sz="2000" b="1" dirty="0">
                  <a:ea typeface="宋体"/>
                  <a:sym typeface="Symbol" pitchFamily="18" charset="2"/>
                </a:rPr>
                <a:t>Step 3:</a:t>
              </a:r>
              <a:endParaRPr lang="en-US" altLang="zh-CN" sz="2000" b="1" dirty="0">
                <a:ea typeface="宋体"/>
              </a:endParaRPr>
            </a:p>
            <a:p>
              <a:pPr marL="742950" lvl="1" indent="-285750">
                <a:lnSpc>
                  <a:spcPct val="90000"/>
                </a:lnSpc>
                <a:spcBef>
                  <a:spcPct val="40000"/>
                </a:spcBef>
                <a:buClr>
                  <a:schemeClr val="accent1"/>
                </a:buClr>
                <a:buSzPct val="75000"/>
              </a:pPr>
              <a:r>
                <a:rPr lang="en-US" altLang="zh-CN" sz="2000" b="1" dirty="0">
                  <a:ea typeface="宋体"/>
                  <a:sym typeface="Symbol" pitchFamily="18" charset="2"/>
                </a:rPr>
                <a:t> </a:t>
              </a:r>
              <a:endParaRPr lang="en-US" altLang="zh-CN" sz="2000" b="1" dirty="0">
                <a:ea typeface="宋体"/>
              </a:endParaRPr>
            </a:p>
            <a:p>
              <a:pPr lvl="1">
                <a:lnSpc>
                  <a:spcPct val="90000"/>
                </a:lnSpc>
                <a:spcBef>
                  <a:spcPct val="40000"/>
                </a:spcBef>
                <a:buClr>
                  <a:schemeClr val="accent1"/>
                </a:buClr>
                <a:buSzPct val="75000"/>
              </a:pPr>
              <a:r>
                <a:rPr lang="en-US" altLang="zh-CN" sz="2000" b="1" dirty="0">
                  <a:ea typeface="宋体"/>
                  <a:sym typeface="Symbol" pitchFamily="18" charset="2"/>
                </a:rPr>
                <a:t>Step 4:</a:t>
              </a:r>
              <a:endParaRPr lang="en-US" altLang="zh-CN" sz="2000" b="1" dirty="0">
                <a:ea typeface="宋体"/>
              </a:endParaRPr>
            </a:p>
            <a:p>
              <a:pPr lvl="1">
                <a:lnSpc>
                  <a:spcPct val="90000"/>
                </a:lnSpc>
                <a:spcBef>
                  <a:spcPct val="40000"/>
                </a:spcBef>
                <a:buClr>
                  <a:schemeClr val="accent1"/>
                </a:buClr>
                <a:buSzPct val="75000"/>
              </a:pPr>
              <a:r>
                <a:rPr lang="en-US" altLang="zh-CN" sz="2000" b="1" dirty="0">
                  <a:ea typeface="宋体"/>
                  <a:sym typeface="Symbol" pitchFamily="18" charset="2"/>
                </a:rPr>
                <a:t>Step 5:</a:t>
              </a:r>
              <a:endParaRPr lang="en-US" altLang="zh-CN" sz="2000" b="1" dirty="0">
                <a:ea typeface="宋体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B9F197D-7928-373B-6F7D-C933D3C84A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1" y="2224086"/>
              <a:ext cx="565467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zh-CN" sz="2000">
                  <a:ea typeface="宋体" pitchFamily="2" charset="-122"/>
                </a:rPr>
                <a:t>Hidden bits restored in the representation above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6659B4F-9BF3-9FC0-B6C2-F076D1960C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0" y="2605087"/>
              <a:ext cx="8305800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Arial"/>
                  <a:ea typeface="宋体"/>
                  <a:cs typeface="Arial"/>
                </a:rPr>
                <a:t>Shift significand with the smaller exponent (</a:t>
              </a:r>
              <a:r>
                <a:rPr lang="en-US" altLang="zh-CN" sz="2000" b="1" dirty="0">
                  <a:latin typeface="Arial"/>
                  <a:ea typeface="宋体"/>
                  <a:cs typeface="Arial"/>
                </a:rPr>
                <a:t>1.1100</a:t>
              </a:r>
              <a:r>
                <a:rPr lang="en-US" altLang="zh-CN" sz="2000" dirty="0">
                  <a:latin typeface="Arial"/>
                  <a:ea typeface="宋体"/>
                  <a:cs typeface="Arial"/>
                </a:rPr>
                <a:t>) right until its exponent matches the larger exponent</a:t>
              </a:r>
            </a:p>
            <a:p>
              <a:pPr eaLnBrk="1" hangingPunct="1"/>
              <a:r>
                <a:rPr lang="en-US" sz="2000" b="1" dirty="0">
                  <a:latin typeface="Arial"/>
                  <a:cs typeface="Arial"/>
                </a:rPr>
                <a:t>−1.1100</a:t>
              </a:r>
              <a:r>
                <a:rPr lang="en-US" sz="2000" b="1" baseline="-25000" dirty="0">
                  <a:latin typeface="Arial"/>
                  <a:cs typeface="Arial"/>
                </a:rPr>
                <a:t>2</a:t>
              </a:r>
              <a:r>
                <a:rPr lang="en-US" sz="2000" b="1" dirty="0">
                  <a:latin typeface="Arial"/>
                  <a:cs typeface="Arial"/>
                </a:rPr>
                <a:t>​ × 2</a:t>
              </a:r>
              <a:r>
                <a:rPr lang="en-US" sz="2000" b="1" baseline="30000" dirty="0">
                  <a:latin typeface="Arial"/>
                  <a:cs typeface="Arial"/>
                </a:rPr>
                <a:t>−5</a:t>
              </a:r>
              <a:r>
                <a:rPr lang="en-US" sz="2000" b="1" dirty="0">
                  <a:latin typeface="Arial"/>
                  <a:cs typeface="Arial"/>
                </a:rPr>
                <a:t> </a:t>
              </a:r>
              <a:r>
                <a:rPr lang="en-US" sz="2000" b="1" dirty="0">
                  <a:latin typeface="Arial"/>
                  <a:cs typeface="Arial"/>
                  <a:sym typeface="Wingdings" pitchFamily="2" charset="2"/>
                </a:rPr>
                <a:t> </a:t>
              </a:r>
              <a:r>
                <a:rPr lang="en-US" sz="2000" b="1" dirty="0">
                  <a:latin typeface="Arial"/>
                  <a:cs typeface="Arial"/>
                </a:rPr>
                <a:t>−0.0000011100</a:t>
              </a:r>
              <a:r>
                <a:rPr lang="en-US" sz="2000" b="1" baseline="-25000" dirty="0">
                  <a:latin typeface="Arial"/>
                  <a:cs typeface="Arial"/>
                </a:rPr>
                <a:t>2</a:t>
              </a:r>
              <a:r>
                <a:rPr lang="en-US" sz="2000" b="1" dirty="0">
                  <a:latin typeface="Arial"/>
                  <a:cs typeface="Arial"/>
                </a:rPr>
                <a:t>​ × 2</a:t>
              </a:r>
              <a:r>
                <a:rPr lang="en-US" sz="2000" b="1" baseline="30000" dirty="0">
                  <a:latin typeface="Arial"/>
                  <a:cs typeface="Arial"/>
                </a:rPr>
                <a:t>+1</a:t>
              </a:r>
              <a:r>
                <a:rPr lang="en-US" sz="2000" b="1" dirty="0">
                  <a:latin typeface="Arial"/>
                  <a:cs typeface="Arial"/>
                </a:rPr>
                <a:t> </a:t>
              </a:r>
              <a:r>
                <a:rPr lang="en-US" sz="2000" b="1" dirty="0">
                  <a:latin typeface="Arial"/>
                  <a:cs typeface="Arial"/>
                  <a:sym typeface="Wingdings" pitchFamily="2" charset="2"/>
                </a:rPr>
                <a:t> -</a:t>
              </a:r>
              <a:r>
                <a:rPr lang="en-US" altLang="zh-CN" sz="2000" b="1" dirty="0">
                  <a:latin typeface="Arial"/>
                  <a:ea typeface="宋体"/>
                  <a:cs typeface="Arial"/>
                </a:rPr>
                <a:t>0.00000(G)1(R)1(S)</a:t>
              </a:r>
              <a:r>
                <a:rPr lang="en-US" sz="2000" b="1" baseline="-25000" dirty="0">
                  <a:latin typeface="Arial"/>
                  <a:cs typeface="Arial"/>
                </a:rPr>
                <a:t> 2</a:t>
              </a:r>
              <a:r>
                <a:rPr lang="en-US" sz="2000" b="1" dirty="0">
                  <a:latin typeface="Arial"/>
                  <a:cs typeface="Arial"/>
                </a:rPr>
                <a:t>​ × 2</a:t>
              </a:r>
              <a:r>
                <a:rPr lang="en-US" sz="2000" b="1" baseline="30000" dirty="0">
                  <a:latin typeface="Arial"/>
                  <a:cs typeface="Arial"/>
                </a:rPr>
                <a:t>+1</a:t>
              </a:r>
              <a:r>
                <a:rPr lang="en-US" sz="2000" b="1" dirty="0">
                  <a:latin typeface="Arial"/>
                  <a:cs typeface="Arial"/>
                </a:rPr>
                <a:t> </a:t>
              </a:r>
              <a:endParaRPr lang="en-US" altLang="zh-CN" sz="2000" b="1" dirty="0">
                <a:latin typeface="Arial"/>
                <a:ea typeface="宋体" pitchFamily="2" charset="-122"/>
                <a:cs typeface="Arial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8856CEC-9940-C970-6427-4266D6DBCA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0" y="3708737"/>
              <a:ext cx="6553200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t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Arial"/>
                  <a:ea typeface="宋体"/>
                  <a:cs typeface="Arial"/>
                </a:rPr>
                <a:t>Add significands</a:t>
              </a:r>
            </a:p>
            <a:p>
              <a:pPr eaLnBrk="1" hangingPunct="1"/>
              <a:r>
                <a:rPr lang="en-US" altLang="zh-CN" sz="2000" dirty="0">
                  <a:latin typeface="Arial"/>
                  <a:ea typeface="宋体"/>
                  <a:cs typeface="Arial"/>
                </a:rPr>
                <a:t>    </a:t>
              </a:r>
              <a:r>
                <a:rPr lang="en-US" altLang="zh-CN" sz="2000" b="1" dirty="0">
                  <a:latin typeface="Arial"/>
                  <a:ea typeface="宋体"/>
                  <a:cs typeface="Arial"/>
                </a:rPr>
                <a:t>1.0000 - 0.0000011 =  0.1111101</a:t>
              </a:r>
            </a:p>
            <a:p>
              <a:pPr eaLnBrk="1" hangingPunct="1"/>
              <a:r>
                <a:rPr lang="en-US" altLang="zh-CN" sz="2000" dirty="0">
                  <a:latin typeface="Arial"/>
                  <a:ea typeface="宋体"/>
                  <a:cs typeface="Arial"/>
                </a:rPr>
                <a:t>Exponent = </a:t>
              </a:r>
              <a:r>
                <a:rPr lang="en-US" altLang="zh-CN" sz="2000" b="1" dirty="0">
                  <a:latin typeface="Arial"/>
                  <a:ea typeface="宋体"/>
                  <a:cs typeface="Arial"/>
                </a:rPr>
                <a:t>1</a:t>
              </a:r>
              <a:endParaRPr lang="zh-CN" altLang="en-US" sz="2000" b="1" dirty="0">
                <a:latin typeface="Arial"/>
                <a:ea typeface="宋体"/>
                <a:cs typeface="Arial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A3054B2-8761-B1C9-DB09-D726D920BA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5000" y="4953000"/>
              <a:ext cx="6858000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t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zh-CN" sz="2000" dirty="0">
                  <a:latin typeface="Arial"/>
                  <a:ea typeface="宋体"/>
                  <a:cs typeface="Arial"/>
                </a:rPr>
                <a:t>Normalize the sum, checking for exponent over/underflow</a:t>
              </a:r>
            </a:p>
            <a:p>
              <a:pPr eaLnBrk="1" hangingPunct="1"/>
              <a:r>
                <a:rPr lang="en-US" altLang="zh-CN" sz="2000" b="1" dirty="0">
                  <a:latin typeface="Arial"/>
                  <a:ea typeface="宋体"/>
                  <a:cs typeface="Arial"/>
                </a:rPr>
                <a:t>0.1111101 x 2</a:t>
              </a:r>
              <a:r>
                <a:rPr lang="en-US" altLang="zh-CN" sz="2000" b="1" baseline="30000" dirty="0">
                  <a:latin typeface="Arial"/>
                  <a:ea typeface="宋体"/>
                  <a:cs typeface="Arial"/>
                </a:rPr>
                <a:t>1</a:t>
              </a:r>
              <a:r>
                <a:rPr lang="en-US" altLang="zh-CN" sz="2000" b="1" dirty="0">
                  <a:latin typeface="Arial"/>
                  <a:ea typeface="宋体"/>
                  <a:cs typeface="Arial"/>
                </a:rPr>
                <a:t> = 1.111101 x 2</a:t>
              </a:r>
              <a:r>
                <a:rPr lang="en-US" altLang="zh-CN" sz="2000" b="1" baseline="30000" dirty="0">
                  <a:latin typeface="Arial"/>
                  <a:ea typeface="宋体"/>
                  <a:cs typeface="Arial"/>
                </a:rPr>
                <a:t>0</a:t>
              </a:r>
              <a:r>
                <a:rPr lang="en-US" altLang="zh-CN" sz="2000" dirty="0">
                  <a:latin typeface="Arial"/>
                  <a:ea typeface="宋体"/>
                  <a:cs typeface="Arial"/>
                </a:rPr>
                <a:t>, Exp. = </a:t>
              </a:r>
              <a:r>
                <a:rPr lang="en-US" altLang="zh-CN" sz="2000" b="1" dirty="0">
                  <a:latin typeface="Arial"/>
                  <a:ea typeface="宋体"/>
                  <a:cs typeface="Arial"/>
                </a:rPr>
                <a:t>0</a:t>
              </a:r>
              <a:endParaRPr lang="en-US" altLang="zh-CN" sz="2000" b="1" baseline="30000" dirty="0">
                <a:latin typeface="Arial"/>
                <a:ea typeface="宋体"/>
                <a:cs typeface="Arial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BAF0A9-E0C2-390E-72C6-07459DB16A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5000" y="5772090"/>
              <a:ext cx="65532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t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zh-CN" sz="2000" b="1" dirty="0">
                  <a:latin typeface="Arial"/>
                  <a:ea typeface="宋体"/>
                  <a:cs typeface="Arial"/>
                </a:rPr>
                <a:t>1.111101</a:t>
              </a:r>
              <a:r>
                <a:rPr lang="en-US" altLang="zh-CN" sz="2000" dirty="0">
                  <a:latin typeface="Arial"/>
                  <a:ea typeface="宋体"/>
                  <a:cs typeface="Arial"/>
                </a:rPr>
                <a:t> is rounded as </a:t>
              </a:r>
              <a:r>
                <a:rPr lang="en-US" altLang="zh-CN" sz="2000" b="1" dirty="0">
                  <a:latin typeface="Arial"/>
                  <a:ea typeface="宋体"/>
                  <a:cs typeface="Arial"/>
                </a:rPr>
                <a:t>1.1111</a:t>
              </a:r>
              <a:r>
                <a:rPr lang="en-US" altLang="zh-CN" sz="2000" dirty="0">
                  <a:latin typeface="Arial"/>
                  <a:ea typeface="宋体"/>
                  <a:cs typeface="Arial"/>
                </a:rPr>
                <a:t>. No need to renormalize.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3D4767C-4EB0-137E-CA16-A0CCCF9943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5000" y="6186486"/>
              <a:ext cx="65532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zh-CN" sz="2000" err="1">
                  <a:ea typeface="宋体" pitchFamily="2" charset="-122"/>
                </a:rPr>
                <a:t>Rehide</a:t>
              </a:r>
              <a:r>
                <a:rPr lang="en-US" altLang="zh-CN" sz="2000">
                  <a:ea typeface="宋体" pitchFamily="2" charset="-122"/>
                </a:rPr>
                <a:t> the hidden bit before storing</a:t>
              </a:r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9997590-EFF2-593E-9577-47751B7B5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>
            <a:normAutofit/>
          </a:bodyPr>
          <a:lstStyle/>
          <a:p>
            <a:r>
              <a:rPr lang="en-US" sz="4500" b="1" dirty="0">
                <a:ea typeface="Calibri"/>
                <a:cs typeface="Calibri"/>
              </a:rPr>
              <a:t>Floating-point operation with GRS bits.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8135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BFB0F-11D7-A285-1C49-7254101D1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>
            <a:extLst>
              <a:ext uri="{FF2B5EF4-FFF2-40B4-BE49-F238E27FC236}">
                <a16:creationId xmlns:a16="http://schemas.microsoft.com/office/drawing/2014/main" id="{DA20AF19-833A-842B-E4C7-053BCCA7D1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5681" y="1301904"/>
            <a:ext cx="10611419" cy="498955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>
                <a:ea typeface="宋体"/>
              </a:rPr>
              <a:t>Consider a </a:t>
            </a:r>
            <a:r>
              <a:rPr lang="en-US" altLang="zh-CN" sz="2400" i="1" dirty="0">
                <a:ea typeface="宋体"/>
              </a:rPr>
              <a:t>4-digit</a:t>
            </a:r>
            <a:r>
              <a:rPr lang="en-US" altLang="zh-CN" sz="2400" dirty="0">
                <a:ea typeface="宋体"/>
              </a:rPr>
              <a:t> decimal example</a:t>
            </a:r>
            <a:endParaRPr lang="en-US">
              <a:ea typeface="宋体"/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sz="2000" b="1" dirty="0">
                <a:ea typeface="宋体"/>
              </a:rPr>
              <a:t>1.110 × 10</a:t>
            </a:r>
            <a:r>
              <a:rPr lang="en-US" altLang="zh-CN" sz="2000" b="1" baseline="30000" dirty="0">
                <a:ea typeface="宋体"/>
              </a:rPr>
              <a:t>10</a:t>
            </a:r>
            <a:r>
              <a:rPr lang="en-US" altLang="zh-CN" sz="2000" b="1" dirty="0">
                <a:ea typeface="宋体"/>
              </a:rPr>
              <a:t> × 9.200 × 10</a:t>
            </a:r>
            <a:r>
              <a:rPr lang="en-US" altLang="zh-CN" sz="2000" b="1" baseline="30000" dirty="0">
                <a:ea typeface="宋体"/>
              </a:rPr>
              <a:t>–5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>
                <a:ea typeface="宋体" pitchFamily="2" charset="-122"/>
              </a:rPr>
              <a:t>1. Add exponents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sz="2000" dirty="0">
                <a:ea typeface="宋体" pitchFamily="2" charset="-122"/>
              </a:rPr>
              <a:t>For biased exponents, subtract bias from sum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sz="2000" dirty="0">
                <a:ea typeface="宋体"/>
              </a:rPr>
              <a:t>New exponent = </a:t>
            </a:r>
            <a:r>
              <a:rPr lang="en-US" altLang="zh-CN" sz="2000" b="1" dirty="0">
                <a:ea typeface="宋体"/>
              </a:rPr>
              <a:t>10 + –5 = 5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>
                <a:ea typeface="宋体" pitchFamily="2" charset="-122"/>
              </a:rPr>
              <a:t>2. Multiply significands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sz="2000" b="1" dirty="0">
                <a:ea typeface="宋体"/>
              </a:rPr>
              <a:t>1.110 × 9.200 = 10.212  </a:t>
            </a:r>
            <a:r>
              <a:rPr lang="en-US" altLang="zh-CN" sz="2000" b="1" dirty="0">
                <a:ea typeface="宋体"/>
                <a:sym typeface="Symbol" pitchFamily="18" charset="2"/>
              </a:rPr>
              <a:t>  10.212 </a:t>
            </a:r>
            <a:r>
              <a:rPr lang="en-US" altLang="zh-CN" sz="2000" b="1" dirty="0">
                <a:ea typeface="宋体"/>
              </a:rPr>
              <a:t>× 10</a:t>
            </a:r>
            <a:r>
              <a:rPr lang="en-US" altLang="zh-CN" sz="2000" b="1" baseline="30000" dirty="0">
                <a:ea typeface="宋体"/>
              </a:rPr>
              <a:t>5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>
                <a:ea typeface="宋体" pitchFamily="2" charset="-122"/>
              </a:rPr>
              <a:t>3. Normalize result &amp; check for over/underflow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sz="2000" b="1" dirty="0">
                <a:ea typeface="宋体"/>
              </a:rPr>
              <a:t>1.0212 × 10</a:t>
            </a:r>
            <a:r>
              <a:rPr lang="en-US" altLang="zh-CN" sz="2000" b="1" baseline="30000" dirty="0">
                <a:ea typeface="宋体"/>
              </a:rPr>
              <a:t>6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>
                <a:ea typeface="宋体" pitchFamily="2" charset="-122"/>
              </a:rPr>
              <a:t>4. Round and renormalize if necessary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sz="2000" b="1" dirty="0">
                <a:ea typeface="宋体"/>
              </a:rPr>
              <a:t>1.021 × 10</a:t>
            </a:r>
            <a:r>
              <a:rPr lang="en-US" altLang="zh-CN" sz="2000" b="1" baseline="30000" dirty="0">
                <a:ea typeface="宋体"/>
              </a:rPr>
              <a:t>6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>
                <a:ea typeface="宋体" pitchFamily="2" charset="-122"/>
              </a:rPr>
              <a:t>5. Determine sign of result from signs of operands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CN" sz="2000" b="1" dirty="0">
                <a:ea typeface="宋体"/>
              </a:rPr>
              <a:t>+1.021 × 10</a:t>
            </a:r>
            <a:r>
              <a:rPr lang="en-US" altLang="zh-CN" sz="2000" b="1" baseline="30000" dirty="0">
                <a:ea typeface="宋体"/>
              </a:rPr>
              <a:t>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2F36282-9AC9-91D0-14E0-C9733A8B2949}"/>
              </a:ext>
            </a:extLst>
          </p:cNvPr>
          <p:cNvSpPr>
            <a:spLocks noGrp="1"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ea typeface="Calibri"/>
                <a:cs typeface="Calibri"/>
              </a:rPr>
              <a:t>Floating-point multiplication.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116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143F4-1D42-C316-31E7-1378F4325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>
            <a:extLst>
              <a:ext uri="{FF2B5EF4-FFF2-40B4-BE49-F238E27FC236}">
                <a16:creationId xmlns:a16="http://schemas.microsoft.com/office/drawing/2014/main" id="{02C012D7-7F60-068E-5DCB-3A2117996C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69441" y="1153160"/>
            <a:ext cx="8630219" cy="72235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Bef>
                <a:spcPct val="40000"/>
              </a:spcBef>
              <a:buNone/>
            </a:pPr>
            <a:r>
              <a:rPr lang="en-US" altLang="zh-CN" sz="3200" b="1" dirty="0">
                <a:ea typeface="宋体"/>
                <a:sym typeface="Symbol" pitchFamily="18" charset="2"/>
              </a:rPr>
              <a:t>(F1  2</a:t>
            </a:r>
            <a:r>
              <a:rPr lang="en-US" altLang="zh-CN" sz="3200" b="1" baseline="30000" dirty="0">
                <a:ea typeface="宋体"/>
                <a:sym typeface="Symbol" pitchFamily="18" charset="2"/>
              </a:rPr>
              <a:t>E1</a:t>
            </a:r>
            <a:r>
              <a:rPr lang="en-US" altLang="zh-CN" sz="3200" b="1" dirty="0">
                <a:ea typeface="宋体"/>
                <a:sym typeface="Symbol" pitchFamily="18" charset="2"/>
              </a:rPr>
              <a:t>) x (F2  2</a:t>
            </a:r>
            <a:r>
              <a:rPr lang="en-US" altLang="zh-CN" sz="3200" b="1" baseline="30000" dirty="0">
                <a:ea typeface="宋体"/>
                <a:sym typeface="Symbol" pitchFamily="18" charset="2"/>
              </a:rPr>
              <a:t>E2</a:t>
            </a:r>
            <a:r>
              <a:rPr lang="en-US" altLang="zh-CN" sz="3200" b="1" dirty="0">
                <a:ea typeface="宋体"/>
                <a:sym typeface="Symbol" pitchFamily="18" charset="2"/>
              </a:rPr>
              <a:t>) = F3  2</a:t>
            </a:r>
            <a:r>
              <a:rPr lang="en-US" altLang="zh-CN" sz="3200" b="1" baseline="30000" dirty="0">
                <a:ea typeface="宋体"/>
                <a:sym typeface="Symbol" pitchFamily="18" charset="2"/>
              </a:rPr>
              <a:t>E3</a:t>
            </a:r>
            <a:endParaRPr lang="en-US" altLang="zh-CN" sz="3200" b="1" dirty="0">
              <a:ea typeface="宋体"/>
            </a:endParaRP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A05C429D-B7E3-81FC-BDC5-D70F11306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040" y="2043113"/>
            <a:ext cx="10546080" cy="4128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3500" tIns="25400" rIns="63500" bIns="25400" anchor="t">
            <a:spAutoFit/>
          </a:bodyPr>
          <a:lstStyle/>
          <a:p>
            <a:pPr lvl="1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75000"/>
            </a:pPr>
            <a:r>
              <a:rPr lang="en-US" altLang="zh-CN" sz="2000" b="1" dirty="0">
                <a:ea typeface="宋体"/>
                <a:sym typeface="Symbol" pitchFamily="18" charset="2"/>
              </a:rPr>
              <a:t>Step 0</a:t>
            </a:r>
            <a:r>
              <a:rPr lang="en-US" altLang="zh-CN" sz="2000" dirty="0">
                <a:ea typeface="宋体"/>
                <a:sym typeface="Symbol" pitchFamily="18" charset="2"/>
              </a:rPr>
              <a:t>: Restore the hidden bit in </a:t>
            </a:r>
            <a:r>
              <a:rPr lang="en-US" altLang="zh-CN" sz="2000" b="1" dirty="0">
                <a:ea typeface="宋体"/>
                <a:sym typeface="Symbol" pitchFamily="18" charset="2"/>
              </a:rPr>
              <a:t>F1 </a:t>
            </a:r>
            <a:r>
              <a:rPr lang="en-US" altLang="zh-CN" sz="2000" dirty="0">
                <a:ea typeface="宋体"/>
                <a:sym typeface="Symbol" pitchFamily="18" charset="2"/>
              </a:rPr>
              <a:t>and in </a:t>
            </a:r>
            <a:r>
              <a:rPr lang="en-US" altLang="zh-CN" sz="2000" b="1" dirty="0">
                <a:ea typeface="宋体"/>
                <a:sym typeface="Symbol" pitchFamily="18" charset="2"/>
              </a:rPr>
              <a:t>F2</a:t>
            </a:r>
            <a:endParaRPr lang="en-US" b="1">
              <a:ea typeface="宋体"/>
            </a:endParaRPr>
          </a:p>
          <a:p>
            <a:pPr lvl="1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75000"/>
            </a:pPr>
            <a:r>
              <a:rPr lang="en-US" altLang="zh-CN" sz="2000" b="1" dirty="0">
                <a:ea typeface="宋体"/>
                <a:sym typeface="Symbol" pitchFamily="18" charset="2"/>
              </a:rPr>
              <a:t>Step 1</a:t>
            </a:r>
            <a:r>
              <a:rPr lang="en-US" altLang="zh-CN" sz="2000" dirty="0">
                <a:ea typeface="宋体"/>
                <a:sym typeface="Symbol" pitchFamily="18" charset="2"/>
              </a:rPr>
              <a:t>: Add the two (biased) exponents and subtract the bias from the sum, so</a:t>
            </a:r>
            <a:endParaRPr lang="en-US" altLang="zh-CN" sz="2000" b="1" dirty="0">
              <a:ea typeface="宋体"/>
              <a:sym typeface="Symbol" pitchFamily="18" charset="2"/>
            </a:endParaRPr>
          </a:p>
          <a:p>
            <a:pPr lvl="1">
              <a:lnSpc>
                <a:spcPct val="90000"/>
              </a:lnSpc>
              <a:spcBef>
                <a:spcPct val="40000"/>
              </a:spcBef>
            </a:pPr>
            <a:r>
              <a:rPr lang="en-US" altLang="zh-CN" sz="2000" b="1" dirty="0">
                <a:ea typeface="宋体"/>
                <a:sym typeface="Symbol" pitchFamily="18" charset="2"/>
              </a:rPr>
              <a:t>E1 + E2 – 127 = E3</a:t>
            </a:r>
            <a:endParaRPr lang="en-US" altLang="zh-CN" sz="2000" b="1" dirty="0">
              <a:ea typeface="宋体"/>
            </a:endParaRPr>
          </a:p>
          <a:p>
            <a:pPr marL="742950" lvl="1" indent="-285750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75000"/>
            </a:pPr>
            <a:r>
              <a:rPr lang="en-US" altLang="zh-CN" sz="2000" dirty="0">
                <a:ea typeface="宋体" pitchFamily="2" charset="-122"/>
                <a:sym typeface="Symbol" pitchFamily="18" charset="2"/>
              </a:rPr>
              <a:t>     also determine the sign of the product (which depends on the sign of the operands (most significant bits))</a:t>
            </a:r>
          </a:p>
          <a:p>
            <a:pPr lvl="1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75000"/>
            </a:pPr>
            <a:r>
              <a:rPr lang="en-US" altLang="zh-CN" sz="2000" b="1" dirty="0">
                <a:ea typeface="宋体"/>
                <a:sym typeface="Symbol" pitchFamily="18" charset="2"/>
              </a:rPr>
              <a:t>Step 2</a:t>
            </a:r>
            <a:r>
              <a:rPr lang="en-US" altLang="zh-CN" sz="2000" dirty="0">
                <a:ea typeface="宋体"/>
                <a:sym typeface="Symbol" pitchFamily="18" charset="2"/>
              </a:rPr>
              <a:t>: Multiply </a:t>
            </a:r>
            <a:r>
              <a:rPr lang="en-US" altLang="zh-CN" sz="2000" b="1" dirty="0">
                <a:ea typeface="宋体"/>
                <a:sym typeface="Symbol" pitchFamily="18" charset="2"/>
              </a:rPr>
              <a:t>F1 </a:t>
            </a:r>
            <a:r>
              <a:rPr lang="en-US" altLang="zh-CN" sz="2000" dirty="0">
                <a:ea typeface="宋体"/>
                <a:sym typeface="Symbol" pitchFamily="18" charset="2"/>
              </a:rPr>
              <a:t>by </a:t>
            </a:r>
            <a:r>
              <a:rPr lang="en-US" altLang="zh-CN" sz="2000" b="1" dirty="0">
                <a:ea typeface="宋体"/>
                <a:sym typeface="Symbol" pitchFamily="18" charset="2"/>
              </a:rPr>
              <a:t>F2 </a:t>
            </a:r>
            <a:r>
              <a:rPr lang="en-US" altLang="zh-CN" sz="2000" dirty="0">
                <a:ea typeface="宋体"/>
                <a:sym typeface="Symbol" pitchFamily="18" charset="2"/>
              </a:rPr>
              <a:t>to form a double precision </a:t>
            </a:r>
            <a:r>
              <a:rPr lang="en-US" altLang="zh-CN" sz="2000" b="1" dirty="0">
                <a:ea typeface="宋体"/>
                <a:sym typeface="Symbol" pitchFamily="18" charset="2"/>
              </a:rPr>
              <a:t>F3</a:t>
            </a:r>
            <a:endParaRPr lang="en-US" altLang="zh-CN" sz="2000" dirty="0">
              <a:ea typeface="宋体"/>
            </a:endParaRPr>
          </a:p>
          <a:p>
            <a:pPr lvl="1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75000"/>
            </a:pPr>
            <a:r>
              <a:rPr lang="en-US" altLang="zh-CN" sz="2000" b="1" dirty="0">
                <a:ea typeface="宋体"/>
                <a:sym typeface="Symbol" pitchFamily="18" charset="2"/>
              </a:rPr>
              <a:t>Step 3</a:t>
            </a:r>
            <a:r>
              <a:rPr lang="en-US" altLang="zh-CN" sz="2000" dirty="0">
                <a:ea typeface="宋体"/>
                <a:sym typeface="Symbol" pitchFamily="18" charset="2"/>
              </a:rPr>
              <a:t>: Normalize </a:t>
            </a:r>
            <a:r>
              <a:rPr lang="en-US" altLang="zh-CN" sz="2000" b="1" dirty="0">
                <a:ea typeface="宋体"/>
                <a:sym typeface="Symbol" pitchFamily="18" charset="2"/>
              </a:rPr>
              <a:t>F3 </a:t>
            </a:r>
            <a:r>
              <a:rPr lang="en-US" altLang="zh-CN" sz="2000" dirty="0">
                <a:ea typeface="宋体"/>
                <a:sym typeface="Symbol" pitchFamily="18" charset="2"/>
              </a:rPr>
              <a:t>(so it is in the form </a:t>
            </a:r>
            <a:r>
              <a:rPr lang="en-US" altLang="zh-CN" sz="2000" b="1" dirty="0">
                <a:ea typeface="宋体"/>
                <a:sym typeface="Symbol" pitchFamily="18" charset="2"/>
              </a:rPr>
              <a:t>1.XXXXX…</a:t>
            </a:r>
            <a:r>
              <a:rPr lang="en-US" altLang="zh-CN" sz="2000" dirty="0">
                <a:ea typeface="宋体"/>
                <a:sym typeface="Symbol" pitchFamily="18" charset="2"/>
              </a:rPr>
              <a:t>)</a:t>
            </a:r>
            <a:endParaRPr lang="en-US" altLang="zh-CN" sz="2000">
              <a:ea typeface="宋体"/>
            </a:endParaRPr>
          </a:p>
          <a:p>
            <a:pPr marL="1143000" lvl="2" indent="-228600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100000"/>
              <a:buFontTx/>
              <a:buChar char="-"/>
            </a:pPr>
            <a:r>
              <a:rPr lang="en-US" altLang="zh-CN" dirty="0">
                <a:ea typeface="宋体"/>
                <a:sym typeface="Symbol" pitchFamily="18" charset="2"/>
              </a:rPr>
              <a:t>Since </a:t>
            </a:r>
            <a:r>
              <a:rPr lang="en-US" altLang="zh-CN" b="1" dirty="0">
                <a:ea typeface="宋体"/>
                <a:sym typeface="Symbol" pitchFamily="18" charset="2"/>
              </a:rPr>
              <a:t>F1 </a:t>
            </a:r>
            <a:r>
              <a:rPr lang="en-US" altLang="zh-CN" dirty="0">
                <a:ea typeface="宋体"/>
                <a:sym typeface="Symbol" pitchFamily="18" charset="2"/>
              </a:rPr>
              <a:t>and </a:t>
            </a:r>
            <a:r>
              <a:rPr lang="en-US" altLang="zh-CN" b="1" dirty="0">
                <a:ea typeface="宋体"/>
                <a:sym typeface="Symbol" pitchFamily="18" charset="2"/>
              </a:rPr>
              <a:t>F2 </a:t>
            </a:r>
            <a:r>
              <a:rPr lang="en-US" altLang="zh-CN" dirty="0">
                <a:ea typeface="宋体"/>
                <a:sym typeface="Symbol" pitchFamily="18" charset="2"/>
              </a:rPr>
              <a:t>come in normalized  </a:t>
            </a:r>
            <a:r>
              <a:rPr lang="en-US" altLang="zh-CN" b="1" dirty="0">
                <a:ea typeface="宋体"/>
                <a:sym typeface="Symbol" pitchFamily="18" charset="2"/>
              </a:rPr>
              <a:t>F3 [1,4)</a:t>
            </a:r>
            <a:r>
              <a:rPr lang="en-US" altLang="zh-CN" dirty="0">
                <a:ea typeface="宋体"/>
                <a:sym typeface="Symbol" pitchFamily="18" charset="2"/>
              </a:rPr>
              <a:t>  1</a:t>
            </a:r>
            <a:r>
              <a:rPr lang="en-US" altLang="zh-CN" b="1" dirty="0">
                <a:ea typeface="宋体"/>
                <a:sym typeface="Symbol" pitchFamily="18" charset="2"/>
              </a:rPr>
              <a:t> bit</a:t>
            </a:r>
            <a:r>
              <a:rPr lang="en-US" altLang="zh-CN" dirty="0">
                <a:ea typeface="宋体"/>
                <a:sym typeface="Symbol" pitchFamily="18" charset="2"/>
              </a:rPr>
              <a:t> </a:t>
            </a:r>
            <a:r>
              <a:rPr lang="en-US" altLang="zh-CN" b="1" i="1" dirty="0">
                <a:ea typeface="宋体"/>
                <a:sym typeface="Symbol" pitchFamily="18" charset="2"/>
              </a:rPr>
              <a:t>right shift</a:t>
            </a:r>
            <a:r>
              <a:rPr lang="en-US" altLang="zh-CN" dirty="0">
                <a:ea typeface="宋体"/>
                <a:sym typeface="Symbol" pitchFamily="18" charset="2"/>
              </a:rPr>
              <a:t> </a:t>
            </a:r>
            <a:r>
              <a:rPr lang="en-US" altLang="zh-CN" b="1" dirty="0">
                <a:ea typeface="宋体"/>
                <a:sym typeface="Symbol" pitchFamily="18" charset="2"/>
              </a:rPr>
              <a:t>F3 </a:t>
            </a:r>
            <a:r>
              <a:rPr lang="en-US" altLang="zh-CN" dirty="0">
                <a:ea typeface="宋体"/>
                <a:sym typeface="Symbol" pitchFamily="18" charset="2"/>
              </a:rPr>
              <a:t>and </a:t>
            </a:r>
            <a:r>
              <a:rPr lang="en-US" altLang="zh-CN" b="1" i="1" dirty="0">
                <a:ea typeface="宋体"/>
                <a:sym typeface="Symbol" pitchFamily="18" charset="2"/>
              </a:rPr>
              <a:t>increment </a:t>
            </a:r>
            <a:r>
              <a:rPr lang="en-US" altLang="zh-CN" b="1" dirty="0">
                <a:ea typeface="宋体"/>
                <a:sym typeface="Symbol" pitchFamily="18" charset="2"/>
              </a:rPr>
              <a:t>E3</a:t>
            </a:r>
            <a:endParaRPr lang="en-US" altLang="zh-CN" b="1" dirty="0">
              <a:ea typeface="宋体"/>
            </a:endParaRPr>
          </a:p>
          <a:p>
            <a:pPr marL="1143000" lvl="2" indent="-228600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100000"/>
              <a:buFontTx/>
              <a:buChar char="-"/>
            </a:pPr>
            <a:r>
              <a:rPr lang="en-US" altLang="zh-CN" dirty="0">
                <a:ea typeface="宋体" pitchFamily="2" charset="-122"/>
                <a:sym typeface="Symbol" pitchFamily="18" charset="2"/>
              </a:rPr>
              <a:t>Check for overflow/underflow</a:t>
            </a:r>
          </a:p>
          <a:p>
            <a:pPr lvl="1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75000"/>
            </a:pPr>
            <a:r>
              <a:rPr lang="en-US" altLang="zh-CN" sz="2000" b="1" dirty="0">
                <a:ea typeface="宋体"/>
                <a:sym typeface="Symbol" pitchFamily="18" charset="2"/>
              </a:rPr>
              <a:t>Step 4</a:t>
            </a:r>
            <a:r>
              <a:rPr lang="en-US" altLang="zh-CN" sz="2000" dirty="0">
                <a:ea typeface="宋体"/>
                <a:sym typeface="Symbol" pitchFamily="18" charset="2"/>
              </a:rPr>
              <a:t>: Round </a:t>
            </a:r>
            <a:r>
              <a:rPr lang="en-US" altLang="zh-CN" sz="2000" b="1" dirty="0">
                <a:ea typeface="宋体"/>
                <a:sym typeface="Symbol" pitchFamily="18" charset="2"/>
              </a:rPr>
              <a:t>F3 </a:t>
            </a:r>
            <a:r>
              <a:rPr lang="en-US" altLang="zh-CN" sz="2000" dirty="0">
                <a:ea typeface="宋体"/>
                <a:sym typeface="Symbol" pitchFamily="18" charset="2"/>
              </a:rPr>
              <a:t>and possibly normalize </a:t>
            </a:r>
            <a:r>
              <a:rPr lang="en-US" altLang="zh-CN" sz="2000" b="1" dirty="0">
                <a:ea typeface="宋体"/>
                <a:sym typeface="Symbol" pitchFamily="18" charset="2"/>
              </a:rPr>
              <a:t>F3 </a:t>
            </a:r>
            <a:r>
              <a:rPr lang="en-US" altLang="zh-CN" sz="2000" dirty="0">
                <a:ea typeface="宋体"/>
                <a:sym typeface="Symbol" pitchFamily="18" charset="2"/>
              </a:rPr>
              <a:t>again</a:t>
            </a:r>
            <a:endParaRPr lang="en-US" altLang="zh-CN" sz="2000" dirty="0">
              <a:ea typeface="宋体"/>
            </a:endParaRPr>
          </a:p>
          <a:p>
            <a:pPr lvl="1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75000"/>
            </a:pPr>
            <a:r>
              <a:rPr lang="en-US" altLang="zh-CN" sz="2000" b="1" dirty="0">
                <a:ea typeface="宋体"/>
                <a:sym typeface="Symbol" pitchFamily="18" charset="2"/>
              </a:rPr>
              <a:t>Step 5</a:t>
            </a:r>
            <a:r>
              <a:rPr lang="en-US" altLang="zh-CN" sz="2000" dirty="0">
                <a:ea typeface="宋体"/>
                <a:sym typeface="Symbol" pitchFamily="18" charset="2"/>
              </a:rPr>
              <a:t>: Re-hide the most significant bit of </a:t>
            </a:r>
            <a:r>
              <a:rPr lang="en-US" altLang="zh-CN" sz="2000" b="1" dirty="0">
                <a:ea typeface="宋体"/>
                <a:sym typeface="Symbol" pitchFamily="18" charset="2"/>
              </a:rPr>
              <a:t>F3 </a:t>
            </a:r>
            <a:r>
              <a:rPr lang="en-US" altLang="zh-CN" sz="2000" dirty="0">
                <a:ea typeface="宋体"/>
                <a:sym typeface="Symbol" pitchFamily="18" charset="2"/>
              </a:rPr>
              <a:t>before storing the result </a:t>
            </a:r>
            <a:endParaRPr lang="en-US" altLang="zh-CN" sz="2000" dirty="0">
              <a:ea typeface="宋体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3A2A13-6EB4-09F6-B75F-F5712F71CBD1}"/>
              </a:ext>
            </a:extLst>
          </p:cNvPr>
          <p:cNvSpPr>
            <a:spLocks noGrp="1"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ea typeface="Calibri"/>
                <a:cs typeface="Calibri"/>
              </a:rPr>
              <a:t>Floating-point multiplication.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69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17E51-5900-EC4B-2584-A7863EB60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>
            <a:extLst>
              <a:ext uri="{FF2B5EF4-FFF2-40B4-BE49-F238E27FC236}">
                <a16:creationId xmlns:a16="http://schemas.microsoft.com/office/drawing/2014/main" id="{D8E34EB3-EAA6-F58A-961E-FCB536BDD0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9841" y="1295400"/>
            <a:ext cx="9849419" cy="66139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Bef>
                <a:spcPct val="40000"/>
              </a:spcBef>
              <a:buNone/>
            </a:pPr>
            <a:r>
              <a:rPr lang="en-US" altLang="zh-CN" sz="3200" b="1" dirty="0">
                <a:solidFill>
                  <a:srgbClr val="000000"/>
                </a:solidFill>
                <a:ea typeface="宋体"/>
                <a:sym typeface="Symbol" pitchFamily="18" charset="2"/>
              </a:rPr>
              <a:t>(0.90625 = 1.1101  2</a:t>
            </a:r>
            <a:r>
              <a:rPr lang="en-US" altLang="zh-CN" sz="3200" b="1" baseline="30000" dirty="0">
                <a:solidFill>
                  <a:srgbClr val="000000"/>
                </a:solidFill>
                <a:ea typeface="宋体"/>
                <a:sym typeface="Symbol" pitchFamily="18" charset="2"/>
              </a:rPr>
              <a:t>-1</a:t>
            </a:r>
            <a:r>
              <a:rPr lang="en-US" altLang="zh-CN" sz="3200" b="1" dirty="0">
                <a:solidFill>
                  <a:srgbClr val="000000"/>
                </a:solidFill>
                <a:ea typeface="宋体"/>
                <a:sym typeface="Symbol" pitchFamily="18" charset="2"/>
              </a:rPr>
              <a:t>) x (-0.28125 = -1.0010 2</a:t>
            </a:r>
            <a:r>
              <a:rPr lang="en-US" altLang="zh-CN" sz="3200" b="1" baseline="30000" dirty="0">
                <a:solidFill>
                  <a:srgbClr val="000000"/>
                </a:solidFill>
                <a:ea typeface="宋体"/>
                <a:sym typeface="Symbol" pitchFamily="18" charset="2"/>
              </a:rPr>
              <a:t>-2</a:t>
            </a:r>
            <a:r>
              <a:rPr lang="en-US" altLang="zh-CN" sz="3200" b="1" dirty="0">
                <a:solidFill>
                  <a:srgbClr val="000000"/>
                </a:solidFill>
                <a:ea typeface="宋体"/>
                <a:sym typeface="Symbol" pitchFamily="18" charset="2"/>
              </a:rPr>
              <a:t>) </a:t>
            </a:r>
            <a:endParaRPr lang="en-US" sz="3200" b="1">
              <a:solidFill>
                <a:srgbClr val="000000"/>
              </a:solidFill>
              <a:ea typeface="宋体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2006F80-531A-2FD1-E211-5805944E2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275840"/>
            <a:ext cx="8229600" cy="432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 anchor="t">
            <a:spAutoFit/>
          </a:bodyPr>
          <a:lstStyle/>
          <a:p>
            <a:pPr lvl="1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75000"/>
            </a:pPr>
            <a:r>
              <a:rPr lang="en-US" altLang="zh-CN" sz="2000" b="1" dirty="0">
                <a:ea typeface="宋体"/>
                <a:sym typeface="Symbol" pitchFamily="18" charset="2"/>
              </a:rPr>
              <a:t>Step 0: </a:t>
            </a:r>
            <a:endParaRPr lang="en-US" b="1" dirty="0">
              <a:ea typeface="宋体"/>
            </a:endParaRPr>
          </a:p>
          <a:p>
            <a:pPr lvl="1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75000"/>
            </a:pPr>
            <a:r>
              <a:rPr lang="en-US" altLang="zh-CN" sz="2000" b="1" dirty="0">
                <a:ea typeface="宋体"/>
                <a:sym typeface="Symbol" pitchFamily="18" charset="2"/>
              </a:rPr>
              <a:t>Step 1:</a:t>
            </a:r>
            <a:endParaRPr lang="en-US" altLang="zh-CN" sz="2000" b="1" dirty="0">
              <a:ea typeface="宋体"/>
            </a:endParaRPr>
          </a:p>
          <a:p>
            <a:pPr marL="742950" lvl="1" indent="-285750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75000"/>
            </a:pPr>
            <a:r>
              <a:rPr lang="en-US" altLang="zh-CN" sz="2000" b="1" dirty="0">
                <a:ea typeface="宋体"/>
                <a:sym typeface="Symbol" pitchFamily="18" charset="2"/>
              </a:rPr>
              <a:t> </a:t>
            </a:r>
            <a:endParaRPr lang="en-US" altLang="zh-CN" sz="2000" b="1" dirty="0">
              <a:ea typeface="宋体"/>
            </a:endParaRPr>
          </a:p>
          <a:p>
            <a:pPr marL="742950" lvl="1" indent="-285750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75000"/>
            </a:pPr>
            <a:endParaRPr lang="en-US" altLang="zh-CN" sz="2000" b="1" dirty="0">
              <a:ea typeface="宋体" pitchFamily="2" charset="-122"/>
            </a:endParaRPr>
          </a:p>
          <a:p>
            <a:pPr lvl="1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75000"/>
            </a:pPr>
            <a:r>
              <a:rPr lang="en-US" altLang="zh-CN" sz="2000" b="1" dirty="0">
                <a:ea typeface="宋体"/>
                <a:sym typeface="Symbol" pitchFamily="18" charset="2"/>
              </a:rPr>
              <a:t>Step 2:</a:t>
            </a:r>
            <a:endParaRPr lang="en-US" altLang="zh-CN" sz="2000" b="1" dirty="0">
              <a:ea typeface="宋体"/>
            </a:endParaRPr>
          </a:p>
          <a:p>
            <a:pPr marL="742950" lvl="1" indent="-285750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75000"/>
            </a:pPr>
            <a:endParaRPr lang="en-US" altLang="zh-CN" sz="2000" b="1" dirty="0">
              <a:ea typeface="宋体" pitchFamily="2" charset="-122"/>
            </a:endParaRPr>
          </a:p>
          <a:p>
            <a:pPr lvl="1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75000"/>
            </a:pPr>
            <a:r>
              <a:rPr lang="en-US" altLang="zh-CN" sz="2000" b="1" dirty="0">
                <a:ea typeface="宋体"/>
                <a:sym typeface="Symbol" pitchFamily="18" charset="2"/>
              </a:rPr>
              <a:t>Step 3:</a:t>
            </a:r>
            <a:endParaRPr lang="en-US" altLang="zh-CN" sz="2000" b="1" dirty="0">
              <a:ea typeface="宋体"/>
            </a:endParaRPr>
          </a:p>
          <a:p>
            <a:pPr marL="742950" lvl="1" indent="-285750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75000"/>
            </a:pPr>
            <a:r>
              <a:rPr lang="en-US" altLang="zh-CN" sz="2000" b="1" dirty="0">
                <a:ea typeface="宋体"/>
                <a:sym typeface="Symbol" pitchFamily="18" charset="2"/>
              </a:rPr>
              <a:t> </a:t>
            </a:r>
            <a:endParaRPr lang="en-US" altLang="zh-CN" sz="2000" b="1" dirty="0">
              <a:ea typeface="宋体"/>
            </a:endParaRPr>
          </a:p>
          <a:p>
            <a:pPr lvl="1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75000"/>
            </a:pPr>
            <a:r>
              <a:rPr lang="en-US" altLang="zh-CN" sz="2000" b="1" dirty="0">
                <a:ea typeface="宋体"/>
                <a:sym typeface="Symbol" pitchFamily="18" charset="2"/>
              </a:rPr>
              <a:t>Step 4:</a:t>
            </a:r>
            <a:endParaRPr lang="en-US" altLang="zh-CN" sz="2000" b="1" dirty="0">
              <a:ea typeface="宋体"/>
            </a:endParaRPr>
          </a:p>
          <a:p>
            <a:pPr marL="742950" lvl="1" indent="-285750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75000"/>
            </a:pPr>
            <a:endParaRPr lang="en-US" altLang="zh-CN" sz="2000" b="1" dirty="0">
              <a:ea typeface="宋体" pitchFamily="2" charset="-122"/>
            </a:endParaRPr>
          </a:p>
          <a:p>
            <a:pPr lvl="1">
              <a:lnSpc>
                <a:spcPct val="90000"/>
              </a:lnSpc>
              <a:spcBef>
                <a:spcPct val="40000"/>
              </a:spcBef>
              <a:buClr>
                <a:schemeClr val="accent1"/>
              </a:buClr>
              <a:buSzPct val="75000"/>
            </a:pPr>
            <a:r>
              <a:rPr lang="en-US" altLang="zh-CN" sz="2000" b="1" dirty="0">
                <a:ea typeface="宋体"/>
                <a:sym typeface="Symbol" pitchFamily="18" charset="2"/>
              </a:rPr>
              <a:t>Step 5:</a:t>
            </a:r>
            <a:endParaRPr lang="en-US" altLang="zh-CN" sz="2000" b="1" dirty="0">
              <a:ea typeface="宋体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468304-F508-A37F-80FE-03EF04917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1" y="2209800"/>
            <a:ext cx="565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zh-CN" sz="2000">
                <a:ea typeface="宋体" pitchFamily="2" charset="-122"/>
              </a:rPr>
              <a:t>Hidden bits restored in the representation above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9D52DA-A752-4875-94F5-D33133F0A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647950"/>
            <a:ext cx="6477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zh-CN" sz="2000" dirty="0">
                <a:latin typeface="Arial"/>
                <a:ea typeface="宋体"/>
                <a:cs typeface="Arial"/>
              </a:rPr>
              <a:t>Add the exponents (not in bias would be </a:t>
            </a:r>
            <a:r>
              <a:rPr lang="en-US" altLang="zh-CN" sz="2000" b="1" dirty="0">
                <a:latin typeface="Arial"/>
                <a:ea typeface="宋体"/>
                <a:cs typeface="Arial"/>
              </a:rPr>
              <a:t>-1 + (-2) = -3 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and in bias would be </a:t>
            </a:r>
            <a:r>
              <a:rPr lang="en-US" altLang="zh-CN" sz="2000" b="1" dirty="0">
                <a:latin typeface="Arial"/>
                <a:ea typeface="宋体"/>
                <a:cs typeface="Arial"/>
              </a:rPr>
              <a:t>(-1+127) + (-2+127) – 127 =     (-1 -2) + (127+127-127) = -3 + 127 = 124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374A4B-3FDB-BE00-212E-F1E3B21846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810001"/>
            <a:ext cx="6477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zh-CN" sz="2000" dirty="0">
                <a:latin typeface="Arial"/>
                <a:ea typeface="宋体"/>
                <a:cs typeface="Arial"/>
              </a:rPr>
              <a:t>Multiply the significands</a:t>
            </a:r>
          </a:p>
          <a:p>
            <a:pPr eaLnBrk="1" hangingPunct="1"/>
            <a:r>
              <a:rPr lang="en-US" altLang="zh-CN" sz="2000" dirty="0">
                <a:latin typeface="Arial"/>
                <a:ea typeface="宋体"/>
                <a:cs typeface="Arial"/>
              </a:rPr>
              <a:t>	</a:t>
            </a:r>
            <a:r>
              <a:rPr lang="en-US" altLang="zh-CN" sz="2000" b="1" dirty="0">
                <a:latin typeface="Arial"/>
                <a:ea typeface="宋体"/>
                <a:cs typeface="Arial"/>
              </a:rPr>
              <a:t>1.1101 x 1.001 = 10.0000101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7232BF-7A7C-9289-DB43-1043A6DD2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4572000"/>
            <a:ext cx="7239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zh-CN" sz="2000" dirty="0">
                <a:latin typeface="Arial"/>
                <a:ea typeface="宋体"/>
                <a:cs typeface="Arial"/>
              </a:rPr>
              <a:t>Normalized the product, checking for exp over/underflow</a:t>
            </a:r>
          </a:p>
          <a:p>
            <a:pPr eaLnBrk="1" hangingPunct="1"/>
            <a:r>
              <a:rPr lang="en-US" altLang="zh-CN" sz="2000" b="1" dirty="0">
                <a:latin typeface="Arial"/>
                <a:ea typeface="宋体"/>
                <a:cs typeface="Arial"/>
              </a:rPr>
              <a:t>10.0000101 x 2</a:t>
            </a:r>
            <a:r>
              <a:rPr lang="en-US" altLang="zh-CN" sz="2000" b="1" baseline="30000" dirty="0">
                <a:latin typeface="Arial"/>
                <a:ea typeface="宋体"/>
                <a:cs typeface="Arial"/>
              </a:rPr>
              <a:t>-3</a:t>
            </a:r>
            <a:r>
              <a:rPr lang="en-US" altLang="zh-CN" sz="2000" b="1" dirty="0">
                <a:latin typeface="Arial"/>
                <a:ea typeface="宋体"/>
                <a:cs typeface="Arial"/>
              </a:rPr>
              <a:t> = 1.00000101 x 2</a:t>
            </a:r>
            <a:r>
              <a:rPr lang="en-US" altLang="zh-CN" sz="2000" b="1" baseline="30000" dirty="0">
                <a:latin typeface="Arial"/>
                <a:ea typeface="宋体"/>
                <a:cs typeface="Arial"/>
              </a:rPr>
              <a:t>-2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, Exp. = </a:t>
            </a:r>
            <a:r>
              <a:rPr lang="en-US" altLang="zh-CN" sz="2000" b="1" dirty="0">
                <a:latin typeface="Arial"/>
                <a:ea typeface="宋体"/>
                <a:cs typeface="Arial"/>
              </a:rPr>
              <a:t>-2</a:t>
            </a:r>
          </a:p>
          <a:p>
            <a:pPr eaLnBrk="1" hangingPunct="1"/>
            <a:endParaRPr lang="en-US" altLang="zh-CN" sz="2000">
              <a:ea typeface="宋体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CB5B3F-AE82-5593-2F8A-3610DEA3D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5410200"/>
            <a:ext cx="7239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zh-CN" sz="2000" dirty="0">
                <a:latin typeface="Arial"/>
                <a:ea typeface="宋体"/>
                <a:cs typeface="Arial"/>
              </a:rPr>
              <a:t>Round the product to </a:t>
            </a:r>
            <a:r>
              <a:rPr lang="en-US" altLang="zh-CN" sz="2000" b="1" dirty="0">
                <a:latin typeface="Arial"/>
                <a:ea typeface="宋体"/>
                <a:cs typeface="Arial"/>
              </a:rPr>
              <a:t>1.0000</a:t>
            </a:r>
            <a:r>
              <a:rPr lang="en-US" altLang="zh-CN" sz="2000" dirty="0">
                <a:latin typeface="Arial"/>
                <a:ea typeface="宋体"/>
                <a:cs typeface="Arial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22D97-211C-5BB9-A555-FF6F2C9FD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172200"/>
            <a:ext cx="6553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zh-CN" sz="2000" dirty="0">
                <a:latin typeface="Arial"/>
                <a:ea typeface="宋体"/>
                <a:cs typeface="Arial"/>
              </a:rPr>
              <a:t>Re-hide the hidden bit before storing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289F58D-D507-1581-24E0-8C652314B87A}"/>
              </a:ext>
            </a:extLst>
          </p:cNvPr>
          <p:cNvSpPr>
            <a:spLocks noGrp="1"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b="1" dirty="0">
                <a:ea typeface="Calibri"/>
                <a:cs typeface="Calibri"/>
              </a:rPr>
              <a:t>Floating-point multiplication.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775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9" grpId="0"/>
      <p:bldP spid="1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1CADD-D144-6BCE-C959-3328CC7B4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>
            <a:extLst>
              <a:ext uri="{FF2B5EF4-FFF2-40B4-BE49-F238E27FC236}">
                <a16:creationId xmlns:a16="http://schemas.microsoft.com/office/drawing/2014/main" id="{A6CBCBA1-26AD-EAC8-B50C-C8554C3101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4561" y="1484784"/>
            <a:ext cx="11042723" cy="496923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r>
              <a:rPr lang="en-US" altLang="en-US" sz="2400" dirty="0">
                <a:latin typeface="Arial"/>
                <a:cs typeface="Arial"/>
              </a:rPr>
              <a:t>No matter how many bits we use in a floating-point representation, our model must be </a:t>
            </a:r>
            <a:r>
              <a:rPr lang="en-US" altLang="en-US" sz="2400" b="1" dirty="0">
                <a:latin typeface="Arial"/>
                <a:cs typeface="Arial"/>
              </a:rPr>
              <a:t>finite</a:t>
            </a:r>
            <a:r>
              <a:rPr lang="en-US" altLang="en-US" sz="2400" dirty="0">
                <a:latin typeface="Arial"/>
                <a:cs typeface="Arial"/>
              </a:rPr>
              <a:t>.</a:t>
            </a:r>
            <a:endParaRPr lang="en-US" dirty="0">
              <a:latin typeface="Arial"/>
              <a:cs typeface="Arial"/>
            </a:endParaRPr>
          </a:p>
          <a:p>
            <a:pPr marL="342900" indent="-342900"/>
            <a:r>
              <a:rPr lang="en-US" altLang="en-US" sz="2400" dirty="0">
                <a:latin typeface="Arial"/>
                <a:cs typeface="Arial"/>
              </a:rPr>
              <a:t>The real number system is, of course, infinite, so our models can give nothing more than an approximation of a real value. </a:t>
            </a:r>
          </a:p>
          <a:p>
            <a:pPr marL="342900" indent="-342900"/>
            <a:r>
              <a:rPr lang="en-US" altLang="en-US" sz="2400" dirty="0">
                <a:latin typeface="Arial"/>
                <a:cs typeface="Arial"/>
              </a:rPr>
              <a:t>At some point, every model breaks down, introducing errors into our calculations.</a:t>
            </a:r>
          </a:p>
          <a:p>
            <a:pPr marL="342900" indent="-342900"/>
            <a:r>
              <a:rPr lang="en-US" altLang="en-US" sz="2400" dirty="0">
                <a:latin typeface="Arial"/>
                <a:cs typeface="Arial"/>
              </a:rPr>
              <a:t>By using a greater number of bits in our model, we can reduce these errors, but we can never totally eliminate them.</a:t>
            </a:r>
          </a:p>
          <a:p>
            <a:pPr marL="342900" indent="-342900"/>
            <a:r>
              <a:rPr lang="en-US" altLang="en-US" sz="2400" dirty="0">
                <a:latin typeface="Arial"/>
                <a:cs typeface="Arial"/>
              </a:rPr>
              <a:t>We must also be aware that errors can compound through repetitive arithmetic operations.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9ACD4EC-5831-32EB-994C-6E9E68B130E5}"/>
              </a:ext>
            </a:extLst>
          </p:cNvPr>
          <p:cNvSpPr>
            <a:spLocks noGrp="1"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ea typeface="Calibri"/>
                <a:cs typeface="Calibri"/>
              </a:rPr>
              <a:t>Floating-point representations is an </a:t>
            </a:r>
            <a:r>
              <a:rPr lang="en-US" sz="4000" b="1" i="1" dirty="0">
                <a:ea typeface="Calibri"/>
                <a:cs typeface="Calibri"/>
              </a:rPr>
              <a:t>approximation</a:t>
            </a:r>
            <a:r>
              <a:rPr lang="en-US" sz="4000" b="1" dirty="0">
                <a:ea typeface="Calibri"/>
                <a:cs typeface="Calibri"/>
              </a:rPr>
              <a:t>.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285767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0C14E-1C2F-CA19-EAC4-C31D7114C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>
            <a:extLst>
              <a:ext uri="{FF2B5EF4-FFF2-40B4-BE49-F238E27FC236}">
                <a16:creationId xmlns:a16="http://schemas.microsoft.com/office/drawing/2014/main" id="{58546EBE-D6C7-FAAD-ADF5-7FB5EFD863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3201" y="1484784"/>
            <a:ext cx="11764083" cy="386179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spcBef>
                <a:spcPct val="40000"/>
              </a:spcBef>
            </a:pPr>
            <a:r>
              <a:rPr lang="en-US" altLang="en-US" sz="2400" dirty="0">
                <a:latin typeface="Arial"/>
                <a:cs typeface="Arial"/>
              </a:rPr>
              <a:t>Because of approximation, floating point operations are not always commutative or distributive, i.e. we cannot assume:</a:t>
            </a:r>
            <a:endParaRPr lang="en-US">
              <a:latin typeface="Arial"/>
              <a:cs typeface="Arial"/>
            </a:endParaRPr>
          </a:p>
          <a:p>
            <a:pPr marL="281305" indent="0">
              <a:spcBef>
                <a:spcPct val="40000"/>
              </a:spcBef>
              <a:buNone/>
            </a:pPr>
            <a:r>
              <a:rPr lang="en-US" altLang="en-US" sz="2400" dirty="0">
                <a:latin typeface="Arial"/>
                <a:cs typeface="Arial"/>
              </a:rPr>
              <a:t>                              </a:t>
            </a:r>
            <a:r>
              <a:rPr lang="en-US" altLang="en-US" sz="2400" b="1" dirty="0">
                <a:latin typeface="Arial"/>
                <a:cs typeface="Arial"/>
              </a:rPr>
              <a:t>(a + b) + c = a + (b + c)</a:t>
            </a:r>
            <a:r>
              <a:rPr lang="en-US" altLang="en-US" sz="2400" dirty="0">
                <a:latin typeface="Arial"/>
                <a:cs typeface="Arial"/>
              </a:rPr>
              <a:t>  or </a:t>
            </a:r>
            <a:r>
              <a:rPr lang="en-US" altLang="en-US" sz="2400" b="1" dirty="0">
                <a:latin typeface="Arial"/>
                <a:cs typeface="Arial"/>
              </a:rPr>
              <a:t>a * (b + c) = ab + ac</a:t>
            </a:r>
          </a:p>
          <a:p>
            <a:pPr marL="624205" indent="-342900">
              <a:spcBef>
                <a:spcPct val="40000"/>
              </a:spcBef>
            </a:pPr>
            <a:endParaRPr lang="en-US" altLang="en-US" sz="2400">
              <a:latin typeface="Arial" charset="0"/>
              <a:cs typeface="Arial" charset="0"/>
            </a:endParaRPr>
          </a:p>
          <a:p>
            <a:pPr marL="342900" indent="-342900">
              <a:spcBef>
                <a:spcPct val="40000"/>
              </a:spcBef>
            </a:pPr>
            <a:r>
              <a:rPr lang="en-US" altLang="en-US" sz="2400" dirty="0">
                <a:latin typeface="Arial"/>
                <a:cs typeface="Arial"/>
              </a:rPr>
              <a:t>If we were repetitively adding </a:t>
            </a:r>
            <a:r>
              <a:rPr lang="en-US" altLang="en-US" sz="2400" b="1" dirty="0">
                <a:latin typeface="Arial"/>
                <a:cs typeface="Arial"/>
              </a:rPr>
              <a:t>0.000005</a:t>
            </a:r>
            <a:r>
              <a:rPr lang="en-US" altLang="en-US" sz="2400" dirty="0">
                <a:latin typeface="Arial"/>
                <a:cs typeface="Arial"/>
              </a:rPr>
              <a:t> to </a:t>
            </a:r>
            <a:r>
              <a:rPr lang="en-US" altLang="en-US" sz="2400" b="1" dirty="0">
                <a:latin typeface="Arial"/>
                <a:cs typeface="Arial"/>
              </a:rPr>
              <a:t>1000000.5</a:t>
            </a:r>
            <a:r>
              <a:rPr lang="en-US" altLang="en-US" sz="2400" dirty="0">
                <a:latin typeface="Arial"/>
                <a:cs typeface="Arial"/>
              </a:rPr>
              <a:t>, it would have been better to iteratively add </a:t>
            </a:r>
            <a:r>
              <a:rPr lang="en-US" altLang="en-US" sz="2400" b="1" dirty="0">
                <a:latin typeface="Arial"/>
                <a:cs typeface="Arial"/>
              </a:rPr>
              <a:t>0.000005</a:t>
            </a:r>
            <a:r>
              <a:rPr lang="en-US" altLang="en-US" sz="2400" dirty="0">
                <a:latin typeface="Arial"/>
                <a:cs typeface="Arial"/>
              </a:rPr>
              <a:t> to itself and then add </a:t>
            </a:r>
            <a:r>
              <a:rPr lang="en-US" altLang="en-US" sz="2400" b="1" dirty="0">
                <a:latin typeface="Arial"/>
                <a:cs typeface="Arial"/>
              </a:rPr>
              <a:t>1000000.5</a:t>
            </a:r>
            <a:r>
              <a:rPr lang="en-US" altLang="en-US" sz="2400" dirty="0">
                <a:latin typeface="Arial"/>
                <a:cs typeface="Arial"/>
              </a:rPr>
              <a:t> to this sum.</a:t>
            </a:r>
            <a:endParaRPr lang="en-US" altLang="en-US" sz="2400">
              <a:latin typeface="Arial" charset="0"/>
              <a:cs typeface="Arial" charset="0"/>
            </a:endParaRPr>
          </a:p>
          <a:p>
            <a:pPr marL="342900" indent="-342900">
              <a:spcBef>
                <a:spcPct val="40000"/>
              </a:spcBef>
            </a:pPr>
            <a:endParaRPr lang="en-US" altLang="en-US" sz="2400" dirty="0">
              <a:latin typeface="Arial"/>
              <a:cs typeface="Arial"/>
            </a:endParaRPr>
          </a:p>
          <a:p>
            <a:pPr marL="342900" indent="-342900">
              <a:spcBef>
                <a:spcPct val="40000"/>
              </a:spcBef>
            </a:pPr>
            <a:r>
              <a:rPr lang="en-US" altLang="en-US" sz="2400" dirty="0">
                <a:latin typeface="Arial"/>
                <a:cs typeface="Arial"/>
              </a:rPr>
              <a:t>Floating-point errors can be reduced when we use operands that are </a:t>
            </a:r>
            <a:r>
              <a:rPr lang="en-US" altLang="en-US" sz="2400" b="1" i="1" dirty="0">
                <a:latin typeface="Arial"/>
                <a:cs typeface="Arial"/>
              </a:rPr>
              <a:t>similar in magnitude</a:t>
            </a:r>
            <a:r>
              <a:rPr lang="en-US" altLang="en-US" sz="2400" dirty="0">
                <a:latin typeface="Arial"/>
                <a:cs typeface="Arial"/>
              </a:rPr>
              <a:t>.</a:t>
            </a:r>
            <a:endParaRPr lang="en-US" altLang="en-US" sz="2400">
              <a:latin typeface="Arial" charset="0"/>
              <a:cs typeface="Arial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E09D4E1-8297-9CC7-2255-EC20ED28699A}"/>
              </a:ext>
            </a:extLst>
          </p:cNvPr>
          <p:cNvSpPr>
            <a:spLocks noGrp="1"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ea typeface="Calibri"/>
                <a:cs typeface="Calibri"/>
              </a:rPr>
              <a:t>Floating-point operations are (not) math operations.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24466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CF3A5-C193-DC4A-E3D1-2ABFB9307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>
            <a:extLst>
              <a:ext uri="{FF2B5EF4-FFF2-40B4-BE49-F238E27FC236}">
                <a16:creationId xmlns:a16="http://schemas.microsoft.com/office/drawing/2014/main" id="{4EB12688-09F3-1DF1-1D34-8F9F0171B2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3201" y="1484784"/>
            <a:ext cx="11764083" cy="490827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E4F5FF"/>
                </a:solidFill>
              </a14:hiddenFill>
            </a:ext>
          </a:extLst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ct val="40000"/>
              </a:spcBef>
              <a:buNone/>
            </a:pPr>
            <a:r>
              <a:rPr lang="en-US" altLang="en-US" sz="2400" dirty="0">
                <a:latin typeface="Arial"/>
                <a:cs typeface="Arial"/>
              </a:rPr>
              <a:t>To test a floating point value for equality to some other number, it is best to declare a “</a:t>
            </a:r>
            <a:r>
              <a:rPr lang="en-US" altLang="en-US" sz="2400" i="1" dirty="0">
                <a:latin typeface="Arial"/>
                <a:cs typeface="Arial"/>
              </a:rPr>
              <a:t>nearness to x</a:t>
            </a:r>
            <a:r>
              <a:rPr lang="en-US" altLang="en-US" sz="2400" dirty="0">
                <a:latin typeface="Arial"/>
                <a:cs typeface="Arial"/>
              </a:rPr>
              <a:t>” </a:t>
            </a:r>
            <a:r>
              <a:rPr lang="en-US" altLang="en-US" sz="2400" b="1" dirty="0">
                <a:latin typeface="Arial"/>
                <a:cs typeface="Arial"/>
              </a:rPr>
              <a:t>epsilon </a:t>
            </a:r>
            <a:r>
              <a:rPr lang="en-US" altLang="en-US" sz="2400" dirty="0">
                <a:latin typeface="Arial"/>
                <a:cs typeface="Arial"/>
              </a:rPr>
              <a:t>value.  </a:t>
            </a:r>
            <a:endParaRPr lang="en-US" sz="2400">
              <a:latin typeface="Arial"/>
              <a:cs typeface="Arial"/>
            </a:endParaRPr>
          </a:p>
          <a:p>
            <a:pPr marL="0" indent="0">
              <a:spcBef>
                <a:spcPct val="40000"/>
              </a:spcBef>
              <a:buNone/>
            </a:pPr>
            <a:r>
              <a:rPr lang="en-US" altLang="en-US" sz="2400" dirty="0">
                <a:latin typeface="Arial"/>
                <a:cs typeface="Arial"/>
              </a:rPr>
              <a:t>For example, instead of checking to see if floating point x is equal to 2 as follows:</a:t>
            </a:r>
          </a:p>
          <a:p>
            <a:pPr marL="0" indent="0" algn="ctr">
              <a:spcBef>
                <a:spcPct val="40000"/>
              </a:spcBef>
              <a:buNone/>
            </a:pPr>
            <a:r>
              <a:rPr lang="en-US" altLang="en-US" sz="2400" b="1" dirty="0">
                <a:latin typeface="Arial"/>
                <a:cs typeface="Arial"/>
              </a:rPr>
              <a:t>if x == 2,</a:t>
            </a:r>
            <a:endParaRPr lang="en-US" sz="2400" b="1">
              <a:latin typeface="Aptos" panose="020B0004020202020204"/>
              <a:cs typeface="Arial"/>
            </a:endParaRPr>
          </a:p>
          <a:p>
            <a:pPr marL="0" indent="0" algn="ctr">
              <a:spcBef>
                <a:spcPct val="40000"/>
              </a:spcBef>
              <a:buNone/>
            </a:pPr>
            <a:r>
              <a:rPr lang="en-US" altLang="en-US" sz="2400" b="1" dirty="0">
                <a:latin typeface="Arial"/>
                <a:cs typeface="Arial"/>
              </a:rPr>
              <a:t>then...</a:t>
            </a:r>
            <a:endParaRPr lang="en-US" sz="2400" b="1">
              <a:latin typeface="Aptos" panose="020B0004020202020204"/>
              <a:cs typeface="Arial"/>
            </a:endParaRPr>
          </a:p>
          <a:p>
            <a:pPr marL="0" indent="0">
              <a:spcBef>
                <a:spcPct val="40000"/>
              </a:spcBef>
              <a:buNone/>
            </a:pPr>
            <a:r>
              <a:rPr lang="en-US" altLang="en-US" sz="2400" dirty="0">
                <a:latin typeface="Arial"/>
                <a:cs typeface="Arial"/>
              </a:rPr>
              <a:t>it is better to use:</a:t>
            </a:r>
            <a:endParaRPr lang="en-US" sz="2400">
              <a:latin typeface="Aptos" panose="020B0004020202020204"/>
              <a:cs typeface="Arial"/>
            </a:endParaRPr>
          </a:p>
          <a:p>
            <a:pPr marL="0" indent="0" algn="ctr">
              <a:spcBef>
                <a:spcPct val="40000"/>
              </a:spcBef>
              <a:buNone/>
            </a:pPr>
            <a:r>
              <a:rPr lang="en-US" altLang="en-US" sz="2400" b="1" dirty="0">
                <a:latin typeface="Arial"/>
                <a:cs typeface="Arial"/>
              </a:rPr>
              <a:t>if (fabs(x - 2) &lt; epsilon)</a:t>
            </a:r>
            <a:endParaRPr lang="en-US" sz="2400" b="1">
              <a:latin typeface="Aptos"/>
              <a:cs typeface="Arial"/>
            </a:endParaRPr>
          </a:p>
          <a:p>
            <a:pPr marL="0" indent="0" algn="ctr">
              <a:spcBef>
                <a:spcPct val="40000"/>
              </a:spcBef>
              <a:buNone/>
            </a:pPr>
            <a:r>
              <a:rPr lang="en-US" altLang="en-US" sz="2400" b="1" dirty="0">
                <a:latin typeface="Arial"/>
                <a:cs typeface="Arial"/>
              </a:rPr>
              <a:t>then...</a:t>
            </a:r>
            <a:endParaRPr lang="en-US" sz="2400" b="1">
              <a:latin typeface="Aptos"/>
              <a:cs typeface="Arial"/>
            </a:endParaRPr>
          </a:p>
          <a:p>
            <a:pPr marL="0" indent="0">
              <a:spcBef>
                <a:spcPct val="40000"/>
              </a:spcBef>
              <a:buNone/>
            </a:pPr>
            <a:endParaRPr lang="en-US" altLang="en-US" sz="2400" dirty="0">
              <a:latin typeface="Arial"/>
              <a:cs typeface="Arial"/>
            </a:endParaRPr>
          </a:p>
          <a:p>
            <a:pPr marL="0" indent="0">
              <a:spcBef>
                <a:spcPct val="40000"/>
              </a:spcBef>
              <a:buNone/>
            </a:pPr>
            <a:r>
              <a:rPr lang="en-US" altLang="en-US" sz="2400" dirty="0">
                <a:latin typeface="Arial"/>
                <a:cs typeface="Arial"/>
              </a:rPr>
              <a:t>*assuming we have epsilon defined correctly!</a:t>
            </a:r>
            <a:endParaRPr lang="en-US" sz="2400" dirty="0">
              <a:latin typeface="Aptos"/>
              <a:cs typeface="Arial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463E984-1D3A-4E1E-2E46-FCB399A16894}"/>
              </a:ext>
            </a:extLst>
          </p:cNvPr>
          <p:cNvSpPr>
            <a:spLocks noGrp="1"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ea typeface="Calibri"/>
                <a:cs typeface="Calibri"/>
              </a:rPr>
              <a:t>Testing a==b in floating-point.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03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981201"/>
            <a:ext cx="8229600" cy="4144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457200">
              <a:lnSpc>
                <a:spcPct val="90000"/>
              </a:lnSpc>
              <a:buFont typeface="Aptos Display" panose="020F0302020204030204"/>
              <a:buAutoNum type="arabicPeriod"/>
            </a:pPr>
            <a:r>
              <a:rPr lang="en-US" dirty="0"/>
              <a:t>Compare/match exponents </a:t>
            </a:r>
          </a:p>
          <a:p>
            <a:pPr lvl="1">
              <a:lnSpc>
                <a:spcPct val="90000"/>
              </a:lnSpc>
              <a:buFont typeface="Calibri" panose="020B0604020202020204" pitchFamily="34" charset="0"/>
              <a:buChar char="-"/>
            </a:pPr>
            <a:r>
              <a:rPr lang="en-US" dirty="0"/>
              <a:t>(shift smaller significand right)</a:t>
            </a:r>
          </a:p>
          <a:p>
            <a:pPr marL="514350" indent="-457200">
              <a:lnSpc>
                <a:spcPct val="90000"/>
              </a:lnSpc>
              <a:buFont typeface="+mj-lt"/>
              <a:buAutoNum type="arabicPeriod"/>
            </a:pPr>
            <a:r>
              <a:rPr lang="en-US" dirty="0"/>
              <a:t>Add significands (including sign)</a:t>
            </a:r>
          </a:p>
          <a:p>
            <a:pPr marL="514350" indent="-457200">
              <a:lnSpc>
                <a:spcPct val="90000"/>
              </a:lnSpc>
              <a:buFont typeface="+mj-lt"/>
              <a:buAutoNum type="arabicPeriod"/>
            </a:pPr>
            <a:r>
              <a:rPr lang="en-US" dirty="0"/>
              <a:t>Normalize sum (to one leading 1)</a:t>
            </a:r>
          </a:p>
          <a:p>
            <a:pPr marL="514350" indent="-457200">
              <a:lnSpc>
                <a:spcPct val="90000"/>
              </a:lnSpc>
              <a:buFont typeface="+mj-lt"/>
              <a:buAutoNum type="arabicPeriod"/>
            </a:pPr>
            <a:r>
              <a:rPr lang="en-US" dirty="0"/>
              <a:t>Check for over/under flow</a:t>
            </a:r>
          </a:p>
          <a:p>
            <a:pPr lvl="1">
              <a:lnSpc>
                <a:spcPct val="90000"/>
              </a:lnSpc>
              <a:buFont typeface="Calibri" panose="020B0604020202020204" pitchFamily="34" charset="0"/>
              <a:buChar char="-"/>
            </a:pPr>
            <a:r>
              <a:rPr lang="en-US" dirty="0"/>
              <a:t>(exponent too big/small?)</a:t>
            </a:r>
          </a:p>
          <a:p>
            <a:pPr marL="514350" indent="-457200">
              <a:lnSpc>
                <a:spcPct val="90000"/>
              </a:lnSpc>
              <a:buFont typeface="+mj-lt"/>
              <a:buAutoNum type="arabicPeriod"/>
            </a:pPr>
            <a:r>
              <a:rPr lang="en-US" dirty="0"/>
              <a:t>Round</a:t>
            </a:r>
          </a:p>
          <a:p>
            <a:pPr marL="514350" indent="-457200">
              <a:lnSpc>
                <a:spcPct val="90000"/>
              </a:lnSpc>
              <a:buFont typeface="+mj-lt"/>
              <a:buAutoNum type="arabicPeriod"/>
            </a:pPr>
            <a:r>
              <a:rPr lang="en-US" dirty="0"/>
              <a:t>Recheck normalization!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33600" y="1295401"/>
            <a:ext cx="739140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dirty="0"/>
              <a:t>Convert to </a:t>
            </a:r>
            <a:r>
              <a:rPr lang="en-US" sz="3200" b="1" dirty="0"/>
              <a:t>(-1)</a:t>
            </a:r>
            <a:r>
              <a:rPr lang="en-US" sz="3200" b="1" baseline="30000" dirty="0"/>
              <a:t>s</a:t>
            </a:r>
            <a:r>
              <a:rPr lang="en-US" sz="3200" b="1" dirty="0"/>
              <a:t> * 1.M * 2</a:t>
            </a:r>
            <a:r>
              <a:rPr lang="en-US" sz="3200" b="1" baseline="30000" dirty="0"/>
              <a:t>(E-127)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852B84F-A6D2-B4D6-87F9-E9D0331881F9}"/>
              </a:ext>
            </a:extLst>
          </p:cNvPr>
          <p:cNvSpPr>
            <a:spLocks noGrp="1"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ea typeface="Calibri"/>
                <a:cs typeface="Courier New"/>
              </a:rPr>
              <a:t>0.5 + (-0.4375)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609E2-A422-494E-6C27-9A58047BA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504A6-48A2-894A-3F3A-A69D59A25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981201"/>
            <a:ext cx="8229600" cy="4144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71500" indent="-514350">
              <a:buAutoNum type="arabicPeriod"/>
            </a:pPr>
            <a:r>
              <a:rPr lang="en-US" sz="2600" dirty="0"/>
              <a:t>Add exponents and subtract bias</a:t>
            </a:r>
          </a:p>
          <a:p>
            <a:pPr marL="571500" indent="-514350">
              <a:buAutoNum type="arabicPeriod"/>
            </a:pPr>
            <a:r>
              <a:rPr lang="en-US" sz="2600" dirty="0"/>
              <a:t>Multiply significands</a:t>
            </a:r>
          </a:p>
          <a:p>
            <a:pPr marL="571500" indent="-514350">
              <a:lnSpc>
                <a:spcPct val="90000"/>
              </a:lnSpc>
              <a:buAutoNum type="arabicPeriod"/>
            </a:pPr>
            <a:r>
              <a:rPr lang="en-US" sz="2600" dirty="0"/>
              <a:t>Normalize</a:t>
            </a:r>
          </a:p>
          <a:p>
            <a:pPr marL="571500" indent="-514350">
              <a:lnSpc>
                <a:spcPct val="90000"/>
              </a:lnSpc>
              <a:buAutoNum type="arabicPeriod"/>
            </a:pPr>
            <a:r>
              <a:rPr lang="en-US" sz="2600" dirty="0"/>
              <a:t>Check overflow/underflow</a:t>
            </a:r>
          </a:p>
          <a:p>
            <a:pPr marL="571500" indent="-514350">
              <a:lnSpc>
                <a:spcPct val="90000"/>
              </a:lnSpc>
              <a:buAutoNum type="arabicPeriod"/>
            </a:pPr>
            <a:r>
              <a:rPr lang="en-US" sz="2600" dirty="0"/>
              <a:t>Round</a:t>
            </a:r>
          </a:p>
          <a:p>
            <a:pPr marL="571500" indent="-514350">
              <a:buAutoNum type="arabicPeriod"/>
            </a:pPr>
            <a:r>
              <a:rPr lang="en-US" sz="2600" dirty="0"/>
              <a:t>Check normalization</a:t>
            </a:r>
          </a:p>
          <a:p>
            <a:pPr marL="571500" indent="-514350">
              <a:buAutoNum type="arabicPeriod"/>
            </a:pPr>
            <a:r>
              <a:rPr lang="en-US" sz="2600" dirty="0"/>
              <a:t>Set 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C014D1-DD65-F582-2AAF-BAB9EAAEE08C}"/>
              </a:ext>
            </a:extLst>
          </p:cNvPr>
          <p:cNvSpPr txBox="1"/>
          <p:nvPr/>
        </p:nvSpPr>
        <p:spPr>
          <a:xfrm>
            <a:off x="2133600" y="1295401"/>
            <a:ext cx="739140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dirty="0"/>
              <a:t>Convert to </a:t>
            </a:r>
            <a:r>
              <a:rPr lang="en-US" sz="3200" b="1" dirty="0"/>
              <a:t>(-1)</a:t>
            </a:r>
            <a:r>
              <a:rPr lang="en-US" sz="3200" b="1" baseline="30000" dirty="0"/>
              <a:t>s</a:t>
            </a:r>
            <a:r>
              <a:rPr lang="en-US" sz="3200" b="1" dirty="0"/>
              <a:t> * 1.M * 2</a:t>
            </a:r>
            <a:r>
              <a:rPr lang="en-US" sz="3200" b="1" baseline="30000" dirty="0"/>
              <a:t>(E-127)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BBE1598-B1A0-338F-C8C1-57B1755C2EB1}"/>
              </a:ext>
            </a:extLst>
          </p:cNvPr>
          <p:cNvSpPr>
            <a:spLocks noGrp="1"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ea typeface="+mj-lt"/>
                <a:cs typeface="+mj-lt"/>
              </a:rPr>
              <a:t>0.5 * (-0.4375)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512122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12156-12F0-4BD2-D35D-EEEDF6587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6D382-E63F-8072-3870-82AA42427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000" b="1"/>
              <a:t>Thank you.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595CBB-F04F-4CC7-8926-3050DC679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19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F7041B20C9D84A837902E535A9C631" ma:contentTypeVersion="17" ma:contentTypeDescription="Create a new document." ma:contentTypeScope="" ma:versionID="bf947d493ea0e920a0a55c5a9bbc11a7">
  <xsd:schema xmlns:xsd="http://www.w3.org/2001/XMLSchema" xmlns:xs="http://www.w3.org/2001/XMLSchema" xmlns:p="http://schemas.microsoft.com/office/2006/metadata/properties" xmlns:ns2="4619ee15-d16e-4cab-835a-106b42f09be9" xmlns:ns3="9135097d-3c42-4841-8414-e54f32605794" targetNamespace="http://schemas.microsoft.com/office/2006/metadata/properties" ma:root="true" ma:fieldsID="626080d7c39690040fa29d374903722c" ns2:_="" ns3:_="">
    <xsd:import namespace="4619ee15-d16e-4cab-835a-106b42f09be9"/>
    <xsd:import namespace="9135097d-3c42-4841-8414-e54f326057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SearchProperties" minOccurs="0"/>
                <xsd:element ref="ns2:comment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19ee15-d16e-4cab-835a-106b42f09b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87373dcc-d629-4f14-9a28-796bffe926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mment" ma:index="23" nillable="true" ma:displayName="comment" ma:format="Dropdown" ma:internalName="comment">
      <xsd:simpleType>
        <xsd:restriction base="dms:Text">
          <xsd:maxLength value="255"/>
        </xsd:restriction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35097d-3c42-4841-8414-e54f3260579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19991c60-4f88-465e-b0d6-8ccc2d76eff8}" ma:internalName="TaxCatchAll" ma:showField="CatchAllData" ma:web="9135097d-3c42-4841-8414-e54f3260579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35097d-3c42-4841-8414-e54f32605794" xsi:nil="true"/>
    <lcf76f155ced4ddcb4097134ff3c332f xmlns="4619ee15-d16e-4cab-835a-106b42f09be9">
      <Terms xmlns="http://schemas.microsoft.com/office/infopath/2007/PartnerControls"/>
    </lcf76f155ced4ddcb4097134ff3c332f>
    <comment xmlns="4619ee15-d16e-4cab-835a-106b42f09be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2EBC180-5FF9-4712-8D46-CF33F4FB5C84}">
  <ds:schemaRefs>
    <ds:schemaRef ds:uri="4619ee15-d16e-4cab-835a-106b42f09be9"/>
    <ds:schemaRef ds:uri="9135097d-3c42-4841-8414-e54f3260579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F583296-0ED5-46EC-9454-454006AAD442}">
  <ds:schemaRefs>
    <ds:schemaRef ds:uri="4619ee15-d16e-4cab-835a-106b42f09be9"/>
    <ds:schemaRef ds:uri="785cff9e-9d88-40f4-96cb-1285df94b63b"/>
    <ds:schemaRef ds:uri="9135097d-3c42-4841-8414-e54f32605794"/>
    <ds:schemaRef ds:uri="9fdeb73d-c18a-448e-b2ff-a2496585359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830B765-BC9D-41EA-B9D3-9E225854F8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50</Slides>
  <Notes>38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1" baseType="lpstr">
      <vt:lpstr>office theme</vt:lpstr>
      <vt:lpstr>CS 2160 Introduction to Assembly Programming and Computer Organization  Lecture 05: Integer &amp; Floating Point Arithmetic</vt:lpstr>
      <vt:lpstr>Today’s Agenda.</vt:lpstr>
      <vt:lpstr>PowerPoint Presentation</vt:lpstr>
      <vt:lpstr>Recall: 2's complement.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Integer addition.</vt:lpstr>
      <vt:lpstr>Integer subtraction.</vt:lpstr>
      <vt:lpstr>Z = X + Y.</vt:lpstr>
      <vt:lpstr>Z = X + Y.</vt:lpstr>
      <vt:lpstr>Integer subtraction.</vt:lpstr>
      <vt:lpstr>PowerPoint Presentation</vt:lpstr>
      <vt:lpstr>Recall: numbering systems.</vt:lpstr>
      <vt:lpstr>Recall: numbering systems.</vt:lpstr>
      <vt:lpstr>Recall: numbering systems.</vt:lpstr>
      <vt:lpstr>IEEE 754 Single Precision.</vt:lpstr>
      <vt:lpstr>IEEE 754 Single Precision.</vt:lpstr>
      <vt:lpstr>IEEE 754 is the standard.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Floating-point addition.</vt:lpstr>
      <vt:lpstr>Floating-point addition (and subtraction).</vt:lpstr>
      <vt:lpstr>Floating-point addition (and subtraction).</vt:lpstr>
      <vt:lpstr>Floating-point operation with GRS bits.</vt:lpstr>
      <vt:lpstr>Floating-point operation with GRS bits.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Himon Thakur</dc:creator>
  <cp:revision>1277</cp:revision>
  <dcterms:created xsi:type="dcterms:W3CDTF">2026-02-17T00:04:35Z</dcterms:created>
  <dcterms:modified xsi:type="dcterms:W3CDTF">2026-09-17T22:22:24Z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0x010100EEF7041B20C9D84A837902E535A9C631</vt:lpwstr>
  </property>
</Properties>
</file>